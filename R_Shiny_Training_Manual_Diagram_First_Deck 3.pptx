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74"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5" r:id="rId19"/>
    <p:sldId id="272" r:id="rId20"/>
    <p:sldId id="277" r:id="rId21"/>
    <p:sldId id="278"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Source file: Combined_R_Shiny_Training_Manual.html.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Manual contains modules on Shiny architecture, UI components, first Shiny app, layouts, hands-on exercises, reactive programming, dynamic UI, conditional panels, tabs/navigation, upload/download, validation, notifications, DT tables, interactive plots, mini project, and modular structure.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Source manual table of contents lists the major sections used in this roadmap.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states a typical Shiny application consists of User Interface, Server Logic, and Reactive Engine, with results returned as plots, tables, and text.
Diagram text is based on the Architecture Diagram section.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lists common input components including textInput(), selectInput(), sliderInput(), checkboxInput(), dateInput(), and fileInput().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lists common output components including plotOutput(), tableOutput(), DT::dataTableOutput(), textOutput(), and downloadButton().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describes the basic structure of a Shiny app: library(shiny), UI, server, and shinyApp(ui, server).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compares fluidPage() and sidebarLayout(): fluidPage creates responsive page layout, while sidebarLayout creates a sidebar and main output area.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compares reactive(), observe(), observeEvent(), and eventReactive() by return value, trigger, and typical usage.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shows dependency graphs where input$species feeds filtered_data(), which then feeds Table and Record Count, and another graph where input$species and input$pointsize affect output$scatter.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describes Dynamic UI using uiOutput() and renderUI(), including a clinical example where endpoint choices depend on study type: Oncology, Diabetes, and Cardiology.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shows a Conditional Panel Workflow with Study Selection leading to conditionalPanel(), then Oncology, Diabetes, and Cardiology endpoint filters, then Reactive Data Filter, Chart, and 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includes separate workflows for Tabs, Upload/Download, and Error Handling/Validation.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includes notification workflow, DT workflow, and Plotly workflow. It states users can search/sort/filter DT tables and hover/zoom/pan interactive Plotly charts.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mini project requires enrollment metrics, trend analysis, subgroup filtering, interactive table, download reports, user notifications, and validation/error handling.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describes modular architecture using Filter, Metrics, Trend Plot, Interactive Table, and Download modules connected through shared reactive data.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F6356-7EE4-23DA-EE46-7799C7E01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C04FF-7989-6FC2-C51B-90756E91D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2CDE0-CAB6-EB50-B4AB-36970AF634CB}"/>
              </a:ext>
            </a:extLst>
          </p:cNvPr>
          <p:cNvSpPr>
            <a:spLocks noGrp="1"/>
          </p:cNvSpPr>
          <p:nvPr>
            <p:ph type="body" idx="1"/>
          </p:nvPr>
        </p:nvSpPr>
        <p:spPr/>
        <p:txBody>
          <a:bodyPr/>
          <a:lstStyle/>
          <a:p>
            <a:r>
              <a:rPr lang="en-US" dirty="0"/>
              <a:t>Generated from Combined_R_Shiny_Training_Manual.html.
[Sources]
The manual describes modular architecture using Filter, Metrics, Trend Plot, Interactive Table, and Download modules connected through shared reactive data.
Visual on this slide was generated with Microsoft Copilot.</a:t>
            </a:r>
          </a:p>
        </p:txBody>
      </p:sp>
      <p:sp>
        <p:nvSpPr>
          <p:cNvPr id="4" name="Slide Number Placeholder 3">
            <a:extLst>
              <a:ext uri="{FF2B5EF4-FFF2-40B4-BE49-F238E27FC236}">
                <a16:creationId xmlns:a16="http://schemas.microsoft.com/office/drawing/2014/main" id="{FCA12C25-4ED9-867A-DFCD-5E1CADF0D3B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117920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Combined_R_Shiny_Training_Manual.html.
[Sources]
The manual project structure lists app.R, modules/ with filters.R, metrics.R, trend_plot.R, study_table.R, download_report.R, data/study_data.csv, and www/styles.css.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5CAB"/>
          </a:solidFill>
          <a:ln w="12700">
            <a:solidFill>
              <a:srgbClr val="0B5CAB"/>
            </a:solidFill>
            <a:prstDash val="solid"/>
          </a:ln>
        </p:spPr>
        <p:txBody>
          <a:bodyPr/>
          <a:lstStyle/>
          <a:p>
            <a:endParaRPr lang="en-IN"/>
          </a:p>
        </p:txBody>
      </p:sp>
      <p:sp>
        <p:nvSpPr>
          <p:cNvPr id="3" name="Text 1"/>
          <p:cNvSpPr/>
          <p:nvPr/>
        </p:nvSpPr>
        <p:spPr>
          <a:xfrm>
            <a:off x="411480" y="6473952"/>
            <a:ext cx="6400800" cy="201168"/>
          </a:xfrm>
          <a:prstGeom prst="rect">
            <a:avLst/>
          </a:prstGeom>
          <a:noFill/>
          <a:ln/>
        </p:spPr>
        <p:txBody>
          <a:bodyPr wrap="square" lIns="0" tIns="0" rIns="0" bIns="0" rtlCol="0" anchor="ctr"/>
          <a:lstStyle/>
          <a:p>
            <a:pPr marL="0" indent="0">
              <a:buNone/>
            </a:pPr>
            <a:r>
              <a:rPr lang="en-US" sz="750" dirty="0">
                <a:solidFill>
                  <a:srgbClr val="64748B"/>
                </a:solidFill>
              </a:rPr>
              <a:t>R Shiny Training Manual | Diagram-first deck</a:t>
            </a:r>
            <a:endParaRPr lang="en-US" sz="750" dirty="0"/>
          </a:p>
        </p:txBody>
      </p:sp>
      <p:sp>
        <p:nvSpPr>
          <p:cNvPr id="4" name="Text 2"/>
          <p:cNvSpPr/>
          <p:nvPr/>
        </p:nvSpPr>
        <p:spPr>
          <a:xfrm>
            <a:off x="6492240" y="6473952"/>
            <a:ext cx="5257800" cy="201168"/>
          </a:xfrm>
          <a:prstGeom prst="rect">
            <a:avLst/>
          </a:prstGeom>
          <a:noFill/>
          <a:ln/>
        </p:spPr>
        <p:txBody>
          <a:bodyPr wrap="square" lIns="0" tIns="0" rIns="0" bIns="0" rtlCol="0" anchor="ctr"/>
          <a:lstStyle/>
          <a:p>
            <a:pPr marL="0" indent="0" algn="r">
              <a:buNone/>
            </a:pPr>
            <a:r>
              <a:rPr lang="en-US" sz="750" dirty="0">
                <a:solidFill>
                  <a:srgbClr val="64748B"/>
                </a:solidFill>
              </a:rPr>
              <a:t>Source: Combined_R_Shiny_Training_Manual.html</a:t>
            </a:r>
            <a:endParaRPr lang="en-US" sz="75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E1B0-635F-B4E6-A3EF-5A731419BB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42A09F-86C4-87AA-3465-A9AB331D20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9A25A3-D586-18C5-A990-365877B8E527}"/>
              </a:ext>
            </a:extLst>
          </p:cNvPr>
          <p:cNvSpPr>
            <a:spLocks noGrp="1"/>
          </p:cNvSpPr>
          <p:nvPr>
            <p:ph type="dt" sz="half" idx="10"/>
          </p:nvPr>
        </p:nvSpPr>
        <p:spPr/>
        <p:txBody>
          <a:bodyPr/>
          <a:lstStyle/>
          <a:p>
            <a:fld id="{CE3AC25A-C4B4-4B40-AF8D-0C4A248C3C63}" type="datetimeFigureOut">
              <a:rPr lang="en-IN" smtClean="0"/>
              <a:t>09-09-2026</a:t>
            </a:fld>
            <a:endParaRPr lang="en-IN"/>
          </a:p>
        </p:txBody>
      </p:sp>
      <p:sp>
        <p:nvSpPr>
          <p:cNvPr id="5" name="Footer Placeholder 4">
            <a:extLst>
              <a:ext uri="{FF2B5EF4-FFF2-40B4-BE49-F238E27FC236}">
                <a16:creationId xmlns:a16="http://schemas.microsoft.com/office/drawing/2014/main" id="{B5EB0399-0094-EC99-FB6F-8ABDD2A033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C2AD13-814A-AD90-4C35-9A4C90028619}"/>
              </a:ext>
            </a:extLst>
          </p:cNvPr>
          <p:cNvSpPr>
            <a:spLocks noGrp="1"/>
          </p:cNvSpPr>
          <p:nvPr>
            <p:ph type="sldNum" sz="quarter" idx="12"/>
          </p:nvPr>
        </p:nvSpPr>
        <p:spPr/>
        <p:txBody>
          <a:bodyPr/>
          <a:lstStyle/>
          <a:p>
            <a:fld id="{B5B260B0-1E37-4DE4-B761-ACCA70C7E9C5}" type="slidenum">
              <a:rPr lang="en-IN" smtClean="0"/>
              <a:t>‹#›</a:t>
            </a:fld>
            <a:endParaRPr lang="en-IN"/>
          </a:p>
        </p:txBody>
      </p:sp>
    </p:spTree>
    <p:extLst>
      <p:ext uri="{BB962C8B-B14F-4D97-AF65-F5344CB8AC3E}">
        <p14:creationId xmlns:p14="http://schemas.microsoft.com/office/powerpoint/2010/main" val="1570925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2FC8B-A244-BC92-F71C-FC9214148E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3B438DF-92F9-4E01-97A0-31EBFE9CD043}"/>
              </a:ext>
            </a:extLst>
          </p:cNvPr>
          <p:cNvSpPr>
            <a:spLocks noGrp="1"/>
          </p:cNvSpPr>
          <p:nvPr>
            <p:ph type="dt" sz="half" idx="10"/>
          </p:nvPr>
        </p:nvSpPr>
        <p:spPr/>
        <p:txBody>
          <a:bodyPr/>
          <a:lstStyle/>
          <a:p>
            <a:fld id="{CE3AC25A-C4B4-4B40-AF8D-0C4A248C3C63}" type="datetimeFigureOut">
              <a:rPr lang="en-IN" smtClean="0"/>
              <a:t>09-09-2026</a:t>
            </a:fld>
            <a:endParaRPr lang="en-IN"/>
          </a:p>
        </p:txBody>
      </p:sp>
      <p:sp>
        <p:nvSpPr>
          <p:cNvPr id="4" name="Footer Placeholder 3">
            <a:extLst>
              <a:ext uri="{FF2B5EF4-FFF2-40B4-BE49-F238E27FC236}">
                <a16:creationId xmlns:a16="http://schemas.microsoft.com/office/drawing/2014/main" id="{6F525169-42D2-FF69-EDAB-B766DC41D6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A7EEE5A-B882-2141-9C3E-14FD5E72B5C5}"/>
              </a:ext>
            </a:extLst>
          </p:cNvPr>
          <p:cNvSpPr>
            <a:spLocks noGrp="1"/>
          </p:cNvSpPr>
          <p:nvPr>
            <p:ph type="sldNum" sz="quarter" idx="12"/>
          </p:nvPr>
        </p:nvSpPr>
        <p:spPr/>
        <p:txBody>
          <a:bodyPr/>
          <a:lstStyle/>
          <a:p>
            <a:fld id="{B5B260B0-1E37-4DE4-B761-ACCA70C7E9C5}" type="slidenum">
              <a:rPr lang="en-IN" smtClean="0"/>
              <a:t>‹#›</a:t>
            </a:fld>
            <a:endParaRPr lang="en-IN"/>
          </a:p>
        </p:txBody>
      </p:sp>
    </p:spTree>
    <p:extLst>
      <p:ext uri="{BB962C8B-B14F-4D97-AF65-F5344CB8AC3E}">
        <p14:creationId xmlns:p14="http://schemas.microsoft.com/office/powerpoint/2010/main" val="30165430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4A"/>
        </a:solidFill>
        <a:effectLst/>
      </p:bgPr>
    </p:bg>
    <p:spTree>
      <p:nvGrpSpPr>
        <p:cNvPr id="1" name=""/>
        <p:cNvGrpSpPr/>
        <p:nvPr/>
      </p:nvGrpSpPr>
      <p:grpSpPr>
        <a:xfrm>
          <a:off x="0" y="0"/>
          <a:ext cx="1" cy="1"/>
          <a:chOff x="0" y="0"/>
          <a:chExt cx="1" cy="1"/>
        </a:xfrm>
      </p:grpSpPr>
      <p:pic>
        <p:nvPicPr>
          <p:cNvPr id="2" name="Image 0" descr="/mnt/data/c29ab679ab.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1B35">
              <a:alpha val="82000"/>
            </a:srgbClr>
          </a:solidFill>
          <a:ln w="12700">
            <a:solidFill>
              <a:srgbClr val="001B35">
                <a:alpha val="0"/>
              </a:srgbClr>
            </a:solidFill>
            <a:prstDash val="solid"/>
          </a:ln>
        </p:spPr>
        <p:txBody>
          <a:bodyPr/>
          <a:lstStyle/>
          <a:p>
            <a:endParaRPr lang="en-IN"/>
          </a:p>
        </p:txBody>
      </p:sp>
      <p:sp>
        <p:nvSpPr>
          <p:cNvPr id="4" name="Shape 1"/>
          <p:cNvSpPr/>
          <p:nvPr/>
        </p:nvSpPr>
        <p:spPr>
          <a:xfrm>
            <a:off x="0" y="0"/>
            <a:ext cx="5166360" cy="6858000"/>
          </a:xfrm>
          <a:prstGeom prst="rect">
            <a:avLst/>
          </a:prstGeom>
          <a:solidFill>
            <a:srgbClr val="062D57">
              <a:alpha val="97000"/>
            </a:srgbClr>
          </a:solidFill>
          <a:ln w="12700">
            <a:solidFill>
              <a:srgbClr val="062D57">
                <a:alpha val="0"/>
              </a:srgbClr>
            </a:solidFill>
            <a:prstDash val="solid"/>
          </a:ln>
        </p:spPr>
        <p:txBody>
          <a:bodyPr/>
          <a:lstStyle/>
          <a:p>
            <a:endParaRPr lang="en-IN"/>
          </a:p>
        </p:txBody>
      </p:sp>
      <p:sp>
        <p:nvSpPr>
          <p:cNvPr id="5" name="Text 2"/>
          <p:cNvSpPr/>
          <p:nvPr/>
        </p:nvSpPr>
        <p:spPr>
          <a:xfrm>
            <a:off x="530352" y="1078992"/>
            <a:ext cx="4297680" cy="50292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R Shiny Dashboard Training</a:t>
            </a:r>
            <a:endParaRPr lang="en-US" sz="2700" dirty="0"/>
          </a:p>
        </p:txBody>
      </p:sp>
      <p:sp>
        <p:nvSpPr>
          <p:cNvPr id="6" name="Text 3"/>
          <p:cNvSpPr/>
          <p:nvPr/>
        </p:nvSpPr>
        <p:spPr>
          <a:xfrm>
            <a:off x="548640" y="1691640"/>
            <a:ext cx="4206240" cy="320040"/>
          </a:xfrm>
          <a:prstGeom prst="rect">
            <a:avLst/>
          </a:prstGeom>
          <a:noFill/>
          <a:ln/>
        </p:spPr>
        <p:txBody>
          <a:bodyPr wrap="square" lIns="0" tIns="0" rIns="0" bIns="0" rtlCol="0" anchor="ctr"/>
          <a:lstStyle/>
          <a:p>
            <a:pPr marL="0" indent="0">
              <a:buNone/>
            </a:pPr>
            <a:r>
              <a:rPr lang="en-US" sz="1600" b="1" dirty="0">
                <a:solidFill>
                  <a:srgbClr val="DCEEFF"/>
                </a:solidFill>
              </a:rPr>
              <a:t>Diagram-first slide deck</a:t>
            </a:r>
            <a:endParaRPr lang="en-US" sz="1600" dirty="0"/>
          </a:p>
        </p:txBody>
      </p:sp>
      <p:sp>
        <p:nvSpPr>
          <p:cNvPr id="7" name="Text 4"/>
          <p:cNvSpPr/>
          <p:nvPr/>
        </p:nvSpPr>
        <p:spPr>
          <a:xfrm>
            <a:off x="566928" y="2240280"/>
            <a:ext cx="4114800" cy="438912"/>
          </a:xfrm>
          <a:prstGeom prst="rect">
            <a:avLst/>
          </a:prstGeom>
          <a:noFill/>
          <a:ln/>
        </p:spPr>
        <p:txBody>
          <a:bodyPr wrap="square" lIns="0" tIns="0" rIns="0" bIns="0" rtlCol="0" anchor="ctr"/>
          <a:lstStyle/>
          <a:p>
            <a:pPr marL="0" indent="0">
              <a:buNone/>
            </a:pPr>
            <a:r>
              <a:rPr lang="en-US" sz="1200" dirty="0">
                <a:solidFill>
                  <a:srgbClr val="DCEEFF"/>
                </a:solidFill>
              </a:rPr>
              <a:t>Less text. More architecture, workflows, and dashboard blueprints.</a:t>
            </a:r>
            <a:endParaRPr lang="en-US" sz="12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a:t>
            </a:fld>
            <a:endParaRPr lang="en-US"/>
          </a:p>
        </p:txBody>
      </p:sp>
      <p:sp>
        <p:nvSpPr>
          <p:cNvPr id="8" name="TextBox 7">
            <a:extLst>
              <a:ext uri="{FF2B5EF4-FFF2-40B4-BE49-F238E27FC236}">
                <a16:creationId xmlns:a16="http://schemas.microsoft.com/office/drawing/2014/main" id="{592E057F-1244-5AA1-0AE1-3CA90B75F08A}"/>
              </a:ext>
            </a:extLst>
          </p:cNvPr>
          <p:cNvSpPr txBox="1"/>
          <p:nvPr/>
        </p:nvSpPr>
        <p:spPr>
          <a:xfrm>
            <a:off x="566929" y="4278702"/>
            <a:ext cx="10776808" cy="1200329"/>
          </a:xfrm>
          <a:prstGeom prst="rect">
            <a:avLst/>
          </a:prstGeom>
          <a:noFill/>
        </p:spPr>
        <p:txBody>
          <a:bodyPr wrap="square" rtlCol="0">
            <a:spAutoFit/>
          </a:bodyPr>
          <a:lstStyle/>
          <a:p>
            <a:r>
              <a:rPr lang="en-IN" b="1" dirty="0">
                <a:solidFill>
                  <a:schemeClr val="bg1"/>
                </a:solidFill>
              </a:rPr>
              <a:t>Disclaimer: </a:t>
            </a:r>
            <a:r>
              <a:rPr lang="en-US" dirty="0">
                <a:solidFill>
                  <a:schemeClr val="bg1"/>
                </a:solidFill>
              </a:rPr>
              <a:t>The data or the work is for presentation purposes only and does not involve any real patient data or violate any codes of confidentiality. The opinions expressed in this presentation and on the following slides are solely those of the presenter and not from the organization I belong to. </a:t>
            </a:r>
            <a:r>
              <a:rPr lang="en-IN" dirty="0">
                <a:solidFill>
                  <a:schemeClr val="bg1"/>
                </a:solidFill>
              </a:rPr>
              <a:t>It does not guarantee the accuracy or reliability of the information presented herein.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Manual-to-slide transformation</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The combined manual is converted into visual teaching blocks rather than text-heavy slides.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640080" y="1600200"/>
            <a:ext cx="1920240" cy="914400"/>
          </a:xfrm>
          <a:prstGeom prst="roundRect">
            <a:avLst>
              <a:gd name="adj" fmla="val 11000"/>
            </a:avLst>
          </a:prstGeom>
          <a:solidFill>
            <a:srgbClr val="FFFFFF"/>
          </a:solidFill>
          <a:ln w="15240">
            <a:solidFill>
              <a:srgbClr val="0B2E4A"/>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640080" y="1600200"/>
            <a:ext cx="91440" cy="914400"/>
          </a:xfrm>
          <a:prstGeom prst="rect">
            <a:avLst/>
          </a:prstGeom>
          <a:solidFill>
            <a:srgbClr val="0B2E4A"/>
          </a:solidFill>
          <a:ln w="12700">
            <a:solidFill>
              <a:srgbClr val="0B2E4A"/>
            </a:solidFill>
            <a:prstDash val="solid"/>
          </a:ln>
        </p:spPr>
        <p:txBody>
          <a:bodyPr/>
          <a:lstStyle/>
          <a:p>
            <a:endParaRPr lang="en-IN"/>
          </a:p>
        </p:txBody>
      </p:sp>
      <p:sp>
        <p:nvSpPr>
          <p:cNvPr id="7" name="Text 5"/>
          <p:cNvSpPr/>
          <p:nvPr/>
        </p:nvSpPr>
        <p:spPr>
          <a:xfrm>
            <a:off x="804672" y="1728216"/>
            <a:ext cx="164592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Combined</a:t>
            </a:r>
            <a:endParaRPr lang="en-US" sz="1050" dirty="0"/>
          </a:p>
          <a:p>
            <a:pPr marL="0" indent="0" algn="ctr">
              <a:buNone/>
            </a:pPr>
            <a:r>
              <a:rPr lang="en-US" sz="1050" b="1" dirty="0">
                <a:solidFill>
                  <a:srgbClr val="1F2937"/>
                </a:solidFill>
              </a:rPr>
              <a:t>HTML Manual</a:t>
            </a:r>
            <a:endParaRPr lang="en-US" sz="1050" dirty="0"/>
          </a:p>
        </p:txBody>
      </p:sp>
      <p:sp>
        <p:nvSpPr>
          <p:cNvPr id="8" name="Shape 6"/>
          <p:cNvSpPr/>
          <p:nvPr/>
        </p:nvSpPr>
        <p:spPr>
          <a:xfrm>
            <a:off x="3063240" y="1600200"/>
            <a:ext cx="1920240" cy="914400"/>
          </a:xfrm>
          <a:prstGeom prst="roundRect">
            <a:avLst>
              <a:gd name="adj" fmla="val 11000"/>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3063240" y="1600200"/>
            <a:ext cx="91440" cy="914400"/>
          </a:xfrm>
          <a:prstGeom prst="rect">
            <a:avLst/>
          </a:prstGeom>
          <a:solidFill>
            <a:srgbClr val="008A8A"/>
          </a:solidFill>
          <a:ln w="12700">
            <a:solidFill>
              <a:srgbClr val="008A8A"/>
            </a:solidFill>
            <a:prstDash val="solid"/>
          </a:ln>
        </p:spPr>
        <p:txBody>
          <a:bodyPr/>
          <a:lstStyle/>
          <a:p>
            <a:endParaRPr lang="en-IN"/>
          </a:p>
        </p:txBody>
      </p:sp>
      <p:sp>
        <p:nvSpPr>
          <p:cNvPr id="10" name="Text 8"/>
          <p:cNvSpPr/>
          <p:nvPr/>
        </p:nvSpPr>
        <p:spPr>
          <a:xfrm>
            <a:off x="3227832" y="1728216"/>
            <a:ext cx="164592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Extract</a:t>
            </a:r>
            <a:endParaRPr lang="en-US" sz="1050" dirty="0"/>
          </a:p>
          <a:p>
            <a:pPr marL="0" indent="0" algn="ctr">
              <a:buNone/>
            </a:pPr>
            <a:r>
              <a:rPr lang="en-US" sz="1050" b="1" dirty="0">
                <a:solidFill>
                  <a:srgbClr val="1F2937"/>
                </a:solidFill>
              </a:rPr>
              <a:t>Concepts</a:t>
            </a:r>
            <a:endParaRPr lang="en-US" sz="1050" dirty="0"/>
          </a:p>
        </p:txBody>
      </p:sp>
      <p:sp>
        <p:nvSpPr>
          <p:cNvPr id="11" name="Shape 9"/>
          <p:cNvSpPr/>
          <p:nvPr/>
        </p:nvSpPr>
        <p:spPr>
          <a:xfrm>
            <a:off x="5486400" y="1600200"/>
            <a:ext cx="1920240" cy="914400"/>
          </a:xfrm>
          <a:prstGeom prst="roundRect">
            <a:avLst>
              <a:gd name="adj" fmla="val 11000"/>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5486400" y="1600200"/>
            <a:ext cx="91440" cy="914400"/>
          </a:xfrm>
          <a:prstGeom prst="rect">
            <a:avLst/>
          </a:prstGeom>
          <a:solidFill>
            <a:srgbClr val="6F49B8"/>
          </a:solidFill>
          <a:ln w="12700">
            <a:solidFill>
              <a:srgbClr val="6F49B8"/>
            </a:solidFill>
            <a:prstDash val="solid"/>
          </a:ln>
        </p:spPr>
        <p:txBody>
          <a:bodyPr/>
          <a:lstStyle/>
          <a:p>
            <a:endParaRPr lang="en-IN"/>
          </a:p>
        </p:txBody>
      </p:sp>
      <p:sp>
        <p:nvSpPr>
          <p:cNvPr id="13" name="Text 11"/>
          <p:cNvSpPr/>
          <p:nvPr/>
        </p:nvSpPr>
        <p:spPr>
          <a:xfrm>
            <a:off x="5650992" y="1728216"/>
            <a:ext cx="164592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Convert to</a:t>
            </a:r>
            <a:endParaRPr lang="en-US" sz="1050" dirty="0"/>
          </a:p>
          <a:p>
            <a:pPr marL="0" indent="0" algn="ctr">
              <a:buNone/>
            </a:pPr>
            <a:r>
              <a:rPr lang="en-US" sz="1050" b="1" dirty="0">
                <a:solidFill>
                  <a:srgbClr val="1F2937"/>
                </a:solidFill>
              </a:rPr>
              <a:t>Diagrams</a:t>
            </a:r>
            <a:endParaRPr lang="en-US" sz="1050" dirty="0"/>
          </a:p>
        </p:txBody>
      </p:sp>
      <p:sp>
        <p:nvSpPr>
          <p:cNvPr id="14" name="Shape 12"/>
          <p:cNvSpPr/>
          <p:nvPr/>
        </p:nvSpPr>
        <p:spPr>
          <a:xfrm>
            <a:off x="7909560" y="1600200"/>
            <a:ext cx="1920240" cy="914400"/>
          </a:xfrm>
          <a:prstGeom prst="roundRect">
            <a:avLst>
              <a:gd name="adj" fmla="val 11000"/>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7909560" y="1600200"/>
            <a:ext cx="91440" cy="914400"/>
          </a:xfrm>
          <a:prstGeom prst="rect">
            <a:avLst/>
          </a:prstGeom>
          <a:solidFill>
            <a:srgbClr val="E98300"/>
          </a:solidFill>
          <a:ln w="12700">
            <a:solidFill>
              <a:srgbClr val="E98300"/>
            </a:solidFill>
            <a:prstDash val="solid"/>
          </a:ln>
        </p:spPr>
        <p:txBody>
          <a:bodyPr/>
          <a:lstStyle/>
          <a:p>
            <a:endParaRPr lang="en-IN"/>
          </a:p>
        </p:txBody>
      </p:sp>
      <p:sp>
        <p:nvSpPr>
          <p:cNvPr id="16" name="Text 14"/>
          <p:cNvSpPr/>
          <p:nvPr/>
        </p:nvSpPr>
        <p:spPr>
          <a:xfrm>
            <a:off x="8074152" y="1728216"/>
            <a:ext cx="164592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Add</a:t>
            </a:r>
            <a:endParaRPr lang="en-US" sz="1050" dirty="0"/>
          </a:p>
          <a:p>
            <a:pPr marL="0" indent="0" algn="ctr">
              <a:buNone/>
            </a:pPr>
            <a:r>
              <a:rPr lang="en-US" sz="1050" b="1" dirty="0">
                <a:solidFill>
                  <a:srgbClr val="1F2937"/>
                </a:solidFill>
              </a:rPr>
              <a:t>Examples</a:t>
            </a:r>
            <a:endParaRPr lang="en-US" sz="1050" dirty="0"/>
          </a:p>
        </p:txBody>
      </p:sp>
      <p:sp>
        <p:nvSpPr>
          <p:cNvPr id="17" name="Shape 15"/>
          <p:cNvSpPr/>
          <p:nvPr/>
        </p:nvSpPr>
        <p:spPr>
          <a:xfrm>
            <a:off x="10332720" y="1600200"/>
            <a:ext cx="1234440" cy="914400"/>
          </a:xfrm>
          <a:prstGeom prst="roundRect">
            <a:avLst>
              <a:gd name="adj" fmla="val 11000"/>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10332720" y="1600200"/>
            <a:ext cx="91440" cy="914400"/>
          </a:xfrm>
          <a:prstGeom prst="rect">
            <a:avLst/>
          </a:prstGeom>
          <a:solidFill>
            <a:srgbClr val="2E8B57"/>
          </a:solidFill>
          <a:ln w="12700">
            <a:solidFill>
              <a:srgbClr val="2E8B57"/>
            </a:solidFill>
            <a:prstDash val="solid"/>
          </a:ln>
        </p:spPr>
        <p:txBody>
          <a:bodyPr/>
          <a:lstStyle/>
          <a:p>
            <a:endParaRPr lang="en-IN"/>
          </a:p>
        </p:txBody>
      </p:sp>
      <p:sp>
        <p:nvSpPr>
          <p:cNvPr id="19" name="Text 17"/>
          <p:cNvSpPr/>
          <p:nvPr/>
        </p:nvSpPr>
        <p:spPr>
          <a:xfrm>
            <a:off x="10497312" y="1728216"/>
            <a:ext cx="96012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Teach</a:t>
            </a:r>
            <a:endParaRPr lang="en-US" sz="1050" dirty="0"/>
          </a:p>
        </p:txBody>
      </p:sp>
      <p:sp>
        <p:nvSpPr>
          <p:cNvPr id="20" name="Shape 18"/>
          <p:cNvSpPr/>
          <p:nvPr/>
        </p:nvSpPr>
        <p:spPr>
          <a:xfrm>
            <a:off x="2651760" y="2057400"/>
            <a:ext cx="320040" cy="1"/>
          </a:xfrm>
          <a:prstGeom prst="line">
            <a:avLst/>
          </a:prstGeom>
          <a:noFill/>
          <a:ln w="22860">
            <a:solidFill>
              <a:srgbClr val="64748B"/>
            </a:solidFill>
            <a:prstDash val="solid"/>
            <a:headEnd type="none"/>
            <a:tailEnd type="triangle"/>
          </a:ln>
        </p:spPr>
        <p:txBody>
          <a:bodyPr/>
          <a:lstStyle/>
          <a:p>
            <a:endParaRPr lang="en-IN"/>
          </a:p>
        </p:txBody>
      </p:sp>
      <p:sp>
        <p:nvSpPr>
          <p:cNvPr id="21" name="Shape 19"/>
          <p:cNvSpPr/>
          <p:nvPr/>
        </p:nvSpPr>
        <p:spPr>
          <a:xfrm>
            <a:off x="5074920" y="2057400"/>
            <a:ext cx="320040" cy="1"/>
          </a:xfrm>
          <a:prstGeom prst="line">
            <a:avLst/>
          </a:prstGeom>
          <a:noFill/>
          <a:ln w="22860">
            <a:solidFill>
              <a:srgbClr val="64748B"/>
            </a:solidFill>
            <a:prstDash val="solid"/>
            <a:headEnd type="none"/>
            <a:tailEnd type="triangle"/>
          </a:ln>
        </p:spPr>
        <p:txBody>
          <a:bodyPr/>
          <a:lstStyle/>
          <a:p>
            <a:endParaRPr lang="en-IN"/>
          </a:p>
        </p:txBody>
      </p:sp>
      <p:sp>
        <p:nvSpPr>
          <p:cNvPr id="22" name="Shape 20"/>
          <p:cNvSpPr/>
          <p:nvPr/>
        </p:nvSpPr>
        <p:spPr>
          <a:xfrm>
            <a:off x="7498080" y="2057400"/>
            <a:ext cx="320040" cy="1"/>
          </a:xfrm>
          <a:prstGeom prst="line">
            <a:avLst/>
          </a:prstGeom>
          <a:noFill/>
          <a:ln w="22860">
            <a:solidFill>
              <a:srgbClr val="64748B"/>
            </a:solidFill>
            <a:prstDash val="solid"/>
            <a:headEnd type="none"/>
            <a:tailEnd type="triangle"/>
          </a:ln>
        </p:spPr>
        <p:txBody>
          <a:bodyPr/>
          <a:lstStyle/>
          <a:p>
            <a:endParaRPr lang="en-IN"/>
          </a:p>
        </p:txBody>
      </p:sp>
      <p:sp>
        <p:nvSpPr>
          <p:cNvPr id="23" name="Shape 21"/>
          <p:cNvSpPr/>
          <p:nvPr/>
        </p:nvSpPr>
        <p:spPr>
          <a:xfrm>
            <a:off x="9921240" y="2057400"/>
            <a:ext cx="320040" cy="1"/>
          </a:xfrm>
          <a:prstGeom prst="line">
            <a:avLst/>
          </a:prstGeom>
          <a:noFill/>
          <a:ln w="22860">
            <a:solidFill>
              <a:srgbClr val="64748B"/>
            </a:solidFill>
            <a:prstDash val="solid"/>
            <a:headEnd type="none"/>
            <a:tailEnd type="triangle"/>
          </a:ln>
        </p:spPr>
        <p:txBody>
          <a:bodyPr/>
          <a:lstStyle/>
          <a:p>
            <a:endParaRPr lang="en-IN"/>
          </a:p>
        </p:txBody>
      </p:sp>
      <p:sp>
        <p:nvSpPr>
          <p:cNvPr id="24" name="Shape 22"/>
          <p:cNvSpPr/>
          <p:nvPr/>
        </p:nvSpPr>
        <p:spPr>
          <a:xfrm>
            <a:off x="777240" y="3429000"/>
            <a:ext cx="621792" cy="621792"/>
          </a:xfrm>
          <a:prstGeom prst="ellipse">
            <a:avLst/>
          </a:prstGeom>
          <a:solidFill>
            <a:srgbClr val="0B5CAB"/>
          </a:solidFill>
          <a:ln w="12700">
            <a:solidFill>
              <a:srgbClr val="0B5CAB"/>
            </a:solidFill>
            <a:prstDash val="solid"/>
          </a:ln>
        </p:spPr>
        <p:txBody>
          <a:bodyPr/>
          <a:lstStyle/>
          <a:p>
            <a:endParaRPr lang="en-IN"/>
          </a:p>
        </p:txBody>
      </p:sp>
      <p:sp>
        <p:nvSpPr>
          <p:cNvPr id="25" name="Text 23"/>
          <p:cNvSpPr/>
          <p:nvPr/>
        </p:nvSpPr>
        <p:spPr>
          <a:xfrm>
            <a:off x="822960" y="358444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26" name="Text 24"/>
          <p:cNvSpPr/>
          <p:nvPr/>
        </p:nvSpPr>
        <p:spPr>
          <a:xfrm>
            <a:off x="1527048" y="3575304"/>
            <a:ext cx="1600200" cy="274320"/>
          </a:xfrm>
          <a:prstGeom prst="rect">
            <a:avLst/>
          </a:prstGeom>
          <a:noFill/>
          <a:ln/>
        </p:spPr>
        <p:txBody>
          <a:bodyPr wrap="square" lIns="0" tIns="0" rIns="0" bIns="0" rtlCol="0" anchor="ctr">
            <a:normAutofit/>
          </a:bodyPr>
          <a:lstStyle/>
          <a:p>
            <a:pPr marL="0" indent="0" algn="ctr">
              <a:buNone/>
            </a:pPr>
            <a:r>
              <a:rPr lang="en-US" sz="920" dirty="0">
                <a:solidFill>
                  <a:srgbClr val="1F2937"/>
                </a:solidFill>
              </a:rPr>
              <a:t>Architecture</a:t>
            </a:r>
            <a:endParaRPr lang="en-US" sz="920" dirty="0"/>
          </a:p>
        </p:txBody>
      </p:sp>
      <p:sp>
        <p:nvSpPr>
          <p:cNvPr id="27" name="Shape 25"/>
          <p:cNvSpPr/>
          <p:nvPr/>
        </p:nvSpPr>
        <p:spPr>
          <a:xfrm>
            <a:off x="3566160" y="3429000"/>
            <a:ext cx="621792" cy="621792"/>
          </a:xfrm>
          <a:prstGeom prst="ellipse">
            <a:avLst/>
          </a:prstGeom>
          <a:solidFill>
            <a:srgbClr val="008A8A"/>
          </a:solidFill>
          <a:ln w="12700">
            <a:solidFill>
              <a:srgbClr val="008A8A"/>
            </a:solidFill>
            <a:prstDash val="solid"/>
          </a:ln>
        </p:spPr>
        <p:txBody>
          <a:bodyPr/>
          <a:lstStyle/>
          <a:p>
            <a:endParaRPr lang="en-IN"/>
          </a:p>
        </p:txBody>
      </p:sp>
      <p:sp>
        <p:nvSpPr>
          <p:cNvPr id="28" name="Text 26"/>
          <p:cNvSpPr/>
          <p:nvPr/>
        </p:nvSpPr>
        <p:spPr>
          <a:xfrm>
            <a:off x="3611880" y="358444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29" name="Text 27"/>
          <p:cNvSpPr/>
          <p:nvPr/>
        </p:nvSpPr>
        <p:spPr>
          <a:xfrm>
            <a:off x="4315968" y="3575304"/>
            <a:ext cx="1600200" cy="274320"/>
          </a:xfrm>
          <a:prstGeom prst="rect">
            <a:avLst/>
          </a:prstGeom>
          <a:noFill/>
          <a:ln/>
        </p:spPr>
        <p:txBody>
          <a:bodyPr wrap="square" lIns="0" tIns="0" rIns="0" bIns="0" rtlCol="0" anchor="ctr">
            <a:normAutofit/>
          </a:bodyPr>
          <a:lstStyle/>
          <a:p>
            <a:pPr marL="0" indent="0" algn="ctr">
              <a:buNone/>
            </a:pPr>
            <a:r>
              <a:rPr lang="en-US" sz="920" dirty="0">
                <a:solidFill>
                  <a:srgbClr val="1F2937"/>
                </a:solidFill>
              </a:rPr>
              <a:t>UI/Server</a:t>
            </a:r>
            <a:endParaRPr lang="en-US" sz="920" dirty="0"/>
          </a:p>
        </p:txBody>
      </p:sp>
      <p:sp>
        <p:nvSpPr>
          <p:cNvPr id="30" name="Shape 28"/>
          <p:cNvSpPr/>
          <p:nvPr/>
        </p:nvSpPr>
        <p:spPr>
          <a:xfrm>
            <a:off x="6355080" y="3429000"/>
            <a:ext cx="621792" cy="621792"/>
          </a:xfrm>
          <a:prstGeom prst="ellipse">
            <a:avLst/>
          </a:prstGeom>
          <a:solidFill>
            <a:srgbClr val="6F49B8"/>
          </a:solidFill>
          <a:ln w="12700">
            <a:solidFill>
              <a:srgbClr val="6F49B8"/>
            </a:solidFill>
            <a:prstDash val="solid"/>
          </a:ln>
        </p:spPr>
        <p:txBody>
          <a:bodyPr/>
          <a:lstStyle/>
          <a:p>
            <a:endParaRPr lang="en-IN"/>
          </a:p>
        </p:txBody>
      </p:sp>
      <p:sp>
        <p:nvSpPr>
          <p:cNvPr id="31" name="Text 29"/>
          <p:cNvSpPr/>
          <p:nvPr/>
        </p:nvSpPr>
        <p:spPr>
          <a:xfrm>
            <a:off x="6400800" y="358444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32" name="Text 30"/>
          <p:cNvSpPr/>
          <p:nvPr/>
        </p:nvSpPr>
        <p:spPr>
          <a:xfrm>
            <a:off x="7104888" y="3575304"/>
            <a:ext cx="1600200" cy="274320"/>
          </a:xfrm>
          <a:prstGeom prst="rect">
            <a:avLst/>
          </a:prstGeom>
          <a:noFill/>
          <a:ln/>
        </p:spPr>
        <p:txBody>
          <a:bodyPr wrap="square" lIns="0" tIns="0" rIns="0" bIns="0" rtlCol="0" anchor="ctr">
            <a:normAutofit/>
          </a:bodyPr>
          <a:lstStyle/>
          <a:p>
            <a:pPr marL="0" indent="0" algn="ctr">
              <a:buNone/>
            </a:pPr>
            <a:r>
              <a:rPr lang="en-US" sz="920" dirty="0">
                <a:solidFill>
                  <a:srgbClr val="1F2937"/>
                </a:solidFill>
              </a:rPr>
              <a:t>Reactive flow</a:t>
            </a:r>
            <a:endParaRPr lang="en-US" sz="920" dirty="0"/>
          </a:p>
        </p:txBody>
      </p:sp>
      <p:sp>
        <p:nvSpPr>
          <p:cNvPr id="33" name="Shape 31"/>
          <p:cNvSpPr/>
          <p:nvPr/>
        </p:nvSpPr>
        <p:spPr>
          <a:xfrm>
            <a:off x="9144000" y="3429000"/>
            <a:ext cx="621792" cy="621792"/>
          </a:xfrm>
          <a:prstGeom prst="ellipse">
            <a:avLst/>
          </a:prstGeom>
          <a:solidFill>
            <a:srgbClr val="E98300"/>
          </a:solidFill>
          <a:ln w="12700">
            <a:solidFill>
              <a:srgbClr val="E98300"/>
            </a:solidFill>
            <a:prstDash val="solid"/>
          </a:ln>
        </p:spPr>
        <p:txBody>
          <a:bodyPr/>
          <a:lstStyle/>
          <a:p>
            <a:endParaRPr lang="en-IN"/>
          </a:p>
        </p:txBody>
      </p:sp>
      <p:sp>
        <p:nvSpPr>
          <p:cNvPr id="34" name="Text 32"/>
          <p:cNvSpPr/>
          <p:nvPr/>
        </p:nvSpPr>
        <p:spPr>
          <a:xfrm>
            <a:off x="9189720" y="358444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35" name="Text 33"/>
          <p:cNvSpPr/>
          <p:nvPr/>
        </p:nvSpPr>
        <p:spPr>
          <a:xfrm>
            <a:off x="9893808" y="3575304"/>
            <a:ext cx="1600200" cy="274320"/>
          </a:xfrm>
          <a:prstGeom prst="rect">
            <a:avLst/>
          </a:prstGeom>
          <a:noFill/>
          <a:ln/>
        </p:spPr>
        <p:txBody>
          <a:bodyPr wrap="square" lIns="0" tIns="0" rIns="0" bIns="0" rtlCol="0" anchor="ctr">
            <a:normAutofit/>
          </a:bodyPr>
          <a:lstStyle/>
          <a:p>
            <a:pPr marL="0" indent="0" algn="ctr">
              <a:buNone/>
            </a:pPr>
            <a:r>
              <a:rPr lang="en-US" sz="920" dirty="0">
                <a:solidFill>
                  <a:srgbClr val="1F2937"/>
                </a:solidFill>
              </a:rPr>
              <a:t>Dynamic UI</a:t>
            </a:r>
            <a:endParaRPr lang="en-US" sz="920" dirty="0"/>
          </a:p>
        </p:txBody>
      </p:sp>
      <p:sp>
        <p:nvSpPr>
          <p:cNvPr id="36" name="Shape 34"/>
          <p:cNvSpPr/>
          <p:nvPr/>
        </p:nvSpPr>
        <p:spPr>
          <a:xfrm>
            <a:off x="777240" y="4434840"/>
            <a:ext cx="621792" cy="621792"/>
          </a:xfrm>
          <a:prstGeom prst="ellipse">
            <a:avLst/>
          </a:prstGeom>
          <a:solidFill>
            <a:srgbClr val="0B5CAB"/>
          </a:solidFill>
          <a:ln w="12700">
            <a:solidFill>
              <a:srgbClr val="0B5CAB"/>
            </a:solidFill>
            <a:prstDash val="solid"/>
          </a:ln>
        </p:spPr>
        <p:txBody>
          <a:bodyPr/>
          <a:lstStyle/>
          <a:p>
            <a:endParaRPr lang="en-IN"/>
          </a:p>
        </p:txBody>
      </p:sp>
      <p:sp>
        <p:nvSpPr>
          <p:cNvPr id="37" name="Text 35"/>
          <p:cNvSpPr/>
          <p:nvPr/>
        </p:nvSpPr>
        <p:spPr>
          <a:xfrm>
            <a:off x="822960" y="459028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38" name="Text 36"/>
          <p:cNvSpPr/>
          <p:nvPr/>
        </p:nvSpPr>
        <p:spPr>
          <a:xfrm>
            <a:off x="1527048" y="4581144"/>
            <a:ext cx="1600200" cy="274320"/>
          </a:xfrm>
          <a:prstGeom prst="rect">
            <a:avLst/>
          </a:prstGeom>
          <a:noFill/>
          <a:ln/>
        </p:spPr>
        <p:txBody>
          <a:bodyPr wrap="square" lIns="0" tIns="0" rIns="0" bIns="0" rtlCol="0" anchor="ctr">
            <a:normAutofit/>
          </a:bodyPr>
          <a:lstStyle/>
          <a:p>
            <a:pPr marL="0" indent="0" algn="ctr">
              <a:buNone/>
            </a:pPr>
            <a:r>
              <a:rPr lang="en-US" sz="920" dirty="0">
                <a:solidFill>
                  <a:srgbClr val="1F2937"/>
                </a:solidFill>
              </a:rPr>
              <a:t>Conditional panels</a:t>
            </a:r>
            <a:endParaRPr lang="en-US" sz="920" dirty="0"/>
          </a:p>
        </p:txBody>
      </p:sp>
      <p:sp>
        <p:nvSpPr>
          <p:cNvPr id="39" name="Shape 37"/>
          <p:cNvSpPr/>
          <p:nvPr/>
        </p:nvSpPr>
        <p:spPr>
          <a:xfrm>
            <a:off x="3566160" y="4434840"/>
            <a:ext cx="621792" cy="621792"/>
          </a:xfrm>
          <a:prstGeom prst="ellipse">
            <a:avLst/>
          </a:prstGeom>
          <a:solidFill>
            <a:srgbClr val="008A8A"/>
          </a:solidFill>
          <a:ln w="12700">
            <a:solidFill>
              <a:srgbClr val="008A8A"/>
            </a:solidFill>
            <a:prstDash val="solid"/>
          </a:ln>
        </p:spPr>
        <p:txBody>
          <a:bodyPr/>
          <a:lstStyle/>
          <a:p>
            <a:endParaRPr lang="en-IN"/>
          </a:p>
        </p:txBody>
      </p:sp>
      <p:sp>
        <p:nvSpPr>
          <p:cNvPr id="40" name="Text 38"/>
          <p:cNvSpPr/>
          <p:nvPr/>
        </p:nvSpPr>
        <p:spPr>
          <a:xfrm>
            <a:off x="3611880" y="459028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41" name="Text 39"/>
          <p:cNvSpPr/>
          <p:nvPr/>
        </p:nvSpPr>
        <p:spPr>
          <a:xfrm>
            <a:off x="4315968" y="4581144"/>
            <a:ext cx="1600200" cy="274320"/>
          </a:xfrm>
          <a:prstGeom prst="rect">
            <a:avLst/>
          </a:prstGeom>
          <a:noFill/>
          <a:ln/>
        </p:spPr>
        <p:txBody>
          <a:bodyPr wrap="square" lIns="0" tIns="0" rIns="0" bIns="0" rtlCol="0" anchor="ctr">
            <a:normAutofit/>
          </a:bodyPr>
          <a:lstStyle/>
          <a:p>
            <a:pPr marL="0" indent="0" algn="ctr">
              <a:buNone/>
            </a:pPr>
            <a:r>
              <a:rPr lang="en-US" sz="920" dirty="0">
                <a:solidFill>
                  <a:srgbClr val="1F2937"/>
                </a:solidFill>
              </a:rPr>
              <a:t>Upload/download</a:t>
            </a:r>
            <a:endParaRPr lang="en-US" sz="920" dirty="0"/>
          </a:p>
        </p:txBody>
      </p:sp>
      <p:sp>
        <p:nvSpPr>
          <p:cNvPr id="42" name="Shape 40"/>
          <p:cNvSpPr/>
          <p:nvPr/>
        </p:nvSpPr>
        <p:spPr>
          <a:xfrm>
            <a:off x="6355080" y="4434840"/>
            <a:ext cx="621792" cy="621792"/>
          </a:xfrm>
          <a:prstGeom prst="ellipse">
            <a:avLst/>
          </a:prstGeom>
          <a:solidFill>
            <a:srgbClr val="6F49B8"/>
          </a:solidFill>
          <a:ln w="12700">
            <a:solidFill>
              <a:srgbClr val="6F49B8"/>
            </a:solidFill>
            <a:prstDash val="solid"/>
          </a:ln>
        </p:spPr>
        <p:txBody>
          <a:bodyPr/>
          <a:lstStyle/>
          <a:p>
            <a:endParaRPr lang="en-IN"/>
          </a:p>
        </p:txBody>
      </p:sp>
      <p:sp>
        <p:nvSpPr>
          <p:cNvPr id="43" name="Text 41"/>
          <p:cNvSpPr/>
          <p:nvPr/>
        </p:nvSpPr>
        <p:spPr>
          <a:xfrm>
            <a:off x="6400800" y="459028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07</a:t>
            </a:r>
            <a:endParaRPr lang="en-US" sz="1300" dirty="0"/>
          </a:p>
        </p:txBody>
      </p:sp>
      <p:sp>
        <p:nvSpPr>
          <p:cNvPr id="44" name="Text 42"/>
          <p:cNvSpPr/>
          <p:nvPr/>
        </p:nvSpPr>
        <p:spPr>
          <a:xfrm>
            <a:off x="7104888" y="4581144"/>
            <a:ext cx="1600200" cy="274320"/>
          </a:xfrm>
          <a:prstGeom prst="rect">
            <a:avLst/>
          </a:prstGeom>
          <a:noFill/>
          <a:ln/>
        </p:spPr>
        <p:txBody>
          <a:bodyPr wrap="square" lIns="0" tIns="0" rIns="0" bIns="0" rtlCol="0" anchor="ctr">
            <a:normAutofit/>
          </a:bodyPr>
          <a:lstStyle/>
          <a:p>
            <a:pPr marL="0" indent="0" algn="ctr">
              <a:buNone/>
            </a:pPr>
            <a:r>
              <a:rPr lang="en-US" sz="920" dirty="0">
                <a:solidFill>
                  <a:srgbClr val="1F2937"/>
                </a:solidFill>
              </a:rPr>
              <a:t>DT &amp; Plotly</a:t>
            </a:r>
            <a:endParaRPr lang="en-US" sz="920" dirty="0"/>
          </a:p>
        </p:txBody>
      </p:sp>
      <p:sp>
        <p:nvSpPr>
          <p:cNvPr id="45" name="Shape 43"/>
          <p:cNvSpPr/>
          <p:nvPr/>
        </p:nvSpPr>
        <p:spPr>
          <a:xfrm>
            <a:off x="9144000" y="4434840"/>
            <a:ext cx="621792" cy="621792"/>
          </a:xfrm>
          <a:prstGeom prst="ellipse">
            <a:avLst/>
          </a:prstGeom>
          <a:solidFill>
            <a:srgbClr val="E98300"/>
          </a:solidFill>
          <a:ln w="12700">
            <a:solidFill>
              <a:srgbClr val="E98300"/>
            </a:solidFill>
            <a:prstDash val="solid"/>
          </a:ln>
        </p:spPr>
        <p:txBody>
          <a:bodyPr/>
          <a:lstStyle/>
          <a:p>
            <a:endParaRPr lang="en-IN"/>
          </a:p>
        </p:txBody>
      </p:sp>
      <p:sp>
        <p:nvSpPr>
          <p:cNvPr id="46" name="Text 44"/>
          <p:cNvSpPr/>
          <p:nvPr/>
        </p:nvSpPr>
        <p:spPr>
          <a:xfrm>
            <a:off x="9189720" y="459028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08</a:t>
            </a:r>
            <a:endParaRPr lang="en-US" sz="1300" dirty="0"/>
          </a:p>
        </p:txBody>
      </p:sp>
      <p:sp>
        <p:nvSpPr>
          <p:cNvPr id="47" name="Text 45"/>
          <p:cNvSpPr/>
          <p:nvPr/>
        </p:nvSpPr>
        <p:spPr>
          <a:xfrm>
            <a:off x="9893808" y="4581144"/>
            <a:ext cx="1600200" cy="274320"/>
          </a:xfrm>
          <a:prstGeom prst="rect">
            <a:avLst/>
          </a:prstGeom>
          <a:noFill/>
          <a:ln/>
        </p:spPr>
        <p:txBody>
          <a:bodyPr wrap="square" lIns="0" tIns="0" rIns="0" bIns="0" rtlCol="0" anchor="ctr">
            <a:normAutofit/>
          </a:bodyPr>
          <a:lstStyle/>
          <a:p>
            <a:pPr marL="0" indent="0" algn="ctr">
              <a:buNone/>
            </a:pPr>
            <a:r>
              <a:rPr lang="en-US" sz="920" dirty="0">
                <a:solidFill>
                  <a:srgbClr val="1F2937"/>
                </a:solidFill>
              </a:rPr>
              <a:t>Modular design</a:t>
            </a:r>
            <a:endParaRPr lang="en-US" sz="920" dirty="0"/>
          </a:p>
        </p:txBody>
      </p:sp>
      <p:sp>
        <p:nvSpPr>
          <p:cNvPr id="48"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2</a:t>
            </a:fld>
            <a:endParaRPr lang="en-US"/>
          </a:p>
        </p:txBody>
      </p:sp>
      <p:graphicFrame>
        <p:nvGraphicFramePr>
          <p:cNvPr id="52" name="Object 51">
            <a:extLst>
              <a:ext uri="{FF2B5EF4-FFF2-40B4-BE49-F238E27FC236}">
                <a16:creationId xmlns:a16="http://schemas.microsoft.com/office/drawing/2014/main" id="{EC6E5CFA-2FF1-A883-75E6-7F84835F1522}"/>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Visual learning roadmap</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A single visual path that reflects the manual sections.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548640" y="1874520"/>
            <a:ext cx="621792" cy="621792"/>
          </a:xfrm>
          <a:prstGeom prst="ellipse">
            <a:avLst/>
          </a:prstGeom>
          <a:solidFill>
            <a:srgbClr val="0B5CAB"/>
          </a:solidFill>
          <a:ln w="12700">
            <a:solidFill>
              <a:srgbClr val="0B5CAB"/>
            </a:solidFill>
            <a:prstDash val="solid"/>
          </a:ln>
        </p:spPr>
        <p:txBody>
          <a:bodyPr/>
          <a:lstStyle/>
          <a:p>
            <a:endParaRPr lang="en-IN"/>
          </a:p>
        </p:txBody>
      </p:sp>
      <p:sp>
        <p:nvSpPr>
          <p:cNvPr id="6" name="Text 4"/>
          <p:cNvSpPr/>
          <p:nvPr/>
        </p:nvSpPr>
        <p:spPr>
          <a:xfrm>
            <a:off x="594360" y="202996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411480" y="2651760"/>
            <a:ext cx="896112" cy="219456"/>
          </a:xfrm>
          <a:prstGeom prst="rect">
            <a:avLst/>
          </a:prstGeom>
          <a:noFill/>
          <a:ln/>
        </p:spPr>
        <p:txBody>
          <a:bodyPr wrap="square" lIns="0" tIns="0" rIns="0" bIns="0" rtlCol="0" anchor="ctr">
            <a:normAutofit/>
          </a:bodyPr>
          <a:lstStyle/>
          <a:p>
            <a:pPr marL="0" indent="0" algn="ctr">
              <a:buNone/>
            </a:pPr>
            <a:r>
              <a:rPr lang="en-US" sz="950" dirty="0">
                <a:solidFill>
                  <a:srgbClr val="1F2937"/>
                </a:solidFill>
              </a:rPr>
              <a:t>Intro</a:t>
            </a:r>
            <a:endParaRPr lang="en-US" sz="950" dirty="0"/>
          </a:p>
        </p:txBody>
      </p:sp>
      <p:sp>
        <p:nvSpPr>
          <p:cNvPr id="8" name="Text 6"/>
          <p:cNvSpPr/>
          <p:nvPr/>
        </p:nvSpPr>
        <p:spPr>
          <a:xfrm>
            <a:off x="228600" y="2944368"/>
            <a:ext cx="1280160" cy="329184"/>
          </a:xfrm>
          <a:prstGeom prst="rect">
            <a:avLst/>
          </a:prstGeom>
          <a:noFill/>
          <a:ln/>
        </p:spPr>
        <p:txBody>
          <a:bodyPr wrap="square" lIns="0" tIns="0" rIns="0" bIns="0" rtlCol="0" anchor="ctr">
            <a:normAutofit/>
          </a:bodyPr>
          <a:lstStyle/>
          <a:p>
            <a:pPr marL="0" indent="0" algn="ctr">
              <a:buNone/>
            </a:pPr>
            <a:r>
              <a:rPr lang="en-US" sz="750" dirty="0">
                <a:solidFill>
                  <a:srgbClr val="64748B"/>
                </a:solidFill>
              </a:rPr>
              <a:t>Shiny architecture</a:t>
            </a:r>
            <a:endParaRPr lang="en-US" sz="750" dirty="0"/>
          </a:p>
        </p:txBody>
      </p:sp>
      <p:sp>
        <p:nvSpPr>
          <p:cNvPr id="9" name="Shape 7"/>
          <p:cNvSpPr/>
          <p:nvPr/>
        </p:nvSpPr>
        <p:spPr>
          <a:xfrm>
            <a:off x="1207008" y="2185416"/>
            <a:ext cx="914400" cy="1"/>
          </a:xfrm>
          <a:prstGeom prst="line">
            <a:avLst/>
          </a:prstGeom>
          <a:noFill/>
          <a:ln w="25400">
            <a:solidFill>
              <a:srgbClr val="D7E1EA"/>
            </a:solidFill>
            <a:prstDash val="solid"/>
            <a:headEnd type="none"/>
            <a:tailEnd type="triangle"/>
          </a:ln>
        </p:spPr>
        <p:txBody>
          <a:bodyPr/>
          <a:lstStyle/>
          <a:p>
            <a:endParaRPr lang="en-IN"/>
          </a:p>
        </p:txBody>
      </p:sp>
      <p:sp>
        <p:nvSpPr>
          <p:cNvPr id="10" name="Shape 8"/>
          <p:cNvSpPr/>
          <p:nvPr/>
        </p:nvSpPr>
        <p:spPr>
          <a:xfrm>
            <a:off x="2176272" y="1874520"/>
            <a:ext cx="621792" cy="621792"/>
          </a:xfrm>
          <a:prstGeom prst="ellipse">
            <a:avLst/>
          </a:prstGeom>
          <a:solidFill>
            <a:srgbClr val="008A8A"/>
          </a:solidFill>
          <a:ln w="12700">
            <a:solidFill>
              <a:srgbClr val="008A8A"/>
            </a:solidFill>
            <a:prstDash val="solid"/>
          </a:ln>
        </p:spPr>
        <p:txBody>
          <a:bodyPr/>
          <a:lstStyle/>
          <a:p>
            <a:endParaRPr lang="en-IN"/>
          </a:p>
        </p:txBody>
      </p:sp>
      <p:sp>
        <p:nvSpPr>
          <p:cNvPr id="11" name="Text 9"/>
          <p:cNvSpPr/>
          <p:nvPr/>
        </p:nvSpPr>
        <p:spPr>
          <a:xfrm>
            <a:off x="2221992" y="202996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2" name="Text 10"/>
          <p:cNvSpPr/>
          <p:nvPr/>
        </p:nvSpPr>
        <p:spPr>
          <a:xfrm>
            <a:off x="2039112" y="2651760"/>
            <a:ext cx="896112" cy="219456"/>
          </a:xfrm>
          <a:prstGeom prst="rect">
            <a:avLst/>
          </a:prstGeom>
          <a:noFill/>
          <a:ln/>
        </p:spPr>
        <p:txBody>
          <a:bodyPr wrap="square" lIns="0" tIns="0" rIns="0" bIns="0" rtlCol="0" anchor="ctr">
            <a:normAutofit/>
          </a:bodyPr>
          <a:lstStyle/>
          <a:p>
            <a:pPr marL="0" indent="0" algn="ctr">
              <a:buNone/>
            </a:pPr>
            <a:r>
              <a:rPr lang="en-US" sz="950" dirty="0">
                <a:solidFill>
                  <a:srgbClr val="1F2937"/>
                </a:solidFill>
              </a:rPr>
              <a:t>Basics</a:t>
            </a:r>
            <a:endParaRPr lang="en-US" sz="950" dirty="0"/>
          </a:p>
        </p:txBody>
      </p:sp>
      <p:sp>
        <p:nvSpPr>
          <p:cNvPr id="13" name="Text 11"/>
          <p:cNvSpPr/>
          <p:nvPr/>
        </p:nvSpPr>
        <p:spPr>
          <a:xfrm>
            <a:off x="1856232" y="2944368"/>
            <a:ext cx="1280160" cy="329184"/>
          </a:xfrm>
          <a:prstGeom prst="rect">
            <a:avLst/>
          </a:prstGeom>
          <a:noFill/>
          <a:ln/>
        </p:spPr>
        <p:txBody>
          <a:bodyPr wrap="square" lIns="0" tIns="0" rIns="0" bIns="0" rtlCol="0" anchor="ctr">
            <a:normAutofit/>
          </a:bodyPr>
          <a:lstStyle/>
          <a:p>
            <a:pPr marL="0" indent="0" algn="ctr">
              <a:buNone/>
            </a:pPr>
            <a:r>
              <a:rPr lang="en-US" sz="750" dirty="0">
                <a:solidFill>
                  <a:srgbClr val="64748B"/>
                </a:solidFill>
              </a:rPr>
              <a:t>Inputs and outputs</a:t>
            </a:r>
            <a:endParaRPr lang="en-US" sz="750" dirty="0"/>
          </a:p>
        </p:txBody>
      </p:sp>
      <p:sp>
        <p:nvSpPr>
          <p:cNvPr id="14" name="Shape 12"/>
          <p:cNvSpPr/>
          <p:nvPr/>
        </p:nvSpPr>
        <p:spPr>
          <a:xfrm>
            <a:off x="2834640" y="2185416"/>
            <a:ext cx="914400" cy="1"/>
          </a:xfrm>
          <a:prstGeom prst="line">
            <a:avLst/>
          </a:prstGeom>
          <a:noFill/>
          <a:ln w="25400">
            <a:solidFill>
              <a:srgbClr val="D7E1EA"/>
            </a:solidFill>
            <a:prstDash val="solid"/>
            <a:headEnd type="none"/>
            <a:tailEnd type="triangle"/>
          </a:ln>
        </p:spPr>
        <p:txBody>
          <a:bodyPr/>
          <a:lstStyle/>
          <a:p>
            <a:endParaRPr lang="en-IN"/>
          </a:p>
        </p:txBody>
      </p:sp>
      <p:sp>
        <p:nvSpPr>
          <p:cNvPr id="15" name="Shape 13"/>
          <p:cNvSpPr/>
          <p:nvPr/>
        </p:nvSpPr>
        <p:spPr>
          <a:xfrm>
            <a:off x="3803904" y="1874520"/>
            <a:ext cx="621792" cy="621792"/>
          </a:xfrm>
          <a:prstGeom prst="ellipse">
            <a:avLst/>
          </a:prstGeom>
          <a:solidFill>
            <a:srgbClr val="2E8B57"/>
          </a:solidFill>
          <a:ln w="12700">
            <a:solidFill>
              <a:srgbClr val="2E8B57"/>
            </a:solidFill>
            <a:prstDash val="solid"/>
          </a:ln>
        </p:spPr>
        <p:txBody>
          <a:bodyPr/>
          <a:lstStyle/>
          <a:p>
            <a:endParaRPr lang="en-IN"/>
          </a:p>
        </p:txBody>
      </p:sp>
      <p:sp>
        <p:nvSpPr>
          <p:cNvPr id="16" name="Text 14"/>
          <p:cNvSpPr/>
          <p:nvPr/>
        </p:nvSpPr>
        <p:spPr>
          <a:xfrm>
            <a:off x="3849624" y="202996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7" name="Text 15"/>
          <p:cNvSpPr/>
          <p:nvPr/>
        </p:nvSpPr>
        <p:spPr>
          <a:xfrm>
            <a:off x="3666744" y="2651760"/>
            <a:ext cx="896112" cy="219456"/>
          </a:xfrm>
          <a:prstGeom prst="rect">
            <a:avLst/>
          </a:prstGeom>
          <a:noFill/>
          <a:ln/>
        </p:spPr>
        <p:txBody>
          <a:bodyPr wrap="square" lIns="0" tIns="0" rIns="0" bIns="0" rtlCol="0" anchor="ctr">
            <a:normAutofit/>
          </a:bodyPr>
          <a:lstStyle/>
          <a:p>
            <a:pPr marL="0" indent="0" algn="ctr">
              <a:buNone/>
            </a:pPr>
            <a:r>
              <a:rPr lang="en-US" sz="950" dirty="0">
                <a:solidFill>
                  <a:srgbClr val="1F2937"/>
                </a:solidFill>
              </a:rPr>
              <a:t>Build</a:t>
            </a:r>
            <a:endParaRPr lang="en-US" sz="950" dirty="0"/>
          </a:p>
        </p:txBody>
      </p:sp>
      <p:sp>
        <p:nvSpPr>
          <p:cNvPr id="18" name="Text 16"/>
          <p:cNvSpPr/>
          <p:nvPr/>
        </p:nvSpPr>
        <p:spPr>
          <a:xfrm>
            <a:off x="3483864" y="2944368"/>
            <a:ext cx="1280160" cy="329184"/>
          </a:xfrm>
          <a:prstGeom prst="rect">
            <a:avLst/>
          </a:prstGeom>
          <a:noFill/>
          <a:ln/>
        </p:spPr>
        <p:txBody>
          <a:bodyPr wrap="square" lIns="0" tIns="0" rIns="0" bIns="0" rtlCol="0" anchor="ctr">
            <a:normAutofit/>
          </a:bodyPr>
          <a:lstStyle/>
          <a:p>
            <a:pPr marL="0" indent="0" algn="ctr">
              <a:buNone/>
            </a:pPr>
            <a:r>
              <a:rPr lang="en-US" sz="750" dirty="0">
                <a:solidFill>
                  <a:srgbClr val="64748B"/>
                </a:solidFill>
              </a:rPr>
              <a:t>First app and layouts</a:t>
            </a:r>
            <a:endParaRPr lang="en-US" sz="750" dirty="0"/>
          </a:p>
        </p:txBody>
      </p:sp>
      <p:sp>
        <p:nvSpPr>
          <p:cNvPr id="19" name="Shape 17"/>
          <p:cNvSpPr/>
          <p:nvPr/>
        </p:nvSpPr>
        <p:spPr>
          <a:xfrm>
            <a:off x="4462272" y="2185416"/>
            <a:ext cx="914400" cy="1"/>
          </a:xfrm>
          <a:prstGeom prst="line">
            <a:avLst/>
          </a:prstGeom>
          <a:noFill/>
          <a:ln w="25400">
            <a:solidFill>
              <a:srgbClr val="D7E1EA"/>
            </a:solidFill>
            <a:prstDash val="solid"/>
            <a:headEnd type="none"/>
            <a:tailEnd type="triangle"/>
          </a:ln>
        </p:spPr>
        <p:txBody>
          <a:bodyPr/>
          <a:lstStyle/>
          <a:p>
            <a:endParaRPr lang="en-IN"/>
          </a:p>
        </p:txBody>
      </p:sp>
      <p:sp>
        <p:nvSpPr>
          <p:cNvPr id="20" name="Shape 18"/>
          <p:cNvSpPr/>
          <p:nvPr/>
        </p:nvSpPr>
        <p:spPr>
          <a:xfrm>
            <a:off x="5431536" y="1874520"/>
            <a:ext cx="621792" cy="621792"/>
          </a:xfrm>
          <a:prstGeom prst="ellipse">
            <a:avLst/>
          </a:prstGeom>
          <a:solidFill>
            <a:srgbClr val="E98300"/>
          </a:solidFill>
          <a:ln w="12700">
            <a:solidFill>
              <a:srgbClr val="E98300"/>
            </a:solidFill>
            <a:prstDash val="solid"/>
          </a:ln>
        </p:spPr>
        <p:txBody>
          <a:bodyPr/>
          <a:lstStyle/>
          <a:p>
            <a:endParaRPr lang="en-IN"/>
          </a:p>
        </p:txBody>
      </p:sp>
      <p:sp>
        <p:nvSpPr>
          <p:cNvPr id="21" name="Text 19"/>
          <p:cNvSpPr/>
          <p:nvPr/>
        </p:nvSpPr>
        <p:spPr>
          <a:xfrm>
            <a:off x="5477256" y="202996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2" name="Text 20"/>
          <p:cNvSpPr/>
          <p:nvPr/>
        </p:nvSpPr>
        <p:spPr>
          <a:xfrm>
            <a:off x="5294376" y="2651760"/>
            <a:ext cx="896112" cy="219456"/>
          </a:xfrm>
          <a:prstGeom prst="rect">
            <a:avLst/>
          </a:prstGeom>
          <a:noFill/>
          <a:ln/>
        </p:spPr>
        <p:txBody>
          <a:bodyPr wrap="square" lIns="0" tIns="0" rIns="0" bIns="0" rtlCol="0" anchor="ctr">
            <a:normAutofit/>
          </a:bodyPr>
          <a:lstStyle/>
          <a:p>
            <a:pPr marL="0" indent="0" algn="ctr">
              <a:buNone/>
            </a:pPr>
            <a:r>
              <a:rPr lang="en-US" sz="950" dirty="0">
                <a:solidFill>
                  <a:srgbClr val="1F2937"/>
                </a:solidFill>
              </a:rPr>
              <a:t>Practice</a:t>
            </a:r>
            <a:endParaRPr lang="en-US" sz="950" dirty="0"/>
          </a:p>
        </p:txBody>
      </p:sp>
      <p:sp>
        <p:nvSpPr>
          <p:cNvPr id="23" name="Text 21"/>
          <p:cNvSpPr/>
          <p:nvPr/>
        </p:nvSpPr>
        <p:spPr>
          <a:xfrm>
            <a:off x="5111496" y="2944368"/>
            <a:ext cx="1280160" cy="329184"/>
          </a:xfrm>
          <a:prstGeom prst="rect">
            <a:avLst/>
          </a:prstGeom>
          <a:noFill/>
          <a:ln/>
        </p:spPr>
        <p:txBody>
          <a:bodyPr wrap="square" lIns="0" tIns="0" rIns="0" bIns="0" rtlCol="0" anchor="ctr">
            <a:normAutofit/>
          </a:bodyPr>
          <a:lstStyle/>
          <a:p>
            <a:pPr marL="0" indent="0" algn="ctr">
              <a:buNone/>
            </a:pPr>
            <a:r>
              <a:rPr lang="en-US" sz="750" dirty="0">
                <a:solidFill>
                  <a:srgbClr val="64748B"/>
                </a:solidFill>
              </a:rPr>
              <a:t>Hands-on exercises</a:t>
            </a:r>
            <a:endParaRPr lang="en-US" sz="750" dirty="0"/>
          </a:p>
        </p:txBody>
      </p:sp>
      <p:sp>
        <p:nvSpPr>
          <p:cNvPr id="24" name="Shape 22"/>
          <p:cNvSpPr/>
          <p:nvPr/>
        </p:nvSpPr>
        <p:spPr>
          <a:xfrm>
            <a:off x="6089904" y="2185416"/>
            <a:ext cx="914400" cy="1"/>
          </a:xfrm>
          <a:prstGeom prst="line">
            <a:avLst/>
          </a:prstGeom>
          <a:noFill/>
          <a:ln w="25400">
            <a:solidFill>
              <a:srgbClr val="D7E1EA"/>
            </a:solidFill>
            <a:prstDash val="solid"/>
            <a:headEnd type="none"/>
            <a:tailEnd type="triangle"/>
          </a:ln>
        </p:spPr>
        <p:txBody>
          <a:bodyPr/>
          <a:lstStyle/>
          <a:p>
            <a:endParaRPr lang="en-IN"/>
          </a:p>
        </p:txBody>
      </p:sp>
      <p:sp>
        <p:nvSpPr>
          <p:cNvPr id="25" name="Shape 23"/>
          <p:cNvSpPr/>
          <p:nvPr/>
        </p:nvSpPr>
        <p:spPr>
          <a:xfrm>
            <a:off x="7059168" y="1874520"/>
            <a:ext cx="621792" cy="621792"/>
          </a:xfrm>
          <a:prstGeom prst="ellipse">
            <a:avLst/>
          </a:prstGeom>
          <a:solidFill>
            <a:srgbClr val="6F49B8"/>
          </a:solidFill>
          <a:ln w="12700">
            <a:solidFill>
              <a:srgbClr val="6F49B8"/>
            </a:solidFill>
            <a:prstDash val="solid"/>
          </a:ln>
        </p:spPr>
        <p:txBody>
          <a:bodyPr/>
          <a:lstStyle/>
          <a:p>
            <a:endParaRPr lang="en-IN"/>
          </a:p>
        </p:txBody>
      </p:sp>
      <p:sp>
        <p:nvSpPr>
          <p:cNvPr id="26" name="Text 24"/>
          <p:cNvSpPr/>
          <p:nvPr/>
        </p:nvSpPr>
        <p:spPr>
          <a:xfrm>
            <a:off x="7104888" y="202996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7" name="Text 25"/>
          <p:cNvSpPr/>
          <p:nvPr/>
        </p:nvSpPr>
        <p:spPr>
          <a:xfrm>
            <a:off x="6922008" y="2651760"/>
            <a:ext cx="896112" cy="219456"/>
          </a:xfrm>
          <a:prstGeom prst="rect">
            <a:avLst/>
          </a:prstGeom>
          <a:noFill/>
          <a:ln/>
        </p:spPr>
        <p:txBody>
          <a:bodyPr wrap="square" lIns="0" tIns="0" rIns="0" bIns="0" rtlCol="0" anchor="ctr">
            <a:normAutofit/>
          </a:bodyPr>
          <a:lstStyle/>
          <a:p>
            <a:pPr marL="0" indent="0" algn="ctr">
              <a:buNone/>
            </a:pPr>
            <a:r>
              <a:rPr lang="en-US" sz="950" dirty="0">
                <a:solidFill>
                  <a:srgbClr val="1F2937"/>
                </a:solidFill>
              </a:rPr>
              <a:t>Intermediate</a:t>
            </a:r>
            <a:endParaRPr lang="en-US" sz="950" dirty="0"/>
          </a:p>
        </p:txBody>
      </p:sp>
      <p:sp>
        <p:nvSpPr>
          <p:cNvPr id="28" name="Text 26"/>
          <p:cNvSpPr/>
          <p:nvPr/>
        </p:nvSpPr>
        <p:spPr>
          <a:xfrm>
            <a:off x="6739128" y="2944368"/>
            <a:ext cx="1280160" cy="329184"/>
          </a:xfrm>
          <a:prstGeom prst="rect">
            <a:avLst/>
          </a:prstGeom>
          <a:noFill/>
          <a:ln/>
        </p:spPr>
        <p:txBody>
          <a:bodyPr wrap="square" lIns="0" tIns="0" rIns="0" bIns="0" rtlCol="0" anchor="ctr">
            <a:normAutofit/>
          </a:bodyPr>
          <a:lstStyle/>
          <a:p>
            <a:pPr marL="0" indent="0" algn="ctr">
              <a:buNone/>
            </a:pPr>
            <a:r>
              <a:rPr lang="en-US" sz="750" dirty="0">
                <a:solidFill>
                  <a:srgbClr val="64748B"/>
                </a:solidFill>
              </a:rPr>
              <a:t>Reactivity and dynamic UI</a:t>
            </a:r>
            <a:endParaRPr lang="en-US" sz="750" dirty="0"/>
          </a:p>
        </p:txBody>
      </p:sp>
      <p:sp>
        <p:nvSpPr>
          <p:cNvPr id="29" name="Shape 27"/>
          <p:cNvSpPr/>
          <p:nvPr/>
        </p:nvSpPr>
        <p:spPr>
          <a:xfrm>
            <a:off x="7717536" y="2185416"/>
            <a:ext cx="914400" cy="1"/>
          </a:xfrm>
          <a:prstGeom prst="line">
            <a:avLst/>
          </a:prstGeom>
          <a:noFill/>
          <a:ln w="25400">
            <a:solidFill>
              <a:srgbClr val="D7E1EA"/>
            </a:solidFill>
            <a:prstDash val="solid"/>
            <a:headEnd type="none"/>
            <a:tailEnd type="triangle"/>
          </a:ln>
        </p:spPr>
        <p:txBody>
          <a:bodyPr/>
          <a:lstStyle/>
          <a:p>
            <a:endParaRPr lang="en-IN"/>
          </a:p>
        </p:txBody>
      </p:sp>
      <p:sp>
        <p:nvSpPr>
          <p:cNvPr id="30" name="Shape 28"/>
          <p:cNvSpPr/>
          <p:nvPr/>
        </p:nvSpPr>
        <p:spPr>
          <a:xfrm>
            <a:off x="8686800" y="1874520"/>
            <a:ext cx="621792" cy="621792"/>
          </a:xfrm>
          <a:prstGeom prst="ellipse">
            <a:avLst/>
          </a:prstGeom>
          <a:solidFill>
            <a:srgbClr val="C43A31"/>
          </a:solidFill>
          <a:ln w="12700">
            <a:solidFill>
              <a:srgbClr val="C43A31"/>
            </a:solidFill>
            <a:prstDash val="solid"/>
          </a:ln>
        </p:spPr>
        <p:txBody>
          <a:bodyPr/>
          <a:lstStyle/>
          <a:p>
            <a:endParaRPr lang="en-IN"/>
          </a:p>
        </p:txBody>
      </p:sp>
      <p:sp>
        <p:nvSpPr>
          <p:cNvPr id="31" name="Text 29"/>
          <p:cNvSpPr/>
          <p:nvPr/>
        </p:nvSpPr>
        <p:spPr>
          <a:xfrm>
            <a:off x="8732520" y="202996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2" name="Text 30"/>
          <p:cNvSpPr/>
          <p:nvPr/>
        </p:nvSpPr>
        <p:spPr>
          <a:xfrm>
            <a:off x="8549640" y="2651760"/>
            <a:ext cx="896112" cy="219456"/>
          </a:xfrm>
          <a:prstGeom prst="rect">
            <a:avLst/>
          </a:prstGeom>
          <a:noFill/>
          <a:ln/>
        </p:spPr>
        <p:txBody>
          <a:bodyPr wrap="square" lIns="0" tIns="0" rIns="0" bIns="0" rtlCol="0" anchor="ctr">
            <a:normAutofit/>
          </a:bodyPr>
          <a:lstStyle/>
          <a:p>
            <a:pPr marL="0" indent="0" algn="ctr">
              <a:buNone/>
            </a:pPr>
            <a:r>
              <a:rPr lang="en-US" sz="950" dirty="0">
                <a:solidFill>
                  <a:srgbClr val="1F2937"/>
                </a:solidFill>
              </a:rPr>
              <a:t>Capstone</a:t>
            </a:r>
            <a:endParaRPr lang="en-US" sz="950" dirty="0"/>
          </a:p>
        </p:txBody>
      </p:sp>
      <p:sp>
        <p:nvSpPr>
          <p:cNvPr id="33" name="Text 31"/>
          <p:cNvSpPr/>
          <p:nvPr/>
        </p:nvSpPr>
        <p:spPr>
          <a:xfrm>
            <a:off x="8366760" y="2944368"/>
            <a:ext cx="1280160" cy="329184"/>
          </a:xfrm>
          <a:prstGeom prst="rect">
            <a:avLst/>
          </a:prstGeom>
          <a:noFill/>
          <a:ln/>
        </p:spPr>
        <p:txBody>
          <a:bodyPr wrap="square" lIns="0" tIns="0" rIns="0" bIns="0" rtlCol="0" anchor="ctr">
            <a:normAutofit/>
          </a:bodyPr>
          <a:lstStyle/>
          <a:p>
            <a:pPr marL="0" indent="0" algn="ctr">
              <a:buNone/>
            </a:pPr>
            <a:r>
              <a:rPr lang="en-US" sz="750" dirty="0">
                <a:solidFill>
                  <a:srgbClr val="64748B"/>
                </a:solidFill>
              </a:rPr>
              <a:t>Study dashboard</a:t>
            </a:r>
            <a:endParaRPr lang="en-US" sz="750" dirty="0"/>
          </a:p>
        </p:txBody>
      </p:sp>
      <p:sp>
        <p:nvSpPr>
          <p:cNvPr id="34" name="Shape 32"/>
          <p:cNvSpPr/>
          <p:nvPr/>
        </p:nvSpPr>
        <p:spPr>
          <a:xfrm>
            <a:off x="9345168" y="2185416"/>
            <a:ext cx="914400" cy="1"/>
          </a:xfrm>
          <a:prstGeom prst="line">
            <a:avLst/>
          </a:prstGeom>
          <a:noFill/>
          <a:ln w="25400">
            <a:solidFill>
              <a:srgbClr val="D7E1EA"/>
            </a:solidFill>
            <a:prstDash val="solid"/>
            <a:headEnd type="none"/>
            <a:tailEnd type="triangle"/>
          </a:ln>
        </p:spPr>
        <p:txBody>
          <a:bodyPr/>
          <a:lstStyle/>
          <a:p>
            <a:endParaRPr lang="en-IN"/>
          </a:p>
        </p:txBody>
      </p:sp>
      <p:sp>
        <p:nvSpPr>
          <p:cNvPr id="35" name="Shape 33"/>
          <p:cNvSpPr/>
          <p:nvPr/>
        </p:nvSpPr>
        <p:spPr>
          <a:xfrm>
            <a:off x="10314432" y="1874520"/>
            <a:ext cx="621792" cy="621792"/>
          </a:xfrm>
          <a:prstGeom prst="ellipse">
            <a:avLst/>
          </a:prstGeom>
          <a:solidFill>
            <a:srgbClr val="0B2E4A"/>
          </a:solidFill>
          <a:ln w="12700">
            <a:solidFill>
              <a:srgbClr val="0B2E4A"/>
            </a:solidFill>
            <a:prstDash val="solid"/>
          </a:ln>
        </p:spPr>
        <p:txBody>
          <a:bodyPr/>
          <a:lstStyle/>
          <a:p>
            <a:endParaRPr lang="en-IN"/>
          </a:p>
        </p:txBody>
      </p:sp>
      <p:sp>
        <p:nvSpPr>
          <p:cNvPr id="36" name="Text 34"/>
          <p:cNvSpPr/>
          <p:nvPr/>
        </p:nvSpPr>
        <p:spPr>
          <a:xfrm>
            <a:off x="10360152" y="202996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7</a:t>
            </a:r>
            <a:endParaRPr lang="en-US" sz="1300" dirty="0"/>
          </a:p>
        </p:txBody>
      </p:sp>
      <p:sp>
        <p:nvSpPr>
          <p:cNvPr id="37" name="Text 35"/>
          <p:cNvSpPr/>
          <p:nvPr/>
        </p:nvSpPr>
        <p:spPr>
          <a:xfrm>
            <a:off x="10177272" y="2651760"/>
            <a:ext cx="896112" cy="219456"/>
          </a:xfrm>
          <a:prstGeom prst="rect">
            <a:avLst/>
          </a:prstGeom>
          <a:noFill/>
          <a:ln/>
        </p:spPr>
        <p:txBody>
          <a:bodyPr wrap="square" lIns="0" tIns="0" rIns="0" bIns="0" rtlCol="0" anchor="ctr">
            <a:normAutofit/>
          </a:bodyPr>
          <a:lstStyle/>
          <a:p>
            <a:pPr marL="0" indent="0" algn="ctr">
              <a:buNone/>
            </a:pPr>
            <a:r>
              <a:rPr lang="en-US" sz="950" dirty="0">
                <a:solidFill>
                  <a:srgbClr val="1F2937"/>
                </a:solidFill>
              </a:rPr>
              <a:t>Advanced</a:t>
            </a:r>
            <a:endParaRPr lang="en-US" sz="950" dirty="0"/>
          </a:p>
        </p:txBody>
      </p:sp>
      <p:sp>
        <p:nvSpPr>
          <p:cNvPr id="38" name="Text 36"/>
          <p:cNvSpPr/>
          <p:nvPr/>
        </p:nvSpPr>
        <p:spPr>
          <a:xfrm>
            <a:off x="9994392" y="2944368"/>
            <a:ext cx="1280160" cy="329184"/>
          </a:xfrm>
          <a:prstGeom prst="rect">
            <a:avLst/>
          </a:prstGeom>
          <a:noFill/>
          <a:ln/>
        </p:spPr>
        <p:txBody>
          <a:bodyPr wrap="square" lIns="0" tIns="0" rIns="0" bIns="0" rtlCol="0" anchor="ctr">
            <a:normAutofit/>
          </a:bodyPr>
          <a:lstStyle/>
          <a:p>
            <a:pPr marL="0" indent="0" algn="ctr">
              <a:buNone/>
            </a:pPr>
            <a:r>
              <a:rPr lang="en-US" sz="750" dirty="0">
                <a:solidFill>
                  <a:srgbClr val="64748B"/>
                </a:solidFill>
              </a:rPr>
              <a:t>Modules and enterprise</a:t>
            </a:r>
            <a:endParaRPr lang="en-US" sz="750" dirty="0"/>
          </a:p>
        </p:txBody>
      </p:sp>
      <p:sp>
        <p:nvSpPr>
          <p:cNvPr id="39" name="Shape 37"/>
          <p:cNvSpPr/>
          <p:nvPr/>
        </p:nvSpPr>
        <p:spPr>
          <a:xfrm>
            <a:off x="822960" y="4160520"/>
            <a:ext cx="10561320" cy="731520"/>
          </a:xfrm>
          <a:prstGeom prst="roundRect">
            <a:avLst>
              <a:gd name="adj" fmla="val 18750"/>
            </a:avLst>
          </a:prstGeom>
          <a:solidFill>
            <a:srgbClr val="EAF4FF"/>
          </a:solidFill>
          <a:ln w="12700">
            <a:solidFill>
              <a:srgbClr val="D7E1EA"/>
            </a:solidFill>
            <a:prstDash val="solid"/>
          </a:ln>
        </p:spPr>
        <p:txBody>
          <a:bodyPr/>
          <a:lstStyle/>
          <a:p>
            <a:endParaRPr lang="en-IN"/>
          </a:p>
        </p:txBody>
      </p:sp>
      <p:sp>
        <p:nvSpPr>
          <p:cNvPr id="40" name="Text 38"/>
          <p:cNvSpPr/>
          <p:nvPr/>
        </p:nvSpPr>
        <p:spPr>
          <a:xfrm>
            <a:off x="1005840" y="4407408"/>
            <a:ext cx="10149840" cy="228600"/>
          </a:xfrm>
          <a:prstGeom prst="rect">
            <a:avLst/>
          </a:prstGeom>
          <a:noFill/>
          <a:ln/>
        </p:spPr>
        <p:txBody>
          <a:bodyPr wrap="square" lIns="0" tIns="0" rIns="0" bIns="0" rtlCol="0" anchor="ctr"/>
          <a:lstStyle/>
          <a:p>
            <a:pPr marL="0" indent="0" algn="ctr">
              <a:buNone/>
            </a:pPr>
            <a:r>
              <a:rPr lang="en-US" sz="1200" b="1" dirty="0">
                <a:solidFill>
                  <a:srgbClr val="0B2E4A"/>
                </a:solidFill>
              </a:rPr>
              <a:t>Instructor view: each module becomes a diagram slide, followed by a short runnable example or lab prompt.</a:t>
            </a:r>
            <a:endParaRPr lang="en-US" sz="1200" dirty="0"/>
          </a:p>
        </p:txBody>
      </p:sp>
      <p:sp>
        <p:nvSpPr>
          <p:cNvPr id="41"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3</a:t>
            </a:fld>
            <a:endParaRPr lang="en-US"/>
          </a:p>
        </p:txBody>
      </p:sp>
      <p:graphicFrame>
        <p:nvGraphicFramePr>
          <p:cNvPr id="43" name="Object 42">
            <a:extLst>
              <a:ext uri="{FF2B5EF4-FFF2-40B4-BE49-F238E27FC236}">
                <a16:creationId xmlns:a16="http://schemas.microsoft.com/office/drawing/2014/main" id="{955CD3ED-90C9-9C4C-6B9D-95EF76533A58}"/>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mnt/data/683f4686e7.png">
            <a:extLst>
              <a:ext uri="{FF2B5EF4-FFF2-40B4-BE49-F238E27FC236}">
                <a16:creationId xmlns:a16="http://schemas.microsoft.com/office/drawing/2014/main" id="{0E1D95C6-B3E3-7849-4BBB-68F4DF68C2DB}"/>
              </a:ext>
            </a:extLst>
          </p:cNvPr>
          <p:cNvPicPr>
            <a:picLocks noChangeAspect="1"/>
          </p:cNvPicPr>
          <p:nvPr/>
        </p:nvPicPr>
        <p:blipFill>
          <a:blip r:embed="rId2"/>
          <a:stretch>
            <a:fillRect/>
          </a:stretch>
        </p:blipFill>
        <p:spPr>
          <a:xfrm>
            <a:off x="2139696" y="914400"/>
            <a:ext cx="7927848" cy="5285232"/>
          </a:xfrm>
          <a:prstGeom prst="rect">
            <a:avLst/>
          </a:prstGeom>
        </p:spPr>
      </p:pic>
      <p:graphicFrame>
        <p:nvGraphicFramePr>
          <p:cNvPr id="5" name="Object 4">
            <a:extLst>
              <a:ext uri="{FF2B5EF4-FFF2-40B4-BE49-F238E27FC236}">
                <a16:creationId xmlns:a16="http://schemas.microsoft.com/office/drawing/2014/main" id="{8B7AE1BB-C262-6B5A-15DF-34C356A7B174}"/>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extLst>
      <p:ext uri="{BB962C8B-B14F-4D97-AF65-F5344CB8AC3E}">
        <p14:creationId xmlns:p14="http://schemas.microsoft.com/office/powerpoint/2010/main" val="206611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Shiny architecture diagram</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Shiny applications combine User Interface, Server Logic, and Reactive Engine.</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777240" y="2057400"/>
            <a:ext cx="2377440" cy="960120"/>
          </a:xfrm>
          <a:prstGeom prst="roundRect">
            <a:avLst>
              <a:gd name="adj" fmla="val 10476"/>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777240" y="2057400"/>
            <a:ext cx="91440" cy="960120"/>
          </a:xfrm>
          <a:prstGeom prst="rect">
            <a:avLst/>
          </a:prstGeom>
          <a:solidFill>
            <a:srgbClr val="0B5CAB"/>
          </a:solidFill>
          <a:ln w="12700">
            <a:solidFill>
              <a:srgbClr val="0B5CAB"/>
            </a:solidFill>
            <a:prstDash val="solid"/>
          </a:ln>
        </p:spPr>
        <p:txBody>
          <a:bodyPr/>
          <a:lstStyle/>
          <a:p>
            <a:endParaRPr lang="en-IN"/>
          </a:p>
        </p:txBody>
      </p:sp>
      <p:sp>
        <p:nvSpPr>
          <p:cNvPr id="7" name="Text 5"/>
          <p:cNvSpPr/>
          <p:nvPr/>
        </p:nvSpPr>
        <p:spPr>
          <a:xfrm>
            <a:off x="941832" y="2185416"/>
            <a:ext cx="2103120" cy="74066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User</a:t>
            </a:r>
            <a:endParaRPr lang="en-US" sz="1050" dirty="0"/>
          </a:p>
          <a:p>
            <a:pPr marL="0" indent="0" algn="ctr">
              <a:buNone/>
            </a:pPr>
            <a:r>
              <a:rPr lang="en-US" sz="1050" b="1" dirty="0">
                <a:solidFill>
                  <a:srgbClr val="1F2937"/>
                </a:solidFill>
              </a:rPr>
              <a:t>Action</a:t>
            </a:r>
            <a:endParaRPr lang="en-US" sz="1050" dirty="0"/>
          </a:p>
        </p:txBody>
      </p:sp>
      <p:sp>
        <p:nvSpPr>
          <p:cNvPr id="8" name="Shape 6"/>
          <p:cNvSpPr/>
          <p:nvPr/>
        </p:nvSpPr>
        <p:spPr>
          <a:xfrm>
            <a:off x="3657600" y="1280160"/>
            <a:ext cx="2468880" cy="960120"/>
          </a:xfrm>
          <a:prstGeom prst="roundRect">
            <a:avLst>
              <a:gd name="adj" fmla="val 10476"/>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3657600" y="1280160"/>
            <a:ext cx="91440" cy="960120"/>
          </a:xfrm>
          <a:prstGeom prst="rect">
            <a:avLst/>
          </a:prstGeom>
          <a:solidFill>
            <a:srgbClr val="008A8A"/>
          </a:solidFill>
          <a:ln w="12700">
            <a:solidFill>
              <a:srgbClr val="008A8A"/>
            </a:solidFill>
            <a:prstDash val="solid"/>
          </a:ln>
        </p:spPr>
        <p:txBody>
          <a:bodyPr/>
          <a:lstStyle/>
          <a:p>
            <a:endParaRPr lang="en-IN"/>
          </a:p>
        </p:txBody>
      </p:sp>
      <p:sp>
        <p:nvSpPr>
          <p:cNvPr id="10" name="Text 8"/>
          <p:cNvSpPr/>
          <p:nvPr/>
        </p:nvSpPr>
        <p:spPr>
          <a:xfrm>
            <a:off x="3822192" y="1408176"/>
            <a:ext cx="2194560" cy="74066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User Interface</a:t>
            </a:r>
            <a:endParaRPr lang="en-US" sz="1050" dirty="0"/>
          </a:p>
          <a:p>
            <a:pPr marL="0" indent="0" algn="ctr">
              <a:buNone/>
            </a:pPr>
            <a:r>
              <a:rPr lang="en-US" sz="1050" b="1" dirty="0">
                <a:solidFill>
                  <a:srgbClr val="1F2937"/>
                </a:solidFill>
              </a:rPr>
              <a:t>UI</a:t>
            </a:r>
            <a:endParaRPr lang="en-US" sz="1050" dirty="0"/>
          </a:p>
        </p:txBody>
      </p:sp>
      <p:sp>
        <p:nvSpPr>
          <p:cNvPr id="11" name="Shape 9"/>
          <p:cNvSpPr/>
          <p:nvPr/>
        </p:nvSpPr>
        <p:spPr>
          <a:xfrm>
            <a:off x="3657600" y="2834640"/>
            <a:ext cx="2468880" cy="960120"/>
          </a:xfrm>
          <a:prstGeom prst="roundRect">
            <a:avLst>
              <a:gd name="adj" fmla="val 10476"/>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3657600" y="2834640"/>
            <a:ext cx="91440" cy="960120"/>
          </a:xfrm>
          <a:prstGeom prst="rect">
            <a:avLst/>
          </a:prstGeom>
          <a:solidFill>
            <a:srgbClr val="6F49B8"/>
          </a:solidFill>
          <a:ln w="12700">
            <a:solidFill>
              <a:srgbClr val="6F49B8"/>
            </a:solidFill>
            <a:prstDash val="solid"/>
          </a:ln>
        </p:spPr>
        <p:txBody>
          <a:bodyPr/>
          <a:lstStyle/>
          <a:p>
            <a:endParaRPr lang="en-IN"/>
          </a:p>
        </p:txBody>
      </p:sp>
      <p:sp>
        <p:nvSpPr>
          <p:cNvPr id="13" name="Text 11"/>
          <p:cNvSpPr/>
          <p:nvPr/>
        </p:nvSpPr>
        <p:spPr>
          <a:xfrm>
            <a:off x="3822192" y="2962656"/>
            <a:ext cx="2194560" cy="74066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Reactive</a:t>
            </a:r>
            <a:endParaRPr lang="en-US" sz="1050" dirty="0"/>
          </a:p>
          <a:p>
            <a:pPr marL="0" indent="0" algn="ctr">
              <a:buNone/>
            </a:pPr>
            <a:r>
              <a:rPr lang="en-US" sz="1050" b="1" dirty="0">
                <a:solidFill>
                  <a:srgbClr val="1F2937"/>
                </a:solidFill>
              </a:rPr>
              <a:t>Engine</a:t>
            </a:r>
            <a:endParaRPr lang="en-US" sz="1050" dirty="0"/>
          </a:p>
        </p:txBody>
      </p:sp>
      <p:sp>
        <p:nvSpPr>
          <p:cNvPr id="14" name="Shape 12"/>
          <p:cNvSpPr/>
          <p:nvPr/>
        </p:nvSpPr>
        <p:spPr>
          <a:xfrm>
            <a:off x="6629400" y="2834640"/>
            <a:ext cx="2468880" cy="960120"/>
          </a:xfrm>
          <a:prstGeom prst="roundRect">
            <a:avLst>
              <a:gd name="adj" fmla="val 10476"/>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6629400" y="2834640"/>
            <a:ext cx="91440" cy="960120"/>
          </a:xfrm>
          <a:prstGeom prst="rect">
            <a:avLst/>
          </a:prstGeom>
          <a:solidFill>
            <a:srgbClr val="E98300"/>
          </a:solidFill>
          <a:ln w="12700">
            <a:solidFill>
              <a:srgbClr val="E98300"/>
            </a:solidFill>
            <a:prstDash val="solid"/>
          </a:ln>
        </p:spPr>
        <p:txBody>
          <a:bodyPr/>
          <a:lstStyle/>
          <a:p>
            <a:endParaRPr lang="en-IN"/>
          </a:p>
        </p:txBody>
      </p:sp>
      <p:sp>
        <p:nvSpPr>
          <p:cNvPr id="16" name="Text 14"/>
          <p:cNvSpPr/>
          <p:nvPr/>
        </p:nvSpPr>
        <p:spPr>
          <a:xfrm>
            <a:off x="6793992" y="2962656"/>
            <a:ext cx="2194560" cy="74066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Server</a:t>
            </a:r>
            <a:endParaRPr lang="en-US" sz="1050" dirty="0"/>
          </a:p>
          <a:p>
            <a:pPr marL="0" indent="0" algn="ctr">
              <a:buNone/>
            </a:pPr>
            <a:r>
              <a:rPr lang="en-US" sz="1050" b="1" dirty="0">
                <a:solidFill>
                  <a:srgbClr val="1F2937"/>
                </a:solidFill>
              </a:rPr>
              <a:t>Logic</a:t>
            </a:r>
            <a:endParaRPr lang="en-US" sz="1050" dirty="0"/>
          </a:p>
        </p:txBody>
      </p:sp>
      <p:sp>
        <p:nvSpPr>
          <p:cNvPr id="17" name="Shape 15"/>
          <p:cNvSpPr/>
          <p:nvPr/>
        </p:nvSpPr>
        <p:spPr>
          <a:xfrm>
            <a:off x="9646920" y="2057400"/>
            <a:ext cx="1920240" cy="960120"/>
          </a:xfrm>
          <a:prstGeom prst="roundRect">
            <a:avLst>
              <a:gd name="adj" fmla="val 10476"/>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9646920" y="2057400"/>
            <a:ext cx="91440" cy="960120"/>
          </a:xfrm>
          <a:prstGeom prst="rect">
            <a:avLst/>
          </a:prstGeom>
          <a:solidFill>
            <a:srgbClr val="2E8B57"/>
          </a:solidFill>
          <a:ln w="12700">
            <a:solidFill>
              <a:srgbClr val="2E8B57"/>
            </a:solidFill>
            <a:prstDash val="solid"/>
          </a:ln>
        </p:spPr>
        <p:txBody>
          <a:bodyPr/>
          <a:lstStyle/>
          <a:p>
            <a:endParaRPr lang="en-IN"/>
          </a:p>
        </p:txBody>
      </p:sp>
      <p:sp>
        <p:nvSpPr>
          <p:cNvPr id="19" name="Text 17"/>
          <p:cNvSpPr/>
          <p:nvPr/>
        </p:nvSpPr>
        <p:spPr>
          <a:xfrm>
            <a:off x="9811512" y="2185416"/>
            <a:ext cx="1645920" cy="74066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Results</a:t>
            </a:r>
            <a:endParaRPr lang="en-US" sz="1050" dirty="0"/>
          </a:p>
          <a:p>
            <a:pPr marL="0" indent="0" algn="ctr">
              <a:buNone/>
            </a:pPr>
            <a:r>
              <a:rPr lang="en-US" sz="1050" b="1" dirty="0">
                <a:solidFill>
                  <a:srgbClr val="1F2937"/>
                </a:solidFill>
              </a:rPr>
              <a:t>Plots • Tables • Text</a:t>
            </a:r>
            <a:endParaRPr lang="en-US" sz="1050" dirty="0"/>
          </a:p>
        </p:txBody>
      </p:sp>
      <p:sp>
        <p:nvSpPr>
          <p:cNvPr id="20" name="Shape 18"/>
          <p:cNvSpPr/>
          <p:nvPr/>
        </p:nvSpPr>
        <p:spPr>
          <a:xfrm flipV="1">
            <a:off x="3200400" y="1783080"/>
            <a:ext cx="411480" cy="731520"/>
          </a:xfrm>
          <a:prstGeom prst="line">
            <a:avLst/>
          </a:prstGeom>
          <a:noFill/>
          <a:ln w="25400">
            <a:solidFill>
              <a:srgbClr val="0B5CAB"/>
            </a:solidFill>
            <a:prstDash val="solid"/>
            <a:headEnd type="none"/>
            <a:tailEnd type="triangle"/>
          </a:ln>
        </p:spPr>
        <p:txBody>
          <a:bodyPr/>
          <a:lstStyle/>
          <a:p>
            <a:endParaRPr lang="en-IN"/>
          </a:p>
        </p:txBody>
      </p:sp>
      <p:sp>
        <p:nvSpPr>
          <p:cNvPr id="21" name="Shape 19"/>
          <p:cNvSpPr/>
          <p:nvPr/>
        </p:nvSpPr>
        <p:spPr>
          <a:xfrm>
            <a:off x="4892040" y="2267712"/>
            <a:ext cx="1" cy="521208"/>
          </a:xfrm>
          <a:prstGeom prst="line">
            <a:avLst/>
          </a:prstGeom>
          <a:noFill/>
          <a:ln w="25400">
            <a:solidFill>
              <a:srgbClr val="008A8A"/>
            </a:solidFill>
            <a:prstDash val="solid"/>
            <a:headEnd type="none"/>
            <a:tailEnd type="triangle"/>
          </a:ln>
        </p:spPr>
        <p:txBody>
          <a:bodyPr/>
          <a:lstStyle/>
          <a:p>
            <a:endParaRPr lang="en-IN"/>
          </a:p>
        </p:txBody>
      </p:sp>
      <p:sp>
        <p:nvSpPr>
          <p:cNvPr id="22" name="Shape 20"/>
          <p:cNvSpPr/>
          <p:nvPr/>
        </p:nvSpPr>
        <p:spPr>
          <a:xfrm>
            <a:off x="6172200" y="3310128"/>
            <a:ext cx="411480" cy="1"/>
          </a:xfrm>
          <a:prstGeom prst="line">
            <a:avLst/>
          </a:prstGeom>
          <a:noFill/>
          <a:ln w="25400">
            <a:solidFill>
              <a:srgbClr val="6F49B8"/>
            </a:solidFill>
            <a:prstDash val="solid"/>
            <a:headEnd type="none"/>
            <a:tailEnd type="triangle"/>
          </a:ln>
        </p:spPr>
        <p:txBody>
          <a:bodyPr/>
          <a:lstStyle/>
          <a:p>
            <a:endParaRPr lang="en-IN"/>
          </a:p>
        </p:txBody>
      </p:sp>
      <p:sp>
        <p:nvSpPr>
          <p:cNvPr id="23" name="Shape 21"/>
          <p:cNvSpPr/>
          <p:nvPr/>
        </p:nvSpPr>
        <p:spPr>
          <a:xfrm flipV="1">
            <a:off x="9098280" y="2514600"/>
            <a:ext cx="502920" cy="795528"/>
          </a:xfrm>
          <a:prstGeom prst="line">
            <a:avLst/>
          </a:prstGeom>
          <a:noFill/>
          <a:ln w="25400">
            <a:solidFill>
              <a:srgbClr val="E98300"/>
            </a:solidFill>
            <a:prstDash val="solid"/>
            <a:headEnd type="none"/>
            <a:tailEnd type="triangle"/>
          </a:ln>
        </p:spPr>
        <p:txBody>
          <a:bodyPr/>
          <a:lstStyle/>
          <a:p>
            <a:endParaRPr lang="en-IN"/>
          </a:p>
        </p:txBody>
      </p:sp>
      <p:sp>
        <p:nvSpPr>
          <p:cNvPr id="24" name="Shape 22"/>
          <p:cNvSpPr/>
          <p:nvPr/>
        </p:nvSpPr>
        <p:spPr>
          <a:xfrm flipH="1">
            <a:off x="2194560" y="3794760"/>
            <a:ext cx="1463040" cy="1"/>
          </a:xfrm>
          <a:prstGeom prst="line">
            <a:avLst/>
          </a:prstGeom>
          <a:noFill/>
          <a:ln w="19050">
            <a:solidFill>
              <a:srgbClr val="D7E1EA"/>
            </a:solidFill>
            <a:prstDash val="solid"/>
            <a:headEnd type="none"/>
            <a:tailEnd type="triangle"/>
          </a:ln>
        </p:spPr>
        <p:txBody>
          <a:bodyPr/>
          <a:lstStyle/>
          <a:p>
            <a:endParaRPr lang="en-IN"/>
          </a:p>
        </p:txBody>
      </p:sp>
      <p:sp>
        <p:nvSpPr>
          <p:cNvPr id="25" name="Text 23"/>
          <p:cNvSpPr/>
          <p:nvPr/>
        </p:nvSpPr>
        <p:spPr>
          <a:xfrm>
            <a:off x="2057400" y="3922776"/>
            <a:ext cx="1828800" cy="228600"/>
          </a:xfrm>
          <a:prstGeom prst="rect">
            <a:avLst/>
          </a:prstGeom>
          <a:noFill/>
          <a:ln/>
        </p:spPr>
        <p:txBody>
          <a:bodyPr wrap="square" lIns="0" tIns="0" rIns="0" bIns="0" rtlCol="0" anchor="ctr">
            <a:normAutofit/>
          </a:bodyPr>
          <a:lstStyle/>
          <a:p>
            <a:pPr marL="0" indent="0" algn="ctr">
              <a:buNone/>
            </a:pPr>
            <a:r>
              <a:rPr lang="en-US" sz="780" dirty="0">
                <a:solidFill>
                  <a:srgbClr val="64748B"/>
                </a:solidFill>
              </a:rPr>
              <a:t>input changes drive updates</a:t>
            </a:r>
            <a:endParaRPr lang="en-US" sz="780" dirty="0"/>
          </a:p>
        </p:txBody>
      </p:sp>
      <p:sp>
        <p:nvSpPr>
          <p:cNvPr id="26"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5</a:t>
            </a:fld>
            <a:endParaRPr lang="en-US"/>
          </a:p>
        </p:txBody>
      </p:sp>
      <p:graphicFrame>
        <p:nvGraphicFramePr>
          <p:cNvPr id="28" name="Object 27">
            <a:extLst>
              <a:ext uri="{FF2B5EF4-FFF2-40B4-BE49-F238E27FC236}">
                <a16:creationId xmlns:a16="http://schemas.microsoft.com/office/drawing/2014/main" id="{8CF4F961-AFCF-222D-B0EF-0DED4FE88D3F}"/>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Input controls as a visual palette</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user inputs drive interactive applications.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777240" y="1417320"/>
            <a:ext cx="3063240" cy="1143000"/>
          </a:xfrm>
          <a:prstGeom prst="roundRect">
            <a:avLst>
              <a:gd name="adj" fmla="val 8800"/>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777240" y="1417320"/>
            <a:ext cx="91440" cy="1143000"/>
          </a:xfrm>
          <a:prstGeom prst="rect">
            <a:avLst/>
          </a:prstGeom>
          <a:solidFill>
            <a:srgbClr val="0B5CAB"/>
          </a:solidFill>
          <a:ln w="12700">
            <a:solidFill>
              <a:srgbClr val="0B5CAB"/>
            </a:solidFill>
            <a:prstDash val="solid"/>
          </a:ln>
        </p:spPr>
        <p:txBody>
          <a:bodyPr/>
          <a:lstStyle/>
          <a:p>
            <a:endParaRPr lang="en-IN"/>
          </a:p>
        </p:txBody>
      </p:sp>
      <p:sp>
        <p:nvSpPr>
          <p:cNvPr id="7" name="Text 5"/>
          <p:cNvSpPr/>
          <p:nvPr/>
        </p:nvSpPr>
        <p:spPr>
          <a:xfrm>
            <a:off x="941832" y="1545336"/>
            <a:ext cx="2788920" cy="923544"/>
          </a:xfrm>
          <a:prstGeom prst="rect">
            <a:avLst/>
          </a:prstGeom>
          <a:noFill/>
          <a:ln/>
        </p:spPr>
        <p:txBody>
          <a:bodyPr wrap="square" lIns="254" tIns="254" rIns="254" bIns="254" rtlCol="0" anchor="ctr">
            <a:normAutofit/>
          </a:bodyPr>
          <a:lstStyle/>
          <a:p>
            <a:pPr marL="0" indent="0" algn="ctr">
              <a:buNone/>
            </a:pPr>
            <a:r>
              <a:rPr lang="en-US" sz="1200" b="1" dirty="0">
                <a:solidFill>
                  <a:srgbClr val="1F2937"/>
                </a:solidFill>
              </a:rPr>
              <a:t>textInput()</a:t>
            </a:r>
            <a:endParaRPr lang="en-US" sz="1200" dirty="0"/>
          </a:p>
          <a:p>
            <a:pPr marL="0" indent="0" algn="ctr">
              <a:buNone/>
            </a:pPr>
            <a:r>
              <a:rPr lang="en-US" sz="1200" b="1" dirty="0">
                <a:solidFill>
                  <a:srgbClr val="1F2937"/>
                </a:solidFill>
              </a:rPr>
              <a:t>Text entry</a:t>
            </a:r>
            <a:endParaRPr lang="en-US" sz="1200" dirty="0"/>
          </a:p>
        </p:txBody>
      </p:sp>
      <p:sp>
        <p:nvSpPr>
          <p:cNvPr id="8" name="Shape 6"/>
          <p:cNvSpPr/>
          <p:nvPr/>
        </p:nvSpPr>
        <p:spPr>
          <a:xfrm>
            <a:off x="4480560" y="1417320"/>
            <a:ext cx="3063240" cy="1143000"/>
          </a:xfrm>
          <a:prstGeom prst="roundRect">
            <a:avLst>
              <a:gd name="adj" fmla="val 8800"/>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4480560" y="1417320"/>
            <a:ext cx="91440" cy="1143000"/>
          </a:xfrm>
          <a:prstGeom prst="rect">
            <a:avLst/>
          </a:prstGeom>
          <a:solidFill>
            <a:srgbClr val="008A8A"/>
          </a:solidFill>
          <a:ln w="12700">
            <a:solidFill>
              <a:srgbClr val="008A8A"/>
            </a:solidFill>
            <a:prstDash val="solid"/>
          </a:ln>
        </p:spPr>
        <p:txBody>
          <a:bodyPr/>
          <a:lstStyle/>
          <a:p>
            <a:endParaRPr lang="en-IN"/>
          </a:p>
        </p:txBody>
      </p:sp>
      <p:sp>
        <p:nvSpPr>
          <p:cNvPr id="10" name="Text 8"/>
          <p:cNvSpPr/>
          <p:nvPr/>
        </p:nvSpPr>
        <p:spPr>
          <a:xfrm>
            <a:off x="4645152" y="1545336"/>
            <a:ext cx="2788920" cy="923544"/>
          </a:xfrm>
          <a:prstGeom prst="rect">
            <a:avLst/>
          </a:prstGeom>
          <a:noFill/>
          <a:ln/>
        </p:spPr>
        <p:txBody>
          <a:bodyPr wrap="square" lIns="254" tIns="254" rIns="254" bIns="254" rtlCol="0" anchor="ctr">
            <a:normAutofit/>
          </a:bodyPr>
          <a:lstStyle/>
          <a:p>
            <a:pPr marL="0" indent="0" algn="ctr">
              <a:buNone/>
            </a:pPr>
            <a:r>
              <a:rPr lang="en-US" sz="1200" b="1" dirty="0">
                <a:solidFill>
                  <a:srgbClr val="1F2937"/>
                </a:solidFill>
              </a:rPr>
              <a:t>selectInput()</a:t>
            </a:r>
            <a:endParaRPr lang="en-US" sz="1200" dirty="0"/>
          </a:p>
          <a:p>
            <a:pPr marL="0" indent="0" algn="ctr">
              <a:buNone/>
            </a:pPr>
            <a:r>
              <a:rPr lang="en-US" sz="1200" b="1" dirty="0">
                <a:solidFill>
                  <a:srgbClr val="1F2937"/>
                </a:solidFill>
              </a:rPr>
              <a:t>Dropdown choice</a:t>
            </a:r>
            <a:endParaRPr lang="en-US" sz="1200" dirty="0"/>
          </a:p>
        </p:txBody>
      </p:sp>
      <p:sp>
        <p:nvSpPr>
          <p:cNvPr id="11" name="Shape 9"/>
          <p:cNvSpPr/>
          <p:nvPr/>
        </p:nvSpPr>
        <p:spPr>
          <a:xfrm>
            <a:off x="8183880" y="1417320"/>
            <a:ext cx="3063240" cy="1143000"/>
          </a:xfrm>
          <a:prstGeom prst="roundRect">
            <a:avLst>
              <a:gd name="adj" fmla="val 8800"/>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8183880" y="1417320"/>
            <a:ext cx="91440" cy="1143000"/>
          </a:xfrm>
          <a:prstGeom prst="rect">
            <a:avLst/>
          </a:prstGeom>
          <a:solidFill>
            <a:srgbClr val="6F49B8"/>
          </a:solidFill>
          <a:ln w="12700">
            <a:solidFill>
              <a:srgbClr val="6F49B8"/>
            </a:solidFill>
            <a:prstDash val="solid"/>
          </a:ln>
        </p:spPr>
        <p:txBody>
          <a:bodyPr/>
          <a:lstStyle/>
          <a:p>
            <a:endParaRPr lang="en-IN"/>
          </a:p>
        </p:txBody>
      </p:sp>
      <p:sp>
        <p:nvSpPr>
          <p:cNvPr id="13" name="Text 11"/>
          <p:cNvSpPr/>
          <p:nvPr/>
        </p:nvSpPr>
        <p:spPr>
          <a:xfrm>
            <a:off x="8348472" y="1545336"/>
            <a:ext cx="2788920" cy="923544"/>
          </a:xfrm>
          <a:prstGeom prst="rect">
            <a:avLst/>
          </a:prstGeom>
          <a:noFill/>
          <a:ln/>
        </p:spPr>
        <p:txBody>
          <a:bodyPr wrap="square" lIns="254" tIns="254" rIns="254" bIns="254" rtlCol="0" anchor="ctr">
            <a:normAutofit/>
          </a:bodyPr>
          <a:lstStyle/>
          <a:p>
            <a:pPr marL="0" indent="0" algn="ctr">
              <a:buNone/>
            </a:pPr>
            <a:r>
              <a:rPr lang="en-US" sz="1200" b="1" dirty="0">
                <a:solidFill>
                  <a:srgbClr val="1F2937"/>
                </a:solidFill>
              </a:rPr>
              <a:t>sliderInput()</a:t>
            </a:r>
            <a:endParaRPr lang="en-US" sz="1200" dirty="0"/>
          </a:p>
          <a:p>
            <a:pPr marL="0" indent="0" algn="ctr">
              <a:buNone/>
            </a:pPr>
            <a:r>
              <a:rPr lang="en-US" sz="1200" b="1" dirty="0">
                <a:solidFill>
                  <a:srgbClr val="1F2937"/>
                </a:solidFill>
              </a:rPr>
              <a:t>Numeric range</a:t>
            </a:r>
            <a:endParaRPr lang="en-US" sz="1200" dirty="0"/>
          </a:p>
        </p:txBody>
      </p:sp>
      <p:sp>
        <p:nvSpPr>
          <p:cNvPr id="14" name="Shape 12"/>
          <p:cNvSpPr/>
          <p:nvPr/>
        </p:nvSpPr>
        <p:spPr>
          <a:xfrm>
            <a:off x="777240" y="3383280"/>
            <a:ext cx="3063240" cy="1143000"/>
          </a:xfrm>
          <a:prstGeom prst="roundRect">
            <a:avLst>
              <a:gd name="adj" fmla="val 8800"/>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777240" y="3383280"/>
            <a:ext cx="91440" cy="1143000"/>
          </a:xfrm>
          <a:prstGeom prst="rect">
            <a:avLst/>
          </a:prstGeom>
          <a:solidFill>
            <a:srgbClr val="E98300"/>
          </a:solidFill>
          <a:ln w="12700">
            <a:solidFill>
              <a:srgbClr val="E98300"/>
            </a:solidFill>
            <a:prstDash val="solid"/>
          </a:ln>
        </p:spPr>
        <p:txBody>
          <a:bodyPr/>
          <a:lstStyle/>
          <a:p>
            <a:endParaRPr lang="en-IN"/>
          </a:p>
        </p:txBody>
      </p:sp>
      <p:sp>
        <p:nvSpPr>
          <p:cNvPr id="16" name="Text 14"/>
          <p:cNvSpPr/>
          <p:nvPr/>
        </p:nvSpPr>
        <p:spPr>
          <a:xfrm>
            <a:off x="941832" y="3511296"/>
            <a:ext cx="2788920" cy="923544"/>
          </a:xfrm>
          <a:prstGeom prst="rect">
            <a:avLst/>
          </a:prstGeom>
          <a:noFill/>
          <a:ln/>
        </p:spPr>
        <p:txBody>
          <a:bodyPr wrap="square" lIns="254" tIns="254" rIns="254" bIns="254" rtlCol="0" anchor="ctr">
            <a:normAutofit/>
          </a:bodyPr>
          <a:lstStyle/>
          <a:p>
            <a:pPr marL="0" indent="0" algn="ctr">
              <a:buNone/>
            </a:pPr>
            <a:r>
              <a:rPr lang="en-US" sz="1200" b="1" dirty="0">
                <a:solidFill>
                  <a:srgbClr val="1F2937"/>
                </a:solidFill>
              </a:rPr>
              <a:t>checkboxInput()</a:t>
            </a:r>
            <a:endParaRPr lang="en-US" sz="1200" dirty="0"/>
          </a:p>
          <a:p>
            <a:pPr marL="0" indent="0" algn="ctr">
              <a:buNone/>
            </a:pPr>
            <a:r>
              <a:rPr lang="en-US" sz="1200" b="1" dirty="0">
                <a:solidFill>
                  <a:srgbClr val="1F2937"/>
                </a:solidFill>
              </a:rPr>
              <a:t>True/false</a:t>
            </a:r>
            <a:endParaRPr lang="en-US" sz="1200" dirty="0"/>
          </a:p>
        </p:txBody>
      </p:sp>
      <p:sp>
        <p:nvSpPr>
          <p:cNvPr id="17" name="Shape 15"/>
          <p:cNvSpPr/>
          <p:nvPr/>
        </p:nvSpPr>
        <p:spPr>
          <a:xfrm>
            <a:off x="4480560" y="3383280"/>
            <a:ext cx="3063240" cy="1143000"/>
          </a:xfrm>
          <a:prstGeom prst="roundRect">
            <a:avLst>
              <a:gd name="adj" fmla="val 8800"/>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4480560" y="3383280"/>
            <a:ext cx="91440" cy="1143000"/>
          </a:xfrm>
          <a:prstGeom prst="rect">
            <a:avLst/>
          </a:prstGeom>
          <a:solidFill>
            <a:srgbClr val="2E8B57"/>
          </a:solidFill>
          <a:ln w="12700">
            <a:solidFill>
              <a:srgbClr val="2E8B57"/>
            </a:solidFill>
            <a:prstDash val="solid"/>
          </a:ln>
        </p:spPr>
        <p:txBody>
          <a:bodyPr/>
          <a:lstStyle/>
          <a:p>
            <a:endParaRPr lang="en-IN"/>
          </a:p>
        </p:txBody>
      </p:sp>
      <p:sp>
        <p:nvSpPr>
          <p:cNvPr id="19" name="Text 17"/>
          <p:cNvSpPr/>
          <p:nvPr/>
        </p:nvSpPr>
        <p:spPr>
          <a:xfrm>
            <a:off x="4645152" y="3511296"/>
            <a:ext cx="2788920" cy="923544"/>
          </a:xfrm>
          <a:prstGeom prst="rect">
            <a:avLst/>
          </a:prstGeom>
          <a:noFill/>
          <a:ln/>
        </p:spPr>
        <p:txBody>
          <a:bodyPr wrap="square" lIns="254" tIns="254" rIns="254" bIns="254" rtlCol="0" anchor="ctr">
            <a:normAutofit/>
          </a:bodyPr>
          <a:lstStyle/>
          <a:p>
            <a:pPr marL="0" indent="0" algn="ctr">
              <a:buNone/>
            </a:pPr>
            <a:r>
              <a:rPr lang="en-US" sz="1200" b="1" dirty="0">
                <a:solidFill>
                  <a:srgbClr val="1F2937"/>
                </a:solidFill>
              </a:rPr>
              <a:t>dateInput()</a:t>
            </a:r>
            <a:endParaRPr lang="en-US" sz="1200" dirty="0"/>
          </a:p>
          <a:p>
            <a:pPr marL="0" indent="0" algn="ctr">
              <a:buNone/>
            </a:pPr>
            <a:r>
              <a:rPr lang="en-US" sz="1200" b="1" dirty="0">
                <a:solidFill>
                  <a:srgbClr val="1F2937"/>
                </a:solidFill>
              </a:rPr>
              <a:t>Date selector</a:t>
            </a:r>
            <a:endParaRPr lang="en-US" sz="1200" dirty="0"/>
          </a:p>
        </p:txBody>
      </p:sp>
      <p:sp>
        <p:nvSpPr>
          <p:cNvPr id="20" name="Shape 18"/>
          <p:cNvSpPr/>
          <p:nvPr/>
        </p:nvSpPr>
        <p:spPr>
          <a:xfrm>
            <a:off x="8183880" y="3383280"/>
            <a:ext cx="3063240" cy="1143000"/>
          </a:xfrm>
          <a:prstGeom prst="roundRect">
            <a:avLst>
              <a:gd name="adj" fmla="val 8800"/>
            </a:avLst>
          </a:prstGeom>
          <a:solidFill>
            <a:srgbClr val="FFFFFF"/>
          </a:solidFill>
          <a:ln w="15240">
            <a:solidFill>
              <a:srgbClr val="C43A31"/>
            </a:solidFill>
            <a:prstDash val="solid"/>
          </a:ln>
          <a:effectLst>
            <a:outerShdw blurRad="12700" dist="8890" dir="2700000" algn="bl" rotWithShape="0">
              <a:srgbClr val="000000">
                <a:alpha val="10000"/>
              </a:srgbClr>
            </a:outerShdw>
          </a:effectLst>
        </p:spPr>
        <p:txBody>
          <a:bodyPr/>
          <a:lstStyle/>
          <a:p>
            <a:endParaRPr lang="en-IN"/>
          </a:p>
        </p:txBody>
      </p:sp>
      <p:sp>
        <p:nvSpPr>
          <p:cNvPr id="21" name="Shape 19"/>
          <p:cNvSpPr/>
          <p:nvPr/>
        </p:nvSpPr>
        <p:spPr>
          <a:xfrm>
            <a:off x="8183880" y="3383280"/>
            <a:ext cx="91440" cy="1143000"/>
          </a:xfrm>
          <a:prstGeom prst="rect">
            <a:avLst/>
          </a:prstGeom>
          <a:solidFill>
            <a:srgbClr val="C43A31"/>
          </a:solidFill>
          <a:ln w="12700">
            <a:solidFill>
              <a:srgbClr val="C43A31"/>
            </a:solidFill>
            <a:prstDash val="solid"/>
          </a:ln>
        </p:spPr>
        <p:txBody>
          <a:bodyPr/>
          <a:lstStyle/>
          <a:p>
            <a:endParaRPr lang="en-IN"/>
          </a:p>
        </p:txBody>
      </p:sp>
      <p:sp>
        <p:nvSpPr>
          <p:cNvPr id="22" name="Text 20"/>
          <p:cNvSpPr/>
          <p:nvPr/>
        </p:nvSpPr>
        <p:spPr>
          <a:xfrm>
            <a:off x="8348472" y="3511296"/>
            <a:ext cx="2788920" cy="923544"/>
          </a:xfrm>
          <a:prstGeom prst="rect">
            <a:avLst/>
          </a:prstGeom>
          <a:noFill/>
          <a:ln/>
        </p:spPr>
        <p:txBody>
          <a:bodyPr wrap="square" lIns="254" tIns="254" rIns="254" bIns="254" rtlCol="0" anchor="ctr">
            <a:normAutofit/>
          </a:bodyPr>
          <a:lstStyle/>
          <a:p>
            <a:pPr marL="0" indent="0" algn="ctr">
              <a:buNone/>
            </a:pPr>
            <a:r>
              <a:rPr lang="en-US" sz="1200" b="1" dirty="0">
                <a:solidFill>
                  <a:srgbClr val="1F2937"/>
                </a:solidFill>
              </a:rPr>
              <a:t>fileInput()</a:t>
            </a:r>
            <a:endParaRPr lang="en-US" sz="1200" dirty="0"/>
          </a:p>
          <a:p>
            <a:pPr marL="0" indent="0" algn="ctr">
              <a:buNone/>
            </a:pPr>
            <a:r>
              <a:rPr lang="en-US" sz="1200" b="1" dirty="0">
                <a:solidFill>
                  <a:srgbClr val="1F2937"/>
                </a:solidFill>
              </a:rPr>
              <a:t>Upload files</a:t>
            </a:r>
            <a:endParaRPr lang="en-US" sz="1200" dirty="0"/>
          </a:p>
        </p:txBody>
      </p:sp>
      <p:sp>
        <p:nvSpPr>
          <p:cNvPr id="23" name="Shape 21"/>
          <p:cNvSpPr/>
          <p:nvPr/>
        </p:nvSpPr>
        <p:spPr>
          <a:xfrm>
            <a:off x="1234440" y="5532120"/>
            <a:ext cx="9738360" cy="411480"/>
          </a:xfrm>
          <a:prstGeom prst="roundRect">
            <a:avLst>
              <a:gd name="adj" fmla="val 26667"/>
            </a:avLst>
          </a:prstGeom>
          <a:solidFill>
            <a:srgbClr val="EAF4FF"/>
          </a:solidFill>
          <a:ln w="12700">
            <a:solidFill>
              <a:srgbClr val="D7E1EA"/>
            </a:solidFill>
            <a:prstDash val="solid"/>
          </a:ln>
        </p:spPr>
        <p:txBody>
          <a:bodyPr/>
          <a:lstStyle/>
          <a:p>
            <a:endParaRPr lang="en-IN"/>
          </a:p>
        </p:txBody>
      </p:sp>
      <p:sp>
        <p:nvSpPr>
          <p:cNvPr id="24" name="Text 22"/>
          <p:cNvSpPr/>
          <p:nvPr/>
        </p:nvSpPr>
        <p:spPr>
          <a:xfrm>
            <a:off x="1417320" y="5641848"/>
            <a:ext cx="9372600" cy="137160"/>
          </a:xfrm>
          <a:prstGeom prst="rect">
            <a:avLst/>
          </a:prstGeom>
          <a:noFill/>
          <a:ln/>
        </p:spPr>
        <p:txBody>
          <a:bodyPr wrap="square" lIns="0" tIns="0" rIns="0" bIns="0" rtlCol="0" anchor="ctr"/>
          <a:lstStyle/>
          <a:p>
            <a:pPr marL="0" indent="0" algn="ctr">
              <a:buNone/>
            </a:pPr>
            <a:r>
              <a:rPr lang="en-US" sz="950" b="1" dirty="0">
                <a:solidFill>
                  <a:srgbClr val="0B2E4A"/>
                </a:solidFill>
              </a:rPr>
              <a:t>Design principle: show only the input controls that support the learner exercise.</a:t>
            </a:r>
            <a:endParaRPr lang="en-US" sz="95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6</a:t>
            </a:fld>
            <a:endParaRPr lang="en-US"/>
          </a:p>
        </p:txBody>
      </p:sp>
      <p:graphicFrame>
        <p:nvGraphicFramePr>
          <p:cNvPr id="27" name="Object 26">
            <a:extLst>
              <a:ext uri="{FF2B5EF4-FFF2-40B4-BE49-F238E27FC236}">
                <a16:creationId xmlns:a16="http://schemas.microsoft.com/office/drawing/2014/main" id="{EF057385-BD8F-29EF-DF6B-71AB27B65345}"/>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Output components as a dashboard palette</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server logic renders tables, plots, text, interactive tables, and downloads.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868680" y="1508760"/>
            <a:ext cx="1874520" cy="1005840"/>
          </a:xfrm>
          <a:prstGeom prst="roundRect">
            <a:avLst>
              <a:gd name="adj" fmla="val 10000"/>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868680" y="1508760"/>
            <a:ext cx="91440" cy="1005840"/>
          </a:xfrm>
          <a:prstGeom prst="rect">
            <a:avLst/>
          </a:prstGeom>
          <a:solidFill>
            <a:srgbClr val="0B5CAB"/>
          </a:solidFill>
          <a:ln w="12700">
            <a:solidFill>
              <a:srgbClr val="0B5CAB"/>
            </a:solidFill>
            <a:prstDash val="solid"/>
          </a:ln>
        </p:spPr>
        <p:txBody>
          <a:bodyPr/>
          <a:lstStyle/>
          <a:p>
            <a:endParaRPr lang="en-IN"/>
          </a:p>
        </p:txBody>
      </p:sp>
      <p:sp>
        <p:nvSpPr>
          <p:cNvPr id="7" name="Text 5"/>
          <p:cNvSpPr/>
          <p:nvPr/>
        </p:nvSpPr>
        <p:spPr>
          <a:xfrm>
            <a:off x="1033272" y="1636776"/>
            <a:ext cx="1600200" cy="786384"/>
          </a:xfrm>
          <a:prstGeom prst="rect">
            <a:avLst/>
          </a:prstGeom>
          <a:noFill/>
          <a:ln/>
        </p:spPr>
        <p:txBody>
          <a:bodyPr wrap="square" lIns="254" tIns="254" rIns="254" bIns="254" rtlCol="0" anchor="ctr">
            <a:normAutofit/>
          </a:bodyPr>
          <a:lstStyle/>
          <a:p>
            <a:pPr marL="0" indent="0" algn="ctr">
              <a:buNone/>
            </a:pPr>
            <a:r>
              <a:rPr lang="en-US" sz="900" b="1" dirty="0">
                <a:solidFill>
                  <a:srgbClr val="1F2937"/>
                </a:solidFill>
              </a:rPr>
              <a:t>plotOutput()</a:t>
            </a:r>
            <a:endParaRPr lang="en-US" sz="900" dirty="0"/>
          </a:p>
          <a:p>
            <a:pPr marL="0" indent="0" algn="ctr">
              <a:buNone/>
            </a:pPr>
            <a:r>
              <a:rPr lang="en-US" sz="900" b="1" dirty="0">
                <a:solidFill>
                  <a:srgbClr val="1F2937"/>
                </a:solidFill>
              </a:rPr>
              <a:t>Graphs</a:t>
            </a:r>
            <a:endParaRPr lang="en-US" sz="900" dirty="0"/>
          </a:p>
        </p:txBody>
      </p:sp>
      <p:sp>
        <p:nvSpPr>
          <p:cNvPr id="8" name="Shape 6"/>
          <p:cNvSpPr/>
          <p:nvPr/>
        </p:nvSpPr>
        <p:spPr>
          <a:xfrm>
            <a:off x="3108960" y="1508760"/>
            <a:ext cx="1874520" cy="1005840"/>
          </a:xfrm>
          <a:prstGeom prst="roundRect">
            <a:avLst>
              <a:gd name="adj" fmla="val 10000"/>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3108960" y="1508760"/>
            <a:ext cx="91440" cy="1005840"/>
          </a:xfrm>
          <a:prstGeom prst="rect">
            <a:avLst/>
          </a:prstGeom>
          <a:solidFill>
            <a:srgbClr val="008A8A"/>
          </a:solidFill>
          <a:ln w="12700">
            <a:solidFill>
              <a:srgbClr val="008A8A"/>
            </a:solidFill>
            <a:prstDash val="solid"/>
          </a:ln>
        </p:spPr>
        <p:txBody>
          <a:bodyPr/>
          <a:lstStyle/>
          <a:p>
            <a:endParaRPr lang="en-IN"/>
          </a:p>
        </p:txBody>
      </p:sp>
      <p:sp>
        <p:nvSpPr>
          <p:cNvPr id="10" name="Text 8"/>
          <p:cNvSpPr/>
          <p:nvPr/>
        </p:nvSpPr>
        <p:spPr>
          <a:xfrm>
            <a:off x="3273552" y="1636776"/>
            <a:ext cx="1600200" cy="786384"/>
          </a:xfrm>
          <a:prstGeom prst="rect">
            <a:avLst/>
          </a:prstGeom>
          <a:noFill/>
          <a:ln/>
        </p:spPr>
        <p:txBody>
          <a:bodyPr wrap="square" lIns="254" tIns="254" rIns="254" bIns="254" rtlCol="0" anchor="ctr">
            <a:normAutofit/>
          </a:bodyPr>
          <a:lstStyle/>
          <a:p>
            <a:pPr marL="0" indent="0" algn="ctr">
              <a:buNone/>
            </a:pPr>
            <a:r>
              <a:rPr lang="en-US" sz="900" b="1" dirty="0">
                <a:solidFill>
                  <a:srgbClr val="1F2937"/>
                </a:solidFill>
              </a:rPr>
              <a:t>tableOutput()</a:t>
            </a:r>
            <a:endParaRPr lang="en-US" sz="900" dirty="0"/>
          </a:p>
          <a:p>
            <a:pPr marL="0" indent="0" algn="ctr">
              <a:buNone/>
            </a:pPr>
            <a:r>
              <a:rPr lang="en-US" sz="900" b="1" dirty="0">
                <a:solidFill>
                  <a:srgbClr val="1F2937"/>
                </a:solidFill>
              </a:rPr>
              <a:t>Tables</a:t>
            </a:r>
            <a:endParaRPr lang="en-US" sz="900" dirty="0"/>
          </a:p>
        </p:txBody>
      </p:sp>
      <p:sp>
        <p:nvSpPr>
          <p:cNvPr id="11" name="Shape 9"/>
          <p:cNvSpPr/>
          <p:nvPr/>
        </p:nvSpPr>
        <p:spPr>
          <a:xfrm>
            <a:off x="5349240" y="1508760"/>
            <a:ext cx="1874520" cy="1005840"/>
          </a:xfrm>
          <a:prstGeom prst="roundRect">
            <a:avLst>
              <a:gd name="adj" fmla="val 10000"/>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5349240" y="1508760"/>
            <a:ext cx="91440" cy="1005840"/>
          </a:xfrm>
          <a:prstGeom prst="rect">
            <a:avLst/>
          </a:prstGeom>
          <a:solidFill>
            <a:srgbClr val="6F49B8"/>
          </a:solidFill>
          <a:ln w="12700">
            <a:solidFill>
              <a:srgbClr val="6F49B8"/>
            </a:solidFill>
            <a:prstDash val="solid"/>
          </a:ln>
        </p:spPr>
        <p:txBody>
          <a:bodyPr/>
          <a:lstStyle/>
          <a:p>
            <a:endParaRPr lang="en-IN"/>
          </a:p>
        </p:txBody>
      </p:sp>
      <p:sp>
        <p:nvSpPr>
          <p:cNvPr id="13" name="Text 11"/>
          <p:cNvSpPr/>
          <p:nvPr/>
        </p:nvSpPr>
        <p:spPr>
          <a:xfrm>
            <a:off x="5513832" y="1636776"/>
            <a:ext cx="1600200" cy="786384"/>
          </a:xfrm>
          <a:prstGeom prst="rect">
            <a:avLst/>
          </a:prstGeom>
          <a:noFill/>
          <a:ln/>
        </p:spPr>
        <p:txBody>
          <a:bodyPr wrap="square" lIns="254" tIns="254" rIns="254" bIns="254" rtlCol="0" anchor="ctr">
            <a:normAutofit/>
          </a:bodyPr>
          <a:lstStyle/>
          <a:p>
            <a:pPr marL="0" indent="0" algn="ctr">
              <a:buNone/>
            </a:pPr>
            <a:r>
              <a:rPr lang="en-US" sz="900" b="1" dirty="0">
                <a:solidFill>
                  <a:srgbClr val="1F2937"/>
                </a:solidFill>
              </a:rPr>
              <a:t>DT::dataTableOutput()</a:t>
            </a:r>
            <a:endParaRPr lang="en-US" sz="900" dirty="0"/>
          </a:p>
          <a:p>
            <a:pPr marL="0" indent="0" algn="ctr">
              <a:buNone/>
            </a:pPr>
            <a:r>
              <a:rPr lang="en-US" sz="900" b="1" dirty="0">
                <a:solidFill>
                  <a:srgbClr val="1F2937"/>
                </a:solidFill>
              </a:rPr>
              <a:t>Interactive tables</a:t>
            </a:r>
            <a:endParaRPr lang="en-US" sz="900" dirty="0"/>
          </a:p>
        </p:txBody>
      </p:sp>
      <p:sp>
        <p:nvSpPr>
          <p:cNvPr id="14" name="Shape 12"/>
          <p:cNvSpPr/>
          <p:nvPr/>
        </p:nvSpPr>
        <p:spPr>
          <a:xfrm>
            <a:off x="7589520" y="1508760"/>
            <a:ext cx="1874520" cy="1005840"/>
          </a:xfrm>
          <a:prstGeom prst="roundRect">
            <a:avLst>
              <a:gd name="adj" fmla="val 10000"/>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7589520" y="1508760"/>
            <a:ext cx="91440" cy="1005840"/>
          </a:xfrm>
          <a:prstGeom prst="rect">
            <a:avLst/>
          </a:prstGeom>
          <a:solidFill>
            <a:srgbClr val="E98300"/>
          </a:solidFill>
          <a:ln w="12700">
            <a:solidFill>
              <a:srgbClr val="E98300"/>
            </a:solidFill>
            <a:prstDash val="solid"/>
          </a:ln>
        </p:spPr>
        <p:txBody>
          <a:bodyPr/>
          <a:lstStyle/>
          <a:p>
            <a:endParaRPr lang="en-IN"/>
          </a:p>
        </p:txBody>
      </p:sp>
      <p:sp>
        <p:nvSpPr>
          <p:cNvPr id="16" name="Text 14"/>
          <p:cNvSpPr/>
          <p:nvPr/>
        </p:nvSpPr>
        <p:spPr>
          <a:xfrm>
            <a:off x="7754112" y="1636776"/>
            <a:ext cx="1600200" cy="786384"/>
          </a:xfrm>
          <a:prstGeom prst="rect">
            <a:avLst/>
          </a:prstGeom>
          <a:noFill/>
          <a:ln/>
        </p:spPr>
        <p:txBody>
          <a:bodyPr wrap="square" lIns="254" tIns="254" rIns="254" bIns="254" rtlCol="0" anchor="ctr">
            <a:normAutofit/>
          </a:bodyPr>
          <a:lstStyle/>
          <a:p>
            <a:pPr marL="0" indent="0" algn="ctr">
              <a:buNone/>
            </a:pPr>
            <a:r>
              <a:rPr lang="en-US" sz="900" b="1" dirty="0">
                <a:solidFill>
                  <a:srgbClr val="1F2937"/>
                </a:solidFill>
              </a:rPr>
              <a:t>textOutput()</a:t>
            </a:r>
            <a:endParaRPr lang="en-US" sz="900" dirty="0"/>
          </a:p>
          <a:p>
            <a:pPr marL="0" indent="0" algn="ctr">
              <a:buNone/>
            </a:pPr>
            <a:r>
              <a:rPr lang="en-US" sz="900" b="1" dirty="0">
                <a:solidFill>
                  <a:srgbClr val="1F2937"/>
                </a:solidFill>
              </a:rPr>
              <a:t>Text</a:t>
            </a:r>
            <a:endParaRPr lang="en-US" sz="900" dirty="0"/>
          </a:p>
        </p:txBody>
      </p:sp>
      <p:sp>
        <p:nvSpPr>
          <p:cNvPr id="17" name="Shape 15"/>
          <p:cNvSpPr/>
          <p:nvPr/>
        </p:nvSpPr>
        <p:spPr>
          <a:xfrm>
            <a:off x="9829800" y="1508760"/>
            <a:ext cx="1874520" cy="1005840"/>
          </a:xfrm>
          <a:prstGeom prst="roundRect">
            <a:avLst>
              <a:gd name="adj" fmla="val 10000"/>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9829800" y="1508760"/>
            <a:ext cx="91440" cy="1005840"/>
          </a:xfrm>
          <a:prstGeom prst="rect">
            <a:avLst/>
          </a:prstGeom>
          <a:solidFill>
            <a:srgbClr val="2E8B57"/>
          </a:solidFill>
          <a:ln w="12700">
            <a:solidFill>
              <a:srgbClr val="2E8B57"/>
            </a:solidFill>
            <a:prstDash val="solid"/>
          </a:ln>
        </p:spPr>
        <p:txBody>
          <a:bodyPr/>
          <a:lstStyle/>
          <a:p>
            <a:endParaRPr lang="en-IN"/>
          </a:p>
        </p:txBody>
      </p:sp>
      <p:sp>
        <p:nvSpPr>
          <p:cNvPr id="19" name="Text 17"/>
          <p:cNvSpPr/>
          <p:nvPr/>
        </p:nvSpPr>
        <p:spPr>
          <a:xfrm>
            <a:off x="9994392" y="1636776"/>
            <a:ext cx="1600200" cy="786384"/>
          </a:xfrm>
          <a:prstGeom prst="rect">
            <a:avLst/>
          </a:prstGeom>
          <a:noFill/>
          <a:ln/>
        </p:spPr>
        <p:txBody>
          <a:bodyPr wrap="square" lIns="254" tIns="254" rIns="254" bIns="254" rtlCol="0" anchor="ctr">
            <a:normAutofit/>
          </a:bodyPr>
          <a:lstStyle/>
          <a:p>
            <a:pPr marL="0" indent="0" algn="ctr">
              <a:buNone/>
            </a:pPr>
            <a:r>
              <a:rPr lang="en-US" sz="900" b="1" dirty="0">
                <a:solidFill>
                  <a:srgbClr val="1F2937"/>
                </a:solidFill>
              </a:rPr>
              <a:t>downloadButton()</a:t>
            </a:r>
            <a:endParaRPr lang="en-US" sz="900" dirty="0"/>
          </a:p>
          <a:p>
            <a:pPr marL="0" indent="0" algn="ctr">
              <a:buNone/>
            </a:pPr>
            <a:r>
              <a:rPr lang="en-US" sz="900" b="1" dirty="0">
                <a:solidFill>
                  <a:srgbClr val="1F2937"/>
                </a:solidFill>
              </a:rPr>
              <a:t>Downloads</a:t>
            </a:r>
            <a:endParaRPr lang="en-US" sz="900" dirty="0"/>
          </a:p>
        </p:txBody>
      </p:sp>
      <p:sp>
        <p:nvSpPr>
          <p:cNvPr id="20" name="Shape 18"/>
          <p:cNvSpPr/>
          <p:nvPr/>
        </p:nvSpPr>
        <p:spPr>
          <a:xfrm>
            <a:off x="1508760" y="3657600"/>
            <a:ext cx="2377440" cy="914400"/>
          </a:xfrm>
          <a:prstGeom prst="roundRect">
            <a:avLst>
              <a:gd name="adj" fmla="val 11000"/>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21" name="Shape 19"/>
          <p:cNvSpPr/>
          <p:nvPr/>
        </p:nvSpPr>
        <p:spPr>
          <a:xfrm>
            <a:off x="1508760" y="3657600"/>
            <a:ext cx="91440" cy="914400"/>
          </a:xfrm>
          <a:prstGeom prst="rect">
            <a:avLst/>
          </a:prstGeom>
          <a:solidFill>
            <a:srgbClr val="E98300"/>
          </a:solidFill>
          <a:ln w="12700">
            <a:solidFill>
              <a:srgbClr val="E98300"/>
            </a:solidFill>
            <a:prstDash val="solid"/>
          </a:ln>
        </p:spPr>
        <p:txBody>
          <a:bodyPr/>
          <a:lstStyle/>
          <a:p>
            <a:endParaRPr lang="en-IN"/>
          </a:p>
        </p:txBody>
      </p:sp>
      <p:sp>
        <p:nvSpPr>
          <p:cNvPr id="22" name="Text 20"/>
          <p:cNvSpPr/>
          <p:nvPr/>
        </p:nvSpPr>
        <p:spPr>
          <a:xfrm>
            <a:off x="1673352" y="3785616"/>
            <a:ext cx="210312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Server</a:t>
            </a:r>
            <a:endParaRPr lang="en-US" sz="1050" dirty="0"/>
          </a:p>
          <a:p>
            <a:pPr marL="0" indent="0" algn="ctr">
              <a:buNone/>
            </a:pPr>
            <a:r>
              <a:rPr lang="en-US" sz="1050" b="1" dirty="0">
                <a:solidFill>
                  <a:srgbClr val="1F2937"/>
                </a:solidFill>
              </a:rPr>
              <a:t>Logic</a:t>
            </a:r>
            <a:endParaRPr lang="en-US" sz="1050" dirty="0"/>
          </a:p>
        </p:txBody>
      </p:sp>
      <p:sp>
        <p:nvSpPr>
          <p:cNvPr id="23" name="Shape 21"/>
          <p:cNvSpPr/>
          <p:nvPr/>
        </p:nvSpPr>
        <p:spPr>
          <a:xfrm>
            <a:off x="4892040" y="3657600"/>
            <a:ext cx="2377440" cy="914400"/>
          </a:xfrm>
          <a:prstGeom prst="roundRect">
            <a:avLst>
              <a:gd name="adj" fmla="val 11000"/>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24" name="Shape 22"/>
          <p:cNvSpPr/>
          <p:nvPr/>
        </p:nvSpPr>
        <p:spPr>
          <a:xfrm>
            <a:off x="4892040" y="3657600"/>
            <a:ext cx="91440" cy="914400"/>
          </a:xfrm>
          <a:prstGeom prst="rect">
            <a:avLst/>
          </a:prstGeom>
          <a:solidFill>
            <a:srgbClr val="6F49B8"/>
          </a:solidFill>
          <a:ln w="12700">
            <a:solidFill>
              <a:srgbClr val="6F49B8"/>
            </a:solidFill>
            <a:prstDash val="solid"/>
          </a:ln>
        </p:spPr>
        <p:txBody>
          <a:bodyPr/>
          <a:lstStyle/>
          <a:p>
            <a:endParaRPr lang="en-IN"/>
          </a:p>
        </p:txBody>
      </p:sp>
      <p:sp>
        <p:nvSpPr>
          <p:cNvPr id="25" name="Text 23"/>
          <p:cNvSpPr/>
          <p:nvPr/>
        </p:nvSpPr>
        <p:spPr>
          <a:xfrm>
            <a:off x="5056632" y="3785616"/>
            <a:ext cx="210312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Render</a:t>
            </a:r>
            <a:endParaRPr lang="en-US" sz="1050" dirty="0"/>
          </a:p>
          <a:p>
            <a:pPr marL="0" indent="0" algn="ctr">
              <a:buNone/>
            </a:pPr>
            <a:r>
              <a:rPr lang="en-US" sz="1050" b="1" dirty="0">
                <a:solidFill>
                  <a:srgbClr val="1F2937"/>
                </a:solidFill>
              </a:rPr>
              <a:t>Function</a:t>
            </a:r>
            <a:endParaRPr lang="en-US" sz="1050" dirty="0"/>
          </a:p>
        </p:txBody>
      </p:sp>
      <p:sp>
        <p:nvSpPr>
          <p:cNvPr id="26" name="Shape 24"/>
          <p:cNvSpPr/>
          <p:nvPr/>
        </p:nvSpPr>
        <p:spPr>
          <a:xfrm>
            <a:off x="8275320" y="3657600"/>
            <a:ext cx="2377440" cy="914400"/>
          </a:xfrm>
          <a:prstGeom prst="roundRect">
            <a:avLst>
              <a:gd name="adj" fmla="val 11000"/>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27" name="Shape 25"/>
          <p:cNvSpPr/>
          <p:nvPr/>
        </p:nvSpPr>
        <p:spPr>
          <a:xfrm>
            <a:off x="8275320" y="3657600"/>
            <a:ext cx="91440" cy="914400"/>
          </a:xfrm>
          <a:prstGeom prst="rect">
            <a:avLst/>
          </a:prstGeom>
          <a:solidFill>
            <a:srgbClr val="2E8B57"/>
          </a:solidFill>
          <a:ln w="12700">
            <a:solidFill>
              <a:srgbClr val="2E8B57"/>
            </a:solidFill>
            <a:prstDash val="solid"/>
          </a:ln>
        </p:spPr>
        <p:txBody>
          <a:bodyPr/>
          <a:lstStyle/>
          <a:p>
            <a:endParaRPr lang="en-IN"/>
          </a:p>
        </p:txBody>
      </p:sp>
      <p:sp>
        <p:nvSpPr>
          <p:cNvPr id="28" name="Text 26"/>
          <p:cNvSpPr/>
          <p:nvPr/>
        </p:nvSpPr>
        <p:spPr>
          <a:xfrm>
            <a:off x="8439912" y="3785616"/>
            <a:ext cx="210312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Visible</a:t>
            </a:r>
            <a:endParaRPr lang="en-US" sz="1050" dirty="0"/>
          </a:p>
          <a:p>
            <a:pPr marL="0" indent="0" algn="ctr">
              <a:buNone/>
            </a:pPr>
            <a:r>
              <a:rPr lang="en-US" sz="1050" b="1" dirty="0">
                <a:solidFill>
                  <a:srgbClr val="1F2937"/>
                </a:solidFill>
              </a:rPr>
              <a:t>Output</a:t>
            </a:r>
            <a:endParaRPr lang="en-US" sz="1050" dirty="0"/>
          </a:p>
        </p:txBody>
      </p:sp>
      <p:sp>
        <p:nvSpPr>
          <p:cNvPr id="29" name="Shape 27"/>
          <p:cNvSpPr/>
          <p:nvPr/>
        </p:nvSpPr>
        <p:spPr>
          <a:xfrm>
            <a:off x="3913632" y="4114800"/>
            <a:ext cx="914400" cy="1"/>
          </a:xfrm>
          <a:prstGeom prst="line">
            <a:avLst/>
          </a:prstGeom>
          <a:noFill/>
          <a:ln w="25400">
            <a:solidFill>
              <a:srgbClr val="64748B"/>
            </a:solidFill>
            <a:prstDash val="solid"/>
            <a:headEnd type="none"/>
            <a:tailEnd type="triangle"/>
          </a:ln>
        </p:spPr>
        <p:txBody>
          <a:bodyPr/>
          <a:lstStyle/>
          <a:p>
            <a:endParaRPr lang="en-IN"/>
          </a:p>
        </p:txBody>
      </p:sp>
      <p:sp>
        <p:nvSpPr>
          <p:cNvPr id="30" name="Shape 28"/>
          <p:cNvSpPr/>
          <p:nvPr/>
        </p:nvSpPr>
        <p:spPr>
          <a:xfrm>
            <a:off x="7296912" y="4114800"/>
            <a:ext cx="914400" cy="1"/>
          </a:xfrm>
          <a:prstGeom prst="line">
            <a:avLst/>
          </a:prstGeom>
          <a:noFill/>
          <a:ln w="25400">
            <a:solidFill>
              <a:srgbClr val="64748B"/>
            </a:solidFill>
            <a:prstDash val="solid"/>
            <a:headEnd type="none"/>
            <a:tailEnd type="triangle"/>
          </a:ln>
        </p:spPr>
        <p:txBody>
          <a:bodyPr/>
          <a:lstStyle/>
          <a:p>
            <a:endParaRPr lang="en-IN"/>
          </a:p>
        </p:txBody>
      </p:sp>
      <p:sp>
        <p:nvSpPr>
          <p:cNvPr id="31"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7</a:t>
            </a:fld>
            <a:endParaRPr lang="en-US"/>
          </a:p>
        </p:txBody>
      </p:sp>
      <p:graphicFrame>
        <p:nvGraphicFramePr>
          <p:cNvPr id="33" name="Object 32">
            <a:extLst>
              <a:ext uri="{FF2B5EF4-FFF2-40B4-BE49-F238E27FC236}">
                <a16:creationId xmlns:a16="http://schemas.microsoft.com/office/drawing/2014/main" id="{5A4628C0-E7D5-49E8-234B-8509332DD280}"/>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First Shiny app lifecycle</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every app is built from UI, Server, and shinyApp().</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685800" y="1828800"/>
            <a:ext cx="621792" cy="621792"/>
          </a:xfrm>
          <a:prstGeom prst="ellipse">
            <a:avLst/>
          </a:prstGeom>
          <a:solidFill>
            <a:srgbClr val="0B5CAB"/>
          </a:solidFill>
          <a:ln w="12700">
            <a:solidFill>
              <a:srgbClr val="0B5CAB"/>
            </a:solidFill>
            <a:prstDash val="solid"/>
          </a:ln>
        </p:spPr>
        <p:txBody>
          <a:bodyPr/>
          <a:lstStyle/>
          <a:p>
            <a:endParaRPr lang="en-IN"/>
          </a:p>
        </p:txBody>
      </p:sp>
      <p:sp>
        <p:nvSpPr>
          <p:cNvPr id="6" name="Text 4"/>
          <p:cNvSpPr/>
          <p:nvPr/>
        </p:nvSpPr>
        <p:spPr>
          <a:xfrm>
            <a:off x="731520" y="198424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Shape 5"/>
          <p:cNvSpPr/>
          <p:nvPr/>
        </p:nvSpPr>
        <p:spPr>
          <a:xfrm>
            <a:off x="548640" y="2743200"/>
            <a:ext cx="1828800" cy="960120"/>
          </a:xfrm>
          <a:prstGeom prst="roundRect">
            <a:avLst>
              <a:gd name="adj" fmla="val 10476"/>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8" name="Shape 6"/>
          <p:cNvSpPr/>
          <p:nvPr/>
        </p:nvSpPr>
        <p:spPr>
          <a:xfrm>
            <a:off x="548640" y="2743200"/>
            <a:ext cx="91440" cy="960120"/>
          </a:xfrm>
          <a:prstGeom prst="rect">
            <a:avLst/>
          </a:prstGeom>
          <a:solidFill>
            <a:srgbClr val="0B5CAB"/>
          </a:solidFill>
          <a:ln w="12700">
            <a:solidFill>
              <a:srgbClr val="0B5CAB"/>
            </a:solidFill>
            <a:prstDash val="solid"/>
          </a:ln>
        </p:spPr>
        <p:txBody>
          <a:bodyPr/>
          <a:lstStyle/>
          <a:p>
            <a:endParaRPr lang="en-IN"/>
          </a:p>
        </p:txBody>
      </p:sp>
      <p:sp>
        <p:nvSpPr>
          <p:cNvPr id="9" name="Text 7"/>
          <p:cNvSpPr/>
          <p:nvPr/>
        </p:nvSpPr>
        <p:spPr>
          <a:xfrm>
            <a:off x="713232" y="2871216"/>
            <a:ext cx="1554480" cy="74066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Load package</a:t>
            </a:r>
            <a:endParaRPr lang="en-US" sz="850" dirty="0"/>
          </a:p>
          <a:p>
            <a:pPr marL="0" indent="0" algn="ctr">
              <a:buNone/>
            </a:pPr>
            <a:r>
              <a:rPr lang="en-US" sz="850" b="1" dirty="0">
                <a:solidFill>
                  <a:srgbClr val="1F2937"/>
                </a:solidFill>
              </a:rPr>
              <a:t>library(shiny)</a:t>
            </a:r>
            <a:endParaRPr lang="en-US" sz="850" dirty="0"/>
          </a:p>
        </p:txBody>
      </p:sp>
      <p:sp>
        <p:nvSpPr>
          <p:cNvPr id="10" name="Shape 8"/>
          <p:cNvSpPr/>
          <p:nvPr/>
        </p:nvSpPr>
        <p:spPr>
          <a:xfrm>
            <a:off x="1371600" y="2139696"/>
            <a:ext cx="1371600" cy="1"/>
          </a:xfrm>
          <a:prstGeom prst="line">
            <a:avLst/>
          </a:prstGeom>
          <a:noFill/>
          <a:ln w="25400">
            <a:solidFill>
              <a:srgbClr val="D7E1EA"/>
            </a:solidFill>
            <a:prstDash val="solid"/>
            <a:headEnd type="none"/>
            <a:tailEnd type="triangle"/>
          </a:ln>
        </p:spPr>
        <p:txBody>
          <a:bodyPr/>
          <a:lstStyle/>
          <a:p>
            <a:endParaRPr lang="en-IN"/>
          </a:p>
        </p:txBody>
      </p:sp>
      <p:sp>
        <p:nvSpPr>
          <p:cNvPr id="11" name="Shape 9"/>
          <p:cNvSpPr/>
          <p:nvPr/>
        </p:nvSpPr>
        <p:spPr>
          <a:xfrm>
            <a:off x="2926080" y="1828800"/>
            <a:ext cx="621792" cy="621792"/>
          </a:xfrm>
          <a:prstGeom prst="ellipse">
            <a:avLst/>
          </a:prstGeom>
          <a:solidFill>
            <a:srgbClr val="008A8A"/>
          </a:solidFill>
          <a:ln w="12700">
            <a:solidFill>
              <a:srgbClr val="008A8A"/>
            </a:solidFill>
            <a:prstDash val="solid"/>
          </a:ln>
        </p:spPr>
        <p:txBody>
          <a:bodyPr/>
          <a:lstStyle/>
          <a:p>
            <a:endParaRPr lang="en-IN"/>
          </a:p>
        </p:txBody>
      </p:sp>
      <p:sp>
        <p:nvSpPr>
          <p:cNvPr id="12" name="Text 10"/>
          <p:cNvSpPr/>
          <p:nvPr/>
        </p:nvSpPr>
        <p:spPr>
          <a:xfrm>
            <a:off x="2971800" y="198424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Shape 11"/>
          <p:cNvSpPr/>
          <p:nvPr/>
        </p:nvSpPr>
        <p:spPr>
          <a:xfrm>
            <a:off x="2788920" y="2743200"/>
            <a:ext cx="1828800" cy="960120"/>
          </a:xfrm>
          <a:prstGeom prst="roundRect">
            <a:avLst>
              <a:gd name="adj" fmla="val 10476"/>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14" name="Shape 12"/>
          <p:cNvSpPr/>
          <p:nvPr/>
        </p:nvSpPr>
        <p:spPr>
          <a:xfrm>
            <a:off x="2788920" y="2743200"/>
            <a:ext cx="91440" cy="960120"/>
          </a:xfrm>
          <a:prstGeom prst="rect">
            <a:avLst/>
          </a:prstGeom>
          <a:solidFill>
            <a:srgbClr val="008A8A"/>
          </a:solidFill>
          <a:ln w="12700">
            <a:solidFill>
              <a:srgbClr val="008A8A"/>
            </a:solidFill>
            <a:prstDash val="solid"/>
          </a:ln>
        </p:spPr>
        <p:txBody>
          <a:bodyPr/>
          <a:lstStyle/>
          <a:p>
            <a:endParaRPr lang="en-IN"/>
          </a:p>
        </p:txBody>
      </p:sp>
      <p:sp>
        <p:nvSpPr>
          <p:cNvPr id="15" name="Text 13"/>
          <p:cNvSpPr/>
          <p:nvPr/>
        </p:nvSpPr>
        <p:spPr>
          <a:xfrm>
            <a:off x="2953512" y="2871216"/>
            <a:ext cx="1554480" cy="74066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Define UI</a:t>
            </a:r>
            <a:endParaRPr lang="en-US" sz="850" dirty="0"/>
          </a:p>
          <a:p>
            <a:pPr marL="0" indent="0" algn="ctr">
              <a:buNone/>
            </a:pPr>
            <a:r>
              <a:rPr lang="en-US" sz="850" b="1" dirty="0">
                <a:solidFill>
                  <a:srgbClr val="1F2937"/>
                </a:solidFill>
              </a:rPr>
              <a:t>fluidPage()</a:t>
            </a:r>
            <a:endParaRPr lang="en-US" sz="850" dirty="0"/>
          </a:p>
        </p:txBody>
      </p:sp>
      <p:sp>
        <p:nvSpPr>
          <p:cNvPr id="16" name="Shape 14"/>
          <p:cNvSpPr/>
          <p:nvPr/>
        </p:nvSpPr>
        <p:spPr>
          <a:xfrm>
            <a:off x="3611880" y="2139696"/>
            <a:ext cx="1371600" cy="1"/>
          </a:xfrm>
          <a:prstGeom prst="line">
            <a:avLst/>
          </a:prstGeom>
          <a:noFill/>
          <a:ln w="25400">
            <a:solidFill>
              <a:srgbClr val="D7E1EA"/>
            </a:solidFill>
            <a:prstDash val="solid"/>
            <a:headEnd type="none"/>
            <a:tailEnd type="triangle"/>
          </a:ln>
        </p:spPr>
        <p:txBody>
          <a:bodyPr/>
          <a:lstStyle/>
          <a:p>
            <a:endParaRPr lang="en-IN"/>
          </a:p>
        </p:txBody>
      </p:sp>
      <p:sp>
        <p:nvSpPr>
          <p:cNvPr id="17" name="Shape 15"/>
          <p:cNvSpPr/>
          <p:nvPr/>
        </p:nvSpPr>
        <p:spPr>
          <a:xfrm>
            <a:off x="5166360" y="1828800"/>
            <a:ext cx="621792" cy="621792"/>
          </a:xfrm>
          <a:prstGeom prst="ellipse">
            <a:avLst/>
          </a:prstGeom>
          <a:solidFill>
            <a:srgbClr val="6F49B8"/>
          </a:solidFill>
          <a:ln w="12700">
            <a:solidFill>
              <a:srgbClr val="6F49B8"/>
            </a:solidFill>
            <a:prstDash val="solid"/>
          </a:ln>
        </p:spPr>
        <p:txBody>
          <a:bodyPr/>
          <a:lstStyle/>
          <a:p>
            <a:endParaRPr lang="en-IN"/>
          </a:p>
        </p:txBody>
      </p:sp>
      <p:sp>
        <p:nvSpPr>
          <p:cNvPr id="18" name="Text 16"/>
          <p:cNvSpPr/>
          <p:nvPr/>
        </p:nvSpPr>
        <p:spPr>
          <a:xfrm>
            <a:off x="5212080" y="198424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9" name="Shape 17"/>
          <p:cNvSpPr/>
          <p:nvPr/>
        </p:nvSpPr>
        <p:spPr>
          <a:xfrm>
            <a:off x="5029200" y="2743200"/>
            <a:ext cx="1828800" cy="960120"/>
          </a:xfrm>
          <a:prstGeom prst="roundRect">
            <a:avLst>
              <a:gd name="adj" fmla="val 10476"/>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20" name="Shape 18"/>
          <p:cNvSpPr/>
          <p:nvPr/>
        </p:nvSpPr>
        <p:spPr>
          <a:xfrm>
            <a:off x="5029200" y="2743200"/>
            <a:ext cx="91440" cy="960120"/>
          </a:xfrm>
          <a:prstGeom prst="rect">
            <a:avLst/>
          </a:prstGeom>
          <a:solidFill>
            <a:srgbClr val="6F49B8"/>
          </a:solidFill>
          <a:ln w="12700">
            <a:solidFill>
              <a:srgbClr val="6F49B8"/>
            </a:solidFill>
            <a:prstDash val="solid"/>
          </a:ln>
        </p:spPr>
        <p:txBody>
          <a:bodyPr/>
          <a:lstStyle/>
          <a:p>
            <a:endParaRPr lang="en-IN"/>
          </a:p>
        </p:txBody>
      </p:sp>
      <p:sp>
        <p:nvSpPr>
          <p:cNvPr id="21" name="Text 19"/>
          <p:cNvSpPr/>
          <p:nvPr/>
        </p:nvSpPr>
        <p:spPr>
          <a:xfrm>
            <a:off x="5193792" y="2871216"/>
            <a:ext cx="1554480" cy="74066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Define Server</a:t>
            </a:r>
            <a:endParaRPr lang="en-US" sz="850" dirty="0"/>
          </a:p>
          <a:p>
            <a:pPr marL="0" indent="0" algn="ctr">
              <a:buNone/>
            </a:pPr>
            <a:r>
              <a:rPr lang="en-US" sz="850" b="1" dirty="0">
                <a:solidFill>
                  <a:srgbClr val="1F2937"/>
                </a:solidFill>
              </a:rPr>
              <a:t>function(input, output)</a:t>
            </a:r>
            <a:endParaRPr lang="en-US" sz="850" dirty="0"/>
          </a:p>
        </p:txBody>
      </p:sp>
      <p:sp>
        <p:nvSpPr>
          <p:cNvPr id="22" name="Shape 20"/>
          <p:cNvSpPr/>
          <p:nvPr/>
        </p:nvSpPr>
        <p:spPr>
          <a:xfrm>
            <a:off x="5852160" y="2139696"/>
            <a:ext cx="1371600" cy="1"/>
          </a:xfrm>
          <a:prstGeom prst="line">
            <a:avLst/>
          </a:prstGeom>
          <a:noFill/>
          <a:ln w="25400">
            <a:solidFill>
              <a:srgbClr val="D7E1EA"/>
            </a:solidFill>
            <a:prstDash val="solid"/>
            <a:headEnd type="none"/>
            <a:tailEnd type="triangle"/>
          </a:ln>
        </p:spPr>
        <p:txBody>
          <a:bodyPr/>
          <a:lstStyle/>
          <a:p>
            <a:endParaRPr lang="en-IN"/>
          </a:p>
        </p:txBody>
      </p:sp>
      <p:sp>
        <p:nvSpPr>
          <p:cNvPr id="23" name="Shape 21"/>
          <p:cNvSpPr/>
          <p:nvPr/>
        </p:nvSpPr>
        <p:spPr>
          <a:xfrm>
            <a:off x="7406640" y="1828800"/>
            <a:ext cx="621792" cy="621792"/>
          </a:xfrm>
          <a:prstGeom prst="ellipse">
            <a:avLst/>
          </a:prstGeom>
          <a:solidFill>
            <a:srgbClr val="E98300"/>
          </a:solidFill>
          <a:ln w="12700">
            <a:solidFill>
              <a:srgbClr val="E98300"/>
            </a:solidFill>
            <a:prstDash val="solid"/>
          </a:ln>
        </p:spPr>
        <p:txBody>
          <a:bodyPr/>
          <a:lstStyle/>
          <a:p>
            <a:endParaRPr lang="en-IN"/>
          </a:p>
        </p:txBody>
      </p:sp>
      <p:sp>
        <p:nvSpPr>
          <p:cNvPr id="24" name="Text 22"/>
          <p:cNvSpPr/>
          <p:nvPr/>
        </p:nvSpPr>
        <p:spPr>
          <a:xfrm>
            <a:off x="7452360" y="198424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5" name="Shape 23"/>
          <p:cNvSpPr/>
          <p:nvPr/>
        </p:nvSpPr>
        <p:spPr>
          <a:xfrm>
            <a:off x="7269480" y="2743200"/>
            <a:ext cx="1828800" cy="960120"/>
          </a:xfrm>
          <a:prstGeom prst="roundRect">
            <a:avLst>
              <a:gd name="adj" fmla="val 10476"/>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26" name="Shape 24"/>
          <p:cNvSpPr/>
          <p:nvPr/>
        </p:nvSpPr>
        <p:spPr>
          <a:xfrm>
            <a:off x="7269480" y="2743200"/>
            <a:ext cx="91440" cy="960120"/>
          </a:xfrm>
          <a:prstGeom prst="rect">
            <a:avLst/>
          </a:prstGeom>
          <a:solidFill>
            <a:srgbClr val="E98300"/>
          </a:solidFill>
          <a:ln w="12700">
            <a:solidFill>
              <a:srgbClr val="E98300"/>
            </a:solidFill>
            <a:prstDash val="solid"/>
          </a:ln>
        </p:spPr>
        <p:txBody>
          <a:bodyPr/>
          <a:lstStyle/>
          <a:p>
            <a:endParaRPr lang="en-IN"/>
          </a:p>
        </p:txBody>
      </p:sp>
      <p:sp>
        <p:nvSpPr>
          <p:cNvPr id="27" name="Text 25"/>
          <p:cNvSpPr/>
          <p:nvPr/>
        </p:nvSpPr>
        <p:spPr>
          <a:xfrm>
            <a:off x="7434072" y="2871216"/>
            <a:ext cx="1554480" cy="74066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Bind outputs</a:t>
            </a:r>
            <a:endParaRPr lang="en-US" sz="850" dirty="0"/>
          </a:p>
          <a:p>
            <a:pPr marL="0" indent="0" algn="ctr">
              <a:buNone/>
            </a:pPr>
            <a:r>
              <a:rPr lang="en-US" sz="850" b="1" dirty="0">
                <a:solidFill>
                  <a:srgbClr val="1F2937"/>
                </a:solidFill>
              </a:rPr>
              <a:t>renderText/renderPlot</a:t>
            </a:r>
            <a:endParaRPr lang="en-US" sz="850" dirty="0"/>
          </a:p>
        </p:txBody>
      </p:sp>
      <p:sp>
        <p:nvSpPr>
          <p:cNvPr id="28" name="Shape 26"/>
          <p:cNvSpPr/>
          <p:nvPr/>
        </p:nvSpPr>
        <p:spPr>
          <a:xfrm>
            <a:off x="8092440" y="2139696"/>
            <a:ext cx="1371600" cy="1"/>
          </a:xfrm>
          <a:prstGeom prst="line">
            <a:avLst/>
          </a:prstGeom>
          <a:noFill/>
          <a:ln w="25400">
            <a:solidFill>
              <a:srgbClr val="D7E1EA"/>
            </a:solidFill>
            <a:prstDash val="solid"/>
            <a:headEnd type="none"/>
            <a:tailEnd type="triangle"/>
          </a:ln>
        </p:spPr>
        <p:txBody>
          <a:bodyPr/>
          <a:lstStyle/>
          <a:p>
            <a:endParaRPr lang="en-IN"/>
          </a:p>
        </p:txBody>
      </p:sp>
      <p:sp>
        <p:nvSpPr>
          <p:cNvPr id="29" name="Shape 27"/>
          <p:cNvSpPr/>
          <p:nvPr/>
        </p:nvSpPr>
        <p:spPr>
          <a:xfrm>
            <a:off x="9646920" y="1828800"/>
            <a:ext cx="621792" cy="621792"/>
          </a:xfrm>
          <a:prstGeom prst="ellipse">
            <a:avLst/>
          </a:prstGeom>
          <a:solidFill>
            <a:srgbClr val="2E8B57"/>
          </a:solidFill>
          <a:ln w="12700">
            <a:solidFill>
              <a:srgbClr val="2E8B57"/>
            </a:solidFill>
            <a:prstDash val="solid"/>
          </a:ln>
        </p:spPr>
        <p:txBody>
          <a:bodyPr/>
          <a:lstStyle/>
          <a:p>
            <a:endParaRPr lang="en-IN"/>
          </a:p>
        </p:txBody>
      </p:sp>
      <p:sp>
        <p:nvSpPr>
          <p:cNvPr id="30" name="Text 28"/>
          <p:cNvSpPr/>
          <p:nvPr/>
        </p:nvSpPr>
        <p:spPr>
          <a:xfrm>
            <a:off x="9692640" y="1984248"/>
            <a:ext cx="530352" cy="22860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1" name="Shape 29"/>
          <p:cNvSpPr/>
          <p:nvPr/>
        </p:nvSpPr>
        <p:spPr>
          <a:xfrm>
            <a:off x="9509760" y="2743200"/>
            <a:ext cx="1828800" cy="960120"/>
          </a:xfrm>
          <a:prstGeom prst="roundRect">
            <a:avLst>
              <a:gd name="adj" fmla="val 10476"/>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32" name="Shape 30"/>
          <p:cNvSpPr/>
          <p:nvPr/>
        </p:nvSpPr>
        <p:spPr>
          <a:xfrm>
            <a:off x="9509760" y="2743200"/>
            <a:ext cx="91440" cy="960120"/>
          </a:xfrm>
          <a:prstGeom prst="rect">
            <a:avLst/>
          </a:prstGeom>
          <a:solidFill>
            <a:srgbClr val="2E8B57"/>
          </a:solidFill>
          <a:ln w="12700">
            <a:solidFill>
              <a:srgbClr val="2E8B57"/>
            </a:solidFill>
            <a:prstDash val="solid"/>
          </a:ln>
        </p:spPr>
        <p:txBody>
          <a:bodyPr/>
          <a:lstStyle/>
          <a:p>
            <a:endParaRPr lang="en-IN"/>
          </a:p>
        </p:txBody>
      </p:sp>
      <p:sp>
        <p:nvSpPr>
          <p:cNvPr id="33" name="Text 31"/>
          <p:cNvSpPr/>
          <p:nvPr/>
        </p:nvSpPr>
        <p:spPr>
          <a:xfrm>
            <a:off x="9674352" y="2871216"/>
            <a:ext cx="1554480" cy="74066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Run app</a:t>
            </a:r>
            <a:endParaRPr lang="en-US" sz="850" dirty="0"/>
          </a:p>
          <a:p>
            <a:pPr marL="0" indent="0" algn="ctr">
              <a:buNone/>
            </a:pPr>
            <a:r>
              <a:rPr lang="en-US" sz="850" b="1" dirty="0">
                <a:solidFill>
                  <a:srgbClr val="1F2937"/>
                </a:solidFill>
              </a:rPr>
              <a:t>shinyApp(ui, server)</a:t>
            </a:r>
            <a:endParaRPr lang="en-US" sz="850" dirty="0"/>
          </a:p>
        </p:txBody>
      </p:sp>
      <p:sp>
        <p:nvSpPr>
          <p:cNvPr id="34"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8</a:t>
            </a:fld>
            <a:endParaRPr lang="en-US"/>
          </a:p>
        </p:txBody>
      </p:sp>
      <p:graphicFrame>
        <p:nvGraphicFramePr>
          <p:cNvPr id="36" name="Object 35">
            <a:extLst>
              <a:ext uri="{FF2B5EF4-FFF2-40B4-BE49-F238E27FC236}">
                <a16:creationId xmlns:a16="http://schemas.microsoft.com/office/drawing/2014/main" id="{C0C94BD3-EE36-239D-16BF-D2B92EBE2ECA}"/>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Layouts: fluidPage() vs sidebarLayout()</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layouts organize inputs and outputs for usability.</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822960" y="1298448"/>
            <a:ext cx="4846320" cy="320040"/>
          </a:xfrm>
          <a:prstGeom prst="roundRect">
            <a:avLst>
              <a:gd name="adj" fmla="val 22857"/>
            </a:avLst>
          </a:prstGeom>
          <a:solidFill>
            <a:srgbClr val="0B5CAB"/>
          </a:solidFill>
          <a:ln w="12700">
            <a:solidFill>
              <a:srgbClr val="0B5CAB"/>
            </a:solidFill>
            <a:prstDash val="solid"/>
          </a:ln>
        </p:spPr>
        <p:txBody>
          <a:bodyPr/>
          <a:lstStyle/>
          <a:p>
            <a:endParaRPr lang="en-IN"/>
          </a:p>
        </p:txBody>
      </p:sp>
      <p:sp>
        <p:nvSpPr>
          <p:cNvPr id="6" name="Text 4"/>
          <p:cNvSpPr/>
          <p:nvPr/>
        </p:nvSpPr>
        <p:spPr>
          <a:xfrm>
            <a:off x="914400" y="1380744"/>
            <a:ext cx="4663440" cy="137160"/>
          </a:xfrm>
          <a:prstGeom prst="rect">
            <a:avLst/>
          </a:prstGeom>
          <a:noFill/>
          <a:ln/>
        </p:spPr>
        <p:txBody>
          <a:bodyPr wrap="square" lIns="0" tIns="0" rIns="0" bIns="0" rtlCol="0" anchor="ctr"/>
          <a:lstStyle/>
          <a:p>
            <a:pPr marL="0" indent="0" algn="ctr">
              <a:buNone/>
            </a:pPr>
            <a:r>
              <a:rPr lang="en-US" sz="850" b="1" dirty="0">
                <a:solidFill>
                  <a:srgbClr val="FFFFFF"/>
                </a:solidFill>
              </a:rPr>
              <a:t>fluidPage()</a:t>
            </a:r>
            <a:endParaRPr lang="en-US" sz="850" dirty="0"/>
          </a:p>
        </p:txBody>
      </p:sp>
      <p:sp>
        <p:nvSpPr>
          <p:cNvPr id="7" name="Shape 5"/>
          <p:cNvSpPr/>
          <p:nvPr/>
        </p:nvSpPr>
        <p:spPr>
          <a:xfrm>
            <a:off x="1005840" y="1783080"/>
            <a:ext cx="4480560" cy="3566160"/>
          </a:xfrm>
          <a:prstGeom prst="roundRect">
            <a:avLst>
              <a:gd name="adj" fmla="val 3077"/>
            </a:avLst>
          </a:prstGeom>
          <a:solidFill>
            <a:srgbClr val="FFFFFF"/>
          </a:solidFill>
          <a:ln w="12700">
            <a:solidFill>
              <a:srgbClr val="D7E1EA"/>
            </a:solidFill>
            <a:prstDash val="solid"/>
          </a:ln>
        </p:spPr>
        <p:txBody>
          <a:bodyPr/>
          <a:lstStyle/>
          <a:p>
            <a:endParaRPr lang="en-IN"/>
          </a:p>
        </p:txBody>
      </p:sp>
      <p:sp>
        <p:nvSpPr>
          <p:cNvPr id="8" name="Shape 6"/>
          <p:cNvSpPr/>
          <p:nvPr/>
        </p:nvSpPr>
        <p:spPr>
          <a:xfrm>
            <a:off x="1417320" y="2057400"/>
            <a:ext cx="3566160" cy="329184"/>
          </a:xfrm>
          <a:prstGeom prst="roundRect">
            <a:avLst>
              <a:gd name="adj" fmla="val 30556"/>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1417320" y="2057400"/>
            <a:ext cx="91440" cy="329184"/>
          </a:xfrm>
          <a:prstGeom prst="rect">
            <a:avLst/>
          </a:prstGeom>
          <a:solidFill>
            <a:srgbClr val="0B5CAB"/>
          </a:solidFill>
          <a:ln w="12700">
            <a:solidFill>
              <a:srgbClr val="0B5CAB"/>
            </a:solidFill>
            <a:prstDash val="solid"/>
          </a:ln>
        </p:spPr>
        <p:txBody>
          <a:bodyPr/>
          <a:lstStyle/>
          <a:p>
            <a:endParaRPr lang="en-IN"/>
          </a:p>
        </p:txBody>
      </p:sp>
      <p:sp>
        <p:nvSpPr>
          <p:cNvPr id="10" name="Text 8"/>
          <p:cNvSpPr/>
          <p:nvPr/>
        </p:nvSpPr>
        <p:spPr>
          <a:xfrm>
            <a:off x="1581912" y="2185416"/>
            <a:ext cx="3291840" cy="109728"/>
          </a:xfrm>
          <a:prstGeom prst="rect">
            <a:avLst/>
          </a:prstGeom>
          <a:noFill/>
          <a:ln/>
        </p:spPr>
        <p:txBody>
          <a:bodyPr wrap="square" lIns="254" tIns="254" rIns="254" bIns="254" rtlCol="0" anchor="ctr">
            <a:normAutofit fontScale="92500"/>
          </a:bodyPr>
          <a:lstStyle/>
          <a:p>
            <a:pPr marL="0" indent="0" algn="ctr">
              <a:buNone/>
            </a:pPr>
            <a:r>
              <a:rPr lang="en-US" sz="800" dirty="0">
                <a:solidFill>
                  <a:srgbClr val="1F2937"/>
                </a:solidFill>
              </a:rPr>
              <a:t>Title</a:t>
            </a:r>
            <a:endParaRPr lang="en-US" sz="800" dirty="0"/>
          </a:p>
        </p:txBody>
      </p:sp>
      <p:sp>
        <p:nvSpPr>
          <p:cNvPr id="11" name="Shape 9"/>
          <p:cNvSpPr/>
          <p:nvPr/>
        </p:nvSpPr>
        <p:spPr>
          <a:xfrm>
            <a:off x="1417320" y="2624328"/>
            <a:ext cx="3566160" cy="329184"/>
          </a:xfrm>
          <a:prstGeom prst="roundRect">
            <a:avLst>
              <a:gd name="adj" fmla="val 30556"/>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1417320" y="2624328"/>
            <a:ext cx="91440" cy="329184"/>
          </a:xfrm>
          <a:prstGeom prst="rect">
            <a:avLst/>
          </a:prstGeom>
          <a:solidFill>
            <a:srgbClr val="0B5CAB"/>
          </a:solidFill>
          <a:ln w="12700">
            <a:solidFill>
              <a:srgbClr val="0B5CAB"/>
            </a:solidFill>
            <a:prstDash val="solid"/>
          </a:ln>
        </p:spPr>
        <p:txBody>
          <a:bodyPr/>
          <a:lstStyle/>
          <a:p>
            <a:endParaRPr lang="en-IN"/>
          </a:p>
        </p:txBody>
      </p:sp>
      <p:sp>
        <p:nvSpPr>
          <p:cNvPr id="13" name="Text 11"/>
          <p:cNvSpPr/>
          <p:nvPr/>
        </p:nvSpPr>
        <p:spPr>
          <a:xfrm>
            <a:off x="1581912" y="2752344"/>
            <a:ext cx="3291840" cy="109728"/>
          </a:xfrm>
          <a:prstGeom prst="rect">
            <a:avLst/>
          </a:prstGeom>
          <a:noFill/>
          <a:ln/>
        </p:spPr>
        <p:txBody>
          <a:bodyPr wrap="square" lIns="254" tIns="254" rIns="254" bIns="254" rtlCol="0" anchor="ctr">
            <a:normAutofit fontScale="92500"/>
          </a:bodyPr>
          <a:lstStyle/>
          <a:p>
            <a:pPr marL="0" indent="0" algn="ctr">
              <a:buNone/>
            </a:pPr>
            <a:r>
              <a:rPr lang="en-US" sz="800" dirty="0">
                <a:solidFill>
                  <a:srgbClr val="1F2937"/>
                </a:solidFill>
              </a:rPr>
              <a:t>Input</a:t>
            </a:r>
            <a:endParaRPr lang="en-US" sz="800" dirty="0"/>
          </a:p>
        </p:txBody>
      </p:sp>
      <p:sp>
        <p:nvSpPr>
          <p:cNvPr id="14" name="Shape 12"/>
          <p:cNvSpPr/>
          <p:nvPr/>
        </p:nvSpPr>
        <p:spPr>
          <a:xfrm>
            <a:off x="1417320" y="3191256"/>
            <a:ext cx="3566160" cy="329184"/>
          </a:xfrm>
          <a:prstGeom prst="roundRect">
            <a:avLst>
              <a:gd name="adj" fmla="val 30556"/>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1417320" y="3191256"/>
            <a:ext cx="91440" cy="329184"/>
          </a:xfrm>
          <a:prstGeom prst="rect">
            <a:avLst/>
          </a:prstGeom>
          <a:solidFill>
            <a:srgbClr val="0B5CAB"/>
          </a:solidFill>
          <a:ln w="12700">
            <a:solidFill>
              <a:srgbClr val="0B5CAB"/>
            </a:solidFill>
            <a:prstDash val="solid"/>
          </a:ln>
        </p:spPr>
        <p:txBody>
          <a:bodyPr/>
          <a:lstStyle/>
          <a:p>
            <a:endParaRPr lang="en-IN"/>
          </a:p>
        </p:txBody>
      </p:sp>
      <p:sp>
        <p:nvSpPr>
          <p:cNvPr id="16" name="Text 14"/>
          <p:cNvSpPr/>
          <p:nvPr/>
        </p:nvSpPr>
        <p:spPr>
          <a:xfrm>
            <a:off x="1581912" y="3319272"/>
            <a:ext cx="3291840" cy="109728"/>
          </a:xfrm>
          <a:prstGeom prst="rect">
            <a:avLst/>
          </a:prstGeom>
          <a:noFill/>
          <a:ln/>
        </p:spPr>
        <p:txBody>
          <a:bodyPr wrap="square" lIns="254" tIns="254" rIns="254" bIns="254" rtlCol="0" anchor="ctr">
            <a:normAutofit fontScale="92500"/>
          </a:bodyPr>
          <a:lstStyle/>
          <a:p>
            <a:pPr marL="0" indent="0" algn="ctr">
              <a:buNone/>
            </a:pPr>
            <a:r>
              <a:rPr lang="en-US" sz="800" dirty="0">
                <a:solidFill>
                  <a:srgbClr val="1F2937"/>
                </a:solidFill>
              </a:rPr>
              <a:t>Text</a:t>
            </a:r>
            <a:endParaRPr lang="en-US" sz="800" dirty="0"/>
          </a:p>
        </p:txBody>
      </p:sp>
      <p:sp>
        <p:nvSpPr>
          <p:cNvPr id="17" name="Shape 15"/>
          <p:cNvSpPr/>
          <p:nvPr/>
        </p:nvSpPr>
        <p:spPr>
          <a:xfrm>
            <a:off x="1417320" y="3758184"/>
            <a:ext cx="3566160" cy="329184"/>
          </a:xfrm>
          <a:prstGeom prst="roundRect">
            <a:avLst>
              <a:gd name="adj" fmla="val 30556"/>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1417320" y="3758184"/>
            <a:ext cx="91440" cy="329184"/>
          </a:xfrm>
          <a:prstGeom prst="rect">
            <a:avLst/>
          </a:prstGeom>
          <a:solidFill>
            <a:srgbClr val="0B5CAB"/>
          </a:solidFill>
          <a:ln w="12700">
            <a:solidFill>
              <a:srgbClr val="0B5CAB"/>
            </a:solidFill>
            <a:prstDash val="solid"/>
          </a:ln>
        </p:spPr>
        <p:txBody>
          <a:bodyPr/>
          <a:lstStyle/>
          <a:p>
            <a:endParaRPr lang="en-IN"/>
          </a:p>
        </p:txBody>
      </p:sp>
      <p:sp>
        <p:nvSpPr>
          <p:cNvPr id="19" name="Text 17"/>
          <p:cNvSpPr/>
          <p:nvPr/>
        </p:nvSpPr>
        <p:spPr>
          <a:xfrm>
            <a:off x="1581912" y="3886200"/>
            <a:ext cx="3291840" cy="109728"/>
          </a:xfrm>
          <a:prstGeom prst="rect">
            <a:avLst/>
          </a:prstGeom>
          <a:noFill/>
          <a:ln/>
        </p:spPr>
        <p:txBody>
          <a:bodyPr wrap="square" lIns="254" tIns="254" rIns="254" bIns="254" rtlCol="0" anchor="ctr">
            <a:normAutofit fontScale="92500"/>
          </a:bodyPr>
          <a:lstStyle/>
          <a:p>
            <a:pPr marL="0" indent="0" algn="ctr">
              <a:buNone/>
            </a:pPr>
            <a:r>
              <a:rPr lang="en-US" sz="800" dirty="0">
                <a:solidFill>
                  <a:srgbClr val="1F2937"/>
                </a:solidFill>
              </a:rPr>
              <a:t>Plot</a:t>
            </a:r>
            <a:endParaRPr lang="en-US" sz="800" dirty="0"/>
          </a:p>
        </p:txBody>
      </p:sp>
      <p:sp>
        <p:nvSpPr>
          <p:cNvPr id="20" name="Shape 18"/>
          <p:cNvSpPr/>
          <p:nvPr/>
        </p:nvSpPr>
        <p:spPr>
          <a:xfrm>
            <a:off x="1417320" y="4325112"/>
            <a:ext cx="3566160" cy="329184"/>
          </a:xfrm>
          <a:prstGeom prst="roundRect">
            <a:avLst>
              <a:gd name="adj" fmla="val 30556"/>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21" name="Shape 19"/>
          <p:cNvSpPr/>
          <p:nvPr/>
        </p:nvSpPr>
        <p:spPr>
          <a:xfrm>
            <a:off x="1417320" y="4325112"/>
            <a:ext cx="91440" cy="329184"/>
          </a:xfrm>
          <a:prstGeom prst="rect">
            <a:avLst/>
          </a:prstGeom>
          <a:solidFill>
            <a:srgbClr val="0B5CAB"/>
          </a:solidFill>
          <a:ln w="12700">
            <a:solidFill>
              <a:srgbClr val="0B5CAB"/>
            </a:solidFill>
            <a:prstDash val="solid"/>
          </a:ln>
        </p:spPr>
        <p:txBody>
          <a:bodyPr/>
          <a:lstStyle/>
          <a:p>
            <a:endParaRPr lang="en-IN"/>
          </a:p>
        </p:txBody>
      </p:sp>
      <p:sp>
        <p:nvSpPr>
          <p:cNvPr id="22" name="Text 20"/>
          <p:cNvSpPr/>
          <p:nvPr/>
        </p:nvSpPr>
        <p:spPr>
          <a:xfrm>
            <a:off x="1581912" y="4453128"/>
            <a:ext cx="3291840" cy="109728"/>
          </a:xfrm>
          <a:prstGeom prst="rect">
            <a:avLst/>
          </a:prstGeom>
          <a:noFill/>
          <a:ln/>
        </p:spPr>
        <p:txBody>
          <a:bodyPr wrap="square" lIns="254" tIns="254" rIns="254" bIns="254" rtlCol="0" anchor="ctr">
            <a:normAutofit fontScale="92500"/>
          </a:bodyPr>
          <a:lstStyle/>
          <a:p>
            <a:pPr marL="0" indent="0" algn="ctr">
              <a:buNone/>
            </a:pPr>
            <a:r>
              <a:rPr lang="en-US" sz="800" dirty="0">
                <a:solidFill>
                  <a:srgbClr val="1F2937"/>
                </a:solidFill>
              </a:rPr>
              <a:t>Table</a:t>
            </a:r>
            <a:endParaRPr lang="en-US" sz="800" dirty="0"/>
          </a:p>
        </p:txBody>
      </p:sp>
      <p:sp>
        <p:nvSpPr>
          <p:cNvPr id="23" name="Shape 21"/>
          <p:cNvSpPr/>
          <p:nvPr/>
        </p:nvSpPr>
        <p:spPr>
          <a:xfrm>
            <a:off x="6492240" y="1298448"/>
            <a:ext cx="4846320" cy="320040"/>
          </a:xfrm>
          <a:prstGeom prst="roundRect">
            <a:avLst>
              <a:gd name="adj" fmla="val 22857"/>
            </a:avLst>
          </a:prstGeom>
          <a:solidFill>
            <a:srgbClr val="0B5CAB"/>
          </a:solidFill>
          <a:ln w="12700">
            <a:solidFill>
              <a:srgbClr val="0B5CAB"/>
            </a:solidFill>
            <a:prstDash val="solid"/>
          </a:ln>
        </p:spPr>
        <p:txBody>
          <a:bodyPr/>
          <a:lstStyle/>
          <a:p>
            <a:endParaRPr lang="en-IN"/>
          </a:p>
        </p:txBody>
      </p:sp>
      <p:sp>
        <p:nvSpPr>
          <p:cNvPr id="24" name="Text 22"/>
          <p:cNvSpPr/>
          <p:nvPr/>
        </p:nvSpPr>
        <p:spPr>
          <a:xfrm>
            <a:off x="6583680" y="1380744"/>
            <a:ext cx="4663440" cy="137160"/>
          </a:xfrm>
          <a:prstGeom prst="rect">
            <a:avLst/>
          </a:prstGeom>
          <a:noFill/>
          <a:ln/>
        </p:spPr>
        <p:txBody>
          <a:bodyPr wrap="square" lIns="0" tIns="0" rIns="0" bIns="0" rtlCol="0" anchor="ctr"/>
          <a:lstStyle/>
          <a:p>
            <a:pPr marL="0" indent="0" algn="ctr">
              <a:buNone/>
            </a:pPr>
            <a:r>
              <a:rPr lang="en-US" sz="850" b="1" dirty="0">
                <a:solidFill>
                  <a:srgbClr val="FFFFFF"/>
                </a:solidFill>
              </a:rPr>
              <a:t>sidebarLayout()</a:t>
            </a:r>
            <a:endParaRPr lang="en-US" sz="850" dirty="0"/>
          </a:p>
        </p:txBody>
      </p:sp>
      <p:sp>
        <p:nvSpPr>
          <p:cNvPr id="25" name="Shape 23"/>
          <p:cNvSpPr/>
          <p:nvPr/>
        </p:nvSpPr>
        <p:spPr>
          <a:xfrm>
            <a:off x="6675120" y="1783080"/>
            <a:ext cx="1417320" cy="3566160"/>
          </a:xfrm>
          <a:prstGeom prst="roundRect">
            <a:avLst>
              <a:gd name="adj" fmla="val 6452"/>
            </a:avLst>
          </a:prstGeom>
          <a:solidFill>
            <a:srgbClr val="EAF4FF"/>
          </a:solidFill>
          <a:ln w="12700">
            <a:solidFill>
              <a:srgbClr val="D7E1EA"/>
            </a:solidFill>
            <a:prstDash val="solid"/>
          </a:ln>
        </p:spPr>
        <p:txBody>
          <a:bodyPr/>
          <a:lstStyle/>
          <a:p>
            <a:endParaRPr lang="en-IN"/>
          </a:p>
        </p:txBody>
      </p:sp>
      <p:sp>
        <p:nvSpPr>
          <p:cNvPr id="26" name="Text 24"/>
          <p:cNvSpPr/>
          <p:nvPr/>
        </p:nvSpPr>
        <p:spPr>
          <a:xfrm>
            <a:off x="6812280" y="3401568"/>
            <a:ext cx="1143000" cy="228600"/>
          </a:xfrm>
          <a:prstGeom prst="rect">
            <a:avLst/>
          </a:prstGeom>
          <a:noFill/>
          <a:ln/>
        </p:spPr>
        <p:txBody>
          <a:bodyPr wrap="square" lIns="0" tIns="0" rIns="0" bIns="0" rtlCol="0" anchor="ctr">
            <a:normAutofit/>
          </a:bodyPr>
          <a:lstStyle/>
          <a:p>
            <a:pPr marL="0" indent="0" algn="ctr">
              <a:buNone/>
            </a:pPr>
            <a:r>
              <a:rPr lang="en-US" sz="820" dirty="0">
                <a:solidFill>
                  <a:srgbClr val="0B2E4A"/>
                </a:solidFill>
              </a:rPr>
              <a:t>sidebarPanel()</a:t>
            </a:r>
            <a:endParaRPr lang="en-US" sz="820" dirty="0"/>
          </a:p>
        </p:txBody>
      </p:sp>
      <p:sp>
        <p:nvSpPr>
          <p:cNvPr id="27" name="Shape 25"/>
          <p:cNvSpPr/>
          <p:nvPr/>
        </p:nvSpPr>
        <p:spPr>
          <a:xfrm>
            <a:off x="8321040" y="1783080"/>
            <a:ext cx="2834640" cy="3566160"/>
          </a:xfrm>
          <a:prstGeom prst="roundRect">
            <a:avLst>
              <a:gd name="adj" fmla="val 3226"/>
            </a:avLst>
          </a:prstGeom>
          <a:solidFill>
            <a:srgbClr val="FFFFFF"/>
          </a:solidFill>
          <a:ln w="12700">
            <a:solidFill>
              <a:srgbClr val="D7E1EA"/>
            </a:solidFill>
            <a:prstDash val="solid"/>
          </a:ln>
        </p:spPr>
        <p:txBody>
          <a:bodyPr/>
          <a:lstStyle/>
          <a:p>
            <a:endParaRPr lang="en-IN"/>
          </a:p>
        </p:txBody>
      </p:sp>
      <p:sp>
        <p:nvSpPr>
          <p:cNvPr id="28" name="Text 26"/>
          <p:cNvSpPr/>
          <p:nvPr/>
        </p:nvSpPr>
        <p:spPr>
          <a:xfrm>
            <a:off x="8887968" y="3401568"/>
            <a:ext cx="1691640" cy="228600"/>
          </a:xfrm>
          <a:prstGeom prst="rect">
            <a:avLst/>
          </a:prstGeom>
          <a:noFill/>
          <a:ln/>
        </p:spPr>
        <p:txBody>
          <a:bodyPr wrap="square" lIns="0" tIns="0" rIns="0" bIns="0" rtlCol="0" anchor="ctr">
            <a:normAutofit/>
          </a:bodyPr>
          <a:lstStyle/>
          <a:p>
            <a:pPr marL="0" indent="0" algn="ctr">
              <a:buNone/>
            </a:pPr>
            <a:r>
              <a:rPr lang="en-US" sz="820" dirty="0">
                <a:solidFill>
                  <a:srgbClr val="0B2E4A"/>
                </a:solidFill>
              </a:rPr>
              <a:t>mainPanel()</a:t>
            </a:r>
            <a:endParaRPr lang="en-US" sz="820" dirty="0"/>
          </a:p>
        </p:txBody>
      </p:sp>
      <p:sp>
        <p:nvSpPr>
          <p:cNvPr id="29" name="Shape 27"/>
          <p:cNvSpPr/>
          <p:nvPr/>
        </p:nvSpPr>
        <p:spPr>
          <a:xfrm>
            <a:off x="6876288" y="2103120"/>
            <a:ext cx="1005840" cy="320040"/>
          </a:xfrm>
          <a:prstGeom prst="roundRect">
            <a:avLst>
              <a:gd name="adj" fmla="val 31429"/>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30" name="Shape 28"/>
          <p:cNvSpPr/>
          <p:nvPr/>
        </p:nvSpPr>
        <p:spPr>
          <a:xfrm>
            <a:off x="6876288" y="2103120"/>
            <a:ext cx="91440" cy="320040"/>
          </a:xfrm>
          <a:prstGeom prst="rect">
            <a:avLst/>
          </a:prstGeom>
          <a:solidFill>
            <a:srgbClr val="008A8A"/>
          </a:solidFill>
          <a:ln w="12700">
            <a:solidFill>
              <a:srgbClr val="008A8A"/>
            </a:solidFill>
            <a:prstDash val="solid"/>
          </a:ln>
        </p:spPr>
        <p:txBody>
          <a:bodyPr/>
          <a:lstStyle/>
          <a:p>
            <a:endParaRPr lang="en-IN"/>
          </a:p>
        </p:txBody>
      </p:sp>
      <p:sp>
        <p:nvSpPr>
          <p:cNvPr id="31" name="Text 29"/>
          <p:cNvSpPr/>
          <p:nvPr/>
        </p:nvSpPr>
        <p:spPr>
          <a:xfrm>
            <a:off x="7040880" y="2231136"/>
            <a:ext cx="731520" cy="100584"/>
          </a:xfrm>
          <a:prstGeom prst="rect">
            <a:avLst/>
          </a:prstGeom>
          <a:noFill/>
          <a:ln/>
        </p:spPr>
        <p:txBody>
          <a:bodyPr wrap="square" lIns="254" tIns="254" rIns="254" bIns="254" rtlCol="0" anchor="ctr">
            <a:normAutofit fontScale="85000" lnSpcReduction="10000"/>
          </a:bodyPr>
          <a:lstStyle/>
          <a:p>
            <a:pPr marL="0" indent="0" algn="ctr">
              <a:buNone/>
            </a:pPr>
            <a:r>
              <a:rPr lang="en-US" sz="880" b="1" dirty="0">
                <a:solidFill>
                  <a:srgbClr val="1F2937"/>
                </a:solidFill>
              </a:rPr>
              <a:t>Filters</a:t>
            </a:r>
            <a:endParaRPr lang="en-US" sz="880" dirty="0"/>
          </a:p>
        </p:txBody>
      </p:sp>
      <p:sp>
        <p:nvSpPr>
          <p:cNvPr id="32" name="Shape 30"/>
          <p:cNvSpPr/>
          <p:nvPr/>
        </p:nvSpPr>
        <p:spPr>
          <a:xfrm>
            <a:off x="6876288" y="2606040"/>
            <a:ext cx="1005840" cy="320040"/>
          </a:xfrm>
          <a:prstGeom prst="roundRect">
            <a:avLst>
              <a:gd name="adj" fmla="val 31429"/>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33" name="Shape 31"/>
          <p:cNvSpPr/>
          <p:nvPr/>
        </p:nvSpPr>
        <p:spPr>
          <a:xfrm>
            <a:off x="6876288" y="2606040"/>
            <a:ext cx="91440" cy="320040"/>
          </a:xfrm>
          <a:prstGeom prst="rect">
            <a:avLst/>
          </a:prstGeom>
          <a:solidFill>
            <a:srgbClr val="008A8A"/>
          </a:solidFill>
          <a:ln w="12700">
            <a:solidFill>
              <a:srgbClr val="008A8A"/>
            </a:solidFill>
            <a:prstDash val="solid"/>
          </a:ln>
        </p:spPr>
        <p:txBody>
          <a:bodyPr/>
          <a:lstStyle/>
          <a:p>
            <a:endParaRPr lang="en-IN"/>
          </a:p>
        </p:txBody>
      </p:sp>
      <p:sp>
        <p:nvSpPr>
          <p:cNvPr id="34" name="Text 32"/>
          <p:cNvSpPr/>
          <p:nvPr/>
        </p:nvSpPr>
        <p:spPr>
          <a:xfrm>
            <a:off x="7040880" y="2734056"/>
            <a:ext cx="731520" cy="100584"/>
          </a:xfrm>
          <a:prstGeom prst="rect">
            <a:avLst/>
          </a:prstGeom>
          <a:noFill/>
          <a:ln/>
        </p:spPr>
        <p:txBody>
          <a:bodyPr wrap="square" lIns="254" tIns="254" rIns="254" bIns="254" rtlCol="0" anchor="ctr">
            <a:normAutofit fontScale="85000" lnSpcReduction="10000"/>
          </a:bodyPr>
          <a:lstStyle/>
          <a:p>
            <a:pPr marL="0" indent="0" algn="ctr">
              <a:buNone/>
            </a:pPr>
            <a:r>
              <a:rPr lang="en-US" sz="880" b="1" dirty="0">
                <a:solidFill>
                  <a:srgbClr val="1F2937"/>
                </a:solidFill>
              </a:rPr>
              <a:t>Slider</a:t>
            </a:r>
            <a:endParaRPr lang="en-US" sz="880" dirty="0"/>
          </a:p>
        </p:txBody>
      </p:sp>
      <p:sp>
        <p:nvSpPr>
          <p:cNvPr id="35" name="Shape 33"/>
          <p:cNvSpPr/>
          <p:nvPr/>
        </p:nvSpPr>
        <p:spPr>
          <a:xfrm>
            <a:off x="6876288" y="3108960"/>
            <a:ext cx="1005840" cy="320040"/>
          </a:xfrm>
          <a:prstGeom prst="roundRect">
            <a:avLst>
              <a:gd name="adj" fmla="val 31429"/>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36" name="Shape 34"/>
          <p:cNvSpPr/>
          <p:nvPr/>
        </p:nvSpPr>
        <p:spPr>
          <a:xfrm>
            <a:off x="6876288" y="3108960"/>
            <a:ext cx="91440" cy="320040"/>
          </a:xfrm>
          <a:prstGeom prst="rect">
            <a:avLst/>
          </a:prstGeom>
          <a:solidFill>
            <a:srgbClr val="008A8A"/>
          </a:solidFill>
          <a:ln w="12700">
            <a:solidFill>
              <a:srgbClr val="008A8A"/>
            </a:solidFill>
            <a:prstDash val="solid"/>
          </a:ln>
        </p:spPr>
        <p:txBody>
          <a:bodyPr/>
          <a:lstStyle/>
          <a:p>
            <a:endParaRPr lang="en-IN"/>
          </a:p>
        </p:txBody>
      </p:sp>
      <p:sp>
        <p:nvSpPr>
          <p:cNvPr id="37" name="Text 35"/>
          <p:cNvSpPr/>
          <p:nvPr/>
        </p:nvSpPr>
        <p:spPr>
          <a:xfrm>
            <a:off x="7040880" y="3236976"/>
            <a:ext cx="731520" cy="100584"/>
          </a:xfrm>
          <a:prstGeom prst="rect">
            <a:avLst/>
          </a:prstGeom>
          <a:noFill/>
          <a:ln/>
        </p:spPr>
        <p:txBody>
          <a:bodyPr wrap="square" lIns="254" tIns="254" rIns="254" bIns="254" rtlCol="0" anchor="ctr">
            <a:normAutofit fontScale="85000" lnSpcReduction="10000"/>
          </a:bodyPr>
          <a:lstStyle/>
          <a:p>
            <a:pPr marL="0" indent="0" algn="ctr">
              <a:buNone/>
            </a:pPr>
            <a:r>
              <a:rPr lang="en-US" sz="880" b="1" dirty="0">
                <a:solidFill>
                  <a:srgbClr val="1F2937"/>
                </a:solidFill>
              </a:rPr>
              <a:t>Checkbox</a:t>
            </a:r>
            <a:endParaRPr lang="en-US" sz="880" dirty="0"/>
          </a:p>
        </p:txBody>
      </p:sp>
      <p:sp>
        <p:nvSpPr>
          <p:cNvPr id="38" name="Shape 36"/>
          <p:cNvSpPr/>
          <p:nvPr/>
        </p:nvSpPr>
        <p:spPr>
          <a:xfrm>
            <a:off x="8686800" y="2103120"/>
            <a:ext cx="2011680" cy="438912"/>
          </a:xfrm>
          <a:prstGeom prst="roundRect">
            <a:avLst>
              <a:gd name="adj" fmla="val 22917"/>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39" name="Shape 37"/>
          <p:cNvSpPr/>
          <p:nvPr/>
        </p:nvSpPr>
        <p:spPr>
          <a:xfrm>
            <a:off x="8686800" y="2103120"/>
            <a:ext cx="91440" cy="438912"/>
          </a:xfrm>
          <a:prstGeom prst="rect">
            <a:avLst/>
          </a:prstGeom>
          <a:solidFill>
            <a:srgbClr val="2E8B57"/>
          </a:solidFill>
          <a:ln w="12700">
            <a:solidFill>
              <a:srgbClr val="2E8B57"/>
            </a:solidFill>
            <a:prstDash val="solid"/>
          </a:ln>
        </p:spPr>
        <p:txBody>
          <a:bodyPr/>
          <a:lstStyle/>
          <a:p>
            <a:endParaRPr lang="en-IN"/>
          </a:p>
        </p:txBody>
      </p:sp>
      <p:sp>
        <p:nvSpPr>
          <p:cNvPr id="40" name="Text 38"/>
          <p:cNvSpPr/>
          <p:nvPr/>
        </p:nvSpPr>
        <p:spPr>
          <a:xfrm>
            <a:off x="8851392" y="2231136"/>
            <a:ext cx="1737360" cy="219456"/>
          </a:xfrm>
          <a:prstGeom prst="rect">
            <a:avLst/>
          </a:prstGeom>
          <a:noFill/>
          <a:ln/>
        </p:spPr>
        <p:txBody>
          <a:bodyPr wrap="square" lIns="254" tIns="254" rIns="254" bIns="254" rtlCol="0" anchor="ctr">
            <a:normAutofit/>
          </a:bodyPr>
          <a:lstStyle/>
          <a:p>
            <a:pPr marL="0" indent="0" algn="ctr">
              <a:buNone/>
            </a:pPr>
            <a:r>
              <a:rPr lang="en-US" sz="880" b="1" dirty="0">
                <a:solidFill>
                  <a:srgbClr val="1F2937"/>
                </a:solidFill>
              </a:rPr>
              <a:t>Plot</a:t>
            </a:r>
            <a:endParaRPr lang="en-US" sz="880" dirty="0"/>
          </a:p>
        </p:txBody>
      </p:sp>
      <p:sp>
        <p:nvSpPr>
          <p:cNvPr id="41" name="Shape 39"/>
          <p:cNvSpPr/>
          <p:nvPr/>
        </p:nvSpPr>
        <p:spPr>
          <a:xfrm>
            <a:off x="8686800" y="2761488"/>
            <a:ext cx="2011680" cy="438912"/>
          </a:xfrm>
          <a:prstGeom prst="roundRect">
            <a:avLst>
              <a:gd name="adj" fmla="val 22917"/>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42" name="Shape 40"/>
          <p:cNvSpPr/>
          <p:nvPr/>
        </p:nvSpPr>
        <p:spPr>
          <a:xfrm>
            <a:off x="8686800" y="2761488"/>
            <a:ext cx="91440" cy="438912"/>
          </a:xfrm>
          <a:prstGeom prst="rect">
            <a:avLst/>
          </a:prstGeom>
          <a:solidFill>
            <a:srgbClr val="2E8B57"/>
          </a:solidFill>
          <a:ln w="12700">
            <a:solidFill>
              <a:srgbClr val="2E8B57"/>
            </a:solidFill>
            <a:prstDash val="solid"/>
          </a:ln>
        </p:spPr>
        <p:txBody>
          <a:bodyPr/>
          <a:lstStyle/>
          <a:p>
            <a:endParaRPr lang="en-IN"/>
          </a:p>
        </p:txBody>
      </p:sp>
      <p:sp>
        <p:nvSpPr>
          <p:cNvPr id="43" name="Text 41"/>
          <p:cNvSpPr/>
          <p:nvPr/>
        </p:nvSpPr>
        <p:spPr>
          <a:xfrm>
            <a:off x="8851392" y="2889504"/>
            <a:ext cx="1737360" cy="219456"/>
          </a:xfrm>
          <a:prstGeom prst="rect">
            <a:avLst/>
          </a:prstGeom>
          <a:noFill/>
          <a:ln/>
        </p:spPr>
        <p:txBody>
          <a:bodyPr wrap="square" lIns="254" tIns="254" rIns="254" bIns="254" rtlCol="0" anchor="ctr">
            <a:normAutofit/>
          </a:bodyPr>
          <a:lstStyle/>
          <a:p>
            <a:pPr marL="0" indent="0" algn="ctr">
              <a:buNone/>
            </a:pPr>
            <a:r>
              <a:rPr lang="en-US" sz="880" b="1" dirty="0">
                <a:solidFill>
                  <a:srgbClr val="1F2937"/>
                </a:solidFill>
              </a:rPr>
              <a:t>Table</a:t>
            </a:r>
            <a:endParaRPr lang="en-US" sz="880" dirty="0"/>
          </a:p>
        </p:txBody>
      </p:sp>
      <p:sp>
        <p:nvSpPr>
          <p:cNvPr id="44" name="Shape 42"/>
          <p:cNvSpPr/>
          <p:nvPr/>
        </p:nvSpPr>
        <p:spPr>
          <a:xfrm>
            <a:off x="8686800" y="3419856"/>
            <a:ext cx="2011680" cy="438912"/>
          </a:xfrm>
          <a:prstGeom prst="roundRect">
            <a:avLst>
              <a:gd name="adj" fmla="val 22917"/>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45" name="Shape 43"/>
          <p:cNvSpPr/>
          <p:nvPr/>
        </p:nvSpPr>
        <p:spPr>
          <a:xfrm>
            <a:off x="8686800" y="3419856"/>
            <a:ext cx="91440" cy="438912"/>
          </a:xfrm>
          <a:prstGeom prst="rect">
            <a:avLst/>
          </a:prstGeom>
          <a:solidFill>
            <a:srgbClr val="2E8B57"/>
          </a:solidFill>
          <a:ln w="12700">
            <a:solidFill>
              <a:srgbClr val="2E8B57"/>
            </a:solidFill>
            <a:prstDash val="solid"/>
          </a:ln>
        </p:spPr>
        <p:txBody>
          <a:bodyPr/>
          <a:lstStyle/>
          <a:p>
            <a:endParaRPr lang="en-IN"/>
          </a:p>
        </p:txBody>
      </p:sp>
      <p:sp>
        <p:nvSpPr>
          <p:cNvPr id="46" name="Text 44"/>
          <p:cNvSpPr/>
          <p:nvPr/>
        </p:nvSpPr>
        <p:spPr>
          <a:xfrm>
            <a:off x="8851392" y="3547872"/>
            <a:ext cx="1737360" cy="219456"/>
          </a:xfrm>
          <a:prstGeom prst="rect">
            <a:avLst/>
          </a:prstGeom>
          <a:noFill/>
          <a:ln/>
        </p:spPr>
        <p:txBody>
          <a:bodyPr wrap="square" lIns="254" tIns="254" rIns="254" bIns="254" rtlCol="0" anchor="ctr">
            <a:normAutofit/>
          </a:bodyPr>
          <a:lstStyle/>
          <a:p>
            <a:pPr marL="0" indent="0" algn="ctr">
              <a:buNone/>
            </a:pPr>
            <a:r>
              <a:rPr lang="en-US" sz="880" b="1" dirty="0">
                <a:solidFill>
                  <a:srgbClr val="1F2937"/>
                </a:solidFill>
              </a:rPr>
              <a:t>Summary</a:t>
            </a:r>
            <a:endParaRPr lang="en-US" sz="880" dirty="0"/>
          </a:p>
        </p:txBody>
      </p:sp>
      <p:sp>
        <p:nvSpPr>
          <p:cNvPr id="47"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9</a:t>
            </a:fld>
            <a:endParaRPr lang="en-US"/>
          </a:p>
        </p:txBody>
      </p:sp>
      <p:graphicFrame>
        <p:nvGraphicFramePr>
          <p:cNvPr id="49" name="Object 48">
            <a:extLst>
              <a:ext uri="{FF2B5EF4-FFF2-40B4-BE49-F238E27FC236}">
                <a16:creationId xmlns:a16="http://schemas.microsoft.com/office/drawing/2014/main" id="{744F8E52-D80C-E3B5-3161-7654750E30D4}"/>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Reactive functions decision map</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choose a reactive tool based on whether it returns a value and what triggers it.</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685800" y="1508760"/>
            <a:ext cx="2194560" cy="914400"/>
          </a:xfrm>
          <a:prstGeom prst="roundRect">
            <a:avLst>
              <a:gd name="adj" fmla="val 11000"/>
            </a:avLst>
          </a:prstGeom>
          <a:solidFill>
            <a:srgbClr val="FFFFFF"/>
          </a:solidFill>
          <a:ln w="15240">
            <a:solidFill>
              <a:srgbClr val="0B2E4A"/>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685800" y="1508760"/>
            <a:ext cx="91440" cy="914400"/>
          </a:xfrm>
          <a:prstGeom prst="rect">
            <a:avLst/>
          </a:prstGeom>
          <a:solidFill>
            <a:srgbClr val="0B2E4A"/>
          </a:solidFill>
          <a:ln w="12700">
            <a:solidFill>
              <a:srgbClr val="0B2E4A"/>
            </a:solidFill>
            <a:prstDash val="solid"/>
          </a:ln>
        </p:spPr>
        <p:txBody>
          <a:bodyPr/>
          <a:lstStyle/>
          <a:p>
            <a:endParaRPr lang="en-IN"/>
          </a:p>
        </p:txBody>
      </p:sp>
      <p:sp>
        <p:nvSpPr>
          <p:cNvPr id="7" name="Text 5"/>
          <p:cNvSpPr/>
          <p:nvPr/>
        </p:nvSpPr>
        <p:spPr>
          <a:xfrm>
            <a:off x="850392" y="1636776"/>
            <a:ext cx="192024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Need a</a:t>
            </a:r>
            <a:endParaRPr lang="en-US" sz="1050" dirty="0"/>
          </a:p>
          <a:p>
            <a:pPr marL="0" indent="0" algn="ctr">
              <a:buNone/>
            </a:pPr>
            <a:r>
              <a:rPr lang="en-US" sz="1050" b="1" dirty="0">
                <a:solidFill>
                  <a:srgbClr val="1F2937"/>
                </a:solidFill>
              </a:rPr>
              <a:t>value?</a:t>
            </a:r>
            <a:endParaRPr lang="en-US" sz="1050" dirty="0"/>
          </a:p>
        </p:txBody>
      </p:sp>
      <p:sp>
        <p:nvSpPr>
          <p:cNvPr id="8" name="Shape 6"/>
          <p:cNvSpPr/>
          <p:nvPr/>
        </p:nvSpPr>
        <p:spPr>
          <a:xfrm>
            <a:off x="3657600" y="1097280"/>
            <a:ext cx="2240280" cy="822960"/>
          </a:xfrm>
          <a:prstGeom prst="roundRect">
            <a:avLst>
              <a:gd name="adj" fmla="val 12222"/>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3657600" y="1097280"/>
            <a:ext cx="91440" cy="822960"/>
          </a:xfrm>
          <a:prstGeom prst="rect">
            <a:avLst/>
          </a:prstGeom>
          <a:solidFill>
            <a:srgbClr val="008A8A"/>
          </a:solidFill>
          <a:ln w="12700">
            <a:solidFill>
              <a:srgbClr val="008A8A"/>
            </a:solidFill>
            <a:prstDash val="solid"/>
          </a:ln>
        </p:spPr>
        <p:txBody>
          <a:bodyPr/>
          <a:lstStyle/>
          <a:p>
            <a:endParaRPr lang="en-IN"/>
          </a:p>
        </p:txBody>
      </p:sp>
      <p:sp>
        <p:nvSpPr>
          <p:cNvPr id="10" name="Text 8"/>
          <p:cNvSpPr/>
          <p:nvPr/>
        </p:nvSpPr>
        <p:spPr>
          <a:xfrm>
            <a:off x="3822192" y="1225296"/>
            <a:ext cx="1965960" cy="60350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Yes</a:t>
            </a:r>
            <a:endParaRPr lang="en-US" sz="1050" dirty="0"/>
          </a:p>
          <a:p>
            <a:pPr marL="0" indent="0" algn="ctr">
              <a:buNone/>
            </a:pPr>
            <a:r>
              <a:rPr lang="en-US" sz="1050" b="1" dirty="0">
                <a:solidFill>
                  <a:srgbClr val="1F2937"/>
                </a:solidFill>
              </a:rPr>
              <a:t>reactive()</a:t>
            </a:r>
            <a:endParaRPr lang="en-US" sz="1050" dirty="0"/>
          </a:p>
        </p:txBody>
      </p:sp>
      <p:sp>
        <p:nvSpPr>
          <p:cNvPr id="11" name="Shape 9"/>
          <p:cNvSpPr/>
          <p:nvPr/>
        </p:nvSpPr>
        <p:spPr>
          <a:xfrm>
            <a:off x="3657600" y="2286000"/>
            <a:ext cx="2240280" cy="822960"/>
          </a:xfrm>
          <a:prstGeom prst="roundRect">
            <a:avLst>
              <a:gd name="adj" fmla="val 12222"/>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3657600" y="2286000"/>
            <a:ext cx="91440" cy="822960"/>
          </a:xfrm>
          <a:prstGeom prst="rect">
            <a:avLst/>
          </a:prstGeom>
          <a:solidFill>
            <a:srgbClr val="2E8B57"/>
          </a:solidFill>
          <a:ln w="12700">
            <a:solidFill>
              <a:srgbClr val="2E8B57"/>
            </a:solidFill>
            <a:prstDash val="solid"/>
          </a:ln>
        </p:spPr>
        <p:txBody>
          <a:bodyPr/>
          <a:lstStyle/>
          <a:p>
            <a:endParaRPr lang="en-IN"/>
          </a:p>
        </p:txBody>
      </p:sp>
      <p:sp>
        <p:nvSpPr>
          <p:cNvPr id="13" name="Text 11"/>
          <p:cNvSpPr/>
          <p:nvPr/>
        </p:nvSpPr>
        <p:spPr>
          <a:xfrm>
            <a:off x="3822192" y="2414016"/>
            <a:ext cx="1965960" cy="60350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Yes, on event</a:t>
            </a:r>
            <a:endParaRPr lang="en-US" sz="1050" dirty="0"/>
          </a:p>
          <a:p>
            <a:pPr marL="0" indent="0" algn="ctr">
              <a:buNone/>
            </a:pPr>
            <a:r>
              <a:rPr lang="en-US" sz="1050" b="1" dirty="0">
                <a:solidFill>
                  <a:srgbClr val="1F2937"/>
                </a:solidFill>
              </a:rPr>
              <a:t>eventReactive()</a:t>
            </a:r>
            <a:endParaRPr lang="en-US" sz="1050" dirty="0"/>
          </a:p>
        </p:txBody>
      </p:sp>
      <p:sp>
        <p:nvSpPr>
          <p:cNvPr id="14" name="Shape 12"/>
          <p:cNvSpPr/>
          <p:nvPr/>
        </p:nvSpPr>
        <p:spPr>
          <a:xfrm>
            <a:off x="6949440" y="1097280"/>
            <a:ext cx="2240280" cy="822960"/>
          </a:xfrm>
          <a:prstGeom prst="roundRect">
            <a:avLst>
              <a:gd name="adj" fmla="val 12222"/>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6949440" y="1097280"/>
            <a:ext cx="91440" cy="822960"/>
          </a:xfrm>
          <a:prstGeom prst="rect">
            <a:avLst/>
          </a:prstGeom>
          <a:solidFill>
            <a:srgbClr val="6F49B8"/>
          </a:solidFill>
          <a:ln w="12700">
            <a:solidFill>
              <a:srgbClr val="6F49B8"/>
            </a:solidFill>
            <a:prstDash val="solid"/>
          </a:ln>
        </p:spPr>
        <p:txBody>
          <a:bodyPr/>
          <a:lstStyle/>
          <a:p>
            <a:endParaRPr lang="en-IN"/>
          </a:p>
        </p:txBody>
      </p:sp>
      <p:sp>
        <p:nvSpPr>
          <p:cNvPr id="16" name="Text 14"/>
          <p:cNvSpPr/>
          <p:nvPr/>
        </p:nvSpPr>
        <p:spPr>
          <a:xfrm>
            <a:off x="7114032" y="1225296"/>
            <a:ext cx="1965960" cy="60350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No</a:t>
            </a:r>
            <a:endParaRPr lang="en-US" sz="1050" dirty="0"/>
          </a:p>
          <a:p>
            <a:pPr marL="0" indent="0" algn="ctr">
              <a:buNone/>
            </a:pPr>
            <a:r>
              <a:rPr lang="en-US" sz="1050" b="1" dirty="0">
                <a:solidFill>
                  <a:srgbClr val="1F2937"/>
                </a:solidFill>
              </a:rPr>
              <a:t>observe()</a:t>
            </a:r>
            <a:endParaRPr lang="en-US" sz="1050" dirty="0"/>
          </a:p>
        </p:txBody>
      </p:sp>
      <p:sp>
        <p:nvSpPr>
          <p:cNvPr id="17" name="Shape 15"/>
          <p:cNvSpPr/>
          <p:nvPr/>
        </p:nvSpPr>
        <p:spPr>
          <a:xfrm>
            <a:off x="6949440" y="2286000"/>
            <a:ext cx="2240280" cy="822960"/>
          </a:xfrm>
          <a:prstGeom prst="roundRect">
            <a:avLst>
              <a:gd name="adj" fmla="val 12222"/>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6949440" y="2286000"/>
            <a:ext cx="91440" cy="822960"/>
          </a:xfrm>
          <a:prstGeom prst="rect">
            <a:avLst/>
          </a:prstGeom>
          <a:solidFill>
            <a:srgbClr val="E98300"/>
          </a:solidFill>
          <a:ln w="12700">
            <a:solidFill>
              <a:srgbClr val="E98300"/>
            </a:solidFill>
            <a:prstDash val="solid"/>
          </a:ln>
        </p:spPr>
        <p:txBody>
          <a:bodyPr/>
          <a:lstStyle/>
          <a:p>
            <a:endParaRPr lang="en-IN"/>
          </a:p>
        </p:txBody>
      </p:sp>
      <p:sp>
        <p:nvSpPr>
          <p:cNvPr id="19" name="Text 17"/>
          <p:cNvSpPr/>
          <p:nvPr/>
        </p:nvSpPr>
        <p:spPr>
          <a:xfrm>
            <a:off x="7114032" y="2414016"/>
            <a:ext cx="1965960" cy="60350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No, on event</a:t>
            </a:r>
            <a:endParaRPr lang="en-US" sz="1050" dirty="0"/>
          </a:p>
          <a:p>
            <a:pPr marL="0" indent="0" algn="ctr">
              <a:buNone/>
            </a:pPr>
            <a:r>
              <a:rPr lang="en-US" sz="1050" b="1" dirty="0">
                <a:solidFill>
                  <a:srgbClr val="1F2937"/>
                </a:solidFill>
              </a:rPr>
              <a:t>observeEvent()</a:t>
            </a:r>
            <a:endParaRPr lang="en-US" sz="1050" dirty="0"/>
          </a:p>
        </p:txBody>
      </p:sp>
      <p:sp>
        <p:nvSpPr>
          <p:cNvPr id="20" name="Shape 18"/>
          <p:cNvSpPr/>
          <p:nvPr/>
        </p:nvSpPr>
        <p:spPr>
          <a:xfrm flipV="1">
            <a:off x="2926080" y="1536192"/>
            <a:ext cx="640080" cy="338328"/>
          </a:xfrm>
          <a:prstGeom prst="line">
            <a:avLst/>
          </a:prstGeom>
          <a:noFill/>
          <a:ln w="25400">
            <a:solidFill>
              <a:srgbClr val="008A8A"/>
            </a:solidFill>
            <a:prstDash val="solid"/>
            <a:headEnd type="none"/>
            <a:tailEnd type="triangle"/>
          </a:ln>
        </p:spPr>
        <p:txBody>
          <a:bodyPr/>
          <a:lstStyle/>
          <a:p>
            <a:endParaRPr lang="en-IN"/>
          </a:p>
        </p:txBody>
      </p:sp>
      <p:sp>
        <p:nvSpPr>
          <p:cNvPr id="21" name="Shape 19"/>
          <p:cNvSpPr/>
          <p:nvPr/>
        </p:nvSpPr>
        <p:spPr>
          <a:xfrm>
            <a:off x="2926080" y="1965960"/>
            <a:ext cx="640080" cy="667512"/>
          </a:xfrm>
          <a:prstGeom prst="line">
            <a:avLst/>
          </a:prstGeom>
          <a:noFill/>
          <a:ln w="25400">
            <a:solidFill>
              <a:srgbClr val="2E8B57"/>
            </a:solidFill>
            <a:prstDash val="solid"/>
            <a:headEnd type="none"/>
            <a:tailEnd type="triangle"/>
          </a:ln>
        </p:spPr>
        <p:txBody>
          <a:bodyPr/>
          <a:lstStyle/>
          <a:p>
            <a:endParaRPr lang="en-IN"/>
          </a:p>
        </p:txBody>
      </p:sp>
      <p:sp>
        <p:nvSpPr>
          <p:cNvPr id="22" name="Shape 20"/>
          <p:cNvSpPr/>
          <p:nvPr/>
        </p:nvSpPr>
        <p:spPr>
          <a:xfrm>
            <a:off x="5989320" y="1508760"/>
            <a:ext cx="868680" cy="1"/>
          </a:xfrm>
          <a:prstGeom prst="line">
            <a:avLst/>
          </a:prstGeom>
          <a:noFill/>
          <a:ln w="25400">
            <a:solidFill>
              <a:srgbClr val="6F49B8"/>
            </a:solidFill>
            <a:prstDash val="solid"/>
            <a:headEnd type="none"/>
            <a:tailEnd type="triangle"/>
          </a:ln>
        </p:spPr>
        <p:txBody>
          <a:bodyPr/>
          <a:lstStyle/>
          <a:p>
            <a:endParaRPr lang="en-IN"/>
          </a:p>
        </p:txBody>
      </p:sp>
      <p:sp>
        <p:nvSpPr>
          <p:cNvPr id="23" name="Shape 21"/>
          <p:cNvSpPr/>
          <p:nvPr/>
        </p:nvSpPr>
        <p:spPr>
          <a:xfrm>
            <a:off x="5989320" y="2697480"/>
            <a:ext cx="868680" cy="1"/>
          </a:xfrm>
          <a:prstGeom prst="line">
            <a:avLst/>
          </a:prstGeom>
          <a:noFill/>
          <a:ln w="25400">
            <a:solidFill>
              <a:srgbClr val="E98300"/>
            </a:solidFill>
            <a:prstDash val="solid"/>
            <a:headEnd type="none"/>
            <a:tailEnd type="triangle"/>
          </a:ln>
        </p:spPr>
        <p:txBody>
          <a:bodyPr/>
          <a:lstStyle/>
          <a:p>
            <a:endParaRPr lang="en-IN"/>
          </a:p>
        </p:txBody>
      </p:sp>
      <p:sp>
        <p:nvSpPr>
          <p:cNvPr id="24" name="Shape 22"/>
          <p:cNvSpPr/>
          <p:nvPr/>
        </p:nvSpPr>
        <p:spPr>
          <a:xfrm>
            <a:off x="914400" y="4069080"/>
            <a:ext cx="4526280" cy="566928"/>
          </a:xfrm>
          <a:prstGeom prst="roundRect">
            <a:avLst>
              <a:gd name="adj" fmla="val 17742"/>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25" name="Shape 23"/>
          <p:cNvSpPr/>
          <p:nvPr/>
        </p:nvSpPr>
        <p:spPr>
          <a:xfrm>
            <a:off x="914400" y="4069080"/>
            <a:ext cx="91440" cy="566928"/>
          </a:xfrm>
          <a:prstGeom prst="rect">
            <a:avLst/>
          </a:prstGeom>
          <a:solidFill>
            <a:srgbClr val="008A8A"/>
          </a:solidFill>
          <a:ln w="12700">
            <a:solidFill>
              <a:srgbClr val="008A8A"/>
            </a:solidFill>
            <a:prstDash val="solid"/>
          </a:ln>
        </p:spPr>
        <p:txBody>
          <a:bodyPr/>
          <a:lstStyle/>
          <a:p>
            <a:endParaRPr lang="en-IN"/>
          </a:p>
        </p:txBody>
      </p:sp>
      <p:sp>
        <p:nvSpPr>
          <p:cNvPr id="26" name="Text 24"/>
          <p:cNvSpPr/>
          <p:nvPr/>
        </p:nvSpPr>
        <p:spPr>
          <a:xfrm>
            <a:off x="1078992" y="4197096"/>
            <a:ext cx="4251960" cy="347472"/>
          </a:xfrm>
          <a:prstGeom prst="rect">
            <a:avLst/>
          </a:prstGeom>
          <a:noFill/>
          <a:ln/>
        </p:spPr>
        <p:txBody>
          <a:bodyPr wrap="square" lIns="254" tIns="254" rIns="254" bIns="254" rtlCol="0" anchor="ctr">
            <a:normAutofit/>
          </a:bodyPr>
          <a:lstStyle/>
          <a:p>
            <a:pPr marL="0" indent="0" algn="l">
              <a:buNone/>
            </a:pPr>
            <a:r>
              <a:rPr lang="en-US" sz="820" b="1" dirty="0">
                <a:solidFill>
                  <a:srgbClr val="1F2937"/>
                </a:solidFill>
              </a:rPr>
              <a:t>reactive(): Filtering, calculations, reusable logic</a:t>
            </a:r>
            <a:endParaRPr lang="en-US" sz="820" dirty="0"/>
          </a:p>
        </p:txBody>
      </p:sp>
      <p:sp>
        <p:nvSpPr>
          <p:cNvPr id="27" name="Shape 25"/>
          <p:cNvSpPr/>
          <p:nvPr/>
        </p:nvSpPr>
        <p:spPr>
          <a:xfrm>
            <a:off x="6309360" y="4069080"/>
            <a:ext cx="4526280" cy="566928"/>
          </a:xfrm>
          <a:prstGeom prst="roundRect">
            <a:avLst>
              <a:gd name="adj" fmla="val 17742"/>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28" name="Shape 26"/>
          <p:cNvSpPr/>
          <p:nvPr/>
        </p:nvSpPr>
        <p:spPr>
          <a:xfrm>
            <a:off x="6309360" y="4069080"/>
            <a:ext cx="91440" cy="566928"/>
          </a:xfrm>
          <a:prstGeom prst="rect">
            <a:avLst/>
          </a:prstGeom>
          <a:solidFill>
            <a:srgbClr val="6F49B8"/>
          </a:solidFill>
          <a:ln w="12700">
            <a:solidFill>
              <a:srgbClr val="6F49B8"/>
            </a:solidFill>
            <a:prstDash val="solid"/>
          </a:ln>
        </p:spPr>
        <p:txBody>
          <a:bodyPr/>
          <a:lstStyle/>
          <a:p>
            <a:endParaRPr lang="en-IN"/>
          </a:p>
        </p:txBody>
      </p:sp>
      <p:sp>
        <p:nvSpPr>
          <p:cNvPr id="29" name="Text 27"/>
          <p:cNvSpPr/>
          <p:nvPr/>
        </p:nvSpPr>
        <p:spPr>
          <a:xfrm>
            <a:off x="6473952" y="4197096"/>
            <a:ext cx="4251960" cy="347472"/>
          </a:xfrm>
          <a:prstGeom prst="rect">
            <a:avLst/>
          </a:prstGeom>
          <a:noFill/>
          <a:ln/>
        </p:spPr>
        <p:txBody>
          <a:bodyPr wrap="square" lIns="254" tIns="254" rIns="254" bIns="254" rtlCol="0" anchor="ctr">
            <a:normAutofit/>
          </a:bodyPr>
          <a:lstStyle/>
          <a:p>
            <a:pPr marL="0" indent="0" algn="l">
              <a:buNone/>
            </a:pPr>
            <a:r>
              <a:rPr lang="en-US" sz="820" b="1" dirty="0">
                <a:solidFill>
                  <a:srgbClr val="1F2937"/>
                </a:solidFill>
              </a:rPr>
              <a:t>observe(): Notifications, logging, control updates</a:t>
            </a:r>
            <a:endParaRPr lang="en-US" sz="820" dirty="0"/>
          </a:p>
        </p:txBody>
      </p:sp>
      <p:sp>
        <p:nvSpPr>
          <p:cNvPr id="30" name="Shape 28"/>
          <p:cNvSpPr/>
          <p:nvPr/>
        </p:nvSpPr>
        <p:spPr>
          <a:xfrm>
            <a:off x="914400" y="4937760"/>
            <a:ext cx="4526280" cy="566928"/>
          </a:xfrm>
          <a:prstGeom prst="roundRect">
            <a:avLst>
              <a:gd name="adj" fmla="val 17742"/>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31" name="Shape 29"/>
          <p:cNvSpPr/>
          <p:nvPr/>
        </p:nvSpPr>
        <p:spPr>
          <a:xfrm>
            <a:off x="914400" y="4937760"/>
            <a:ext cx="91440" cy="566928"/>
          </a:xfrm>
          <a:prstGeom prst="rect">
            <a:avLst/>
          </a:prstGeom>
          <a:solidFill>
            <a:srgbClr val="E98300"/>
          </a:solidFill>
          <a:ln w="12700">
            <a:solidFill>
              <a:srgbClr val="E98300"/>
            </a:solidFill>
            <a:prstDash val="solid"/>
          </a:ln>
        </p:spPr>
        <p:txBody>
          <a:bodyPr/>
          <a:lstStyle/>
          <a:p>
            <a:endParaRPr lang="en-IN"/>
          </a:p>
        </p:txBody>
      </p:sp>
      <p:sp>
        <p:nvSpPr>
          <p:cNvPr id="32" name="Text 30"/>
          <p:cNvSpPr/>
          <p:nvPr/>
        </p:nvSpPr>
        <p:spPr>
          <a:xfrm>
            <a:off x="1078992" y="5065776"/>
            <a:ext cx="4251960" cy="347472"/>
          </a:xfrm>
          <a:prstGeom prst="rect">
            <a:avLst/>
          </a:prstGeom>
          <a:noFill/>
          <a:ln/>
        </p:spPr>
        <p:txBody>
          <a:bodyPr wrap="square" lIns="254" tIns="254" rIns="254" bIns="254" rtlCol="0" anchor="ctr">
            <a:normAutofit/>
          </a:bodyPr>
          <a:lstStyle/>
          <a:p>
            <a:pPr marL="0" indent="0" algn="l">
              <a:buNone/>
            </a:pPr>
            <a:r>
              <a:rPr lang="en-US" sz="820" b="1" dirty="0">
                <a:solidFill>
                  <a:srgbClr val="1F2937"/>
                </a:solidFill>
              </a:rPr>
              <a:t>observeEvent(): Run, refresh, submit actions</a:t>
            </a:r>
            <a:endParaRPr lang="en-US" sz="820" dirty="0"/>
          </a:p>
        </p:txBody>
      </p:sp>
      <p:sp>
        <p:nvSpPr>
          <p:cNvPr id="33" name="Shape 31"/>
          <p:cNvSpPr/>
          <p:nvPr/>
        </p:nvSpPr>
        <p:spPr>
          <a:xfrm>
            <a:off x="6309360" y="4937760"/>
            <a:ext cx="4526280" cy="566928"/>
          </a:xfrm>
          <a:prstGeom prst="roundRect">
            <a:avLst>
              <a:gd name="adj" fmla="val 17742"/>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34" name="Shape 32"/>
          <p:cNvSpPr/>
          <p:nvPr/>
        </p:nvSpPr>
        <p:spPr>
          <a:xfrm>
            <a:off x="6309360" y="4937760"/>
            <a:ext cx="91440" cy="566928"/>
          </a:xfrm>
          <a:prstGeom prst="rect">
            <a:avLst/>
          </a:prstGeom>
          <a:solidFill>
            <a:srgbClr val="2E8B57"/>
          </a:solidFill>
          <a:ln w="12700">
            <a:solidFill>
              <a:srgbClr val="2E8B57"/>
            </a:solidFill>
            <a:prstDash val="solid"/>
          </a:ln>
        </p:spPr>
        <p:txBody>
          <a:bodyPr/>
          <a:lstStyle/>
          <a:p>
            <a:endParaRPr lang="en-IN"/>
          </a:p>
        </p:txBody>
      </p:sp>
      <p:sp>
        <p:nvSpPr>
          <p:cNvPr id="35" name="Text 33"/>
          <p:cNvSpPr/>
          <p:nvPr/>
        </p:nvSpPr>
        <p:spPr>
          <a:xfrm>
            <a:off x="6473952" y="5065776"/>
            <a:ext cx="4251960" cy="347472"/>
          </a:xfrm>
          <a:prstGeom prst="rect">
            <a:avLst/>
          </a:prstGeom>
          <a:noFill/>
          <a:ln/>
        </p:spPr>
        <p:txBody>
          <a:bodyPr wrap="square" lIns="254" tIns="254" rIns="254" bIns="254" rtlCol="0" anchor="ctr">
            <a:normAutofit/>
          </a:bodyPr>
          <a:lstStyle/>
          <a:p>
            <a:pPr marL="0" indent="0" algn="l">
              <a:buNone/>
            </a:pPr>
            <a:r>
              <a:rPr lang="en-US" sz="820" b="1" dirty="0">
                <a:solidFill>
                  <a:srgbClr val="1F2937"/>
                </a:solidFill>
              </a:rPr>
              <a:t>eventReactive(): On-demand models or reports</a:t>
            </a:r>
            <a:endParaRPr lang="en-US" sz="820" dirty="0"/>
          </a:p>
        </p:txBody>
      </p:sp>
      <p:sp>
        <p:nvSpPr>
          <p:cNvPr id="36"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10</a:t>
            </a:fld>
            <a:endParaRPr lang="en-US"/>
          </a:p>
        </p:txBody>
      </p:sp>
      <p:graphicFrame>
        <p:nvGraphicFramePr>
          <p:cNvPr id="38" name="Object 37">
            <a:extLst>
              <a:ext uri="{FF2B5EF4-FFF2-40B4-BE49-F238E27FC236}">
                <a16:creationId xmlns:a16="http://schemas.microsoft.com/office/drawing/2014/main" id="{6FEE95DE-6F6F-9F50-D6CC-4C11E9B6534C}"/>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Reactive dependency graph</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reactive dependencies define how information flows between inputs, reactive expressions, and outputs.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777240" y="1874520"/>
            <a:ext cx="1920240" cy="731520"/>
          </a:xfrm>
          <a:prstGeom prst="roundRect">
            <a:avLst>
              <a:gd name="adj" fmla="val 13750"/>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777240" y="1874520"/>
            <a:ext cx="91440" cy="731520"/>
          </a:xfrm>
          <a:prstGeom prst="rect">
            <a:avLst/>
          </a:prstGeom>
          <a:solidFill>
            <a:srgbClr val="0B5CAB"/>
          </a:solidFill>
          <a:ln w="12700">
            <a:solidFill>
              <a:srgbClr val="0B5CAB"/>
            </a:solidFill>
            <a:prstDash val="solid"/>
          </a:ln>
        </p:spPr>
        <p:txBody>
          <a:bodyPr/>
          <a:lstStyle/>
          <a:p>
            <a:endParaRPr lang="en-IN"/>
          </a:p>
        </p:txBody>
      </p:sp>
      <p:sp>
        <p:nvSpPr>
          <p:cNvPr id="7" name="Text 5"/>
          <p:cNvSpPr/>
          <p:nvPr/>
        </p:nvSpPr>
        <p:spPr>
          <a:xfrm>
            <a:off x="941832" y="2002536"/>
            <a:ext cx="1645920" cy="51206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input$species</a:t>
            </a:r>
            <a:endParaRPr lang="en-US" sz="1050" dirty="0"/>
          </a:p>
        </p:txBody>
      </p:sp>
      <p:sp>
        <p:nvSpPr>
          <p:cNvPr id="8" name="Shape 6"/>
          <p:cNvSpPr/>
          <p:nvPr/>
        </p:nvSpPr>
        <p:spPr>
          <a:xfrm>
            <a:off x="777240" y="4509690"/>
            <a:ext cx="1920240" cy="731520"/>
          </a:xfrm>
          <a:prstGeom prst="roundRect">
            <a:avLst>
              <a:gd name="adj" fmla="val 13750"/>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777240" y="4509690"/>
            <a:ext cx="91440" cy="731520"/>
          </a:xfrm>
          <a:prstGeom prst="rect">
            <a:avLst/>
          </a:prstGeom>
          <a:solidFill>
            <a:srgbClr val="0B5CAB"/>
          </a:solidFill>
          <a:ln w="12700">
            <a:solidFill>
              <a:srgbClr val="0B5CAB"/>
            </a:solidFill>
            <a:prstDash val="solid"/>
          </a:ln>
        </p:spPr>
        <p:txBody>
          <a:bodyPr/>
          <a:lstStyle/>
          <a:p>
            <a:endParaRPr lang="en-IN"/>
          </a:p>
        </p:txBody>
      </p:sp>
      <p:sp>
        <p:nvSpPr>
          <p:cNvPr id="10" name="Text 8"/>
          <p:cNvSpPr/>
          <p:nvPr/>
        </p:nvSpPr>
        <p:spPr>
          <a:xfrm>
            <a:off x="941832" y="4628060"/>
            <a:ext cx="1645920" cy="51206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input$pointsize</a:t>
            </a:r>
            <a:endParaRPr lang="en-US" sz="1050" dirty="0"/>
          </a:p>
        </p:txBody>
      </p:sp>
      <p:sp>
        <p:nvSpPr>
          <p:cNvPr id="11" name="Shape 9"/>
          <p:cNvSpPr/>
          <p:nvPr/>
        </p:nvSpPr>
        <p:spPr>
          <a:xfrm>
            <a:off x="4333754" y="3119763"/>
            <a:ext cx="2148840" cy="822960"/>
          </a:xfrm>
          <a:prstGeom prst="roundRect">
            <a:avLst>
              <a:gd name="adj" fmla="val 12222"/>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4333754" y="3119763"/>
            <a:ext cx="91440" cy="822960"/>
          </a:xfrm>
          <a:prstGeom prst="rect">
            <a:avLst/>
          </a:prstGeom>
          <a:solidFill>
            <a:srgbClr val="008A8A"/>
          </a:solidFill>
          <a:ln w="12700">
            <a:solidFill>
              <a:srgbClr val="008A8A"/>
            </a:solidFill>
            <a:prstDash val="solid"/>
          </a:ln>
        </p:spPr>
        <p:txBody>
          <a:bodyPr/>
          <a:lstStyle/>
          <a:p>
            <a:endParaRPr lang="en-IN"/>
          </a:p>
        </p:txBody>
      </p:sp>
      <p:sp>
        <p:nvSpPr>
          <p:cNvPr id="13" name="Text 11"/>
          <p:cNvSpPr/>
          <p:nvPr/>
        </p:nvSpPr>
        <p:spPr>
          <a:xfrm>
            <a:off x="4498346" y="3247779"/>
            <a:ext cx="1874520" cy="60350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filtered_data()</a:t>
            </a:r>
            <a:endParaRPr lang="en-US" sz="1050" dirty="0"/>
          </a:p>
        </p:txBody>
      </p:sp>
      <p:sp>
        <p:nvSpPr>
          <p:cNvPr id="14" name="Shape 12"/>
          <p:cNvSpPr/>
          <p:nvPr/>
        </p:nvSpPr>
        <p:spPr>
          <a:xfrm>
            <a:off x="8001000" y="1783080"/>
            <a:ext cx="2423160" cy="777240"/>
          </a:xfrm>
          <a:prstGeom prst="roundRect">
            <a:avLst>
              <a:gd name="adj" fmla="val 12941"/>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8001000" y="1783080"/>
            <a:ext cx="91440" cy="777240"/>
          </a:xfrm>
          <a:prstGeom prst="rect">
            <a:avLst/>
          </a:prstGeom>
          <a:solidFill>
            <a:srgbClr val="2E8B57"/>
          </a:solidFill>
          <a:ln w="12700">
            <a:solidFill>
              <a:srgbClr val="2E8B57"/>
            </a:solidFill>
            <a:prstDash val="solid"/>
          </a:ln>
        </p:spPr>
        <p:txBody>
          <a:bodyPr/>
          <a:lstStyle/>
          <a:p>
            <a:endParaRPr lang="en-IN"/>
          </a:p>
        </p:txBody>
      </p:sp>
      <p:sp>
        <p:nvSpPr>
          <p:cNvPr id="16" name="Text 14"/>
          <p:cNvSpPr/>
          <p:nvPr/>
        </p:nvSpPr>
        <p:spPr>
          <a:xfrm>
            <a:off x="8165592" y="1911096"/>
            <a:ext cx="2148840" cy="55778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Table</a:t>
            </a:r>
            <a:endParaRPr lang="en-US" sz="1050" dirty="0"/>
          </a:p>
        </p:txBody>
      </p:sp>
      <p:sp>
        <p:nvSpPr>
          <p:cNvPr id="17" name="Shape 15"/>
          <p:cNvSpPr/>
          <p:nvPr/>
        </p:nvSpPr>
        <p:spPr>
          <a:xfrm>
            <a:off x="8001000" y="3212168"/>
            <a:ext cx="2423160" cy="777240"/>
          </a:xfrm>
          <a:prstGeom prst="roundRect">
            <a:avLst>
              <a:gd name="adj" fmla="val 12941"/>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8001000" y="3212168"/>
            <a:ext cx="91440" cy="777240"/>
          </a:xfrm>
          <a:prstGeom prst="rect">
            <a:avLst/>
          </a:prstGeom>
          <a:solidFill>
            <a:srgbClr val="2E8B57"/>
          </a:solidFill>
          <a:ln w="12700">
            <a:solidFill>
              <a:srgbClr val="2E8B57"/>
            </a:solidFill>
            <a:prstDash val="solid"/>
          </a:ln>
        </p:spPr>
        <p:txBody>
          <a:bodyPr/>
          <a:lstStyle/>
          <a:p>
            <a:endParaRPr lang="en-IN"/>
          </a:p>
        </p:txBody>
      </p:sp>
      <p:sp>
        <p:nvSpPr>
          <p:cNvPr id="19" name="Text 17"/>
          <p:cNvSpPr/>
          <p:nvPr/>
        </p:nvSpPr>
        <p:spPr>
          <a:xfrm>
            <a:off x="8165592" y="3340184"/>
            <a:ext cx="2148840" cy="55778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Record Count</a:t>
            </a:r>
            <a:endParaRPr lang="en-US" sz="1050" dirty="0"/>
          </a:p>
        </p:txBody>
      </p:sp>
      <p:sp>
        <p:nvSpPr>
          <p:cNvPr id="20" name="Shape 18"/>
          <p:cNvSpPr/>
          <p:nvPr/>
        </p:nvSpPr>
        <p:spPr>
          <a:xfrm>
            <a:off x="8001000" y="4663440"/>
            <a:ext cx="2423160" cy="777240"/>
          </a:xfrm>
          <a:prstGeom prst="roundRect">
            <a:avLst>
              <a:gd name="adj" fmla="val 12941"/>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21" name="Shape 19"/>
          <p:cNvSpPr/>
          <p:nvPr/>
        </p:nvSpPr>
        <p:spPr>
          <a:xfrm>
            <a:off x="8001000" y="4663440"/>
            <a:ext cx="91440" cy="777240"/>
          </a:xfrm>
          <a:prstGeom prst="rect">
            <a:avLst/>
          </a:prstGeom>
          <a:solidFill>
            <a:srgbClr val="6F49B8"/>
          </a:solidFill>
          <a:ln w="12700">
            <a:solidFill>
              <a:srgbClr val="6F49B8"/>
            </a:solidFill>
            <a:prstDash val="solid"/>
          </a:ln>
        </p:spPr>
        <p:txBody>
          <a:bodyPr/>
          <a:lstStyle/>
          <a:p>
            <a:endParaRPr lang="en-IN"/>
          </a:p>
        </p:txBody>
      </p:sp>
      <p:sp>
        <p:nvSpPr>
          <p:cNvPr id="22" name="Text 20"/>
          <p:cNvSpPr/>
          <p:nvPr/>
        </p:nvSpPr>
        <p:spPr>
          <a:xfrm>
            <a:off x="8165592" y="4791456"/>
            <a:ext cx="2148840" cy="55778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Scatter Plot</a:t>
            </a:r>
            <a:endParaRPr lang="en-US" sz="1050" dirty="0"/>
          </a:p>
        </p:txBody>
      </p:sp>
      <p:sp>
        <p:nvSpPr>
          <p:cNvPr id="23" name="Shape 21"/>
          <p:cNvSpPr/>
          <p:nvPr/>
        </p:nvSpPr>
        <p:spPr>
          <a:xfrm>
            <a:off x="2734557" y="2249925"/>
            <a:ext cx="1544835" cy="830484"/>
          </a:xfrm>
          <a:prstGeom prst="line">
            <a:avLst/>
          </a:prstGeom>
          <a:noFill/>
          <a:ln w="25400">
            <a:solidFill>
              <a:srgbClr val="0B5CAB"/>
            </a:solidFill>
            <a:prstDash val="solid"/>
            <a:headEnd type="none"/>
            <a:tailEnd type="triangle"/>
          </a:ln>
        </p:spPr>
        <p:txBody>
          <a:bodyPr/>
          <a:lstStyle/>
          <a:p>
            <a:endParaRPr lang="en-IN"/>
          </a:p>
        </p:txBody>
      </p:sp>
      <p:sp>
        <p:nvSpPr>
          <p:cNvPr id="24" name="Shape 22"/>
          <p:cNvSpPr/>
          <p:nvPr/>
        </p:nvSpPr>
        <p:spPr>
          <a:xfrm>
            <a:off x="2705621" y="5000842"/>
            <a:ext cx="5231371" cy="28358"/>
          </a:xfrm>
          <a:prstGeom prst="line">
            <a:avLst/>
          </a:prstGeom>
          <a:noFill/>
          <a:ln w="25400">
            <a:solidFill>
              <a:srgbClr val="0B5CAB"/>
            </a:solidFill>
            <a:prstDash val="solid"/>
            <a:headEnd type="none"/>
            <a:tailEnd type="triangle"/>
          </a:ln>
        </p:spPr>
        <p:txBody>
          <a:bodyPr/>
          <a:lstStyle/>
          <a:p>
            <a:endParaRPr lang="en-IN"/>
          </a:p>
        </p:txBody>
      </p:sp>
      <p:sp>
        <p:nvSpPr>
          <p:cNvPr id="25" name="Shape 23"/>
          <p:cNvSpPr/>
          <p:nvPr/>
        </p:nvSpPr>
        <p:spPr>
          <a:xfrm flipV="1">
            <a:off x="6489733" y="2515372"/>
            <a:ext cx="1408677" cy="640080"/>
          </a:xfrm>
          <a:prstGeom prst="line">
            <a:avLst/>
          </a:prstGeom>
          <a:noFill/>
          <a:ln w="25400">
            <a:solidFill>
              <a:srgbClr val="2E8B57"/>
            </a:solidFill>
            <a:prstDash val="solid"/>
            <a:headEnd type="none"/>
            <a:tailEnd type="triangle"/>
          </a:ln>
        </p:spPr>
        <p:txBody>
          <a:bodyPr/>
          <a:lstStyle/>
          <a:p>
            <a:endParaRPr lang="en-IN"/>
          </a:p>
        </p:txBody>
      </p:sp>
      <p:sp>
        <p:nvSpPr>
          <p:cNvPr id="26" name="Shape 24"/>
          <p:cNvSpPr/>
          <p:nvPr/>
        </p:nvSpPr>
        <p:spPr>
          <a:xfrm>
            <a:off x="6509023" y="3523102"/>
            <a:ext cx="1437615" cy="6598"/>
          </a:xfrm>
          <a:prstGeom prst="line">
            <a:avLst/>
          </a:prstGeom>
          <a:noFill/>
          <a:ln w="25400">
            <a:solidFill>
              <a:srgbClr val="2E8B57"/>
            </a:solidFill>
            <a:prstDash val="solid"/>
            <a:headEnd type="none"/>
            <a:tailEnd type="triangle"/>
          </a:ln>
        </p:spPr>
        <p:txBody>
          <a:bodyPr/>
          <a:lstStyle/>
          <a:p>
            <a:endParaRPr lang="en-IN"/>
          </a:p>
        </p:txBody>
      </p:sp>
      <p:sp>
        <p:nvSpPr>
          <p:cNvPr id="27" name="Shape 25"/>
          <p:cNvSpPr/>
          <p:nvPr/>
        </p:nvSpPr>
        <p:spPr>
          <a:xfrm>
            <a:off x="6431859" y="3916179"/>
            <a:ext cx="1572650" cy="782564"/>
          </a:xfrm>
          <a:prstGeom prst="line">
            <a:avLst/>
          </a:prstGeom>
          <a:noFill/>
          <a:ln w="25400">
            <a:solidFill>
              <a:srgbClr val="6F49B8"/>
            </a:solidFill>
            <a:prstDash val="solid"/>
            <a:headEnd type="none"/>
            <a:tailEnd type="triangle"/>
          </a:ln>
        </p:spPr>
        <p:txBody>
          <a:bodyPr/>
          <a:lstStyle/>
          <a:p>
            <a:endParaRPr lang="en-IN"/>
          </a:p>
        </p:txBody>
      </p:sp>
      <p:sp>
        <p:nvSpPr>
          <p:cNvPr id="28" name="Shape 26"/>
          <p:cNvSpPr/>
          <p:nvPr/>
        </p:nvSpPr>
        <p:spPr>
          <a:xfrm>
            <a:off x="777240" y="5715000"/>
            <a:ext cx="10012680" cy="347472"/>
          </a:xfrm>
          <a:prstGeom prst="roundRect">
            <a:avLst>
              <a:gd name="adj" fmla="val 26316"/>
            </a:avLst>
          </a:prstGeom>
          <a:solidFill>
            <a:srgbClr val="EAF4FF"/>
          </a:solidFill>
          <a:ln w="12700">
            <a:solidFill>
              <a:srgbClr val="D7E1EA"/>
            </a:solidFill>
            <a:prstDash val="solid"/>
          </a:ln>
        </p:spPr>
        <p:txBody>
          <a:bodyPr/>
          <a:lstStyle/>
          <a:p>
            <a:endParaRPr lang="en-IN"/>
          </a:p>
        </p:txBody>
      </p:sp>
      <p:sp>
        <p:nvSpPr>
          <p:cNvPr id="29" name="Text 27"/>
          <p:cNvSpPr/>
          <p:nvPr/>
        </p:nvSpPr>
        <p:spPr>
          <a:xfrm>
            <a:off x="1005840" y="5806440"/>
            <a:ext cx="9509760" cy="128016"/>
          </a:xfrm>
          <a:prstGeom prst="rect">
            <a:avLst/>
          </a:prstGeom>
          <a:noFill/>
          <a:ln/>
        </p:spPr>
        <p:txBody>
          <a:bodyPr wrap="square" lIns="0" tIns="0" rIns="0" bIns="0" rtlCol="0" anchor="ctr"/>
          <a:lstStyle/>
          <a:p>
            <a:pPr marL="0" indent="0" algn="ctr">
              <a:buNone/>
            </a:pPr>
            <a:r>
              <a:rPr lang="en-US" sz="880" b="1" dirty="0">
                <a:solidFill>
                  <a:srgbClr val="0B2E4A"/>
                </a:solidFill>
              </a:rPr>
              <a:t>One shared reactive expression can feed multiple outputs, reducing repeated filtering logic.</a:t>
            </a:r>
            <a:endParaRPr lang="en-US" sz="880" dirty="0"/>
          </a:p>
        </p:txBody>
      </p:sp>
      <p:sp>
        <p:nvSpPr>
          <p:cNvPr id="30"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11</a:t>
            </a:fld>
            <a:endParaRPr lang="en-US"/>
          </a:p>
        </p:txBody>
      </p:sp>
      <p:graphicFrame>
        <p:nvGraphicFramePr>
          <p:cNvPr id="32" name="Object 31">
            <a:extLst>
              <a:ext uri="{FF2B5EF4-FFF2-40B4-BE49-F238E27FC236}">
                <a16:creationId xmlns:a16="http://schemas.microsoft.com/office/drawing/2014/main" id="{A699049A-D0B6-5FB2-D243-0BCACB33EF7E}"/>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Dynamic UI flow</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uiOutput() and renderUI() create controls based on user selections.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731520" y="2423160"/>
            <a:ext cx="1965960" cy="777240"/>
          </a:xfrm>
          <a:prstGeom prst="roundRect">
            <a:avLst>
              <a:gd name="adj" fmla="val 12941"/>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731520" y="2423160"/>
            <a:ext cx="91440" cy="777240"/>
          </a:xfrm>
          <a:prstGeom prst="rect">
            <a:avLst/>
          </a:prstGeom>
          <a:solidFill>
            <a:srgbClr val="0B5CAB"/>
          </a:solidFill>
          <a:ln w="12700">
            <a:solidFill>
              <a:srgbClr val="0B5CAB"/>
            </a:solidFill>
            <a:prstDash val="solid"/>
          </a:ln>
        </p:spPr>
        <p:txBody>
          <a:bodyPr/>
          <a:lstStyle/>
          <a:p>
            <a:endParaRPr lang="en-IN"/>
          </a:p>
        </p:txBody>
      </p:sp>
      <p:sp>
        <p:nvSpPr>
          <p:cNvPr id="7" name="Text 5"/>
          <p:cNvSpPr/>
          <p:nvPr/>
        </p:nvSpPr>
        <p:spPr>
          <a:xfrm>
            <a:off x="896112" y="2551176"/>
            <a:ext cx="1691640" cy="55778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Select</a:t>
            </a:r>
            <a:endParaRPr lang="en-US" sz="1050" dirty="0"/>
          </a:p>
          <a:p>
            <a:pPr marL="0" indent="0" algn="ctr">
              <a:buNone/>
            </a:pPr>
            <a:r>
              <a:rPr lang="en-US" sz="1050" b="1" dirty="0">
                <a:solidFill>
                  <a:srgbClr val="1F2937"/>
                </a:solidFill>
              </a:rPr>
              <a:t>Study Type</a:t>
            </a:r>
            <a:endParaRPr lang="en-US" sz="1050" dirty="0"/>
          </a:p>
        </p:txBody>
      </p:sp>
      <p:sp>
        <p:nvSpPr>
          <p:cNvPr id="8" name="Shape 6"/>
          <p:cNvSpPr/>
          <p:nvPr/>
        </p:nvSpPr>
        <p:spPr>
          <a:xfrm>
            <a:off x="3291840" y="2423160"/>
            <a:ext cx="1965960" cy="777240"/>
          </a:xfrm>
          <a:prstGeom prst="roundRect">
            <a:avLst>
              <a:gd name="adj" fmla="val 12941"/>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3291840" y="2423160"/>
            <a:ext cx="91440" cy="777240"/>
          </a:xfrm>
          <a:prstGeom prst="rect">
            <a:avLst/>
          </a:prstGeom>
          <a:solidFill>
            <a:srgbClr val="6F49B8"/>
          </a:solidFill>
          <a:ln w="12700">
            <a:solidFill>
              <a:srgbClr val="6F49B8"/>
            </a:solidFill>
            <a:prstDash val="solid"/>
          </a:ln>
        </p:spPr>
        <p:txBody>
          <a:bodyPr/>
          <a:lstStyle/>
          <a:p>
            <a:endParaRPr lang="en-IN"/>
          </a:p>
        </p:txBody>
      </p:sp>
      <p:sp>
        <p:nvSpPr>
          <p:cNvPr id="10" name="Text 8"/>
          <p:cNvSpPr/>
          <p:nvPr/>
        </p:nvSpPr>
        <p:spPr>
          <a:xfrm>
            <a:off x="3456432" y="2551176"/>
            <a:ext cx="1691640" cy="55778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renderUI()</a:t>
            </a:r>
            <a:endParaRPr lang="en-US" sz="1050" dirty="0"/>
          </a:p>
        </p:txBody>
      </p:sp>
      <p:sp>
        <p:nvSpPr>
          <p:cNvPr id="11" name="Shape 9"/>
          <p:cNvSpPr/>
          <p:nvPr/>
        </p:nvSpPr>
        <p:spPr>
          <a:xfrm>
            <a:off x="5852160" y="2423160"/>
            <a:ext cx="2057400" cy="777240"/>
          </a:xfrm>
          <a:prstGeom prst="roundRect">
            <a:avLst>
              <a:gd name="adj" fmla="val 12941"/>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5852160" y="2423160"/>
            <a:ext cx="91440" cy="777240"/>
          </a:xfrm>
          <a:prstGeom prst="rect">
            <a:avLst/>
          </a:prstGeom>
          <a:solidFill>
            <a:srgbClr val="008A8A"/>
          </a:solidFill>
          <a:ln w="12700">
            <a:solidFill>
              <a:srgbClr val="008A8A"/>
            </a:solidFill>
            <a:prstDash val="solid"/>
          </a:ln>
        </p:spPr>
        <p:txBody>
          <a:bodyPr/>
          <a:lstStyle/>
          <a:p>
            <a:endParaRPr lang="en-IN"/>
          </a:p>
        </p:txBody>
      </p:sp>
      <p:sp>
        <p:nvSpPr>
          <p:cNvPr id="13" name="Text 11"/>
          <p:cNvSpPr/>
          <p:nvPr/>
        </p:nvSpPr>
        <p:spPr>
          <a:xfrm>
            <a:off x="6016752" y="2551176"/>
            <a:ext cx="1783080" cy="55778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Endpoint</a:t>
            </a:r>
            <a:endParaRPr lang="en-US" sz="1050" dirty="0"/>
          </a:p>
          <a:p>
            <a:pPr marL="0" indent="0" algn="ctr">
              <a:buNone/>
            </a:pPr>
            <a:r>
              <a:rPr lang="en-US" sz="1050" b="1" dirty="0">
                <a:solidFill>
                  <a:srgbClr val="1F2937"/>
                </a:solidFill>
              </a:rPr>
              <a:t>Dropdown</a:t>
            </a:r>
            <a:endParaRPr lang="en-US" sz="1050" dirty="0"/>
          </a:p>
        </p:txBody>
      </p:sp>
      <p:sp>
        <p:nvSpPr>
          <p:cNvPr id="14" name="Shape 12"/>
          <p:cNvSpPr/>
          <p:nvPr/>
        </p:nvSpPr>
        <p:spPr>
          <a:xfrm>
            <a:off x="8458200" y="2423160"/>
            <a:ext cx="1965960" cy="777240"/>
          </a:xfrm>
          <a:prstGeom prst="roundRect">
            <a:avLst>
              <a:gd name="adj" fmla="val 12941"/>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8458200" y="2423160"/>
            <a:ext cx="91440" cy="777240"/>
          </a:xfrm>
          <a:prstGeom prst="rect">
            <a:avLst/>
          </a:prstGeom>
          <a:solidFill>
            <a:srgbClr val="E98300"/>
          </a:solidFill>
          <a:ln w="12700">
            <a:solidFill>
              <a:srgbClr val="E98300"/>
            </a:solidFill>
            <a:prstDash val="solid"/>
          </a:ln>
        </p:spPr>
        <p:txBody>
          <a:bodyPr/>
          <a:lstStyle/>
          <a:p>
            <a:endParaRPr lang="en-IN"/>
          </a:p>
        </p:txBody>
      </p:sp>
      <p:sp>
        <p:nvSpPr>
          <p:cNvPr id="16" name="Text 14"/>
          <p:cNvSpPr/>
          <p:nvPr/>
        </p:nvSpPr>
        <p:spPr>
          <a:xfrm>
            <a:off x="8622792" y="2551176"/>
            <a:ext cx="1691640" cy="55778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Reactive</a:t>
            </a:r>
            <a:endParaRPr lang="en-US" sz="1050" dirty="0"/>
          </a:p>
          <a:p>
            <a:pPr marL="0" indent="0" algn="ctr">
              <a:buNone/>
            </a:pPr>
            <a:r>
              <a:rPr lang="en-US" sz="1050" b="1" dirty="0">
                <a:solidFill>
                  <a:srgbClr val="1F2937"/>
                </a:solidFill>
              </a:rPr>
              <a:t>Filter</a:t>
            </a:r>
            <a:endParaRPr lang="en-US" sz="1050" dirty="0"/>
          </a:p>
        </p:txBody>
      </p:sp>
      <p:sp>
        <p:nvSpPr>
          <p:cNvPr id="17" name="Shape 15"/>
          <p:cNvSpPr/>
          <p:nvPr/>
        </p:nvSpPr>
        <p:spPr>
          <a:xfrm>
            <a:off x="4572000" y="4572000"/>
            <a:ext cx="2011680" cy="777240"/>
          </a:xfrm>
          <a:prstGeom prst="roundRect">
            <a:avLst>
              <a:gd name="adj" fmla="val 12941"/>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4572000" y="4572000"/>
            <a:ext cx="91440" cy="777240"/>
          </a:xfrm>
          <a:prstGeom prst="rect">
            <a:avLst/>
          </a:prstGeom>
          <a:solidFill>
            <a:srgbClr val="2E8B57"/>
          </a:solidFill>
          <a:ln w="12700">
            <a:solidFill>
              <a:srgbClr val="2E8B57"/>
            </a:solidFill>
            <a:prstDash val="solid"/>
          </a:ln>
        </p:spPr>
        <p:txBody>
          <a:bodyPr/>
          <a:lstStyle/>
          <a:p>
            <a:endParaRPr lang="en-IN"/>
          </a:p>
        </p:txBody>
      </p:sp>
      <p:sp>
        <p:nvSpPr>
          <p:cNvPr id="19" name="Text 17"/>
          <p:cNvSpPr/>
          <p:nvPr/>
        </p:nvSpPr>
        <p:spPr>
          <a:xfrm>
            <a:off x="4736592" y="4700016"/>
            <a:ext cx="1737360" cy="55778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Chart</a:t>
            </a:r>
            <a:endParaRPr lang="en-US" sz="1050" dirty="0"/>
          </a:p>
        </p:txBody>
      </p:sp>
      <p:sp>
        <p:nvSpPr>
          <p:cNvPr id="20" name="Shape 18"/>
          <p:cNvSpPr/>
          <p:nvPr/>
        </p:nvSpPr>
        <p:spPr>
          <a:xfrm>
            <a:off x="7406640" y="4572000"/>
            <a:ext cx="2011680" cy="777240"/>
          </a:xfrm>
          <a:prstGeom prst="roundRect">
            <a:avLst>
              <a:gd name="adj" fmla="val 12941"/>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21" name="Shape 19"/>
          <p:cNvSpPr/>
          <p:nvPr/>
        </p:nvSpPr>
        <p:spPr>
          <a:xfrm>
            <a:off x="7406640" y="4572000"/>
            <a:ext cx="91440" cy="777240"/>
          </a:xfrm>
          <a:prstGeom prst="rect">
            <a:avLst/>
          </a:prstGeom>
          <a:solidFill>
            <a:srgbClr val="2E8B57"/>
          </a:solidFill>
          <a:ln w="12700">
            <a:solidFill>
              <a:srgbClr val="2E8B57"/>
            </a:solidFill>
            <a:prstDash val="solid"/>
          </a:ln>
        </p:spPr>
        <p:txBody>
          <a:bodyPr/>
          <a:lstStyle/>
          <a:p>
            <a:endParaRPr lang="en-IN"/>
          </a:p>
        </p:txBody>
      </p:sp>
      <p:sp>
        <p:nvSpPr>
          <p:cNvPr id="22" name="Text 20"/>
          <p:cNvSpPr/>
          <p:nvPr/>
        </p:nvSpPr>
        <p:spPr>
          <a:xfrm>
            <a:off x="7571232" y="4700016"/>
            <a:ext cx="1737360" cy="55778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Table</a:t>
            </a:r>
            <a:endParaRPr lang="en-US" sz="1050" dirty="0"/>
          </a:p>
        </p:txBody>
      </p:sp>
      <p:sp>
        <p:nvSpPr>
          <p:cNvPr id="23" name="Shape 21"/>
          <p:cNvSpPr/>
          <p:nvPr/>
        </p:nvSpPr>
        <p:spPr>
          <a:xfrm>
            <a:off x="2724912" y="2816352"/>
            <a:ext cx="493776" cy="1"/>
          </a:xfrm>
          <a:prstGeom prst="line">
            <a:avLst/>
          </a:prstGeom>
          <a:noFill/>
          <a:ln w="25400">
            <a:solidFill>
              <a:srgbClr val="0B5CAB"/>
            </a:solidFill>
            <a:prstDash val="solid"/>
            <a:headEnd type="none"/>
            <a:tailEnd type="triangle"/>
          </a:ln>
        </p:spPr>
        <p:txBody>
          <a:bodyPr/>
          <a:lstStyle/>
          <a:p>
            <a:endParaRPr lang="en-IN"/>
          </a:p>
        </p:txBody>
      </p:sp>
      <p:sp>
        <p:nvSpPr>
          <p:cNvPr id="24" name="Shape 22"/>
          <p:cNvSpPr/>
          <p:nvPr/>
        </p:nvSpPr>
        <p:spPr>
          <a:xfrm>
            <a:off x="5285232" y="2816352"/>
            <a:ext cx="493776" cy="1"/>
          </a:xfrm>
          <a:prstGeom prst="line">
            <a:avLst/>
          </a:prstGeom>
          <a:noFill/>
          <a:ln w="25400">
            <a:solidFill>
              <a:srgbClr val="6F49B8"/>
            </a:solidFill>
            <a:prstDash val="solid"/>
            <a:headEnd type="none"/>
            <a:tailEnd type="triangle"/>
          </a:ln>
        </p:spPr>
        <p:txBody>
          <a:bodyPr/>
          <a:lstStyle/>
          <a:p>
            <a:endParaRPr lang="en-IN"/>
          </a:p>
        </p:txBody>
      </p:sp>
      <p:sp>
        <p:nvSpPr>
          <p:cNvPr id="25" name="Shape 23"/>
          <p:cNvSpPr/>
          <p:nvPr/>
        </p:nvSpPr>
        <p:spPr>
          <a:xfrm>
            <a:off x="7936992" y="2816352"/>
            <a:ext cx="457200" cy="1"/>
          </a:xfrm>
          <a:prstGeom prst="line">
            <a:avLst/>
          </a:prstGeom>
          <a:noFill/>
          <a:ln w="25400">
            <a:solidFill>
              <a:srgbClr val="008A8A"/>
            </a:solidFill>
            <a:prstDash val="solid"/>
            <a:headEnd type="none"/>
            <a:tailEnd type="triangle"/>
          </a:ln>
        </p:spPr>
        <p:txBody>
          <a:bodyPr/>
          <a:lstStyle/>
          <a:p>
            <a:endParaRPr lang="en-IN"/>
          </a:p>
        </p:txBody>
      </p:sp>
      <p:sp>
        <p:nvSpPr>
          <p:cNvPr id="26" name="Shape 24"/>
          <p:cNvSpPr/>
          <p:nvPr/>
        </p:nvSpPr>
        <p:spPr>
          <a:xfrm flipH="1">
            <a:off x="5577840" y="3200400"/>
            <a:ext cx="3886200" cy="1325880"/>
          </a:xfrm>
          <a:prstGeom prst="line">
            <a:avLst/>
          </a:prstGeom>
          <a:noFill/>
          <a:ln w="25400">
            <a:solidFill>
              <a:srgbClr val="E98300"/>
            </a:solidFill>
            <a:prstDash val="solid"/>
            <a:headEnd type="none"/>
            <a:tailEnd type="triangle"/>
          </a:ln>
        </p:spPr>
        <p:txBody>
          <a:bodyPr/>
          <a:lstStyle/>
          <a:p>
            <a:endParaRPr lang="en-IN"/>
          </a:p>
        </p:txBody>
      </p:sp>
      <p:sp>
        <p:nvSpPr>
          <p:cNvPr id="27" name="Shape 25"/>
          <p:cNvSpPr/>
          <p:nvPr/>
        </p:nvSpPr>
        <p:spPr>
          <a:xfrm flipH="1">
            <a:off x="8412480" y="3200400"/>
            <a:ext cx="1051560" cy="1325880"/>
          </a:xfrm>
          <a:prstGeom prst="line">
            <a:avLst/>
          </a:prstGeom>
          <a:noFill/>
          <a:ln w="25400">
            <a:solidFill>
              <a:srgbClr val="E98300"/>
            </a:solidFill>
            <a:prstDash val="solid"/>
            <a:headEnd type="none"/>
            <a:tailEnd type="triangle"/>
          </a:ln>
        </p:spPr>
        <p:txBody>
          <a:bodyPr/>
          <a:lstStyle/>
          <a:p>
            <a:endParaRPr lang="en-IN"/>
          </a:p>
        </p:txBody>
      </p:sp>
      <p:sp>
        <p:nvSpPr>
          <p:cNvPr id="28" name="Text 26"/>
          <p:cNvSpPr/>
          <p:nvPr/>
        </p:nvSpPr>
        <p:spPr>
          <a:xfrm>
            <a:off x="731520" y="1508760"/>
            <a:ext cx="9784080" cy="228600"/>
          </a:xfrm>
          <a:prstGeom prst="rect">
            <a:avLst/>
          </a:prstGeom>
          <a:noFill/>
          <a:ln/>
        </p:spPr>
        <p:txBody>
          <a:bodyPr wrap="square" lIns="0" tIns="0" rIns="0" bIns="0" rtlCol="0" anchor="ctr">
            <a:normAutofit/>
          </a:bodyPr>
          <a:lstStyle/>
          <a:p>
            <a:pPr marL="0" indent="0" algn="ctr">
              <a:buNone/>
            </a:pPr>
            <a:r>
              <a:rPr lang="en-US" sz="850" dirty="0">
                <a:solidFill>
                  <a:srgbClr val="64748B"/>
                </a:solidFill>
              </a:rPr>
              <a:t>Example: Oncology -&gt; survival/response endpoints | Diabetes -&gt; HbA1c/glucose endpoints | Cardiology -&gt; BP/heart-rate endpoints</a:t>
            </a:r>
            <a:endParaRPr lang="en-US" sz="850" dirty="0"/>
          </a:p>
        </p:txBody>
      </p:sp>
      <p:sp>
        <p:nvSpPr>
          <p:cNvPr id="29"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12</a:t>
            </a:fld>
            <a:endParaRPr lang="en-US"/>
          </a:p>
        </p:txBody>
      </p:sp>
      <p:graphicFrame>
        <p:nvGraphicFramePr>
          <p:cNvPr id="31" name="Object 30">
            <a:extLst>
              <a:ext uri="{FF2B5EF4-FFF2-40B4-BE49-F238E27FC236}">
                <a16:creationId xmlns:a16="http://schemas.microsoft.com/office/drawing/2014/main" id="{F74E99A4-0867-1AC6-21A9-DEF4649AA53A}"/>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Conditional panels workflow</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conditionalPanel() shows or hides existing controls based on user choices.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1281021" y="1508760"/>
            <a:ext cx="2057400" cy="731520"/>
          </a:xfrm>
          <a:prstGeom prst="roundRect">
            <a:avLst>
              <a:gd name="adj" fmla="val 13750"/>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1281021" y="1508760"/>
            <a:ext cx="91440" cy="731520"/>
          </a:xfrm>
          <a:prstGeom prst="rect">
            <a:avLst/>
          </a:prstGeom>
          <a:solidFill>
            <a:srgbClr val="0B5CAB"/>
          </a:solidFill>
          <a:ln w="12700">
            <a:solidFill>
              <a:srgbClr val="0B5CAB"/>
            </a:solidFill>
            <a:prstDash val="solid"/>
          </a:ln>
        </p:spPr>
        <p:txBody>
          <a:bodyPr/>
          <a:lstStyle/>
          <a:p>
            <a:endParaRPr lang="en-IN"/>
          </a:p>
        </p:txBody>
      </p:sp>
      <p:sp>
        <p:nvSpPr>
          <p:cNvPr id="7" name="Text 5"/>
          <p:cNvSpPr/>
          <p:nvPr/>
        </p:nvSpPr>
        <p:spPr>
          <a:xfrm>
            <a:off x="1445613" y="1636776"/>
            <a:ext cx="1783080" cy="51206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Study</a:t>
            </a:r>
            <a:endParaRPr lang="en-US" sz="1050" dirty="0"/>
          </a:p>
          <a:p>
            <a:pPr marL="0" indent="0" algn="ctr">
              <a:buNone/>
            </a:pPr>
            <a:r>
              <a:rPr lang="en-US" sz="1050" b="1" dirty="0">
                <a:solidFill>
                  <a:srgbClr val="1F2937"/>
                </a:solidFill>
              </a:rPr>
              <a:t>Selection</a:t>
            </a:r>
            <a:endParaRPr lang="en-US" sz="1050" dirty="0"/>
          </a:p>
        </p:txBody>
      </p:sp>
      <p:sp>
        <p:nvSpPr>
          <p:cNvPr id="8" name="Shape 6"/>
          <p:cNvSpPr/>
          <p:nvPr/>
        </p:nvSpPr>
        <p:spPr>
          <a:xfrm>
            <a:off x="4986062" y="1508760"/>
            <a:ext cx="2194560" cy="731520"/>
          </a:xfrm>
          <a:prstGeom prst="roundRect">
            <a:avLst>
              <a:gd name="adj" fmla="val 13750"/>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4986062" y="1508760"/>
            <a:ext cx="91440" cy="731520"/>
          </a:xfrm>
          <a:prstGeom prst="rect">
            <a:avLst/>
          </a:prstGeom>
          <a:solidFill>
            <a:srgbClr val="6F49B8"/>
          </a:solidFill>
          <a:ln w="12700">
            <a:solidFill>
              <a:srgbClr val="6F49B8"/>
            </a:solidFill>
            <a:prstDash val="solid"/>
          </a:ln>
        </p:spPr>
        <p:txBody>
          <a:bodyPr/>
          <a:lstStyle/>
          <a:p>
            <a:endParaRPr lang="en-IN"/>
          </a:p>
        </p:txBody>
      </p:sp>
      <p:sp>
        <p:nvSpPr>
          <p:cNvPr id="10" name="Text 8"/>
          <p:cNvSpPr/>
          <p:nvPr/>
        </p:nvSpPr>
        <p:spPr>
          <a:xfrm>
            <a:off x="5150654" y="1636776"/>
            <a:ext cx="1920240" cy="51206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conditionalPanel()</a:t>
            </a:r>
            <a:endParaRPr lang="en-US" sz="1050" dirty="0"/>
          </a:p>
        </p:txBody>
      </p:sp>
      <p:sp>
        <p:nvSpPr>
          <p:cNvPr id="11" name="Shape 9"/>
          <p:cNvSpPr/>
          <p:nvPr/>
        </p:nvSpPr>
        <p:spPr>
          <a:xfrm>
            <a:off x="3338420" y="1874521"/>
            <a:ext cx="1626771" cy="0"/>
          </a:xfrm>
          <a:prstGeom prst="line">
            <a:avLst/>
          </a:prstGeom>
          <a:noFill/>
          <a:ln w="25400">
            <a:solidFill>
              <a:srgbClr val="64748B"/>
            </a:solidFill>
            <a:prstDash val="solid"/>
            <a:headEnd type="none"/>
            <a:tailEnd type="triangle"/>
          </a:ln>
        </p:spPr>
        <p:txBody>
          <a:bodyPr/>
          <a:lstStyle/>
          <a:p>
            <a:endParaRPr lang="en-IN"/>
          </a:p>
        </p:txBody>
      </p:sp>
      <p:sp>
        <p:nvSpPr>
          <p:cNvPr id="12" name="Shape 10"/>
          <p:cNvSpPr/>
          <p:nvPr/>
        </p:nvSpPr>
        <p:spPr>
          <a:xfrm>
            <a:off x="1051560" y="2834640"/>
            <a:ext cx="2560320" cy="1051560"/>
          </a:xfrm>
          <a:prstGeom prst="roundRect">
            <a:avLst>
              <a:gd name="adj" fmla="val 9565"/>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13" name="Shape 11"/>
          <p:cNvSpPr/>
          <p:nvPr/>
        </p:nvSpPr>
        <p:spPr>
          <a:xfrm>
            <a:off x="1051560" y="2834640"/>
            <a:ext cx="91440" cy="1051560"/>
          </a:xfrm>
          <a:prstGeom prst="rect">
            <a:avLst/>
          </a:prstGeom>
          <a:solidFill>
            <a:srgbClr val="0B5CAB"/>
          </a:solidFill>
          <a:ln w="12700">
            <a:solidFill>
              <a:srgbClr val="0B5CAB"/>
            </a:solidFill>
            <a:prstDash val="solid"/>
          </a:ln>
        </p:spPr>
        <p:txBody>
          <a:bodyPr/>
          <a:lstStyle/>
          <a:p>
            <a:endParaRPr lang="en-IN"/>
          </a:p>
        </p:txBody>
      </p:sp>
      <p:sp>
        <p:nvSpPr>
          <p:cNvPr id="14" name="Text 12"/>
          <p:cNvSpPr/>
          <p:nvPr/>
        </p:nvSpPr>
        <p:spPr>
          <a:xfrm>
            <a:off x="1216152" y="2962656"/>
            <a:ext cx="2286000" cy="832104"/>
          </a:xfrm>
          <a:prstGeom prst="rect">
            <a:avLst/>
          </a:prstGeom>
          <a:noFill/>
          <a:ln/>
        </p:spPr>
        <p:txBody>
          <a:bodyPr wrap="square" lIns="254" tIns="254" rIns="254" bIns="254" rtlCol="0" anchor="ctr">
            <a:normAutofit/>
          </a:bodyPr>
          <a:lstStyle/>
          <a:p>
            <a:pPr marL="0" indent="0" algn="ctr">
              <a:buNone/>
            </a:pPr>
            <a:r>
              <a:rPr lang="en-US" sz="900" b="1" dirty="0">
                <a:solidFill>
                  <a:srgbClr val="1F2937"/>
                </a:solidFill>
              </a:rPr>
              <a:t>Oncology</a:t>
            </a:r>
            <a:endParaRPr lang="en-US" sz="900" dirty="0"/>
          </a:p>
          <a:p>
            <a:pPr marL="0" indent="0" algn="ctr">
              <a:buNone/>
            </a:pPr>
            <a:r>
              <a:rPr lang="en-US" sz="900" b="1" dirty="0">
                <a:solidFill>
                  <a:srgbClr val="1F2937"/>
                </a:solidFill>
              </a:rPr>
              <a:t>Overall Survival</a:t>
            </a:r>
            <a:endParaRPr lang="en-US" sz="900" dirty="0"/>
          </a:p>
          <a:p>
            <a:pPr marL="0" indent="0" algn="ctr">
              <a:buNone/>
            </a:pPr>
            <a:r>
              <a:rPr lang="en-US" sz="900" b="1" dirty="0">
                <a:solidFill>
                  <a:srgbClr val="1F2937"/>
                </a:solidFill>
              </a:rPr>
              <a:t>Tumor Response</a:t>
            </a:r>
            <a:endParaRPr lang="en-US" sz="900" dirty="0"/>
          </a:p>
        </p:txBody>
      </p:sp>
      <p:sp>
        <p:nvSpPr>
          <p:cNvPr id="15" name="Shape 13"/>
          <p:cNvSpPr/>
          <p:nvPr/>
        </p:nvSpPr>
        <p:spPr>
          <a:xfrm flipH="1">
            <a:off x="3632751" y="2217418"/>
            <a:ext cx="1397916" cy="653797"/>
          </a:xfrm>
          <a:prstGeom prst="line">
            <a:avLst/>
          </a:prstGeom>
          <a:noFill/>
          <a:ln w="17780">
            <a:solidFill>
              <a:srgbClr val="0B5CAB"/>
            </a:solidFill>
            <a:prstDash val="solid"/>
            <a:headEnd type="none"/>
            <a:tailEnd type="triangle"/>
          </a:ln>
        </p:spPr>
        <p:txBody>
          <a:bodyPr/>
          <a:lstStyle/>
          <a:p>
            <a:endParaRPr lang="en-IN"/>
          </a:p>
        </p:txBody>
      </p:sp>
      <p:sp>
        <p:nvSpPr>
          <p:cNvPr id="16" name="Shape 14"/>
          <p:cNvSpPr/>
          <p:nvPr/>
        </p:nvSpPr>
        <p:spPr>
          <a:xfrm>
            <a:off x="4709160" y="2834640"/>
            <a:ext cx="2560320" cy="1051560"/>
          </a:xfrm>
          <a:prstGeom prst="roundRect">
            <a:avLst>
              <a:gd name="adj" fmla="val 9565"/>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17" name="Shape 15"/>
          <p:cNvSpPr/>
          <p:nvPr/>
        </p:nvSpPr>
        <p:spPr>
          <a:xfrm>
            <a:off x="4709160" y="2834640"/>
            <a:ext cx="91440" cy="1051560"/>
          </a:xfrm>
          <a:prstGeom prst="rect">
            <a:avLst/>
          </a:prstGeom>
          <a:solidFill>
            <a:srgbClr val="008A8A"/>
          </a:solidFill>
          <a:ln w="12700">
            <a:solidFill>
              <a:srgbClr val="008A8A"/>
            </a:solidFill>
            <a:prstDash val="solid"/>
          </a:ln>
        </p:spPr>
        <p:txBody>
          <a:bodyPr/>
          <a:lstStyle/>
          <a:p>
            <a:endParaRPr lang="en-IN"/>
          </a:p>
        </p:txBody>
      </p:sp>
      <p:sp>
        <p:nvSpPr>
          <p:cNvPr id="18" name="Text 16"/>
          <p:cNvSpPr/>
          <p:nvPr/>
        </p:nvSpPr>
        <p:spPr>
          <a:xfrm>
            <a:off x="4873752" y="2962656"/>
            <a:ext cx="2286000" cy="832104"/>
          </a:xfrm>
          <a:prstGeom prst="rect">
            <a:avLst/>
          </a:prstGeom>
          <a:noFill/>
          <a:ln/>
        </p:spPr>
        <p:txBody>
          <a:bodyPr wrap="square" lIns="254" tIns="254" rIns="254" bIns="254" rtlCol="0" anchor="ctr">
            <a:normAutofit/>
          </a:bodyPr>
          <a:lstStyle/>
          <a:p>
            <a:pPr marL="0" indent="0" algn="ctr">
              <a:buNone/>
            </a:pPr>
            <a:r>
              <a:rPr lang="en-US" sz="900" b="1" dirty="0">
                <a:solidFill>
                  <a:srgbClr val="1F2937"/>
                </a:solidFill>
              </a:rPr>
              <a:t>Diabetes</a:t>
            </a:r>
            <a:endParaRPr lang="en-US" sz="900" dirty="0"/>
          </a:p>
          <a:p>
            <a:pPr marL="0" indent="0" algn="ctr">
              <a:buNone/>
            </a:pPr>
            <a:r>
              <a:rPr lang="en-US" sz="900" b="1" dirty="0">
                <a:solidFill>
                  <a:srgbClr val="1F2937"/>
                </a:solidFill>
              </a:rPr>
              <a:t>HbA1c</a:t>
            </a:r>
            <a:endParaRPr lang="en-US" sz="900" dirty="0"/>
          </a:p>
          <a:p>
            <a:pPr marL="0" indent="0" algn="ctr">
              <a:buNone/>
            </a:pPr>
            <a:r>
              <a:rPr lang="en-US" sz="900" b="1" dirty="0">
                <a:solidFill>
                  <a:srgbClr val="1F2937"/>
                </a:solidFill>
              </a:rPr>
              <a:t>Fasting Glucose</a:t>
            </a:r>
            <a:endParaRPr lang="en-US" sz="900" dirty="0"/>
          </a:p>
        </p:txBody>
      </p:sp>
      <p:sp>
        <p:nvSpPr>
          <p:cNvPr id="19" name="Shape 17"/>
          <p:cNvSpPr/>
          <p:nvPr/>
        </p:nvSpPr>
        <p:spPr>
          <a:xfrm>
            <a:off x="5989320" y="2276856"/>
            <a:ext cx="0" cy="512064"/>
          </a:xfrm>
          <a:prstGeom prst="line">
            <a:avLst/>
          </a:prstGeom>
          <a:noFill/>
          <a:ln w="17780">
            <a:solidFill>
              <a:srgbClr val="008A8A"/>
            </a:solidFill>
            <a:prstDash val="solid"/>
            <a:headEnd type="none"/>
            <a:tailEnd type="triangle"/>
          </a:ln>
        </p:spPr>
        <p:txBody>
          <a:bodyPr/>
          <a:lstStyle/>
          <a:p>
            <a:endParaRPr lang="en-IN"/>
          </a:p>
        </p:txBody>
      </p:sp>
      <p:sp>
        <p:nvSpPr>
          <p:cNvPr id="20" name="Shape 18"/>
          <p:cNvSpPr/>
          <p:nvPr/>
        </p:nvSpPr>
        <p:spPr>
          <a:xfrm>
            <a:off x="8366760" y="2834640"/>
            <a:ext cx="2560320" cy="1051560"/>
          </a:xfrm>
          <a:prstGeom prst="roundRect">
            <a:avLst>
              <a:gd name="adj" fmla="val 9565"/>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21" name="Shape 19"/>
          <p:cNvSpPr/>
          <p:nvPr/>
        </p:nvSpPr>
        <p:spPr>
          <a:xfrm>
            <a:off x="8366760" y="2834640"/>
            <a:ext cx="91440" cy="1051560"/>
          </a:xfrm>
          <a:prstGeom prst="rect">
            <a:avLst/>
          </a:prstGeom>
          <a:solidFill>
            <a:srgbClr val="E98300"/>
          </a:solidFill>
          <a:ln w="12700">
            <a:solidFill>
              <a:srgbClr val="E98300"/>
            </a:solidFill>
            <a:prstDash val="solid"/>
          </a:ln>
        </p:spPr>
        <p:txBody>
          <a:bodyPr/>
          <a:lstStyle/>
          <a:p>
            <a:endParaRPr lang="en-IN"/>
          </a:p>
        </p:txBody>
      </p:sp>
      <p:sp>
        <p:nvSpPr>
          <p:cNvPr id="22" name="Text 20"/>
          <p:cNvSpPr/>
          <p:nvPr/>
        </p:nvSpPr>
        <p:spPr>
          <a:xfrm>
            <a:off x="8531352" y="2962656"/>
            <a:ext cx="2286000" cy="832104"/>
          </a:xfrm>
          <a:prstGeom prst="rect">
            <a:avLst/>
          </a:prstGeom>
          <a:noFill/>
          <a:ln/>
        </p:spPr>
        <p:txBody>
          <a:bodyPr wrap="square" lIns="254" tIns="254" rIns="254" bIns="254" rtlCol="0" anchor="ctr">
            <a:normAutofit/>
          </a:bodyPr>
          <a:lstStyle/>
          <a:p>
            <a:pPr marL="0" indent="0" algn="ctr">
              <a:buNone/>
            </a:pPr>
            <a:r>
              <a:rPr lang="en-US" sz="900" b="1" dirty="0">
                <a:solidFill>
                  <a:srgbClr val="1F2937"/>
                </a:solidFill>
              </a:rPr>
              <a:t>Cardiology</a:t>
            </a:r>
            <a:endParaRPr lang="en-US" sz="900" dirty="0"/>
          </a:p>
          <a:p>
            <a:pPr marL="0" indent="0" algn="ctr">
              <a:buNone/>
            </a:pPr>
            <a:r>
              <a:rPr lang="en-US" sz="900" b="1" dirty="0">
                <a:solidFill>
                  <a:srgbClr val="1F2937"/>
                </a:solidFill>
              </a:rPr>
              <a:t>Blood Pressure</a:t>
            </a:r>
            <a:endParaRPr lang="en-US" sz="900" dirty="0"/>
          </a:p>
          <a:p>
            <a:pPr marL="0" indent="0" algn="ctr">
              <a:buNone/>
            </a:pPr>
            <a:r>
              <a:rPr lang="en-US" sz="900" b="1" dirty="0">
                <a:solidFill>
                  <a:srgbClr val="1F2937"/>
                </a:solidFill>
              </a:rPr>
              <a:t>Heart Rate</a:t>
            </a:r>
            <a:endParaRPr lang="en-US" sz="900" dirty="0"/>
          </a:p>
        </p:txBody>
      </p:sp>
      <p:sp>
        <p:nvSpPr>
          <p:cNvPr id="23" name="Shape 21"/>
          <p:cNvSpPr/>
          <p:nvPr/>
        </p:nvSpPr>
        <p:spPr>
          <a:xfrm>
            <a:off x="7156296" y="2240279"/>
            <a:ext cx="1234440" cy="557783"/>
          </a:xfrm>
          <a:prstGeom prst="line">
            <a:avLst/>
          </a:prstGeom>
          <a:noFill/>
          <a:ln w="17780">
            <a:solidFill>
              <a:srgbClr val="E98300"/>
            </a:solidFill>
            <a:prstDash val="solid"/>
            <a:headEnd type="none"/>
            <a:tailEnd type="triangle"/>
          </a:ln>
        </p:spPr>
        <p:txBody>
          <a:bodyPr/>
          <a:lstStyle/>
          <a:p>
            <a:endParaRPr lang="en-IN"/>
          </a:p>
        </p:txBody>
      </p:sp>
      <p:sp>
        <p:nvSpPr>
          <p:cNvPr id="24" name="Shape 22"/>
          <p:cNvSpPr/>
          <p:nvPr/>
        </p:nvSpPr>
        <p:spPr>
          <a:xfrm>
            <a:off x="4526280" y="4892040"/>
            <a:ext cx="3154680" cy="768096"/>
          </a:xfrm>
          <a:prstGeom prst="roundRect">
            <a:avLst>
              <a:gd name="adj" fmla="val 13095"/>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25" name="Shape 23"/>
          <p:cNvSpPr/>
          <p:nvPr/>
        </p:nvSpPr>
        <p:spPr>
          <a:xfrm>
            <a:off x="4526280" y="4892040"/>
            <a:ext cx="91440" cy="768096"/>
          </a:xfrm>
          <a:prstGeom prst="rect">
            <a:avLst/>
          </a:prstGeom>
          <a:solidFill>
            <a:srgbClr val="2E8B57"/>
          </a:solidFill>
          <a:ln w="12700">
            <a:solidFill>
              <a:srgbClr val="2E8B57"/>
            </a:solidFill>
            <a:prstDash val="solid"/>
          </a:ln>
        </p:spPr>
        <p:txBody>
          <a:bodyPr/>
          <a:lstStyle/>
          <a:p>
            <a:endParaRPr lang="en-IN"/>
          </a:p>
        </p:txBody>
      </p:sp>
      <p:sp>
        <p:nvSpPr>
          <p:cNvPr id="26" name="Text 24"/>
          <p:cNvSpPr/>
          <p:nvPr/>
        </p:nvSpPr>
        <p:spPr>
          <a:xfrm>
            <a:off x="4690872" y="5020056"/>
            <a:ext cx="2880360" cy="548640"/>
          </a:xfrm>
          <a:prstGeom prst="rect">
            <a:avLst/>
          </a:prstGeom>
          <a:noFill/>
          <a:ln/>
        </p:spPr>
        <p:txBody>
          <a:bodyPr wrap="square" lIns="254" tIns="254" rIns="254" bIns="254" rtlCol="0" anchor="ctr">
            <a:normAutofit/>
          </a:bodyPr>
          <a:lstStyle/>
          <a:p>
            <a:pPr marL="0" indent="0" algn="ctr">
              <a:buNone/>
            </a:pPr>
            <a:r>
              <a:rPr lang="en-US" sz="950" b="1" dirty="0">
                <a:solidFill>
                  <a:srgbClr val="1F2937"/>
                </a:solidFill>
              </a:rPr>
              <a:t>Reactive Data Filter</a:t>
            </a:r>
            <a:endParaRPr lang="en-US" sz="950" dirty="0"/>
          </a:p>
          <a:p>
            <a:pPr marL="0" indent="0" algn="ctr">
              <a:buNone/>
            </a:pPr>
            <a:r>
              <a:rPr lang="en-US" sz="950" b="1" dirty="0">
                <a:solidFill>
                  <a:srgbClr val="1F2937"/>
                </a:solidFill>
              </a:rPr>
              <a:t>Chart + Table update</a:t>
            </a:r>
            <a:endParaRPr lang="en-US" sz="950" dirty="0"/>
          </a:p>
        </p:txBody>
      </p:sp>
      <p:sp>
        <p:nvSpPr>
          <p:cNvPr id="27" name="Shape 25"/>
          <p:cNvSpPr/>
          <p:nvPr/>
        </p:nvSpPr>
        <p:spPr>
          <a:xfrm>
            <a:off x="3611880" y="3913632"/>
            <a:ext cx="960120" cy="978408"/>
          </a:xfrm>
          <a:prstGeom prst="line">
            <a:avLst/>
          </a:prstGeom>
          <a:noFill/>
          <a:ln w="17780">
            <a:solidFill>
              <a:srgbClr val="0B5CAB"/>
            </a:solidFill>
            <a:prstDash val="solid"/>
            <a:headEnd type="none"/>
            <a:tailEnd type="triangle"/>
          </a:ln>
        </p:spPr>
        <p:txBody>
          <a:bodyPr/>
          <a:lstStyle/>
          <a:p>
            <a:endParaRPr lang="en-IN"/>
          </a:p>
        </p:txBody>
      </p:sp>
      <p:sp>
        <p:nvSpPr>
          <p:cNvPr id="28" name="Shape 26"/>
          <p:cNvSpPr/>
          <p:nvPr/>
        </p:nvSpPr>
        <p:spPr>
          <a:xfrm>
            <a:off x="5989320" y="3913632"/>
            <a:ext cx="0" cy="950976"/>
          </a:xfrm>
          <a:prstGeom prst="line">
            <a:avLst/>
          </a:prstGeom>
          <a:noFill/>
          <a:ln w="17780">
            <a:solidFill>
              <a:srgbClr val="008A8A"/>
            </a:solidFill>
            <a:prstDash val="solid"/>
            <a:headEnd type="none"/>
            <a:tailEnd type="triangle"/>
          </a:ln>
        </p:spPr>
        <p:txBody>
          <a:bodyPr/>
          <a:lstStyle/>
          <a:p>
            <a:endParaRPr lang="en-IN"/>
          </a:p>
        </p:txBody>
      </p:sp>
      <p:sp>
        <p:nvSpPr>
          <p:cNvPr id="29" name="Shape 27"/>
          <p:cNvSpPr/>
          <p:nvPr/>
        </p:nvSpPr>
        <p:spPr>
          <a:xfrm flipH="1">
            <a:off x="7680960" y="3922778"/>
            <a:ext cx="709775" cy="969262"/>
          </a:xfrm>
          <a:prstGeom prst="line">
            <a:avLst/>
          </a:prstGeom>
          <a:noFill/>
          <a:ln w="17780">
            <a:solidFill>
              <a:srgbClr val="E98300"/>
            </a:solidFill>
            <a:prstDash val="solid"/>
            <a:headEnd type="none"/>
            <a:tailEnd type="triangle"/>
          </a:ln>
        </p:spPr>
        <p:txBody>
          <a:bodyPr/>
          <a:lstStyle/>
          <a:p>
            <a:endParaRPr lang="en-IN"/>
          </a:p>
        </p:txBody>
      </p:sp>
      <p:sp>
        <p:nvSpPr>
          <p:cNvPr id="30"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13</a:t>
            </a:fld>
            <a:endParaRPr lang="en-US"/>
          </a:p>
        </p:txBody>
      </p:sp>
      <p:graphicFrame>
        <p:nvGraphicFramePr>
          <p:cNvPr id="31" name="Object 30">
            <a:extLst>
              <a:ext uri="{FF2B5EF4-FFF2-40B4-BE49-F238E27FC236}">
                <a16:creationId xmlns:a16="http://schemas.microsoft.com/office/drawing/2014/main" id="{30FF72C3-66C3-1278-0D33-07A00BAC102E}"/>
              </a:ext>
            </a:extLst>
          </p:cNvPr>
          <p:cNvGraphicFramePr>
            <a:graphicFrameLocks noChangeAspect="1"/>
          </p:cNvGraphicFramePr>
          <p:nvPr>
            <p:extLst>
              <p:ext uri="{D42A27DB-BD31-4B8C-83A1-F6EECF244321}">
                <p14:modId xmlns:p14="http://schemas.microsoft.com/office/powerpoint/2010/main" val="3548213137"/>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0" name=""/>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Workflow trio: tabs, upload/download, validation</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production-ready apps organize content, accept files, export results, and validate inputs.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777240" y="1417320"/>
            <a:ext cx="2057400" cy="320040"/>
          </a:xfrm>
          <a:prstGeom prst="roundRect">
            <a:avLst>
              <a:gd name="adj" fmla="val 22857"/>
            </a:avLst>
          </a:prstGeom>
          <a:solidFill>
            <a:srgbClr val="0B5CAB"/>
          </a:solidFill>
          <a:ln w="12700">
            <a:solidFill>
              <a:srgbClr val="0B5CAB"/>
            </a:solidFill>
            <a:prstDash val="solid"/>
          </a:ln>
        </p:spPr>
        <p:txBody>
          <a:bodyPr/>
          <a:lstStyle/>
          <a:p>
            <a:endParaRPr lang="en-IN"/>
          </a:p>
        </p:txBody>
      </p:sp>
      <p:sp>
        <p:nvSpPr>
          <p:cNvPr id="6" name="Text 4"/>
          <p:cNvSpPr/>
          <p:nvPr/>
        </p:nvSpPr>
        <p:spPr>
          <a:xfrm>
            <a:off x="868680" y="1499616"/>
            <a:ext cx="1874520" cy="137160"/>
          </a:xfrm>
          <a:prstGeom prst="rect">
            <a:avLst/>
          </a:prstGeom>
          <a:noFill/>
          <a:ln/>
        </p:spPr>
        <p:txBody>
          <a:bodyPr wrap="square" lIns="0" tIns="0" rIns="0" bIns="0" rtlCol="0" anchor="ctr"/>
          <a:lstStyle/>
          <a:p>
            <a:pPr marL="0" indent="0" algn="ctr">
              <a:buNone/>
            </a:pPr>
            <a:r>
              <a:rPr lang="en-US" sz="850" b="1" dirty="0">
                <a:solidFill>
                  <a:srgbClr val="FFFFFF"/>
                </a:solidFill>
              </a:rPr>
              <a:t>Tabs</a:t>
            </a:r>
            <a:endParaRPr lang="en-US" sz="850" dirty="0"/>
          </a:p>
        </p:txBody>
      </p:sp>
      <p:sp>
        <p:nvSpPr>
          <p:cNvPr id="7" name="Shape 5"/>
          <p:cNvSpPr/>
          <p:nvPr/>
        </p:nvSpPr>
        <p:spPr>
          <a:xfrm>
            <a:off x="2971800" y="1371600"/>
            <a:ext cx="1508760" cy="566928"/>
          </a:xfrm>
          <a:prstGeom prst="roundRect">
            <a:avLst>
              <a:gd name="adj" fmla="val 17742"/>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8" name="Shape 6"/>
          <p:cNvSpPr/>
          <p:nvPr/>
        </p:nvSpPr>
        <p:spPr>
          <a:xfrm>
            <a:off x="2971800" y="1371600"/>
            <a:ext cx="91440" cy="566928"/>
          </a:xfrm>
          <a:prstGeom prst="rect">
            <a:avLst/>
          </a:prstGeom>
          <a:solidFill>
            <a:srgbClr val="0B5CAB"/>
          </a:solidFill>
          <a:ln w="12700">
            <a:solidFill>
              <a:srgbClr val="0B5CAB"/>
            </a:solidFill>
            <a:prstDash val="solid"/>
          </a:ln>
        </p:spPr>
        <p:txBody>
          <a:bodyPr/>
          <a:lstStyle/>
          <a:p>
            <a:endParaRPr lang="en-IN"/>
          </a:p>
        </p:txBody>
      </p:sp>
      <p:sp>
        <p:nvSpPr>
          <p:cNvPr id="9" name="Text 7"/>
          <p:cNvSpPr/>
          <p:nvPr/>
        </p:nvSpPr>
        <p:spPr>
          <a:xfrm>
            <a:off x="3136392" y="149961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Clinical Dashboard</a:t>
            </a:r>
            <a:endParaRPr lang="en-US" sz="780" dirty="0"/>
          </a:p>
        </p:txBody>
      </p:sp>
      <p:sp>
        <p:nvSpPr>
          <p:cNvPr id="10" name="Shape 8"/>
          <p:cNvSpPr/>
          <p:nvPr/>
        </p:nvSpPr>
        <p:spPr>
          <a:xfrm>
            <a:off x="4507992" y="1655064"/>
            <a:ext cx="475488" cy="1"/>
          </a:xfrm>
          <a:prstGeom prst="line">
            <a:avLst/>
          </a:prstGeom>
          <a:noFill/>
          <a:ln w="19050">
            <a:solidFill>
              <a:srgbClr val="D7E1EA"/>
            </a:solidFill>
            <a:prstDash val="solid"/>
            <a:headEnd type="none"/>
            <a:tailEnd type="triangle"/>
          </a:ln>
        </p:spPr>
        <p:txBody>
          <a:bodyPr/>
          <a:lstStyle/>
          <a:p>
            <a:endParaRPr lang="en-IN"/>
          </a:p>
        </p:txBody>
      </p:sp>
      <p:sp>
        <p:nvSpPr>
          <p:cNvPr id="11" name="Shape 9"/>
          <p:cNvSpPr/>
          <p:nvPr/>
        </p:nvSpPr>
        <p:spPr>
          <a:xfrm>
            <a:off x="5029200" y="1371600"/>
            <a:ext cx="1508760" cy="566928"/>
          </a:xfrm>
          <a:prstGeom prst="roundRect">
            <a:avLst>
              <a:gd name="adj" fmla="val 17742"/>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5029200" y="1371600"/>
            <a:ext cx="91440" cy="566928"/>
          </a:xfrm>
          <a:prstGeom prst="rect">
            <a:avLst/>
          </a:prstGeom>
          <a:solidFill>
            <a:srgbClr val="0B5CAB"/>
          </a:solidFill>
          <a:ln w="12700">
            <a:solidFill>
              <a:srgbClr val="0B5CAB"/>
            </a:solidFill>
            <a:prstDash val="solid"/>
          </a:ln>
        </p:spPr>
        <p:txBody>
          <a:bodyPr/>
          <a:lstStyle/>
          <a:p>
            <a:endParaRPr lang="en-IN"/>
          </a:p>
        </p:txBody>
      </p:sp>
      <p:sp>
        <p:nvSpPr>
          <p:cNvPr id="13" name="Text 11"/>
          <p:cNvSpPr/>
          <p:nvPr/>
        </p:nvSpPr>
        <p:spPr>
          <a:xfrm>
            <a:off x="5193792" y="149961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Summary Tab</a:t>
            </a:r>
            <a:endParaRPr lang="en-US" sz="780" dirty="0"/>
          </a:p>
        </p:txBody>
      </p:sp>
      <p:sp>
        <p:nvSpPr>
          <p:cNvPr id="14" name="Shape 12"/>
          <p:cNvSpPr/>
          <p:nvPr/>
        </p:nvSpPr>
        <p:spPr>
          <a:xfrm>
            <a:off x="6565392" y="1655064"/>
            <a:ext cx="475488" cy="1"/>
          </a:xfrm>
          <a:prstGeom prst="line">
            <a:avLst/>
          </a:prstGeom>
          <a:noFill/>
          <a:ln w="19050">
            <a:solidFill>
              <a:srgbClr val="D7E1EA"/>
            </a:solidFill>
            <a:prstDash val="solid"/>
            <a:headEnd type="none"/>
            <a:tailEnd type="triangle"/>
          </a:ln>
        </p:spPr>
        <p:txBody>
          <a:bodyPr/>
          <a:lstStyle/>
          <a:p>
            <a:endParaRPr lang="en-IN"/>
          </a:p>
        </p:txBody>
      </p:sp>
      <p:sp>
        <p:nvSpPr>
          <p:cNvPr id="15" name="Shape 13"/>
          <p:cNvSpPr/>
          <p:nvPr/>
        </p:nvSpPr>
        <p:spPr>
          <a:xfrm>
            <a:off x="7086600" y="1371600"/>
            <a:ext cx="1508760" cy="566928"/>
          </a:xfrm>
          <a:prstGeom prst="roundRect">
            <a:avLst>
              <a:gd name="adj" fmla="val 17742"/>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16" name="Shape 14"/>
          <p:cNvSpPr/>
          <p:nvPr/>
        </p:nvSpPr>
        <p:spPr>
          <a:xfrm>
            <a:off x="7086600" y="1371600"/>
            <a:ext cx="91440" cy="566928"/>
          </a:xfrm>
          <a:prstGeom prst="rect">
            <a:avLst/>
          </a:prstGeom>
          <a:solidFill>
            <a:srgbClr val="0B5CAB"/>
          </a:solidFill>
          <a:ln w="12700">
            <a:solidFill>
              <a:srgbClr val="0B5CAB"/>
            </a:solidFill>
            <a:prstDash val="solid"/>
          </a:ln>
        </p:spPr>
        <p:txBody>
          <a:bodyPr/>
          <a:lstStyle/>
          <a:p>
            <a:endParaRPr lang="en-IN"/>
          </a:p>
        </p:txBody>
      </p:sp>
      <p:sp>
        <p:nvSpPr>
          <p:cNvPr id="17" name="Text 15"/>
          <p:cNvSpPr/>
          <p:nvPr/>
        </p:nvSpPr>
        <p:spPr>
          <a:xfrm>
            <a:off x="7251192" y="149961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Data Tab</a:t>
            </a:r>
            <a:endParaRPr lang="en-US" sz="780" dirty="0"/>
          </a:p>
        </p:txBody>
      </p:sp>
      <p:sp>
        <p:nvSpPr>
          <p:cNvPr id="18" name="Shape 16"/>
          <p:cNvSpPr/>
          <p:nvPr/>
        </p:nvSpPr>
        <p:spPr>
          <a:xfrm>
            <a:off x="8622792" y="1655064"/>
            <a:ext cx="475488" cy="1"/>
          </a:xfrm>
          <a:prstGeom prst="line">
            <a:avLst/>
          </a:prstGeom>
          <a:noFill/>
          <a:ln w="19050">
            <a:solidFill>
              <a:srgbClr val="D7E1EA"/>
            </a:solidFill>
            <a:prstDash val="solid"/>
            <a:headEnd type="none"/>
            <a:tailEnd type="triangle"/>
          </a:ln>
        </p:spPr>
        <p:txBody>
          <a:bodyPr/>
          <a:lstStyle/>
          <a:p>
            <a:endParaRPr lang="en-IN"/>
          </a:p>
        </p:txBody>
      </p:sp>
      <p:sp>
        <p:nvSpPr>
          <p:cNvPr id="19" name="Shape 17"/>
          <p:cNvSpPr/>
          <p:nvPr/>
        </p:nvSpPr>
        <p:spPr>
          <a:xfrm>
            <a:off x="9144000" y="1371600"/>
            <a:ext cx="1508760" cy="566928"/>
          </a:xfrm>
          <a:prstGeom prst="roundRect">
            <a:avLst>
              <a:gd name="adj" fmla="val 17742"/>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20" name="Shape 18"/>
          <p:cNvSpPr/>
          <p:nvPr/>
        </p:nvSpPr>
        <p:spPr>
          <a:xfrm>
            <a:off x="9144000" y="1371600"/>
            <a:ext cx="91440" cy="566928"/>
          </a:xfrm>
          <a:prstGeom prst="rect">
            <a:avLst/>
          </a:prstGeom>
          <a:solidFill>
            <a:srgbClr val="0B5CAB"/>
          </a:solidFill>
          <a:ln w="12700">
            <a:solidFill>
              <a:srgbClr val="0B5CAB"/>
            </a:solidFill>
            <a:prstDash val="solid"/>
          </a:ln>
        </p:spPr>
        <p:txBody>
          <a:bodyPr/>
          <a:lstStyle/>
          <a:p>
            <a:endParaRPr lang="en-IN"/>
          </a:p>
        </p:txBody>
      </p:sp>
      <p:sp>
        <p:nvSpPr>
          <p:cNvPr id="21" name="Text 19"/>
          <p:cNvSpPr/>
          <p:nvPr/>
        </p:nvSpPr>
        <p:spPr>
          <a:xfrm>
            <a:off x="9308592" y="149961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Charts Tab</a:t>
            </a:r>
            <a:endParaRPr lang="en-US" sz="780" dirty="0"/>
          </a:p>
        </p:txBody>
      </p:sp>
      <p:sp>
        <p:nvSpPr>
          <p:cNvPr id="22" name="Shape 20"/>
          <p:cNvSpPr/>
          <p:nvPr/>
        </p:nvSpPr>
        <p:spPr>
          <a:xfrm>
            <a:off x="777240" y="2926080"/>
            <a:ext cx="2057400" cy="320040"/>
          </a:xfrm>
          <a:prstGeom prst="roundRect">
            <a:avLst>
              <a:gd name="adj" fmla="val 22857"/>
            </a:avLst>
          </a:prstGeom>
          <a:solidFill>
            <a:srgbClr val="008A8A"/>
          </a:solidFill>
          <a:ln w="12700">
            <a:solidFill>
              <a:srgbClr val="008A8A"/>
            </a:solidFill>
            <a:prstDash val="solid"/>
          </a:ln>
        </p:spPr>
        <p:txBody>
          <a:bodyPr/>
          <a:lstStyle/>
          <a:p>
            <a:endParaRPr lang="en-IN"/>
          </a:p>
        </p:txBody>
      </p:sp>
      <p:sp>
        <p:nvSpPr>
          <p:cNvPr id="23" name="Text 21"/>
          <p:cNvSpPr/>
          <p:nvPr/>
        </p:nvSpPr>
        <p:spPr>
          <a:xfrm>
            <a:off x="868680" y="3008376"/>
            <a:ext cx="1874520" cy="137160"/>
          </a:xfrm>
          <a:prstGeom prst="rect">
            <a:avLst/>
          </a:prstGeom>
          <a:noFill/>
          <a:ln/>
        </p:spPr>
        <p:txBody>
          <a:bodyPr wrap="square" lIns="0" tIns="0" rIns="0" bIns="0" rtlCol="0" anchor="ctr"/>
          <a:lstStyle/>
          <a:p>
            <a:pPr marL="0" indent="0" algn="ctr">
              <a:buNone/>
            </a:pPr>
            <a:r>
              <a:rPr lang="en-US" sz="850" b="1" dirty="0">
                <a:solidFill>
                  <a:srgbClr val="FFFFFF"/>
                </a:solidFill>
              </a:rPr>
              <a:t>Upload / Download</a:t>
            </a:r>
            <a:endParaRPr lang="en-US" sz="850" dirty="0"/>
          </a:p>
        </p:txBody>
      </p:sp>
      <p:sp>
        <p:nvSpPr>
          <p:cNvPr id="24" name="Shape 22"/>
          <p:cNvSpPr/>
          <p:nvPr/>
        </p:nvSpPr>
        <p:spPr>
          <a:xfrm>
            <a:off x="2971800" y="2880360"/>
            <a:ext cx="1508760" cy="566928"/>
          </a:xfrm>
          <a:prstGeom prst="roundRect">
            <a:avLst>
              <a:gd name="adj" fmla="val 17742"/>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25" name="Shape 23"/>
          <p:cNvSpPr/>
          <p:nvPr/>
        </p:nvSpPr>
        <p:spPr>
          <a:xfrm>
            <a:off x="2971800" y="2880360"/>
            <a:ext cx="91440" cy="566928"/>
          </a:xfrm>
          <a:prstGeom prst="rect">
            <a:avLst/>
          </a:prstGeom>
          <a:solidFill>
            <a:srgbClr val="008A8A"/>
          </a:solidFill>
          <a:ln w="12700">
            <a:solidFill>
              <a:srgbClr val="008A8A"/>
            </a:solidFill>
            <a:prstDash val="solid"/>
          </a:ln>
        </p:spPr>
        <p:txBody>
          <a:bodyPr/>
          <a:lstStyle/>
          <a:p>
            <a:endParaRPr lang="en-IN"/>
          </a:p>
        </p:txBody>
      </p:sp>
      <p:sp>
        <p:nvSpPr>
          <p:cNvPr id="26" name="Text 24"/>
          <p:cNvSpPr/>
          <p:nvPr/>
        </p:nvSpPr>
        <p:spPr>
          <a:xfrm>
            <a:off x="3136392" y="300837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Upload CSV</a:t>
            </a:r>
            <a:endParaRPr lang="en-US" sz="780" dirty="0"/>
          </a:p>
        </p:txBody>
      </p:sp>
      <p:sp>
        <p:nvSpPr>
          <p:cNvPr id="27" name="Shape 25"/>
          <p:cNvSpPr/>
          <p:nvPr/>
        </p:nvSpPr>
        <p:spPr>
          <a:xfrm>
            <a:off x="4507992" y="3163824"/>
            <a:ext cx="475488" cy="1"/>
          </a:xfrm>
          <a:prstGeom prst="line">
            <a:avLst/>
          </a:prstGeom>
          <a:noFill/>
          <a:ln w="19050">
            <a:solidFill>
              <a:srgbClr val="D7E1EA"/>
            </a:solidFill>
            <a:prstDash val="solid"/>
            <a:headEnd type="none"/>
            <a:tailEnd type="triangle"/>
          </a:ln>
        </p:spPr>
        <p:txBody>
          <a:bodyPr/>
          <a:lstStyle/>
          <a:p>
            <a:endParaRPr lang="en-IN"/>
          </a:p>
        </p:txBody>
      </p:sp>
      <p:sp>
        <p:nvSpPr>
          <p:cNvPr id="28" name="Shape 26"/>
          <p:cNvSpPr/>
          <p:nvPr/>
        </p:nvSpPr>
        <p:spPr>
          <a:xfrm>
            <a:off x="5029200" y="2880360"/>
            <a:ext cx="1508760" cy="566928"/>
          </a:xfrm>
          <a:prstGeom prst="roundRect">
            <a:avLst>
              <a:gd name="adj" fmla="val 17742"/>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29" name="Shape 27"/>
          <p:cNvSpPr/>
          <p:nvPr/>
        </p:nvSpPr>
        <p:spPr>
          <a:xfrm>
            <a:off x="5029200" y="2880360"/>
            <a:ext cx="91440" cy="566928"/>
          </a:xfrm>
          <a:prstGeom prst="rect">
            <a:avLst/>
          </a:prstGeom>
          <a:solidFill>
            <a:srgbClr val="008A8A"/>
          </a:solidFill>
          <a:ln w="12700">
            <a:solidFill>
              <a:srgbClr val="008A8A"/>
            </a:solidFill>
            <a:prstDash val="solid"/>
          </a:ln>
        </p:spPr>
        <p:txBody>
          <a:bodyPr/>
          <a:lstStyle/>
          <a:p>
            <a:endParaRPr lang="en-IN"/>
          </a:p>
        </p:txBody>
      </p:sp>
      <p:sp>
        <p:nvSpPr>
          <p:cNvPr id="30" name="Text 28"/>
          <p:cNvSpPr/>
          <p:nvPr/>
        </p:nvSpPr>
        <p:spPr>
          <a:xfrm>
            <a:off x="5193792" y="300837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Read Data</a:t>
            </a:r>
            <a:endParaRPr lang="en-US" sz="780" dirty="0"/>
          </a:p>
        </p:txBody>
      </p:sp>
      <p:sp>
        <p:nvSpPr>
          <p:cNvPr id="31" name="Shape 29"/>
          <p:cNvSpPr/>
          <p:nvPr/>
        </p:nvSpPr>
        <p:spPr>
          <a:xfrm>
            <a:off x="6565392" y="3163824"/>
            <a:ext cx="475488" cy="1"/>
          </a:xfrm>
          <a:prstGeom prst="line">
            <a:avLst/>
          </a:prstGeom>
          <a:noFill/>
          <a:ln w="19050">
            <a:solidFill>
              <a:srgbClr val="D7E1EA"/>
            </a:solidFill>
            <a:prstDash val="solid"/>
            <a:headEnd type="none"/>
            <a:tailEnd type="triangle"/>
          </a:ln>
        </p:spPr>
        <p:txBody>
          <a:bodyPr/>
          <a:lstStyle/>
          <a:p>
            <a:endParaRPr lang="en-IN"/>
          </a:p>
        </p:txBody>
      </p:sp>
      <p:sp>
        <p:nvSpPr>
          <p:cNvPr id="32" name="Shape 30"/>
          <p:cNvSpPr/>
          <p:nvPr/>
        </p:nvSpPr>
        <p:spPr>
          <a:xfrm>
            <a:off x="7086600" y="2880360"/>
            <a:ext cx="1508760" cy="566928"/>
          </a:xfrm>
          <a:prstGeom prst="roundRect">
            <a:avLst>
              <a:gd name="adj" fmla="val 17742"/>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33" name="Shape 31"/>
          <p:cNvSpPr/>
          <p:nvPr/>
        </p:nvSpPr>
        <p:spPr>
          <a:xfrm>
            <a:off x="7086600" y="2880360"/>
            <a:ext cx="91440" cy="566928"/>
          </a:xfrm>
          <a:prstGeom prst="rect">
            <a:avLst/>
          </a:prstGeom>
          <a:solidFill>
            <a:srgbClr val="008A8A"/>
          </a:solidFill>
          <a:ln w="12700">
            <a:solidFill>
              <a:srgbClr val="008A8A"/>
            </a:solidFill>
            <a:prstDash val="solid"/>
          </a:ln>
        </p:spPr>
        <p:txBody>
          <a:bodyPr/>
          <a:lstStyle/>
          <a:p>
            <a:endParaRPr lang="en-IN"/>
          </a:p>
        </p:txBody>
      </p:sp>
      <p:sp>
        <p:nvSpPr>
          <p:cNvPr id="34" name="Text 32"/>
          <p:cNvSpPr/>
          <p:nvPr/>
        </p:nvSpPr>
        <p:spPr>
          <a:xfrm>
            <a:off x="7251192" y="300837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Display Table</a:t>
            </a:r>
            <a:endParaRPr lang="en-US" sz="780" dirty="0"/>
          </a:p>
        </p:txBody>
      </p:sp>
      <p:sp>
        <p:nvSpPr>
          <p:cNvPr id="35" name="Shape 33"/>
          <p:cNvSpPr/>
          <p:nvPr/>
        </p:nvSpPr>
        <p:spPr>
          <a:xfrm>
            <a:off x="8622792" y="3163824"/>
            <a:ext cx="475488" cy="1"/>
          </a:xfrm>
          <a:prstGeom prst="line">
            <a:avLst/>
          </a:prstGeom>
          <a:noFill/>
          <a:ln w="19050">
            <a:solidFill>
              <a:srgbClr val="D7E1EA"/>
            </a:solidFill>
            <a:prstDash val="solid"/>
            <a:headEnd type="none"/>
            <a:tailEnd type="triangle"/>
          </a:ln>
        </p:spPr>
        <p:txBody>
          <a:bodyPr/>
          <a:lstStyle/>
          <a:p>
            <a:endParaRPr lang="en-IN"/>
          </a:p>
        </p:txBody>
      </p:sp>
      <p:sp>
        <p:nvSpPr>
          <p:cNvPr id="36" name="Shape 34"/>
          <p:cNvSpPr/>
          <p:nvPr/>
        </p:nvSpPr>
        <p:spPr>
          <a:xfrm>
            <a:off x="9144000" y="2880360"/>
            <a:ext cx="1508760" cy="566928"/>
          </a:xfrm>
          <a:prstGeom prst="roundRect">
            <a:avLst>
              <a:gd name="adj" fmla="val 17742"/>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37" name="Shape 35"/>
          <p:cNvSpPr/>
          <p:nvPr/>
        </p:nvSpPr>
        <p:spPr>
          <a:xfrm>
            <a:off x="9144000" y="2880360"/>
            <a:ext cx="91440" cy="566928"/>
          </a:xfrm>
          <a:prstGeom prst="rect">
            <a:avLst/>
          </a:prstGeom>
          <a:solidFill>
            <a:srgbClr val="008A8A"/>
          </a:solidFill>
          <a:ln w="12700">
            <a:solidFill>
              <a:srgbClr val="008A8A"/>
            </a:solidFill>
            <a:prstDash val="solid"/>
          </a:ln>
        </p:spPr>
        <p:txBody>
          <a:bodyPr/>
          <a:lstStyle/>
          <a:p>
            <a:endParaRPr lang="en-IN"/>
          </a:p>
        </p:txBody>
      </p:sp>
      <p:sp>
        <p:nvSpPr>
          <p:cNvPr id="38" name="Text 36"/>
          <p:cNvSpPr/>
          <p:nvPr/>
        </p:nvSpPr>
        <p:spPr>
          <a:xfrm>
            <a:off x="9308592" y="300837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Download CSV</a:t>
            </a:r>
            <a:endParaRPr lang="en-US" sz="780" dirty="0"/>
          </a:p>
        </p:txBody>
      </p:sp>
      <p:sp>
        <p:nvSpPr>
          <p:cNvPr id="39" name="Shape 37"/>
          <p:cNvSpPr/>
          <p:nvPr/>
        </p:nvSpPr>
        <p:spPr>
          <a:xfrm>
            <a:off x="777240" y="4434840"/>
            <a:ext cx="2057400" cy="320040"/>
          </a:xfrm>
          <a:prstGeom prst="roundRect">
            <a:avLst>
              <a:gd name="adj" fmla="val 22857"/>
            </a:avLst>
          </a:prstGeom>
          <a:solidFill>
            <a:srgbClr val="E98300"/>
          </a:solidFill>
          <a:ln w="12700">
            <a:solidFill>
              <a:srgbClr val="E98300"/>
            </a:solidFill>
            <a:prstDash val="solid"/>
          </a:ln>
        </p:spPr>
        <p:txBody>
          <a:bodyPr/>
          <a:lstStyle/>
          <a:p>
            <a:endParaRPr lang="en-IN"/>
          </a:p>
        </p:txBody>
      </p:sp>
      <p:sp>
        <p:nvSpPr>
          <p:cNvPr id="40" name="Text 38"/>
          <p:cNvSpPr/>
          <p:nvPr/>
        </p:nvSpPr>
        <p:spPr>
          <a:xfrm>
            <a:off x="868680" y="4517136"/>
            <a:ext cx="1874520" cy="137160"/>
          </a:xfrm>
          <a:prstGeom prst="rect">
            <a:avLst/>
          </a:prstGeom>
          <a:noFill/>
          <a:ln/>
        </p:spPr>
        <p:txBody>
          <a:bodyPr wrap="square" lIns="0" tIns="0" rIns="0" bIns="0" rtlCol="0" anchor="ctr"/>
          <a:lstStyle/>
          <a:p>
            <a:pPr marL="0" indent="0" algn="ctr">
              <a:buNone/>
            </a:pPr>
            <a:r>
              <a:rPr lang="en-US" sz="850" b="1" dirty="0">
                <a:solidFill>
                  <a:srgbClr val="FFFFFF"/>
                </a:solidFill>
              </a:rPr>
              <a:t>Validation</a:t>
            </a:r>
            <a:endParaRPr lang="en-US" sz="850" dirty="0"/>
          </a:p>
        </p:txBody>
      </p:sp>
      <p:sp>
        <p:nvSpPr>
          <p:cNvPr id="41" name="Shape 39"/>
          <p:cNvSpPr/>
          <p:nvPr/>
        </p:nvSpPr>
        <p:spPr>
          <a:xfrm>
            <a:off x="2971800" y="4389120"/>
            <a:ext cx="1508760" cy="566928"/>
          </a:xfrm>
          <a:prstGeom prst="roundRect">
            <a:avLst>
              <a:gd name="adj" fmla="val 17742"/>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42" name="Shape 40"/>
          <p:cNvSpPr/>
          <p:nvPr/>
        </p:nvSpPr>
        <p:spPr>
          <a:xfrm>
            <a:off x="2971800" y="4389120"/>
            <a:ext cx="91440" cy="566928"/>
          </a:xfrm>
          <a:prstGeom prst="rect">
            <a:avLst/>
          </a:prstGeom>
          <a:solidFill>
            <a:srgbClr val="E98300"/>
          </a:solidFill>
          <a:ln w="12700">
            <a:solidFill>
              <a:srgbClr val="E98300"/>
            </a:solidFill>
            <a:prstDash val="solid"/>
          </a:ln>
        </p:spPr>
        <p:txBody>
          <a:bodyPr/>
          <a:lstStyle/>
          <a:p>
            <a:endParaRPr lang="en-IN"/>
          </a:p>
        </p:txBody>
      </p:sp>
      <p:sp>
        <p:nvSpPr>
          <p:cNvPr id="43" name="Text 41"/>
          <p:cNvSpPr/>
          <p:nvPr/>
        </p:nvSpPr>
        <p:spPr>
          <a:xfrm>
            <a:off x="3136392" y="451713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User Input</a:t>
            </a:r>
            <a:endParaRPr lang="en-US" sz="780" dirty="0"/>
          </a:p>
        </p:txBody>
      </p:sp>
      <p:sp>
        <p:nvSpPr>
          <p:cNvPr id="44" name="Shape 42"/>
          <p:cNvSpPr/>
          <p:nvPr/>
        </p:nvSpPr>
        <p:spPr>
          <a:xfrm>
            <a:off x="4507992" y="4672584"/>
            <a:ext cx="475488" cy="1"/>
          </a:xfrm>
          <a:prstGeom prst="line">
            <a:avLst/>
          </a:prstGeom>
          <a:noFill/>
          <a:ln w="19050">
            <a:solidFill>
              <a:srgbClr val="D7E1EA"/>
            </a:solidFill>
            <a:prstDash val="solid"/>
            <a:headEnd type="none"/>
            <a:tailEnd type="triangle"/>
          </a:ln>
        </p:spPr>
        <p:txBody>
          <a:bodyPr/>
          <a:lstStyle/>
          <a:p>
            <a:endParaRPr lang="en-IN"/>
          </a:p>
        </p:txBody>
      </p:sp>
      <p:sp>
        <p:nvSpPr>
          <p:cNvPr id="45" name="Shape 43"/>
          <p:cNvSpPr/>
          <p:nvPr/>
        </p:nvSpPr>
        <p:spPr>
          <a:xfrm>
            <a:off x="5029200" y="4389120"/>
            <a:ext cx="1508760" cy="566928"/>
          </a:xfrm>
          <a:prstGeom prst="roundRect">
            <a:avLst>
              <a:gd name="adj" fmla="val 17742"/>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46" name="Shape 44"/>
          <p:cNvSpPr/>
          <p:nvPr/>
        </p:nvSpPr>
        <p:spPr>
          <a:xfrm>
            <a:off x="5029200" y="4389120"/>
            <a:ext cx="91440" cy="566928"/>
          </a:xfrm>
          <a:prstGeom prst="rect">
            <a:avLst/>
          </a:prstGeom>
          <a:solidFill>
            <a:srgbClr val="E98300"/>
          </a:solidFill>
          <a:ln w="12700">
            <a:solidFill>
              <a:srgbClr val="E98300"/>
            </a:solidFill>
            <a:prstDash val="solid"/>
          </a:ln>
        </p:spPr>
        <p:txBody>
          <a:bodyPr/>
          <a:lstStyle/>
          <a:p>
            <a:endParaRPr lang="en-IN"/>
          </a:p>
        </p:txBody>
      </p:sp>
      <p:sp>
        <p:nvSpPr>
          <p:cNvPr id="47" name="Text 45"/>
          <p:cNvSpPr/>
          <p:nvPr/>
        </p:nvSpPr>
        <p:spPr>
          <a:xfrm>
            <a:off x="5193792" y="451713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Validation Check</a:t>
            </a:r>
            <a:endParaRPr lang="en-US" sz="780" dirty="0"/>
          </a:p>
        </p:txBody>
      </p:sp>
      <p:sp>
        <p:nvSpPr>
          <p:cNvPr id="48" name="Shape 46"/>
          <p:cNvSpPr/>
          <p:nvPr/>
        </p:nvSpPr>
        <p:spPr>
          <a:xfrm>
            <a:off x="6565392" y="4672584"/>
            <a:ext cx="475488" cy="1"/>
          </a:xfrm>
          <a:prstGeom prst="line">
            <a:avLst/>
          </a:prstGeom>
          <a:noFill/>
          <a:ln w="19050">
            <a:solidFill>
              <a:srgbClr val="D7E1EA"/>
            </a:solidFill>
            <a:prstDash val="solid"/>
            <a:headEnd type="none"/>
            <a:tailEnd type="triangle"/>
          </a:ln>
        </p:spPr>
        <p:txBody>
          <a:bodyPr/>
          <a:lstStyle/>
          <a:p>
            <a:endParaRPr lang="en-IN"/>
          </a:p>
        </p:txBody>
      </p:sp>
      <p:sp>
        <p:nvSpPr>
          <p:cNvPr id="49" name="Shape 47"/>
          <p:cNvSpPr/>
          <p:nvPr/>
        </p:nvSpPr>
        <p:spPr>
          <a:xfrm>
            <a:off x="7086600" y="4389120"/>
            <a:ext cx="1508760" cy="566928"/>
          </a:xfrm>
          <a:prstGeom prst="roundRect">
            <a:avLst>
              <a:gd name="adj" fmla="val 17742"/>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50" name="Shape 48"/>
          <p:cNvSpPr/>
          <p:nvPr/>
        </p:nvSpPr>
        <p:spPr>
          <a:xfrm>
            <a:off x="7086600" y="4389120"/>
            <a:ext cx="91440" cy="566928"/>
          </a:xfrm>
          <a:prstGeom prst="rect">
            <a:avLst/>
          </a:prstGeom>
          <a:solidFill>
            <a:srgbClr val="E98300"/>
          </a:solidFill>
          <a:ln w="12700">
            <a:solidFill>
              <a:srgbClr val="E98300"/>
            </a:solidFill>
            <a:prstDash val="solid"/>
          </a:ln>
        </p:spPr>
        <p:txBody>
          <a:bodyPr/>
          <a:lstStyle/>
          <a:p>
            <a:endParaRPr lang="en-IN"/>
          </a:p>
        </p:txBody>
      </p:sp>
      <p:sp>
        <p:nvSpPr>
          <p:cNvPr id="51" name="Text 49"/>
          <p:cNvSpPr/>
          <p:nvPr/>
        </p:nvSpPr>
        <p:spPr>
          <a:xfrm>
            <a:off x="7251192" y="451713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Valid -&gt; Result</a:t>
            </a:r>
            <a:endParaRPr lang="en-US" sz="780" dirty="0"/>
          </a:p>
        </p:txBody>
      </p:sp>
      <p:sp>
        <p:nvSpPr>
          <p:cNvPr id="52" name="Shape 50"/>
          <p:cNvSpPr/>
          <p:nvPr/>
        </p:nvSpPr>
        <p:spPr>
          <a:xfrm>
            <a:off x="8622792" y="4672584"/>
            <a:ext cx="475488" cy="1"/>
          </a:xfrm>
          <a:prstGeom prst="line">
            <a:avLst/>
          </a:prstGeom>
          <a:noFill/>
          <a:ln w="19050">
            <a:solidFill>
              <a:srgbClr val="D7E1EA"/>
            </a:solidFill>
            <a:prstDash val="solid"/>
            <a:headEnd type="none"/>
            <a:tailEnd type="triangle"/>
          </a:ln>
        </p:spPr>
        <p:txBody>
          <a:bodyPr/>
          <a:lstStyle/>
          <a:p>
            <a:endParaRPr lang="en-IN"/>
          </a:p>
        </p:txBody>
      </p:sp>
      <p:sp>
        <p:nvSpPr>
          <p:cNvPr id="53" name="Shape 51"/>
          <p:cNvSpPr/>
          <p:nvPr/>
        </p:nvSpPr>
        <p:spPr>
          <a:xfrm>
            <a:off x="9144000" y="4389120"/>
            <a:ext cx="1508760" cy="566928"/>
          </a:xfrm>
          <a:prstGeom prst="roundRect">
            <a:avLst>
              <a:gd name="adj" fmla="val 17742"/>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54" name="Shape 52"/>
          <p:cNvSpPr/>
          <p:nvPr/>
        </p:nvSpPr>
        <p:spPr>
          <a:xfrm>
            <a:off x="9144000" y="4389120"/>
            <a:ext cx="91440" cy="566928"/>
          </a:xfrm>
          <a:prstGeom prst="rect">
            <a:avLst/>
          </a:prstGeom>
          <a:solidFill>
            <a:srgbClr val="E98300"/>
          </a:solidFill>
          <a:ln w="12700">
            <a:solidFill>
              <a:srgbClr val="E98300"/>
            </a:solidFill>
            <a:prstDash val="solid"/>
          </a:ln>
        </p:spPr>
        <p:txBody>
          <a:bodyPr/>
          <a:lstStyle/>
          <a:p>
            <a:endParaRPr lang="en-IN"/>
          </a:p>
        </p:txBody>
      </p:sp>
      <p:sp>
        <p:nvSpPr>
          <p:cNvPr id="55" name="Text 53"/>
          <p:cNvSpPr/>
          <p:nvPr/>
        </p:nvSpPr>
        <p:spPr>
          <a:xfrm>
            <a:off x="9308592" y="4517136"/>
            <a:ext cx="1234440" cy="347472"/>
          </a:xfrm>
          <a:prstGeom prst="rect">
            <a:avLst/>
          </a:prstGeom>
          <a:noFill/>
          <a:ln/>
        </p:spPr>
        <p:txBody>
          <a:bodyPr wrap="square" lIns="254" tIns="254" rIns="254" bIns="254" rtlCol="0" anchor="ctr">
            <a:normAutofit/>
          </a:bodyPr>
          <a:lstStyle/>
          <a:p>
            <a:pPr marL="0" indent="0" algn="ctr">
              <a:buNone/>
            </a:pPr>
            <a:r>
              <a:rPr lang="en-US" sz="780" b="1" dirty="0">
                <a:solidFill>
                  <a:srgbClr val="1F2937"/>
                </a:solidFill>
              </a:rPr>
              <a:t>Invalid -&gt; Message</a:t>
            </a:r>
            <a:endParaRPr lang="en-US" sz="780" dirty="0"/>
          </a:p>
        </p:txBody>
      </p:sp>
      <p:sp>
        <p:nvSpPr>
          <p:cNvPr id="56"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14</a:t>
            </a:fld>
            <a:endParaRPr lang="en-US"/>
          </a:p>
        </p:txBody>
      </p:sp>
      <p:graphicFrame>
        <p:nvGraphicFramePr>
          <p:cNvPr id="58" name="Object 57">
            <a:extLst>
              <a:ext uri="{FF2B5EF4-FFF2-40B4-BE49-F238E27FC236}">
                <a16:creationId xmlns:a16="http://schemas.microsoft.com/office/drawing/2014/main" id="{0D4D12A7-C958-F3AF-426E-E9D2C442F4E7}"/>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Interactive experience layer</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notifications, DT tables, and Plotly improve usability and exploration.</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777240" y="2467148"/>
            <a:ext cx="2194560" cy="932688"/>
          </a:xfrm>
          <a:prstGeom prst="roundRect">
            <a:avLst>
              <a:gd name="adj" fmla="val 10784"/>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777240" y="2467148"/>
            <a:ext cx="91440" cy="932688"/>
          </a:xfrm>
          <a:prstGeom prst="rect">
            <a:avLst/>
          </a:prstGeom>
          <a:solidFill>
            <a:srgbClr val="0B5CAB"/>
          </a:solidFill>
          <a:ln w="12700">
            <a:solidFill>
              <a:srgbClr val="0B5CAB"/>
            </a:solidFill>
            <a:prstDash val="solid"/>
          </a:ln>
        </p:spPr>
        <p:txBody>
          <a:bodyPr/>
          <a:lstStyle/>
          <a:p>
            <a:endParaRPr lang="en-IN"/>
          </a:p>
        </p:txBody>
      </p:sp>
      <p:sp>
        <p:nvSpPr>
          <p:cNvPr id="7" name="Text 5"/>
          <p:cNvSpPr/>
          <p:nvPr/>
        </p:nvSpPr>
        <p:spPr>
          <a:xfrm>
            <a:off x="941832" y="2595164"/>
            <a:ext cx="1920240" cy="713232"/>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User Action</a:t>
            </a:r>
            <a:endParaRPr lang="en-US" sz="1050" dirty="0"/>
          </a:p>
          <a:p>
            <a:pPr marL="0" indent="0" algn="ctr">
              <a:buNone/>
            </a:pPr>
            <a:r>
              <a:rPr lang="en-US" sz="1050" b="1" dirty="0">
                <a:solidFill>
                  <a:srgbClr val="1F2937"/>
                </a:solidFill>
              </a:rPr>
              <a:t>button / upload / filter</a:t>
            </a:r>
            <a:endParaRPr lang="en-US" sz="1050" dirty="0"/>
          </a:p>
        </p:txBody>
      </p:sp>
      <p:sp>
        <p:nvSpPr>
          <p:cNvPr id="8" name="Shape 6"/>
          <p:cNvSpPr/>
          <p:nvPr/>
        </p:nvSpPr>
        <p:spPr>
          <a:xfrm>
            <a:off x="3749040" y="1097280"/>
            <a:ext cx="2194560" cy="822960"/>
          </a:xfrm>
          <a:prstGeom prst="roundRect">
            <a:avLst>
              <a:gd name="adj" fmla="val 12222"/>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3749040" y="1097280"/>
            <a:ext cx="91440" cy="822960"/>
          </a:xfrm>
          <a:prstGeom prst="rect">
            <a:avLst/>
          </a:prstGeom>
          <a:solidFill>
            <a:srgbClr val="E98300"/>
          </a:solidFill>
          <a:ln w="12700">
            <a:solidFill>
              <a:srgbClr val="E98300"/>
            </a:solidFill>
            <a:prstDash val="solid"/>
          </a:ln>
        </p:spPr>
        <p:txBody>
          <a:bodyPr/>
          <a:lstStyle/>
          <a:p>
            <a:endParaRPr lang="en-IN"/>
          </a:p>
        </p:txBody>
      </p:sp>
      <p:sp>
        <p:nvSpPr>
          <p:cNvPr id="10" name="Text 8"/>
          <p:cNvSpPr/>
          <p:nvPr/>
        </p:nvSpPr>
        <p:spPr>
          <a:xfrm>
            <a:off x="3913632" y="1225296"/>
            <a:ext cx="1920240" cy="60350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showNotification()</a:t>
            </a:r>
            <a:endParaRPr lang="en-US" sz="850" dirty="0"/>
          </a:p>
          <a:p>
            <a:pPr marL="0" indent="0" algn="ctr">
              <a:buNone/>
            </a:pPr>
            <a:r>
              <a:rPr lang="en-US" sz="850" b="1" dirty="0">
                <a:solidFill>
                  <a:srgbClr val="1F2937"/>
                </a:solidFill>
              </a:rPr>
              <a:t>message / warning / error</a:t>
            </a:r>
            <a:endParaRPr lang="en-US" sz="850" dirty="0"/>
          </a:p>
        </p:txBody>
      </p:sp>
      <p:sp>
        <p:nvSpPr>
          <p:cNvPr id="11" name="Shape 9"/>
          <p:cNvSpPr/>
          <p:nvPr/>
        </p:nvSpPr>
        <p:spPr>
          <a:xfrm>
            <a:off x="3749040" y="2514600"/>
            <a:ext cx="2194560" cy="822960"/>
          </a:xfrm>
          <a:prstGeom prst="roundRect">
            <a:avLst>
              <a:gd name="adj" fmla="val 12222"/>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3749040" y="2514600"/>
            <a:ext cx="91440" cy="822960"/>
          </a:xfrm>
          <a:prstGeom prst="rect">
            <a:avLst/>
          </a:prstGeom>
          <a:solidFill>
            <a:srgbClr val="008A8A"/>
          </a:solidFill>
          <a:ln w="12700">
            <a:solidFill>
              <a:srgbClr val="008A8A"/>
            </a:solidFill>
            <a:prstDash val="solid"/>
          </a:ln>
        </p:spPr>
        <p:txBody>
          <a:bodyPr/>
          <a:lstStyle/>
          <a:p>
            <a:endParaRPr lang="en-IN"/>
          </a:p>
        </p:txBody>
      </p:sp>
      <p:sp>
        <p:nvSpPr>
          <p:cNvPr id="13" name="Text 11"/>
          <p:cNvSpPr/>
          <p:nvPr/>
        </p:nvSpPr>
        <p:spPr>
          <a:xfrm>
            <a:off x="3913632" y="2642616"/>
            <a:ext cx="1920240" cy="60350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DT Table</a:t>
            </a:r>
            <a:endParaRPr lang="en-US" sz="850" dirty="0"/>
          </a:p>
          <a:p>
            <a:pPr marL="0" indent="0" algn="ctr">
              <a:buNone/>
            </a:pPr>
            <a:r>
              <a:rPr lang="en-US" sz="850" b="1" dirty="0">
                <a:solidFill>
                  <a:srgbClr val="1F2937"/>
                </a:solidFill>
              </a:rPr>
              <a:t>search • sort • filter</a:t>
            </a:r>
            <a:endParaRPr lang="en-US" sz="850" dirty="0"/>
          </a:p>
        </p:txBody>
      </p:sp>
      <p:sp>
        <p:nvSpPr>
          <p:cNvPr id="14" name="Shape 12"/>
          <p:cNvSpPr/>
          <p:nvPr/>
        </p:nvSpPr>
        <p:spPr>
          <a:xfrm>
            <a:off x="3749040" y="3931920"/>
            <a:ext cx="2194560" cy="822960"/>
          </a:xfrm>
          <a:prstGeom prst="roundRect">
            <a:avLst>
              <a:gd name="adj" fmla="val 12222"/>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3749040" y="3931920"/>
            <a:ext cx="91440" cy="822960"/>
          </a:xfrm>
          <a:prstGeom prst="rect">
            <a:avLst/>
          </a:prstGeom>
          <a:solidFill>
            <a:srgbClr val="6F49B8"/>
          </a:solidFill>
          <a:ln w="12700">
            <a:solidFill>
              <a:srgbClr val="6F49B8"/>
            </a:solidFill>
            <a:prstDash val="solid"/>
          </a:ln>
        </p:spPr>
        <p:txBody>
          <a:bodyPr/>
          <a:lstStyle/>
          <a:p>
            <a:endParaRPr lang="en-IN"/>
          </a:p>
        </p:txBody>
      </p:sp>
      <p:sp>
        <p:nvSpPr>
          <p:cNvPr id="16" name="Text 14"/>
          <p:cNvSpPr/>
          <p:nvPr/>
        </p:nvSpPr>
        <p:spPr>
          <a:xfrm>
            <a:off x="3913632" y="4059936"/>
            <a:ext cx="1920240" cy="60350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Plotly</a:t>
            </a:r>
            <a:endParaRPr lang="en-US" sz="850" dirty="0"/>
          </a:p>
          <a:p>
            <a:pPr marL="0" indent="0" algn="ctr">
              <a:buNone/>
            </a:pPr>
            <a:r>
              <a:rPr lang="en-US" sz="850" b="1" dirty="0">
                <a:solidFill>
                  <a:srgbClr val="1F2937"/>
                </a:solidFill>
              </a:rPr>
              <a:t>hover • zoom • pan</a:t>
            </a:r>
            <a:endParaRPr lang="en-US" sz="850" dirty="0"/>
          </a:p>
        </p:txBody>
      </p:sp>
      <p:sp>
        <p:nvSpPr>
          <p:cNvPr id="17" name="Shape 15"/>
          <p:cNvSpPr/>
          <p:nvPr/>
        </p:nvSpPr>
        <p:spPr>
          <a:xfrm>
            <a:off x="7429500" y="2424019"/>
            <a:ext cx="2331720" cy="914400"/>
          </a:xfrm>
          <a:prstGeom prst="roundRect">
            <a:avLst>
              <a:gd name="adj" fmla="val 11000"/>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7429500" y="2424019"/>
            <a:ext cx="91440" cy="914400"/>
          </a:xfrm>
          <a:prstGeom prst="rect">
            <a:avLst/>
          </a:prstGeom>
          <a:solidFill>
            <a:srgbClr val="2E8B57"/>
          </a:solidFill>
          <a:ln w="12700">
            <a:solidFill>
              <a:srgbClr val="2E8B57"/>
            </a:solidFill>
            <a:prstDash val="solid"/>
          </a:ln>
        </p:spPr>
        <p:txBody>
          <a:bodyPr/>
          <a:lstStyle/>
          <a:p>
            <a:endParaRPr lang="en-IN"/>
          </a:p>
        </p:txBody>
      </p:sp>
      <p:sp>
        <p:nvSpPr>
          <p:cNvPr id="19" name="Text 17"/>
          <p:cNvSpPr/>
          <p:nvPr/>
        </p:nvSpPr>
        <p:spPr>
          <a:xfrm>
            <a:off x="7594092" y="2552035"/>
            <a:ext cx="2057400" cy="694944"/>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Dashboard</a:t>
            </a:r>
            <a:endParaRPr lang="en-US" sz="1050" dirty="0"/>
          </a:p>
          <a:p>
            <a:pPr marL="0" indent="0" algn="ctr">
              <a:buNone/>
            </a:pPr>
            <a:r>
              <a:rPr lang="en-US" sz="1050" b="1" dirty="0">
                <a:solidFill>
                  <a:srgbClr val="1F2937"/>
                </a:solidFill>
              </a:rPr>
              <a:t>Feedback Loop</a:t>
            </a:r>
            <a:endParaRPr lang="en-US" sz="1050" dirty="0"/>
          </a:p>
        </p:txBody>
      </p:sp>
      <p:sp>
        <p:nvSpPr>
          <p:cNvPr id="20" name="Shape 18"/>
          <p:cNvSpPr/>
          <p:nvPr/>
        </p:nvSpPr>
        <p:spPr>
          <a:xfrm flipV="1">
            <a:off x="2971800" y="1920239"/>
            <a:ext cx="777240" cy="510330"/>
          </a:xfrm>
          <a:prstGeom prst="line">
            <a:avLst/>
          </a:prstGeom>
          <a:noFill/>
          <a:ln w="25400">
            <a:solidFill>
              <a:srgbClr val="E98300"/>
            </a:solidFill>
            <a:prstDash val="solid"/>
            <a:headEnd type="none"/>
            <a:tailEnd type="triangle"/>
          </a:ln>
        </p:spPr>
        <p:txBody>
          <a:bodyPr/>
          <a:lstStyle/>
          <a:p>
            <a:endParaRPr lang="en-IN"/>
          </a:p>
        </p:txBody>
      </p:sp>
      <p:sp>
        <p:nvSpPr>
          <p:cNvPr id="21" name="Shape 19"/>
          <p:cNvSpPr/>
          <p:nvPr/>
        </p:nvSpPr>
        <p:spPr>
          <a:xfrm>
            <a:off x="2999232" y="2926080"/>
            <a:ext cx="658368" cy="0"/>
          </a:xfrm>
          <a:prstGeom prst="line">
            <a:avLst/>
          </a:prstGeom>
          <a:noFill/>
          <a:ln w="25400">
            <a:solidFill>
              <a:srgbClr val="008A8A"/>
            </a:solidFill>
            <a:prstDash val="solid"/>
            <a:headEnd type="none"/>
            <a:tailEnd type="triangle"/>
          </a:ln>
        </p:spPr>
        <p:txBody>
          <a:bodyPr/>
          <a:lstStyle/>
          <a:p>
            <a:endParaRPr lang="en-IN"/>
          </a:p>
        </p:txBody>
      </p:sp>
      <p:sp>
        <p:nvSpPr>
          <p:cNvPr id="22" name="Shape 20"/>
          <p:cNvSpPr/>
          <p:nvPr/>
        </p:nvSpPr>
        <p:spPr>
          <a:xfrm>
            <a:off x="2971800" y="3429000"/>
            <a:ext cx="777240" cy="565195"/>
          </a:xfrm>
          <a:prstGeom prst="line">
            <a:avLst/>
          </a:prstGeom>
          <a:noFill/>
          <a:ln w="25400">
            <a:solidFill>
              <a:srgbClr val="6F49B8"/>
            </a:solidFill>
            <a:prstDash val="solid"/>
            <a:headEnd type="none"/>
            <a:tailEnd type="triangle"/>
          </a:ln>
        </p:spPr>
        <p:txBody>
          <a:bodyPr/>
          <a:lstStyle/>
          <a:p>
            <a:endParaRPr lang="en-IN"/>
          </a:p>
        </p:txBody>
      </p:sp>
      <p:sp>
        <p:nvSpPr>
          <p:cNvPr id="23" name="Shape 21"/>
          <p:cNvSpPr/>
          <p:nvPr/>
        </p:nvSpPr>
        <p:spPr>
          <a:xfrm>
            <a:off x="5989320" y="1913688"/>
            <a:ext cx="1367028" cy="510330"/>
          </a:xfrm>
          <a:prstGeom prst="line">
            <a:avLst/>
          </a:prstGeom>
          <a:noFill/>
          <a:ln w="25400">
            <a:solidFill>
              <a:srgbClr val="E98300"/>
            </a:solidFill>
            <a:prstDash val="solid"/>
            <a:headEnd type="none"/>
            <a:tailEnd type="triangle"/>
          </a:ln>
        </p:spPr>
        <p:txBody>
          <a:bodyPr/>
          <a:lstStyle/>
          <a:p>
            <a:endParaRPr lang="en-IN"/>
          </a:p>
        </p:txBody>
      </p:sp>
      <p:sp>
        <p:nvSpPr>
          <p:cNvPr id="24" name="Shape 22"/>
          <p:cNvSpPr/>
          <p:nvPr/>
        </p:nvSpPr>
        <p:spPr>
          <a:xfrm flipV="1">
            <a:off x="5989320" y="2926080"/>
            <a:ext cx="1394460" cy="0"/>
          </a:xfrm>
          <a:prstGeom prst="line">
            <a:avLst/>
          </a:prstGeom>
          <a:noFill/>
          <a:ln w="25400">
            <a:solidFill>
              <a:srgbClr val="008A8A"/>
            </a:solidFill>
            <a:prstDash val="solid"/>
            <a:headEnd type="none"/>
            <a:tailEnd type="triangle"/>
          </a:ln>
        </p:spPr>
        <p:txBody>
          <a:bodyPr/>
          <a:lstStyle/>
          <a:p>
            <a:endParaRPr lang="en-IN"/>
          </a:p>
        </p:txBody>
      </p:sp>
      <p:sp>
        <p:nvSpPr>
          <p:cNvPr id="25" name="Shape 23"/>
          <p:cNvSpPr/>
          <p:nvPr/>
        </p:nvSpPr>
        <p:spPr>
          <a:xfrm flipV="1">
            <a:off x="5989320" y="3291840"/>
            <a:ext cx="1394460" cy="702355"/>
          </a:xfrm>
          <a:prstGeom prst="line">
            <a:avLst/>
          </a:prstGeom>
          <a:noFill/>
          <a:ln w="25400">
            <a:solidFill>
              <a:srgbClr val="6F49B8"/>
            </a:solidFill>
            <a:prstDash val="solid"/>
            <a:headEnd type="none"/>
            <a:tailEnd type="triangle"/>
          </a:ln>
        </p:spPr>
        <p:txBody>
          <a:bodyPr/>
          <a:lstStyle/>
          <a:p>
            <a:endParaRPr lang="en-IN"/>
          </a:p>
        </p:txBody>
      </p:sp>
      <p:pic>
        <p:nvPicPr>
          <p:cNvPr id="26" name="Image 0" descr="/mnt/data/61352a9f10.png"/>
          <p:cNvPicPr>
            <a:picLocks noChangeAspect="1"/>
          </p:cNvPicPr>
          <p:nvPr/>
        </p:nvPicPr>
        <p:blipFill>
          <a:blip r:embed="rId3"/>
          <a:srcRect l="35985" r="35985"/>
          <a:stretch/>
        </p:blipFill>
        <p:spPr>
          <a:xfrm>
            <a:off x="9966960" y="1280160"/>
            <a:ext cx="1691640" cy="4023360"/>
          </a:xfrm>
          <a:prstGeom prst="rect">
            <a:avLst/>
          </a:prstGeom>
        </p:spPr>
      </p:pic>
      <p:sp>
        <p:nvSpPr>
          <p:cNvPr id="27"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15</a:t>
            </a:fld>
            <a:endParaRPr lang="en-US"/>
          </a:p>
        </p:txBody>
      </p:sp>
      <p:graphicFrame>
        <p:nvGraphicFramePr>
          <p:cNvPr id="29" name="Object 28">
            <a:extLst>
              <a:ext uri="{FF2B5EF4-FFF2-40B4-BE49-F238E27FC236}">
                <a16:creationId xmlns:a16="http://schemas.microsoft.com/office/drawing/2014/main" id="{F15309F0-C1FF-14E8-C830-EBA9386EEA00}"/>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4" imgW="2578142" imgH="526915" progId="Package">
                  <p:embed/>
                </p:oleObj>
              </mc:Choice>
              <mc:Fallback>
                <p:oleObj name="Packager Shell Object" showAsIcon="1" r:id="rId4"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5"/>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Mini project: study-level dashboard blueprint</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combine enrollment metrics, trend analysis, subgroup filtering, DT table, notifications, validation, and download.</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pic>
        <p:nvPicPr>
          <p:cNvPr id="5" name="Image 0" descr="/mnt/data/61352a9f10.png"/>
          <p:cNvPicPr>
            <a:picLocks noChangeAspect="1"/>
          </p:cNvPicPr>
          <p:nvPr/>
        </p:nvPicPr>
        <p:blipFill>
          <a:blip r:embed="rId3"/>
          <a:srcRect t="16020" b="16020"/>
          <a:stretch/>
        </p:blipFill>
        <p:spPr>
          <a:xfrm>
            <a:off x="502920" y="1170432"/>
            <a:ext cx="11201400" cy="5074920"/>
          </a:xfrm>
          <a:prstGeom prst="rect">
            <a:avLst/>
          </a:prstGeom>
        </p:spPr>
      </p:pic>
      <p:sp>
        <p:nvSpPr>
          <p:cNvPr id="6" name="Shape 3"/>
          <p:cNvSpPr/>
          <p:nvPr/>
        </p:nvSpPr>
        <p:spPr>
          <a:xfrm>
            <a:off x="777240" y="1353312"/>
            <a:ext cx="2057400" cy="4526280"/>
          </a:xfrm>
          <a:prstGeom prst="roundRect">
            <a:avLst>
              <a:gd name="adj" fmla="val 4444"/>
            </a:avLst>
          </a:prstGeom>
          <a:solidFill>
            <a:srgbClr val="FFFFFF">
              <a:alpha val="90000"/>
            </a:srgbClr>
          </a:solidFill>
          <a:ln w="15240">
            <a:solidFill>
              <a:srgbClr val="0B5CAB"/>
            </a:solidFill>
            <a:prstDash val="solid"/>
          </a:ln>
        </p:spPr>
        <p:txBody>
          <a:bodyPr/>
          <a:lstStyle/>
          <a:p>
            <a:endParaRPr lang="en-IN"/>
          </a:p>
        </p:txBody>
      </p:sp>
      <p:sp>
        <p:nvSpPr>
          <p:cNvPr id="7" name="Text 4"/>
          <p:cNvSpPr/>
          <p:nvPr/>
        </p:nvSpPr>
        <p:spPr>
          <a:xfrm>
            <a:off x="868680" y="1508760"/>
            <a:ext cx="1828800" cy="182880"/>
          </a:xfrm>
          <a:prstGeom prst="rect">
            <a:avLst/>
          </a:prstGeom>
          <a:noFill/>
          <a:ln/>
        </p:spPr>
        <p:txBody>
          <a:bodyPr wrap="square" lIns="0" tIns="0" rIns="0" bIns="0" rtlCol="0" anchor="ctr">
            <a:normAutofit/>
          </a:bodyPr>
          <a:lstStyle/>
          <a:p>
            <a:pPr marL="0" indent="0" algn="ctr">
              <a:buNone/>
            </a:pPr>
            <a:r>
              <a:rPr lang="en-US" sz="1000" dirty="0">
                <a:solidFill>
                  <a:srgbClr val="0B2E4A"/>
                </a:solidFill>
              </a:rPr>
              <a:t>Filters</a:t>
            </a:r>
            <a:endParaRPr lang="en-US" sz="1000" dirty="0"/>
          </a:p>
        </p:txBody>
      </p:sp>
      <p:sp>
        <p:nvSpPr>
          <p:cNvPr id="8" name="Shape 5"/>
          <p:cNvSpPr/>
          <p:nvPr/>
        </p:nvSpPr>
        <p:spPr>
          <a:xfrm>
            <a:off x="1005840" y="1874520"/>
            <a:ext cx="1508760" cy="384048"/>
          </a:xfrm>
          <a:prstGeom prst="roundRect">
            <a:avLst>
              <a:gd name="adj" fmla="val 26190"/>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6"/>
          <p:cNvSpPr/>
          <p:nvPr/>
        </p:nvSpPr>
        <p:spPr>
          <a:xfrm>
            <a:off x="1005840" y="1874520"/>
            <a:ext cx="91440" cy="384048"/>
          </a:xfrm>
          <a:prstGeom prst="rect">
            <a:avLst/>
          </a:prstGeom>
          <a:solidFill>
            <a:srgbClr val="0B5CAB"/>
          </a:solidFill>
          <a:ln w="12700">
            <a:solidFill>
              <a:srgbClr val="0B5CAB"/>
            </a:solidFill>
            <a:prstDash val="solid"/>
          </a:ln>
        </p:spPr>
        <p:txBody>
          <a:bodyPr/>
          <a:lstStyle/>
          <a:p>
            <a:endParaRPr lang="en-IN"/>
          </a:p>
        </p:txBody>
      </p:sp>
      <p:sp>
        <p:nvSpPr>
          <p:cNvPr id="10" name="Text 7"/>
          <p:cNvSpPr/>
          <p:nvPr/>
        </p:nvSpPr>
        <p:spPr>
          <a:xfrm>
            <a:off x="1170432" y="2002536"/>
            <a:ext cx="1234440" cy="164592"/>
          </a:xfrm>
          <a:prstGeom prst="rect">
            <a:avLst/>
          </a:prstGeom>
          <a:noFill/>
          <a:ln/>
        </p:spPr>
        <p:txBody>
          <a:bodyPr wrap="square" lIns="254" tIns="254" rIns="254" bIns="254" rtlCol="0" anchor="ctr">
            <a:normAutofit/>
          </a:bodyPr>
          <a:lstStyle/>
          <a:p>
            <a:pPr marL="0" indent="0" algn="ctr">
              <a:buNone/>
            </a:pPr>
            <a:r>
              <a:rPr lang="en-US" sz="880" b="1" dirty="0">
                <a:solidFill>
                  <a:srgbClr val="1F2937"/>
                </a:solidFill>
              </a:rPr>
              <a:t>Study</a:t>
            </a:r>
            <a:endParaRPr lang="en-US" sz="880" dirty="0"/>
          </a:p>
        </p:txBody>
      </p:sp>
      <p:sp>
        <p:nvSpPr>
          <p:cNvPr id="11" name="Shape 8"/>
          <p:cNvSpPr/>
          <p:nvPr/>
        </p:nvSpPr>
        <p:spPr>
          <a:xfrm>
            <a:off x="1005840" y="2560320"/>
            <a:ext cx="1508760" cy="384048"/>
          </a:xfrm>
          <a:prstGeom prst="roundRect">
            <a:avLst>
              <a:gd name="adj" fmla="val 26190"/>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9"/>
          <p:cNvSpPr/>
          <p:nvPr/>
        </p:nvSpPr>
        <p:spPr>
          <a:xfrm>
            <a:off x="1005840" y="2560320"/>
            <a:ext cx="91440" cy="384048"/>
          </a:xfrm>
          <a:prstGeom prst="rect">
            <a:avLst/>
          </a:prstGeom>
          <a:solidFill>
            <a:srgbClr val="0B5CAB"/>
          </a:solidFill>
          <a:ln w="12700">
            <a:solidFill>
              <a:srgbClr val="0B5CAB"/>
            </a:solidFill>
            <a:prstDash val="solid"/>
          </a:ln>
        </p:spPr>
        <p:txBody>
          <a:bodyPr/>
          <a:lstStyle/>
          <a:p>
            <a:endParaRPr lang="en-IN"/>
          </a:p>
        </p:txBody>
      </p:sp>
      <p:sp>
        <p:nvSpPr>
          <p:cNvPr id="13" name="Text 10"/>
          <p:cNvSpPr/>
          <p:nvPr/>
        </p:nvSpPr>
        <p:spPr>
          <a:xfrm>
            <a:off x="1170432" y="2688336"/>
            <a:ext cx="1234440" cy="164592"/>
          </a:xfrm>
          <a:prstGeom prst="rect">
            <a:avLst/>
          </a:prstGeom>
          <a:noFill/>
          <a:ln/>
        </p:spPr>
        <p:txBody>
          <a:bodyPr wrap="square" lIns="254" tIns="254" rIns="254" bIns="254" rtlCol="0" anchor="ctr">
            <a:normAutofit/>
          </a:bodyPr>
          <a:lstStyle/>
          <a:p>
            <a:pPr marL="0" indent="0" algn="ctr">
              <a:buNone/>
            </a:pPr>
            <a:r>
              <a:rPr lang="en-US" sz="880" b="1" dirty="0">
                <a:solidFill>
                  <a:srgbClr val="1F2937"/>
                </a:solidFill>
              </a:rPr>
              <a:t>Subgroup</a:t>
            </a:r>
            <a:endParaRPr lang="en-US" sz="880" dirty="0"/>
          </a:p>
        </p:txBody>
      </p:sp>
      <p:sp>
        <p:nvSpPr>
          <p:cNvPr id="14" name="Shape 11"/>
          <p:cNvSpPr/>
          <p:nvPr/>
        </p:nvSpPr>
        <p:spPr>
          <a:xfrm>
            <a:off x="1005840" y="3246120"/>
            <a:ext cx="1508760" cy="384048"/>
          </a:xfrm>
          <a:prstGeom prst="roundRect">
            <a:avLst>
              <a:gd name="adj" fmla="val 26190"/>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2"/>
          <p:cNvSpPr/>
          <p:nvPr/>
        </p:nvSpPr>
        <p:spPr>
          <a:xfrm>
            <a:off x="1005840" y="3246120"/>
            <a:ext cx="91440" cy="384048"/>
          </a:xfrm>
          <a:prstGeom prst="rect">
            <a:avLst/>
          </a:prstGeom>
          <a:solidFill>
            <a:srgbClr val="0B5CAB"/>
          </a:solidFill>
          <a:ln w="12700">
            <a:solidFill>
              <a:srgbClr val="0B5CAB"/>
            </a:solidFill>
            <a:prstDash val="solid"/>
          </a:ln>
        </p:spPr>
        <p:txBody>
          <a:bodyPr/>
          <a:lstStyle/>
          <a:p>
            <a:endParaRPr lang="en-IN"/>
          </a:p>
        </p:txBody>
      </p:sp>
      <p:sp>
        <p:nvSpPr>
          <p:cNvPr id="16" name="Text 13"/>
          <p:cNvSpPr/>
          <p:nvPr/>
        </p:nvSpPr>
        <p:spPr>
          <a:xfrm>
            <a:off x="1170432" y="3374136"/>
            <a:ext cx="1234440" cy="164592"/>
          </a:xfrm>
          <a:prstGeom prst="rect">
            <a:avLst/>
          </a:prstGeom>
          <a:noFill/>
          <a:ln/>
        </p:spPr>
        <p:txBody>
          <a:bodyPr wrap="square" lIns="254" tIns="254" rIns="254" bIns="254" rtlCol="0" anchor="ctr">
            <a:normAutofit/>
          </a:bodyPr>
          <a:lstStyle/>
          <a:p>
            <a:pPr marL="0" indent="0" algn="ctr">
              <a:buNone/>
            </a:pPr>
            <a:r>
              <a:rPr lang="en-US" sz="880" b="1" dirty="0">
                <a:solidFill>
                  <a:srgbClr val="1F2937"/>
                </a:solidFill>
              </a:rPr>
              <a:t>Refresh</a:t>
            </a:r>
            <a:endParaRPr lang="en-US" sz="880" dirty="0"/>
          </a:p>
        </p:txBody>
      </p:sp>
      <p:sp>
        <p:nvSpPr>
          <p:cNvPr id="17" name="Shape 14"/>
          <p:cNvSpPr/>
          <p:nvPr/>
        </p:nvSpPr>
        <p:spPr>
          <a:xfrm>
            <a:off x="1005840" y="3931920"/>
            <a:ext cx="1508760" cy="384048"/>
          </a:xfrm>
          <a:prstGeom prst="roundRect">
            <a:avLst>
              <a:gd name="adj" fmla="val 26190"/>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5"/>
          <p:cNvSpPr/>
          <p:nvPr/>
        </p:nvSpPr>
        <p:spPr>
          <a:xfrm>
            <a:off x="1005840" y="3931920"/>
            <a:ext cx="91440" cy="384048"/>
          </a:xfrm>
          <a:prstGeom prst="rect">
            <a:avLst/>
          </a:prstGeom>
          <a:solidFill>
            <a:srgbClr val="0B5CAB"/>
          </a:solidFill>
          <a:ln w="12700">
            <a:solidFill>
              <a:srgbClr val="0B5CAB"/>
            </a:solidFill>
            <a:prstDash val="solid"/>
          </a:ln>
        </p:spPr>
        <p:txBody>
          <a:bodyPr/>
          <a:lstStyle/>
          <a:p>
            <a:endParaRPr lang="en-IN"/>
          </a:p>
        </p:txBody>
      </p:sp>
      <p:sp>
        <p:nvSpPr>
          <p:cNvPr id="19" name="Text 16"/>
          <p:cNvSpPr/>
          <p:nvPr/>
        </p:nvSpPr>
        <p:spPr>
          <a:xfrm>
            <a:off x="1170432" y="4059936"/>
            <a:ext cx="1234440" cy="164592"/>
          </a:xfrm>
          <a:prstGeom prst="rect">
            <a:avLst/>
          </a:prstGeom>
          <a:noFill/>
          <a:ln/>
        </p:spPr>
        <p:txBody>
          <a:bodyPr wrap="square" lIns="254" tIns="254" rIns="254" bIns="254" rtlCol="0" anchor="ctr">
            <a:normAutofit/>
          </a:bodyPr>
          <a:lstStyle/>
          <a:p>
            <a:pPr marL="0" indent="0" algn="ctr">
              <a:buNone/>
            </a:pPr>
            <a:r>
              <a:rPr lang="en-US" sz="880" b="1" dirty="0">
                <a:solidFill>
                  <a:srgbClr val="1F2937"/>
                </a:solidFill>
              </a:rPr>
              <a:t>Download</a:t>
            </a:r>
            <a:endParaRPr lang="en-US" sz="880" dirty="0"/>
          </a:p>
        </p:txBody>
      </p:sp>
      <p:sp>
        <p:nvSpPr>
          <p:cNvPr id="20" name="Shape 17"/>
          <p:cNvSpPr/>
          <p:nvPr/>
        </p:nvSpPr>
        <p:spPr>
          <a:xfrm>
            <a:off x="3657600" y="1508760"/>
            <a:ext cx="1920240" cy="658368"/>
          </a:xfrm>
          <a:prstGeom prst="roundRect">
            <a:avLst>
              <a:gd name="adj" fmla="val 15278"/>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21" name="Shape 18"/>
          <p:cNvSpPr/>
          <p:nvPr/>
        </p:nvSpPr>
        <p:spPr>
          <a:xfrm>
            <a:off x="3657600" y="1508760"/>
            <a:ext cx="91440" cy="658368"/>
          </a:xfrm>
          <a:prstGeom prst="rect">
            <a:avLst/>
          </a:prstGeom>
          <a:solidFill>
            <a:srgbClr val="2E8B57"/>
          </a:solidFill>
          <a:ln w="12700">
            <a:solidFill>
              <a:srgbClr val="2E8B57"/>
            </a:solidFill>
            <a:prstDash val="solid"/>
          </a:ln>
        </p:spPr>
        <p:txBody>
          <a:bodyPr/>
          <a:lstStyle/>
          <a:p>
            <a:endParaRPr lang="en-IN"/>
          </a:p>
        </p:txBody>
      </p:sp>
      <p:sp>
        <p:nvSpPr>
          <p:cNvPr id="22" name="Text 19"/>
          <p:cNvSpPr/>
          <p:nvPr/>
        </p:nvSpPr>
        <p:spPr>
          <a:xfrm>
            <a:off x="3822192" y="1636776"/>
            <a:ext cx="1645920" cy="438912"/>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Enrollment</a:t>
            </a:r>
            <a:endParaRPr lang="en-US" sz="850" dirty="0"/>
          </a:p>
          <a:p>
            <a:pPr marL="0" indent="0" algn="ctr">
              <a:buNone/>
            </a:pPr>
            <a:r>
              <a:rPr lang="en-US" sz="850" b="1" dirty="0">
                <a:solidFill>
                  <a:srgbClr val="1F2937"/>
                </a:solidFill>
              </a:rPr>
              <a:t>Metrics</a:t>
            </a:r>
            <a:endParaRPr lang="en-US" sz="850" dirty="0"/>
          </a:p>
        </p:txBody>
      </p:sp>
      <p:sp>
        <p:nvSpPr>
          <p:cNvPr id="23" name="Shape 20"/>
          <p:cNvSpPr/>
          <p:nvPr/>
        </p:nvSpPr>
        <p:spPr>
          <a:xfrm>
            <a:off x="5989320" y="1508760"/>
            <a:ext cx="1920240" cy="658368"/>
          </a:xfrm>
          <a:prstGeom prst="roundRect">
            <a:avLst>
              <a:gd name="adj" fmla="val 15278"/>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24" name="Shape 21"/>
          <p:cNvSpPr/>
          <p:nvPr/>
        </p:nvSpPr>
        <p:spPr>
          <a:xfrm>
            <a:off x="5989320" y="1508760"/>
            <a:ext cx="91440" cy="658368"/>
          </a:xfrm>
          <a:prstGeom prst="rect">
            <a:avLst/>
          </a:prstGeom>
          <a:solidFill>
            <a:srgbClr val="6F49B8"/>
          </a:solidFill>
          <a:ln w="12700">
            <a:solidFill>
              <a:srgbClr val="6F49B8"/>
            </a:solidFill>
            <a:prstDash val="solid"/>
          </a:ln>
        </p:spPr>
        <p:txBody>
          <a:bodyPr/>
          <a:lstStyle/>
          <a:p>
            <a:endParaRPr lang="en-IN"/>
          </a:p>
        </p:txBody>
      </p:sp>
      <p:sp>
        <p:nvSpPr>
          <p:cNvPr id="25" name="Text 22"/>
          <p:cNvSpPr/>
          <p:nvPr/>
        </p:nvSpPr>
        <p:spPr>
          <a:xfrm>
            <a:off x="6153912" y="1636776"/>
            <a:ext cx="1645920" cy="438912"/>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Trend</a:t>
            </a:r>
            <a:endParaRPr lang="en-US" sz="850" dirty="0"/>
          </a:p>
          <a:p>
            <a:pPr marL="0" indent="0" algn="ctr">
              <a:buNone/>
            </a:pPr>
            <a:r>
              <a:rPr lang="en-US" sz="850" b="1" dirty="0">
                <a:solidFill>
                  <a:srgbClr val="1F2937"/>
                </a:solidFill>
              </a:rPr>
              <a:t>Analysis</a:t>
            </a:r>
            <a:endParaRPr lang="en-US" sz="850" dirty="0"/>
          </a:p>
        </p:txBody>
      </p:sp>
      <p:sp>
        <p:nvSpPr>
          <p:cNvPr id="26" name="Shape 23"/>
          <p:cNvSpPr/>
          <p:nvPr/>
        </p:nvSpPr>
        <p:spPr>
          <a:xfrm>
            <a:off x="8321040" y="1508760"/>
            <a:ext cx="1920240" cy="658368"/>
          </a:xfrm>
          <a:prstGeom prst="roundRect">
            <a:avLst>
              <a:gd name="adj" fmla="val 15278"/>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27" name="Shape 24"/>
          <p:cNvSpPr/>
          <p:nvPr/>
        </p:nvSpPr>
        <p:spPr>
          <a:xfrm>
            <a:off x="8321040" y="1508760"/>
            <a:ext cx="91440" cy="658368"/>
          </a:xfrm>
          <a:prstGeom prst="rect">
            <a:avLst/>
          </a:prstGeom>
          <a:solidFill>
            <a:srgbClr val="008A8A"/>
          </a:solidFill>
          <a:ln w="12700">
            <a:solidFill>
              <a:srgbClr val="008A8A"/>
            </a:solidFill>
            <a:prstDash val="solid"/>
          </a:ln>
        </p:spPr>
        <p:txBody>
          <a:bodyPr/>
          <a:lstStyle/>
          <a:p>
            <a:endParaRPr lang="en-IN"/>
          </a:p>
        </p:txBody>
      </p:sp>
      <p:sp>
        <p:nvSpPr>
          <p:cNvPr id="28" name="Text 25"/>
          <p:cNvSpPr/>
          <p:nvPr/>
        </p:nvSpPr>
        <p:spPr>
          <a:xfrm>
            <a:off x="8485632" y="1636776"/>
            <a:ext cx="1645920" cy="438912"/>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Interactive</a:t>
            </a:r>
            <a:endParaRPr lang="en-US" sz="850" dirty="0"/>
          </a:p>
          <a:p>
            <a:pPr marL="0" indent="0" algn="ctr">
              <a:buNone/>
            </a:pPr>
            <a:r>
              <a:rPr lang="en-US" sz="850" b="1" dirty="0">
                <a:solidFill>
                  <a:srgbClr val="1F2937"/>
                </a:solidFill>
              </a:rPr>
              <a:t>DT Table</a:t>
            </a:r>
            <a:endParaRPr lang="en-US" sz="850" dirty="0"/>
          </a:p>
        </p:txBody>
      </p:sp>
      <p:sp>
        <p:nvSpPr>
          <p:cNvPr id="29" name="Shape 26"/>
          <p:cNvSpPr/>
          <p:nvPr/>
        </p:nvSpPr>
        <p:spPr>
          <a:xfrm>
            <a:off x="4892040" y="4892040"/>
            <a:ext cx="1920240" cy="658368"/>
          </a:xfrm>
          <a:prstGeom prst="roundRect">
            <a:avLst>
              <a:gd name="adj" fmla="val 15278"/>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30" name="Shape 27"/>
          <p:cNvSpPr/>
          <p:nvPr/>
        </p:nvSpPr>
        <p:spPr>
          <a:xfrm>
            <a:off x="4892040" y="4892040"/>
            <a:ext cx="91440" cy="658368"/>
          </a:xfrm>
          <a:prstGeom prst="rect">
            <a:avLst/>
          </a:prstGeom>
          <a:solidFill>
            <a:srgbClr val="E98300"/>
          </a:solidFill>
          <a:ln w="12700">
            <a:solidFill>
              <a:srgbClr val="E98300"/>
            </a:solidFill>
            <a:prstDash val="solid"/>
          </a:ln>
        </p:spPr>
        <p:txBody>
          <a:bodyPr/>
          <a:lstStyle/>
          <a:p>
            <a:endParaRPr lang="en-IN"/>
          </a:p>
        </p:txBody>
      </p:sp>
      <p:sp>
        <p:nvSpPr>
          <p:cNvPr id="31" name="Text 28"/>
          <p:cNvSpPr/>
          <p:nvPr/>
        </p:nvSpPr>
        <p:spPr>
          <a:xfrm>
            <a:off x="5056632" y="5020056"/>
            <a:ext cx="1645920" cy="438912"/>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Validation</a:t>
            </a:r>
            <a:endParaRPr lang="en-US" sz="850" dirty="0"/>
          </a:p>
          <a:p>
            <a:pPr marL="0" indent="0" algn="ctr">
              <a:buNone/>
            </a:pPr>
            <a:r>
              <a:rPr lang="en-US" sz="850" b="1" dirty="0">
                <a:solidFill>
                  <a:srgbClr val="1F2937"/>
                </a:solidFill>
              </a:rPr>
              <a:t>Messages</a:t>
            </a:r>
            <a:endParaRPr lang="en-US" sz="850" dirty="0"/>
          </a:p>
        </p:txBody>
      </p:sp>
      <p:sp>
        <p:nvSpPr>
          <p:cNvPr id="32" name="Shape 29"/>
          <p:cNvSpPr/>
          <p:nvPr/>
        </p:nvSpPr>
        <p:spPr>
          <a:xfrm>
            <a:off x="7315200" y="4892040"/>
            <a:ext cx="1920240" cy="658368"/>
          </a:xfrm>
          <a:prstGeom prst="roundRect">
            <a:avLst>
              <a:gd name="adj" fmla="val 15278"/>
            </a:avLst>
          </a:prstGeom>
          <a:solidFill>
            <a:srgbClr val="FFFFFF"/>
          </a:solidFill>
          <a:ln w="15240">
            <a:solidFill>
              <a:srgbClr val="C43A31"/>
            </a:solidFill>
            <a:prstDash val="solid"/>
          </a:ln>
          <a:effectLst>
            <a:outerShdw blurRad="12700" dist="8890" dir="2700000" algn="bl" rotWithShape="0">
              <a:srgbClr val="000000">
                <a:alpha val="10000"/>
              </a:srgbClr>
            </a:outerShdw>
          </a:effectLst>
        </p:spPr>
        <p:txBody>
          <a:bodyPr/>
          <a:lstStyle/>
          <a:p>
            <a:endParaRPr lang="en-IN"/>
          </a:p>
        </p:txBody>
      </p:sp>
      <p:sp>
        <p:nvSpPr>
          <p:cNvPr id="33" name="Shape 30"/>
          <p:cNvSpPr/>
          <p:nvPr/>
        </p:nvSpPr>
        <p:spPr>
          <a:xfrm>
            <a:off x="7315200" y="4892040"/>
            <a:ext cx="91440" cy="658368"/>
          </a:xfrm>
          <a:prstGeom prst="rect">
            <a:avLst/>
          </a:prstGeom>
          <a:solidFill>
            <a:srgbClr val="C43A31"/>
          </a:solidFill>
          <a:ln w="12700">
            <a:solidFill>
              <a:srgbClr val="C43A31"/>
            </a:solidFill>
            <a:prstDash val="solid"/>
          </a:ln>
        </p:spPr>
        <p:txBody>
          <a:bodyPr/>
          <a:lstStyle/>
          <a:p>
            <a:endParaRPr lang="en-IN"/>
          </a:p>
        </p:txBody>
      </p:sp>
      <p:sp>
        <p:nvSpPr>
          <p:cNvPr id="34" name="Text 31"/>
          <p:cNvSpPr/>
          <p:nvPr/>
        </p:nvSpPr>
        <p:spPr>
          <a:xfrm>
            <a:off x="7479792" y="5020056"/>
            <a:ext cx="1645920" cy="438912"/>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User</a:t>
            </a:r>
            <a:endParaRPr lang="en-US" sz="850" dirty="0"/>
          </a:p>
          <a:p>
            <a:pPr marL="0" indent="0" algn="ctr">
              <a:buNone/>
            </a:pPr>
            <a:r>
              <a:rPr lang="en-US" sz="850" b="1" dirty="0">
                <a:solidFill>
                  <a:srgbClr val="1F2937"/>
                </a:solidFill>
              </a:rPr>
              <a:t>Notifications</a:t>
            </a:r>
            <a:endParaRPr lang="en-US" sz="850" dirty="0"/>
          </a:p>
        </p:txBody>
      </p:sp>
      <p:sp>
        <p:nvSpPr>
          <p:cNvPr id="3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16</a:t>
            </a:fld>
            <a:endParaRPr lang="en-US"/>
          </a:p>
        </p:txBody>
      </p:sp>
      <p:graphicFrame>
        <p:nvGraphicFramePr>
          <p:cNvPr id="37" name="Object 36">
            <a:extLst>
              <a:ext uri="{FF2B5EF4-FFF2-40B4-BE49-F238E27FC236}">
                <a16:creationId xmlns:a16="http://schemas.microsoft.com/office/drawing/2014/main" id="{381CC01E-5325-61D3-982C-6039F1FB44BA}"/>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4" imgW="2578142" imgH="526915" progId="Package">
                  <p:embed/>
                </p:oleObj>
              </mc:Choice>
              <mc:Fallback>
                <p:oleObj name="Packager Shell Object" showAsIcon="1" r:id="rId4"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5"/>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Level 4: modular architecture</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split a large Shiny app into independent UI and server modules.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pic>
        <p:nvPicPr>
          <p:cNvPr id="5" name="Image 0" descr="/mnt/data/d8a2737768.png"/>
          <p:cNvPicPr>
            <a:picLocks noChangeAspect="1"/>
          </p:cNvPicPr>
          <p:nvPr/>
        </p:nvPicPr>
        <p:blipFill>
          <a:blip r:embed="rId3"/>
          <a:srcRect t="17093" b="17093"/>
          <a:stretch/>
        </p:blipFill>
        <p:spPr>
          <a:xfrm>
            <a:off x="0" y="1051560"/>
            <a:ext cx="12191695" cy="5349240"/>
          </a:xfrm>
          <a:prstGeom prst="rect">
            <a:avLst/>
          </a:prstGeom>
        </p:spPr>
      </p:pic>
      <p:sp>
        <p:nvSpPr>
          <p:cNvPr id="16" name="Shape 13"/>
          <p:cNvSpPr/>
          <p:nvPr/>
        </p:nvSpPr>
        <p:spPr>
          <a:xfrm>
            <a:off x="4782312" y="2651760"/>
            <a:ext cx="502920" cy="1"/>
          </a:xfrm>
          <a:prstGeom prst="line">
            <a:avLst/>
          </a:prstGeom>
          <a:noFill/>
          <a:ln w="17780">
            <a:solidFill>
              <a:srgbClr val="D7E1EA"/>
            </a:solidFill>
            <a:prstDash val="solid"/>
            <a:headEnd type="none"/>
            <a:tailEnd type="triangle"/>
          </a:ln>
        </p:spPr>
        <p:txBody>
          <a:bodyPr/>
          <a:lstStyle/>
          <a:p>
            <a:endParaRPr lang="en-IN"/>
          </a:p>
        </p:txBody>
      </p:sp>
      <p:sp>
        <p:nvSpPr>
          <p:cNvPr id="20" name="Shape 17"/>
          <p:cNvSpPr/>
          <p:nvPr/>
        </p:nvSpPr>
        <p:spPr>
          <a:xfrm>
            <a:off x="7022592" y="2651760"/>
            <a:ext cx="502920" cy="1"/>
          </a:xfrm>
          <a:prstGeom prst="line">
            <a:avLst/>
          </a:prstGeom>
          <a:noFill/>
          <a:ln w="17780">
            <a:solidFill>
              <a:srgbClr val="D7E1EA"/>
            </a:solidFill>
            <a:prstDash val="solid"/>
            <a:headEnd type="none"/>
            <a:tailEnd type="triangle"/>
          </a:ln>
        </p:spPr>
        <p:txBody>
          <a:bodyPr/>
          <a:lstStyle/>
          <a:p>
            <a:endParaRPr lang="en-IN"/>
          </a:p>
        </p:txBody>
      </p:sp>
      <p:sp>
        <p:nvSpPr>
          <p:cNvPr id="24" name="Shape 21"/>
          <p:cNvSpPr/>
          <p:nvPr/>
        </p:nvSpPr>
        <p:spPr>
          <a:xfrm>
            <a:off x="9262872" y="2651760"/>
            <a:ext cx="502920" cy="1"/>
          </a:xfrm>
          <a:prstGeom prst="line">
            <a:avLst/>
          </a:prstGeom>
          <a:noFill/>
          <a:ln w="17780">
            <a:solidFill>
              <a:srgbClr val="D7E1EA"/>
            </a:solidFill>
            <a:prstDash val="solid"/>
            <a:headEnd type="none"/>
            <a:tailEnd type="triangle"/>
          </a:ln>
        </p:spPr>
        <p:txBody>
          <a:bodyPr/>
          <a:lstStyle/>
          <a:p>
            <a:endParaRPr lang="en-IN"/>
          </a:p>
        </p:txBody>
      </p:sp>
      <p:sp>
        <p:nvSpPr>
          <p:cNvPr id="33"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87936-7C08-42F3-E90F-64DD81B29335}"/>
            </a:ext>
          </a:extLst>
        </p:cNvPr>
        <p:cNvGrpSpPr/>
        <p:nvPr/>
      </p:nvGrpSpPr>
      <p:grpSpPr>
        <a:xfrm>
          <a:off x="0" y="0"/>
          <a:ext cx="1" cy="1"/>
          <a:chOff x="0" y="0"/>
          <a:chExt cx="1" cy="1"/>
        </a:xfrm>
      </p:grpSpPr>
      <p:sp>
        <p:nvSpPr>
          <p:cNvPr id="2" name="Text 0">
            <a:extLst>
              <a:ext uri="{FF2B5EF4-FFF2-40B4-BE49-F238E27FC236}">
                <a16:creationId xmlns:a16="http://schemas.microsoft.com/office/drawing/2014/main" id="{13AE68EA-67DD-397B-14BF-E291B6BEB22A}"/>
              </a:ext>
            </a:extLst>
          </p:cNvPr>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Level 4: modular architecture</a:t>
            </a:r>
            <a:endParaRPr lang="en-US" sz="2200" dirty="0"/>
          </a:p>
        </p:txBody>
      </p:sp>
      <p:sp>
        <p:nvSpPr>
          <p:cNvPr id="3" name="Text 1">
            <a:extLst>
              <a:ext uri="{FF2B5EF4-FFF2-40B4-BE49-F238E27FC236}">
                <a16:creationId xmlns:a16="http://schemas.microsoft.com/office/drawing/2014/main" id="{889B4984-BBBB-2EA9-6D1C-A2A0411387CF}"/>
              </a:ext>
            </a:extLst>
          </p:cNvPr>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split a large Shiny app into independent UI and server modules.</a:t>
            </a:r>
            <a:endParaRPr lang="en-US" sz="920" dirty="0"/>
          </a:p>
        </p:txBody>
      </p:sp>
      <p:sp>
        <p:nvSpPr>
          <p:cNvPr id="4" name="Shape 2">
            <a:extLst>
              <a:ext uri="{FF2B5EF4-FFF2-40B4-BE49-F238E27FC236}">
                <a16:creationId xmlns:a16="http://schemas.microsoft.com/office/drawing/2014/main" id="{BCCABB48-BBEA-29DF-4552-68380DB91B50}"/>
              </a:ext>
            </a:extLst>
          </p:cNvPr>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6" name="Shape 3">
            <a:extLst>
              <a:ext uri="{FF2B5EF4-FFF2-40B4-BE49-F238E27FC236}">
                <a16:creationId xmlns:a16="http://schemas.microsoft.com/office/drawing/2014/main" id="{6376C61A-59A9-0F44-003A-EBBAC2F0830B}"/>
              </a:ext>
            </a:extLst>
          </p:cNvPr>
          <p:cNvSpPr/>
          <p:nvPr/>
        </p:nvSpPr>
        <p:spPr>
          <a:xfrm>
            <a:off x="868680" y="2267712"/>
            <a:ext cx="1737360" cy="777240"/>
          </a:xfrm>
          <a:prstGeom prst="roundRect">
            <a:avLst>
              <a:gd name="adj" fmla="val 12941"/>
            </a:avLst>
          </a:prstGeom>
          <a:solidFill>
            <a:schemeClr val="bg1"/>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7" name="Shape 4">
            <a:extLst>
              <a:ext uri="{FF2B5EF4-FFF2-40B4-BE49-F238E27FC236}">
                <a16:creationId xmlns:a16="http://schemas.microsoft.com/office/drawing/2014/main" id="{67DAD5AC-9CB3-32A7-3851-6E6CBA50E96B}"/>
              </a:ext>
            </a:extLst>
          </p:cNvPr>
          <p:cNvSpPr/>
          <p:nvPr/>
        </p:nvSpPr>
        <p:spPr>
          <a:xfrm>
            <a:off x="868680" y="2267712"/>
            <a:ext cx="91440" cy="777240"/>
          </a:xfrm>
          <a:prstGeom prst="rect">
            <a:avLst/>
          </a:prstGeom>
          <a:solidFill>
            <a:srgbClr val="0B5CAB"/>
          </a:solidFill>
          <a:ln w="12700">
            <a:solidFill>
              <a:srgbClr val="0B5CAB"/>
            </a:solidFill>
            <a:prstDash val="solid"/>
          </a:ln>
        </p:spPr>
        <p:txBody>
          <a:bodyPr/>
          <a:lstStyle/>
          <a:p>
            <a:endParaRPr lang="en-IN"/>
          </a:p>
        </p:txBody>
      </p:sp>
      <p:sp>
        <p:nvSpPr>
          <p:cNvPr id="8" name="Text 5">
            <a:extLst>
              <a:ext uri="{FF2B5EF4-FFF2-40B4-BE49-F238E27FC236}">
                <a16:creationId xmlns:a16="http://schemas.microsoft.com/office/drawing/2014/main" id="{FCCF64D7-B829-F7B1-2D9E-5F819754E3CF}"/>
              </a:ext>
            </a:extLst>
          </p:cNvPr>
          <p:cNvSpPr/>
          <p:nvPr/>
        </p:nvSpPr>
        <p:spPr>
          <a:xfrm>
            <a:off x="1033272" y="2395728"/>
            <a:ext cx="1463040" cy="55778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Filter</a:t>
            </a:r>
            <a:endParaRPr lang="en-US" sz="850" dirty="0"/>
          </a:p>
          <a:p>
            <a:pPr marL="0" indent="0" algn="ctr">
              <a:buNone/>
            </a:pPr>
            <a:r>
              <a:rPr lang="en-US" sz="850" b="1" dirty="0">
                <a:solidFill>
                  <a:srgbClr val="1F2937"/>
                </a:solidFill>
              </a:rPr>
              <a:t>Module</a:t>
            </a:r>
            <a:endParaRPr lang="en-US" sz="850" dirty="0"/>
          </a:p>
        </p:txBody>
      </p:sp>
      <p:sp>
        <p:nvSpPr>
          <p:cNvPr id="9" name="Shape 6">
            <a:extLst>
              <a:ext uri="{FF2B5EF4-FFF2-40B4-BE49-F238E27FC236}">
                <a16:creationId xmlns:a16="http://schemas.microsoft.com/office/drawing/2014/main" id="{96785DA2-6B72-1997-CE18-392160825689}"/>
              </a:ext>
            </a:extLst>
          </p:cNvPr>
          <p:cNvSpPr/>
          <p:nvPr/>
        </p:nvSpPr>
        <p:spPr>
          <a:xfrm>
            <a:off x="3108960" y="2267712"/>
            <a:ext cx="1737360" cy="777240"/>
          </a:xfrm>
          <a:prstGeom prst="roundRect">
            <a:avLst>
              <a:gd name="adj" fmla="val 12941"/>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0" name="Shape 7">
            <a:extLst>
              <a:ext uri="{FF2B5EF4-FFF2-40B4-BE49-F238E27FC236}">
                <a16:creationId xmlns:a16="http://schemas.microsoft.com/office/drawing/2014/main" id="{C4FB4FAE-FFF6-277C-A32E-8BBC445B0725}"/>
              </a:ext>
            </a:extLst>
          </p:cNvPr>
          <p:cNvSpPr/>
          <p:nvPr/>
        </p:nvSpPr>
        <p:spPr>
          <a:xfrm>
            <a:off x="3108960" y="2267712"/>
            <a:ext cx="91440" cy="777240"/>
          </a:xfrm>
          <a:prstGeom prst="rect">
            <a:avLst/>
          </a:prstGeom>
          <a:solidFill>
            <a:srgbClr val="2E8B57"/>
          </a:solidFill>
          <a:ln w="12700">
            <a:solidFill>
              <a:srgbClr val="2E8B57"/>
            </a:solidFill>
            <a:prstDash val="solid"/>
          </a:ln>
        </p:spPr>
        <p:txBody>
          <a:bodyPr/>
          <a:lstStyle/>
          <a:p>
            <a:endParaRPr lang="en-IN"/>
          </a:p>
        </p:txBody>
      </p:sp>
      <p:sp>
        <p:nvSpPr>
          <p:cNvPr id="11" name="Text 8">
            <a:extLst>
              <a:ext uri="{FF2B5EF4-FFF2-40B4-BE49-F238E27FC236}">
                <a16:creationId xmlns:a16="http://schemas.microsoft.com/office/drawing/2014/main" id="{A1A7F186-0F25-5361-0BE4-0C33C43F9966}"/>
              </a:ext>
            </a:extLst>
          </p:cNvPr>
          <p:cNvSpPr/>
          <p:nvPr/>
        </p:nvSpPr>
        <p:spPr>
          <a:xfrm>
            <a:off x="3273552" y="2395728"/>
            <a:ext cx="1463040" cy="55778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Metrics</a:t>
            </a:r>
            <a:endParaRPr lang="en-US" sz="850" dirty="0"/>
          </a:p>
          <a:p>
            <a:pPr marL="0" indent="0" algn="ctr">
              <a:buNone/>
            </a:pPr>
            <a:r>
              <a:rPr lang="en-US" sz="850" b="1" dirty="0">
                <a:solidFill>
                  <a:srgbClr val="1F2937"/>
                </a:solidFill>
              </a:rPr>
              <a:t>Module</a:t>
            </a:r>
            <a:endParaRPr lang="en-US" sz="850" dirty="0"/>
          </a:p>
        </p:txBody>
      </p:sp>
      <p:sp>
        <p:nvSpPr>
          <p:cNvPr id="12" name="Shape 9">
            <a:extLst>
              <a:ext uri="{FF2B5EF4-FFF2-40B4-BE49-F238E27FC236}">
                <a16:creationId xmlns:a16="http://schemas.microsoft.com/office/drawing/2014/main" id="{B17F88B1-232C-8CA7-FE9D-B667802FC69F}"/>
              </a:ext>
            </a:extLst>
          </p:cNvPr>
          <p:cNvSpPr/>
          <p:nvPr/>
        </p:nvSpPr>
        <p:spPr>
          <a:xfrm>
            <a:off x="2542032" y="2651760"/>
            <a:ext cx="502920" cy="1"/>
          </a:xfrm>
          <a:prstGeom prst="line">
            <a:avLst/>
          </a:prstGeom>
          <a:noFill/>
          <a:ln w="17780">
            <a:solidFill>
              <a:srgbClr val="D7E1EA"/>
            </a:solidFill>
            <a:prstDash val="solid"/>
            <a:headEnd type="none"/>
            <a:tailEnd type="triangle"/>
          </a:ln>
        </p:spPr>
        <p:txBody>
          <a:bodyPr/>
          <a:lstStyle/>
          <a:p>
            <a:endParaRPr lang="en-IN"/>
          </a:p>
        </p:txBody>
      </p:sp>
      <p:sp>
        <p:nvSpPr>
          <p:cNvPr id="13" name="Shape 10">
            <a:extLst>
              <a:ext uri="{FF2B5EF4-FFF2-40B4-BE49-F238E27FC236}">
                <a16:creationId xmlns:a16="http://schemas.microsoft.com/office/drawing/2014/main" id="{DD84B0DB-0ED8-AF77-0554-F07680248D77}"/>
              </a:ext>
            </a:extLst>
          </p:cNvPr>
          <p:cNvSpPr/>
          <p:nvPr/>
        </p:nvSpPr>
        <p:spPr>
          <a:xfrm>
            <a:off x="5349240" y="2267712"/>
            <a:ext cx="1737360" cy="777240"/>
          </a:xfrm>
          <a:prstGeom prst="roundRect">
            <a:avLst>
              <a:gd name="adj" fmla="val 12941"/>
            </a:avLst>
          </a:prstGeom>
          <a:solidFill>
            <a:srgbClr val="FFFFFF"/>
          </a:solidFill>
          <a:ln w="15240">
            <a:solidFill>
              <a:srgbClr val="6F49B8"/>
            </a:solidFill>
            <a:prstDash val="solid"/>
          </a:ln>
          <a:effectLst>
            <a:outerShdw blurRad="12700" dist="8890" dir="2700000" algn="bl" rotWithShape="0">
              <a:srgbClr val="000000">
                <a:alpha val="10000"/>
              </a:srgbClr>
            </a:outerShdw>
          </a:effectLst>
        </p:spPr>
        <p:txBody>
          <a:bodyPr/>
          <a:lstStyle/>
          <a:p>
            <a:endParaRPr lang="en-IN"/>
          </a:p>
        </p:txBody>
      </p:sp>
      <p:sp>
        <p:nvSpPr>
          <p:cNvPr id="14" name="Shape 11">
            <a:extLst>
              <a:ext uri="{FF2B5EF4-FFF2-40B4-BE49-F238E27FC236}">
                <a16:creationId xmlns:a16="http://schemas.microsoft.com/office/drawing/2014/main" id="{80F7EDE2-519E-645A-2D8F-F4051B1C10C8}"/>
              </a:ext>
            </a:extLst>
          </p:cNvPr>
          <p:cNvSpPr/>
          <p:nvPr/>
        </p:nvSpPr>
        <p:spPr>
          <a:xfrm>
            <a:off x="5349240" y="2267712"/>
            <a:ext cx="91440" cy="777240"/>
          </a:xfrm>
          <a:prstGeom prst="rect">
            <a:avLst/>
          </a:prstGeom>
          <a:solidFill>
            <a:srgbClr val="6F49B8"/>
          </a:solidFill>
          <a:ln w="12700">
            <a:solidFill>
              <a:srgbClr val="6F49B8"/>
            </a:solidFill>
            <a:prstDash val="solid"/>
          </a:ln>
        </p:spPr>
        <p:txBody>
          <a:bodyPr/>
          <a:lstStyle/>
          <a:p>
            <a:endParaRPr lang="en-IN"/>
          </a:p>
        </p:txBody>
      </p:sp>
      <p:sp>
        <p:nvSpPr>
          <p:cNvPr id="15" name="Text 12">
            <a:extLst>
              <a:ext uri="{FF2B5EF4-FFF2-40B4-BE49-F238E27FC236}">
                <a16:creationId xmlns:a16="http://schemas.microsoft.com/office/drawing/2014/main" id="{317BD2FD-9A02-6B12-FF48-C7DD065B9758}"/>
              </a:ext>
            </a:extLst>
          </p:cNvPr>
          <p:cNvSpPr/>
          <p:nvPr/>
        </p:nvSpPr>
        <p:spPr>
          <a:xfrm>
            <a:off x="5513832" y="2395728"/>
            <a:ext cx="1463040" cy="55778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Trend Plot</a:t>
            </a:r>
            <a:endParaRPr lang="en-US" sz="850" dirty="0"/>
          </a:p>
          <a:p>
            <a:pPr marL="0" indent="0" algn="ctr">
              <a:buNone/>
            </a:pPr>
            <a:r>
              <a:rPr lang="en-US" sz="850" b="1" dirty="0">
                <a:solidFill>
                  <a:srgbClr val="1F2937"/>
                </a:solidFill>
              </a:rPr>
              <a:t>Module</a:t>
            </a:r>
            <a:endParaRPr lang="en-US" sz="850" dirty="0"/>
          </a:p>
        </p:txBody>
      </p:sp>
      <p:sp>
        <p:nvSpPr>
          <p:cNvPr id="16" name="Shape 13">
            <a:extLst>
              <a:ext uri="{FF2B5EF4-FFF2-40B4-BE49-F238E27FC236}">
                <a16:creationId xmlns:a16="http://schemas.microsoft.com/office/drawing/2014/main" id="{05E71B37-7214-59B5-2E27-4AF231D123C6}"/>
              </a:ext>
            </a:extLst>
          </p:cNvPr>
          <p:cNvSpPr/>
          <p:nvPr/>
        </p:nvSpPr>
        <p:spPr>
          <a:xfrm>
            <a:off x="4782312" y="2651760"/>
            <a:ext cx="502920" cy="1"/>
          </a:xfrm>
          <a:prstGeom prst="line">
            <a:avLst/>
          </a:prstGeom>
          <a:noFill/>
          <a:ln w="17780">
            <a:solidFill>
              <a:srgbClr val="D7E1EA"/>
            </a:solidFill>
            <a:prstDash val="solid"/>
            <a:headEnd type="none"/>
            <a:tailEnd type="triangle"/>
          </a:ln>
        </p:spPr>
        <p:txBody>
          <a:bodyPr/>
          <a:lstStyle/>
          <a:p>
            <a:endParaRPr lang="en-IN"/>
          </a:p>
        </p:txBody>
      </p:sp>
      <p:sp>
        <p:nvSpPr>
          <p:cNvPr id="17" name="Shape 14">
            <a:extLst>
              <a:ext uri="{FF2B5EF4-FFF2-40B4-BE49-F238E27FC236}">
                <a16:creationId xmlns:a16="http://schemas.microsoft.com/office/drawing/2014/main" id="{841DE7AC-17EF-B5E0-B893-3A1EE4C1ADDB}"/>
              </a:ext>
            </a:extLst>
          </p:cNvPr>
          <p:cNvSpPr/>
          <p:nvPr/>
        </p:nvSpPr>
        <p:spPr>
          <a:xfrm>
            <a:off x="7589520" y="2267712"/>
            <a:ext cx="1737360" cy="777240"/>
          </a:xfrm>
          <a:prstGeom prst="roundRect">
            <a:avLst>
              <a:gd name="adj" fmla="val 12941"/>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5">
            <a:extLst>
              <a:ext uri="{FF2B5EF4-FFF2-40B4-BE49-F238E27FC236}">
                <a16:creationId xmlns:a16="http://schemas.microsoft.com/office/drawing/2014/main" id="{406D0F28-E4A3-0947-1955-0BECF28F3E4F}"/>
              </a:ext>
            </a:extLst>
          </p:cNvPr>
          <p:cNvSpPr/>
          <p:nvPr/>
        </p:nvSpPr>
        <p:spPr>
          <a:xfrm>
            <a:off x="7589520" y="2267712"/>
            <a:ext cx="91440" cy="777240"/>
          </a:xfrm>
          <a:prstGeom prst="rect">
            <a:avLst/>
          </a:prstGeom>
          <a:solidFill>
            <a:srgbClr val="008A8A"/>
          </a:solidFill>
          <a:ln w="12700">
            <a:solidFill>
              <a:srgbClr val="008A8A"/>
            </a:solidFill>
            <a:prstDash val="solid"/>
          </a:ln>
        </p:spPr>
        <p:txBody>
          <a:bodyPr/>
          <a:lstStyle/>
          <a:p>
            <a:endParaRPr lang="en-IN"/>
          </a:p>
        </p:txBody>
      </p:sp>
      <p:sp>
        <p:nvSpPr>
          <p:cNvPr id="19" name="Text 16">
            <a:extLst>
              <a:ext uri="{FF2B5EF4-FFF2-40B4-BE49-F238E27FC236}">
                <a16:creationId xmlns:a16="http://schemas.microsoft.com/office/drawing/2014/main" id="{C44804DA-369D-537A-F161-AA07E495855E}"/>
              </a:ext>
            </a:extLst>
          </p:cNvPr>
          <p:cNvSpPr/>
          <p:nvPr/>
        </p:nvSpPr>
        <p:spPr>
          <a:xfrm>
            <a:off x="7754112" y="2395728"/>
            <a:ext cx="1463040" cy="55778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Table</a:t>
            </a:r>
            <a:endParaRPr lang="en-US" sz="850" dirty="0"/>
          </a:p>
          <a:p>
            <a:pPr marL="0" indent="0" algn="ctr">
              <a:buNone/>
            </a:pPr>
            <a:r>
              <a:rPr lang="en-US" sz="850" b="1" dirty="0">
                <a:solidFill>
                  <a:srgbClr val="1F2937"/>
                </a:solidFill>
              </a:rPr>
              <a:t>Module</a:t>
            </a:r>
            <a:endParaRPr lang="en-US" sz="850" dirty="0"/>
          </a:p>
        </p:txBody>
      </p:sp>
      <p:sp>
        <p:nvSpPr>
          <p:cNvPr id="20" name="Shape 17">
            <a:extLst>
              <a:ext uri="{FF2B5EF4-FFF2-40B4-BE49-F238E27FC236}">
                <a16:creationId xmlns:a16="http://schemas.microsoft.com/office/drawing/2014/main" id="{BFFE4437-ADC4-47D7-972F-9C65D27EE563}"/>
              </a:ext>
            </a:extLst>
          </p:cNvPr>
          <p:cNvSpPr/>
          <p:nvPr/>
        </p:nvSpPr>
        <p:spPr>
          <a:xfrm>
            <a:off x="7022592" y="2651760"/>
            <a:ext cx="502920" cy="1"/>
          </a:xfrm>
          <a:prstGeom prst="line">
            <a:avLst/>
          </a:prstGeom>
          <a:noFill/>
          <a:ln w="17780">
            <a:solidFill>
              <a:srgbClr val="D7E1EA"/>
            </a:solidFill>
            <a:prstDash val="solid"/>
            <a:headEnd type="none"/>
            <a:tailEnd type="triangle"/>
          </a:ln>
        </p:spPr>
        <p:txBody>
          <a:bodyPr/>
          <a:lstStyle/>
          <a:p>
            <a:endParaRPr lang="en-IN"/>
          </a:p>
        </p:txBody>
      </p:sp>
      <p:sp>
        <p:nvSpPr>
          <p:cNvPr id="21" name="Shape 18">
            <a:extLst>
              <a:ext uri="{FF2B5EF4-FFF2-40B4-BE49-F238E27FC236}">
                <a16:creationId xmlns:a16="http://schemas.microsoft.com/office/drawing/2014/main" id="{8A1D8277-2DAF-FD3E-9F00-CC4070857AA8}"/>
              </a:ext>
            </a:extLst>
          </p:cNvPr>
          <p:cNvSpPr/>
          <p:nvPr/>
        </p:nvSpPr>
        <p:spPr>
          <a:xfrm>
            <a:off x="9829800" y="2267712"/>
            <a:ext cx="1737360" cy="777240"/>
          </a:xfrm>
          <a:prstGeom prst="roundRect">
            <a:avLst>
              <a:gd name="adj" fmla="val 12941"/>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22" name="Shape 19">
            <a:extLst>
              <a:ext uri="{FF2B5EF4-FFF2-40B4-BE49-F238E27FC236}">
                <a16:creationId xmlns:a16="http://schemas.microsoft.com/office/drawing/2014/main" id="{AFE4B263-D074-64F4-B9A9-29E2962B1E4F}"/>
              </a:ext>
            </a:extLst>
          </p:cNvPr>
          <p:cNvSpPr/>
          <p:nvPr/>
        </p:nvSpPr>
        <p:spPr>
          <a:xfrm>
            <a:off x="9829800" y="2267712"/>
            <a:ext cx="91440" cy="777240"/>
          </a:xfrm>
          <a:prstGeom prst="rect">
            <a:avLst/>
          </a:prstGeom>
          <a:solidFill>
            <a:srgbClr val="E98300"/>
          </a:solidFill>
          <a:ln w="12700">
            <a:solidFill>
              <a:srgbClr val="E98300"/>
            </a:solidFill>
            <a:prstDash val="solid"/>
          </a:ln>
        </p:spPr>
        <p:txBody>
          <a:bodyPr/>
          <a:lstStyle/>
          <a:p>
            <a:endParaRPr lang="en-IN"/>
          </a:p>
        </p:txBody>
      </p:sp>
      <p:sp>
        <p:nvSpPr>
          <p:cNvPr id="23" name="Text 20">
            <a:extLst>
              <a:ext uri="{FF2B5EF4-FFF2-40B4-BE49-F238E27FC236}">
                <a16:creationId xmlns:a16="http://schemas.microsoft.com/office/drawing/2014/main" id="{A8E3BC59-58F9-2E80-1081-8CEA2280169E}"/>
              </a:ext>
            </a:extLst>
          </p:cNvPr>
          <p:cNvSpPr/>
          <p:nvPr/>
        </p:nvSpPr>
        <p:spPr>
          <a:xfrm>
            <a:off x="9994392" y="2395728"/>
            <a:ext cx="1463040" cy="557784"/>
          </a:xfrm>
          <a:prstGeom prst="rect">
            <a:avLst/>
          </a:prstGeom>
          <a:noFill/>
          <a:ln/>
        </p:spPr>
        <p:txBody>
          <a:bodyPr wrap="square" lIns="254" tIns="254" rIns="254" bIns="254" rtlCol="0" anchor="ctr">
            <a:normAutofit/>
          </a:bodyPr>
          <a:lstStyle/>
          <a:p>
            <a:pPr marL="0" indent="0" algn="ctr">
              <a:buNone/>
            </a:pPr>
            <a:r>
              <a:rPr lang="en-US" sz="850" b="1" dirty="0">
                <a:solidFill>
                  <a:srgbClr val="1F2937"/>
                </a:solidFill>
              </a:rPr>
              <a:t>Download</a:t>
            </a:r>
            <a:endParaRPr lang="en-US" sz="850" dirty="0"/>
          </a:p>
          <a:p>
            <a:pPr marL="0" indent="0" algn="ctr">
              <a:buNone/>
            </a:pPr>
            <a:r>
              <a:rPr lang="en-US" sz="850" b="1" dirty="0">
                <a:solidFill>
                  <a:srgbClr val="1F2937"/>
                </a:solidFill>
              </a:rPr>
              <a:t>Module</a:t>
            </a:r>
            <a:endParaRPr lang="en-US" sz="850" dirty="0"/>
          </a:p>
        </p:txBody>
      </p:sp>
      <p:sp>
        <p:nvSpPr>
          <p:cNvPr id="24" name="Shape 21">
            <a:extLst>
              <a:ext uri="{FF2B5EF4-FFF2-40B4-BE49-F238E27FC236}">
                <a16:creationId xmlns:a16="http://schemas.microsoft.com/office/drawing/2014/main" id="{3269B2D4-8E91-02A2-26FF-5C02C5CBB6FC}"/>
              </a:ext>
            </a:extLst>
          </p:cNvPr>
          <p:cNvSpPr/>
          <p:nvPr/>
        </p:nvSpPr>
        <p:spPr>
          <a:xfrm>
            <a:off x="9262872" y="2651760"/>
            <a:ext cx="502920" cy="1"/>
          </a:xfrm>
          <a:prstGeom prst="line">
            <a:avLst/>
          </a:prstGeom>
          <a:noFill/>
          <a:ln w="17780">
            <a:solidFill>
              <a:srgbClr val="D7E1EA"/>
            </a:solidFill>
            <a:prstDash val="solid"/>
            <a:headEnd type="none"/>
            <a:tailEnd type="triangle"/>
          </a:ln>
        </p:spPr>
        <p:txBody>
          <a:bodyPr/>
          <a:lstStyle/>
          <a:p>
            <a:endParaRPr lang="en-IN"/>
          </a:p>
        </p:txBody>
      </p:sp>
      <p:sp>
        <p:nvSpPr>
          <p:cNvPr id="25" name="Shape 22">
            <a:extLst>
              <a:ext uri="{FF2B5EF4-FFF2-40B4-BE49-F238E27FC236}">
                <a16:creationId xmlns:a16="http://schemas.microsoft.com/office/drawing/2014/main" id="{D31CBFAA-DAE0-C267-31B4-B2DBD8F3E4DC}"/>
              </a:ext>
            </a:extLst>
          </p:cNvPr>
          <p:cNvSpPr/>
          <p:nvPr/>
        </p:nvSpPr>
        <p:spPr>
          <a:xfrm>
            <a:off x="4069080" y="4160520"/>
            <a:ext cx="3931920" cy="731520"/>
          </a:xfrm>
          <a:prstGeom prst="roundRect">
            <a:avLst>
              <a:gd name="adj" fmla="val 13750"/>
            </a:avLst>
          </a:prstGeom>
          <a:solidFill>
            <a:srgbClr val="FFFFFF"/>
          </a:solidFill>
          <a:ln w="15240">
            <a:solidFill>
              <a:srgbClr val="0B2E4A"/>
            </a:solidFill>
            <a:prstDash val="solid"/>
          </a:ln>
          <a:effectLst>
            <a:outerShdw blurRad="12700" dist="8890" dir="2700000" algn="bl" rotWithShape="0">
              <a:srgbClr val="000000">
                <a:alpha val="10000"/>
              </a:srgbClr>
            </a:outerShdw>
          </a:effectLst>
        </p:spPr>
        <p:txBody>
          <a:bodyPr/>
          <a:lstStyle/>
          <a:p>
            <a:endParaRPr lang="en-IN"/>
          </a:p>
        </p:txBody>
      </p:sp>
      <p:sp>
        <p:nvSpPr>
          <p:cNvPr id="26" name="Shape 23">
            <a:extLst>
              <a:ext uri="{FF2B5EF4-FFF2-40B4-BE49-F238E27FC236}">
                <a16:creationId xmlns:a16="http://schemas.microsoft.com/office/drawing/2014/main" id="{F0D8ABA8-D7E3-3CF4-9F71-7C4CE8C1535F}"/>
              </a:ext>
            </a:extLst>
          </p:cNvPr>
          <p:cNvSpPr/>
          <p:nvPr/>
        </p:nvSpPr>
        <p:spPr>
          <a:xfrm>
            <a:off x="4069080" y="4160520"/>
            <a:ext cx="91440" cy="731520"/>
          </a:xfrm>
          <a:prstGeom prst="rect">
            <a:avLst/>
          </a:prstGeom>
          <a:solidFill>
            <a:srgbClr val="0B2E4A"/>
          </a:solidFill>
          <a:ln w="12700">
            <a:solidFill>
              <a:srgbClr val="0B2E4A"/>
            </a:solidFill>
            <a:prstDash val="solid"/>
          </a:ln>
        </p:spPr>
        <p:txBody>
          <a:bodyPr/>
          <a:lstStyle/>
          <a:p>
            <a:endParaRPr lang="en-IN"/>
          </a:p>
        </p:txBody>
      </p:sp>
      <p:sp>
        <p:nvSpPr>
          <p:cNvPr id="27" name="Text 24">
            <a:extLst>
              <a:ext uri="{FF2B5EF4-FFF2-40B4-BE49-F238E27FC236}">
                <a16:creationId xmlns:a16="http://schemas.microsoft.com/office/drawing/2014/main" id="{4886FED0-66AC-9162-86B7-977B5CC81E88}"/>
              </a:ext>
            </a:extLst>
          </p:cNvPr>
          <p:cNvSpPr/>
          <p:nvPr/>
        </p:nvSpPr>
        <p:spPr>
          <a:xfrm>
            <a:off x="4233672" y="4288536"/>
            <a:ext cx="3657600" cy="512064"/>
          </a:xfrm>
          <a:prstGeom prst="rect">
            <a:avLst/>
          </a:prstGeom>
          <a:noFill/>
          <a:ln/>
        </p:spPr>
        <p:txBody>
          <a:bodyPr wrap="square" lIns="254" tIns="254" rIns="254" bIns="254" rtlCol="0" anchor="ctr">
            <a:normAutofit/>
          </a:bodyPr>
          <a:lstStyle/>
          <a:p>
            <a:pPr marL="0" indent="0" algn="ctr">
              <a:buNone/>
            </a:pPr>
            <a:r>
              <a:rPr lang="en-US" sz="1100" b="1" dirty="0">
                <a:solidFill>
                  <a:srgbClr val="1F2937"/>
                </a:solidFill>
              </a:rPr>
              <a:t>Shared Reactive Dataset</a:t>
            </a:r>
            <a:endParaRPr lang="en-US" sz="1100" dirty="0"/>
          </a:p>
        </p:txBody>
      </p:sp>
      <p:sp>
        <p:nvSpPr>
          <p:cNvPr id="28" name="Shape 25">
            <a:extLst>
              <a:ext uri="{FF2B5EF4-FFF2-40B4-BE49-F238E27FC236}">
                <a16:creationId xmlns:a16="http://schemas.microsoft.com/office/drawing/2014/main" id="{786D71B2-313B-5173-77C8-195D97D51CEF}"/>
              </a:ext>
            </a:extLst>
          </p:cNvPr>
          <p:cNvSpPr/>
          <p:nvPr/>
        </p:nvSpPr>
        <p:spPr>
          <a:xfrm>
            <a:off x="1737360" y="3081528"/>
            <a:ext cx="4297680" cy="1033272"/>
          </a:xfrm>
          <a:prstGeom prst="line">
            <a:avLst/>
          </a:prstGeom>
          <a:noFill/>
          <a:ln w="15240">
            <a:solidFill>
              <a:srgbClr val="0B5CAB"/>
            </a:solidFill>
            <a:prstDash val="solid"/>
            <a:headEnd type="none"/>
            <a:tailEnd type="triangle"/>
          </a:ln>
        </p:spPr>
        <p:txBody>
          <a:bodyPr/>
          <a:lstStyle/>
          <a:p>
            <a:endParaRPr lang="en-IN"/>
          </a:p>
        </p:txBody>
      </p:sp>
      <p:sp>
        <p:nvSpPr>
          <p:cNvPr id="29" name="Shape 26">
            <a:extLst>
              <a:ext uri="{FF2B5EF4-FFF2-40B4-BE49-F238E27FC236}">
                <a16:creationId xmlns:a16="http://schemas.microsoft.com/office/drawing/2014/main" id="{F8967F83-C75B-87FB-D6E4-61D146E98BAA}"/>
              </a:ext>
            </a:extLst>
          </p:cNvPr>
          <p:cNvSpPr/>
          <p:nvPr/>
        </p:nvSpPr>
        <p:spPr>
          <a:xfrm>
            <a:off x="3977640" y="3081528"/>
            <a:ext cx="2057400" cy="1033272"/>
          </a:xfrm>
          <a:prstGeom prst="line">
            <a:avLst/>
          </a:prstGeom>
          <a:noFill/>
          <a:ln w="15240">
            <a:solidFill>
              <a:srgbClr val="2E8B57"/>
            </a:solidFill>
            <a:prstDash val="solid"/>
            <a:headEnd type="none"/>
            <a:tailEnd type="triangle"/>
          </a:ln>
        </p:spPr>
        <p:txBody>
          <a:bodyPr/>
          <a:lstStyle/>
          <a:p>
            <a:endParaRPr lang="en-IN"/>
          </a:p>
        </p:txBody>
      </p:sp>
      <p:sp>
        <p:nvSpPr>
          <p:cNvPr id="30" name="Shape 27">
            <a:extLst>
              <a:ext uri="{FF2B5EF4-FFF2-40B4-BE49-F238E27FC236}">
                <a16:creationId xmlns:a16="http://schemas.microsoft.com/office/drawing/2014/main" id="{96D404C9-AA87-F884-B720-52E2F3C84F46}"/>
              </a:ext>
            </a:extLst>
          </p:cNvPr>
          <p:cNvSpPr/>
          <p:nvPr/>
        </p:nvSpPr>
        <p:spPr>
          <a:xfrm flipH="1">
            <a:off x="6035040" y="3081528"/>
            <a:ext cx="182880" cy="1033272"/>
          </a:xfrm>
          <a:prstGeom prst="line">
            <a:avLst/>
          </a:prstGeom>
          <a:noFill/>
          <a:ln w="15240">
            <a:solidFill>
              <a:srgbClr val="6F49B8"/>
            </a:solidFill>
            <a:prstDash val="solid"/>
            <a:headEnd type="none"/>
            <a:tailEnd type="triangle"/>
          </a:ln>
        </p:spPr>
        <p:txBody>
          <a:bodyPr/>
          <a:lstStyle/>
          <a:p>
            <a:endParaRPr lang="en-IN"/>
          </a:p>
        </p:txBody>
      </p:sp>
      <p:sp>
        <p:nvSpPr>
          <p:cNvPr id="31" name="Shape 28">
            <a:extLst>
              <a:ext uri="{FF2B5EF4-FFF2-40B4-BE49-F238E27FC236}">
                <a16:creationId xmlns:a16="http://schemas.microsoft.com/office/drawing/2014/main" id="{8C40BB22-2A88-8A44-8587-BE569C300CE0}"/>
              </a:ext>
            </a:extLst>
          </p:cNvPr>
          <p:cNvSpPr/>
          <p:nvPr/>
        </p:nvSpPr>
        <p:spPr>
          <a:xfrm flipH="1">
            <a:off x="6035040" y="3081528"/>
            <a:ext cx="2423160" cy="1033272"/>
          </a:xfrm>
          <a:prstGeom prst="line">
            <a:avLst/>
          </a:prstGeom>
          <a:noFill/>
          <a:ln w="15240">
            <a:solidFill>
              <a:srgbClr val="008A8A"/>
            </a:solidFill>
            <a:prstDash val="solid"/>
            <a:headEnd type="none"/>
            <a:tailEnd type="triangle"/>
          </a:ln>
        </p:spPr>
        <p:txBody>
          <a:bodyPr/>
          <a:lstStyle/>
          <a:p>
            <a:endParaRPr lang="en-IN"/>
          </a:p>
        </p:txBody>
      </p:sp>
      <p:sp>
        <p:nvSpPr>
          <p:cNvPr id="32" name="Shape 29">
            <a:extLst>
              <a:ext uri="{FF2B5EF4-FFF2-40B4-BE49-F238E27FC236}">
                <a16:creationId xmlns:a16="http://schemas.microsoft.com/office/drawing/2014/main" id="{515B66D9-F769-2E78-9A27-E3E9B308D2B1}"/>
              </a:ext>
            </a:extLst>
          </p:cNvPr>
          <p:cNvSpPr/>
          <p:nvPr/>
        </p:nvSpPr>
        <p:spPr>
          <a:xfrm flipH="1">
            <a:off x="6035040" y="3081528"/>
            <a:ext cx="4663440" cy="1033272"/>
          </a:xfrm>
          <a:prstGeom prst="line">
            <a:avLst/>
          </a:prstGeom>
          <a:noFill/>
          <a:ln w="15240">
            <a:solidFill>
              <a:srgbClr val="E98300"/>
            </a:solidFill>
            <a:prstDash val="solid"/>
            <a:headEnd type="none"/>
            <a:tailEnd type="triangle"/>
          </a:ln>
        </p:spPr>
        <p:txBody>
          <a:bodyPr/>
          <a:lstStyle/>
          <a:p>
            <a:endParaRPr lang="en-IN"/>
          </a:p>
        </p:txBody>
      </p:sp>
      <p:sp>
        <p:nvSpPr>
          <p:cNvPr id="33" name="Slide Number Placeholder 0">
            <a:extLst>
              <a:ext uri="{FF2B5EF4-FFF2-40B4-BE49-F238E27FC236}">
                <a16:creationId xmlns:a16="http://schemas.microsoft.com/office/drawing/2014/main" id="{4BCD2D51-7072-95DE-9BE3-5452F3B2A802}"/>
              </a:ext>
            </a:extLst>
          </p:cNvPr>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18</a:t>
            </a:fld>
            <a:endParaRPr lang="en-US"/>
          </a:p>
        </p:txBody>
      </p:sp>
      <p:graphicFrame>
        <p:nvGraphicFramePr>
          <p:cNvPr id="35" name="Object 34">
            <a:extLst>
              <a:ext uri="{FF2B5EF4-FFF2-40B4-BE49-F238E27FC236}">
                <a16:creationId xmlns:a16="http://schemas.microsoft.com/office/drawing/2014/main" id="{C5A54C85-B14D-1E5F-5DD4-EFC8DF6B6A42}"/>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extLst>
      <p:ext uri="{BB962C8B-B14F-4D97-AF65-F5344CB8AC3E}">
        <p14:creationId xmlns:p14="http://schemas.microsoft.com/office/powerpoint/2010/main" val="4041590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sp>
        <p:nvSpPr>
          <p:cNvPr id="2" name="Text 0"/>
          <p:cNvSpPr/>
          <p:nvPr/>
        </p:nvSpPr>
        <p:spPr>
          <a:xfrm>
            <a:off x="384048" y="310896"/>
            <a:ext cx="8412480" cy="347472"/>
          </a:xfrm>
          <a:prstGeom prst="rect">
            <a:avLst/>
          </a:prstGeom>
          <a:noFill/>
          <a:ln/>
        </p:spPr>
        <p:txBody>
          <a:bodyPr wrap="square" lIns="0" tIns="0" rIns="0" bIns="0" rtlCol="0" anchor="ctr"/>
          <a:lstStyle/>
          <a:p>
            <a:pPr marL="0" indent="0">
              <a:buNone/>
            </a:pPr>
            <a:r>
              <a:rPr lang="en-US" sz="2200" b="1" dirty="0">
                <a:solidFill>
                  <a:srgbClr val="0B2E4A"/>
                </a:solidFill>
                <a:latin typeface="Aptos Display" pitchFamily="34" charset="0"/>
                <a:ea typeface="Aptos Display" pitchFamily="34" charset="-122"/>
                <a:cs typeface="Aptos Display" pitchFamily="34" charset="-120"/>
              </a:rPr>
              <a:t>Project structure diagram</a:t>
            </a:r>
            <a:endParaRPr lang="en-US" sz="2200" dirty="0"/>
          </a:p>
        </p:txBody>
      </p:sp>
      <p:sp>
        <p:nvSpPr>
          <p:cNvPr id="3" name="Text 1"/>
          <p:cNvSpPr/>
          <p:nvPr/>
        </p:nvSpPr>
        <p:spPr>
          <a:xfrm>
            <a:off x="402336" y="713232"/>
            <a:ext cx="10881360" cy="237744"/>
          </a:xfrm>
          <a:prstGeom prst="rect">
            <a:avLst/>
          </a:prstGeom>
          <a:noFill/>
          <a:ln/>
        </p:spPr>
        <p:txBody>
          <a:bodyPr wrap="square" lIns="0" tIns="0" rIns="0" bIns="0" rtlCol="0" anchor="ctr"/>
          <a:lstStyle/>
          <a:p>
            <a:pPr marL="0" indent="0">
              <a:buNone/>
            </a:pPr>
            <a:r>
              <a:rPr lang="en-US" sz="920" dirty="0">
                <a:solidFill>
                  <a:srgbClr val="64748B"/>
                </a:solidFill>
              </a:rPr>
              <a:t>Manual concept: a production-style app separates modules, data, and static assets.</a:t>
            </a:r>
            <a:endParaRPr lang="en-US" sz="920" dirty="0"/>
          </a:p>
        </p:txBody>
      </p:sp>
      <p:sp>
        <p:nvSpPr>
          <p:cNvPr id="4" name="Shape 2"/>
          <p:cNvSpPr/>
          <p:nvPr/>
        </p:nvSpPr>
        <p:spPr>
          <a:xfrm>
            <a:off x="402336" y="987552"/>
            <a:ext cx="11384280" cy="1"/>
          </a:xfrm>
          <a:prstGeom prst="line">
            <a:avLst/>
          </a:prstGeom>
          <a:noFill/>
          <a:ln w="12700">
            <a:solidFill>
              <a:srgbClr val="D7E1EA"/>
            </a:solidFill>
            <a:prstDash val="solid"/>
          </a:ln>
        </p:spPr>
        <p:txBody>
          <a:bodyPr/>
          <a:lstStyle/>
          <a:p>
            <a:endParaRPr lang="en-IN"/>
          </a:p>
        </p:txBody>
      </p:sp>
      <p:sp>
        <p:nvSpPr>
          <p:cNvPr id="5" name="Shape 3"/>
          <p:cNvSpPr/>
          <p:nvPr/>
        </p:nvSpPr>
        <p:spPr>
          <a:xfrm>
            <a:off x="822960" y="1325880"/>
            <a:ext cx="10241280" cy="640080"/>
          </a:xfrm>
          <a:prstGeom prst="roundRect">
            <a:avLst>
              <a:gd name="adj" fmla="val 15714"/>
            </a:avLst>
          </a:prstGeom>
          <a:solidFill>
            <a:srgbClr val="FFFFFF"/>
          </a:solidFill>
          <a:ln w="15240">
            <a:solidFill>
              <a:srgbClr val="0B2E4A"/>
            </a:solidFill>
            <a:prstDash val="solid"/>
          </a:ln>
          <a:effectLst>
            <a:outerShdw blurRad="12700" dist="8890" dir="2700000" algn="bl" rotWithShape="0">
              <a:srgbClr val="000000">
                <a:alpha val="10000"/>
              </a:srgbClr>
            </a:outerShdw>
          </a:effectLst>
        </p:spPr>
        <p:txBody>
          <a:bodyPr/>
          <a:lstStyle/>
          <a:p>
            <a:endParaRPr lang="en-IN"/>
          </a:p>
        </p:txBody>
      </p:sp>
      <p:sp>
        <p:nvSpPr>
          <p:cNvPr id="6" name="Shape 4"/>
          <p:cNvSpPr/>
          <p:nvPr/>
        </p:nvSpPr>
        <p:spPr>
          <a:xfrm>
            <a:off x="822960" y="1325880"/>
            <a:ext cx="91440" cy="640080"/>
          </a:xfrm>
          <a:prstGeom prst="rect">
            <a:avLst/>
          </a:prstGeom>
          <a:solidFill>
            <a:srgbClr val="0B2E4A"/>
          </a:solidFill>
          <a:ln w="12700">
            <a:solidFill>
              <a:srgbClr val="0B2E4A"/>
            </a:solidFill>
            <a:prstDash val="solid"/>
          </a:ln>
        </p:spPr>
        <p:txBody>
          <a:bodyPr/>
          <a:lstStyle/>
          <a:p>
            <a:endParaRPr lang="en-IN"/>
          </a:p>
        </p:txBody>
      </p:sp>
      <p:sp>
        <p:nvSpPr>
          <p:cNvPr id="7" name="Text 5"/>
          <p:cNvSpPr/>
          <p:nvPr/>
        </p:nvSpPr>
        <p:spPr>
          <a:xfrm>
            <a:off x="987552" y="1453896"/>
            <a:ext cx="9829800" cy="420624"/>
          </a:xfrm>
          <a:prstGeom prst="rect">
            <a:avLst/>
          </a:prstGeom>
          <a:noFill/>
          <a:ln/>
        </p:spPr>
        <p:txBody>
          <a:bodyPr wrap="square" lIns="254" tIns="254" rIns="254" bIns="254" rtlCol="0" anchor="ctr">
            <a:normAutofit/>
          </a:bodyPr>
          <a:lstStyle/>
          <a:p>
            <a:pPr marL="0" indent="0" algn="ctr">
              <a:buNone/>
            </a:pPr>
            <a:r>
              <a:rPr lang="en-US" sz="2000" b="1" dirty="0">
                <a:solidFill>
                  <a:srgbClr val="1F2937"/>
                </a:solidFill>
              </a:rPr>
              <a:t>Project</a:t>
            </a:r>
            <a:endParaRPr lang="en-US" sz="2000" dirty="0"/>
          </a:p>
        </p:txBody>
      </p:sp>
      <p:sp>
        <p:nvSpPr>
          <p:cNvPr id="8" name="Shape 6"/>
          <p:cNvSpPr/>
          <p:nvPr/>
        </p:nvSpPr>
        <p:spPr>
          <a:xfrm>
            <a:off x="822960" y="2331720"/>
            <a:ext cx="1920240" cy="566928"/>
          </a:xfrm>
          <a:prstGeom prst="roundRect">
            <a:avLst>
              <a:gd name="adj" fmla="val 17742"/>
            </a:avLst>
          </a:prstGeom>
          <a:solidFill>
            <a:srgbClr val="FFFFFF"/>
          </a:solidFill>
          <a:ln w="15240">
            <a:solidFill>
              <a:srgbClr val="0B5CAB"/>
            </a:solidFill>
            <a:prstDash val="solid"/>
          </a:ln>
          <a:effectLst>
            <a:outerShdw blurRad="12700" dist="8890" dir="2700000" algn="bl" rotWithShape="0">
              <a:srgbClr val="000000">
                <a:alpha val="10000"/>
              </a:srgbClr>
            </a:outerShdw>
          </a:effectLst>
        </p:spPr>
        <p:txBody>
          <a:bodyPr/>
          <a:lstStyle/>
          <a:p>
            <a:endParaRPr lang="en-IN"/>
          </a:p>
        </p:txBody>
      </p:sp>
      <p:sp>
        <p:nvSpPr>
          <p:cNvPr id="9" name="Shape 7"/>
          <p:cNvSpPr/>
          <p:nvPr/>
        </p:nvSpPr>
        <p:spPr>
          <a:xfrm>
            <a:off x="822960" y="2331720"/>
            <a:ext cx="91440" cy="566928"/>
          </a:xfrm>
          <a:prstGeom prst="rect">
            <a:avLst/>
          </a:prstGeom>
          <a:solidFill>
            <a:srgbClr val="0B5CAB"/>
          </a:solidFill>
          <a:ln w="12700">
            <a:solidFill>
              <a:srgbClr val="0B5CAB"/>
            </a:solidFill>
            <a:prstDash val="solid"/>
          </a:ln>
        </p:spPr>
        <p:txBody>
          <a:bodyPr/>
          <a:lstStyle/>
          <a:p>
            <a:endParaRPr lang="en-IN"/>
          </a:p>
        </p:txBody>
      </p:sp>
      <p:sp>
        <p:nvSpPr>
          <p:cNvPr id="10" name="Text 8"/>
          <p:cNvSpPr/>
          <p:nvPr/>
        </p:nvSpPr>
        <p:spPr>
          <a:xfrm>
            <a:off x="987552" y="2459736"/>
            <a:ext cx="1645920" cy="347472"/>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app.R</a:t>
            </a:r>
            <a:endParaRPr lang="en-US" sz="1050" dirty="0"/>
          </a:p>
        </p:txBody>
      </p:sp>
      <p:sp>
        <p:nvSpPr>
          <p:cNvPr id="11" name="Shape 9"/>
          <p:cNvSpPr/>
          <p:nvPr/>
        </p:nvSpPr>
        <p:spPr>
          <a:xfrm>
            <a:off x="3520440" y="2331720"/>
            <a:ext cx="1920240" cy="566928"/>
          </a:xfrm>
          <a:prstGeom prst="roundRect">
            <a:avLst>
              <a:gd name="adj" fmla="val 17742"/>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12" name="Shape 10"/>
          <p:cNvSpPr/>
          <p:nvPr/>
        </p:nvSpPr>
        <p:spPr>
          <a:xfrm>
            <a:off x="3520440" y="2331720"/>
            <a:ext cx="91440" cy="566928"/>
          </a:xfrm>
          <a:prstGeom prst="rect">
            <a:avLst/>
          </a:prstGeom>
          <a:solidFill>
            <a:srgbClr val="008A8A"/>
          </a:solidFill>
          <a:ln w="12700">
            <a:solidFill>
              <a:srgbClr val="008A8A"/>
            </a:solidFill>
            <a:prstDash val="solid"/>
          </a:ln>
        </p:spPr>
        <p:txBody>
          <a:bodyPr/>
          <a:lstStyle/>
          <a:p>
            <a:endParaRPr lang="en-IN"/>
          </a:p>
        </p:txBody>
      </p:sp>
      <p:sp>
        <p:nvSpPr>
          <p:cNvPr id="13" name="Text 11"/>
          <p:cNvSpPr/>
          <p:nvPr/>
        </p:nvSpPr>
        <p:spPr>
          <a:xfrm>
            <a:off x="3685032" y="2459736"/>
            <a:ext cx="1645920" cy="347472"/>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modules/</a:t>
            </a:r>
            <a:endParaRPr lang="en-US" sz="1050" dirty="0"/>
          </a:p>
        </p:txBody>
      </p:sp>
      <p:sp>
        <p:nvSpPr>
          <p:cNvPr id="14" name="Shape 12"/>
          <p:cNvSpPr/>
          <p:nvPr/>
        </p:nvSpPr>
        <p:spPr>
          <a:xfrm>
            <a:off x="6400800" y="2331720"/>
            <a:ext cx="1920240" cy="566928"/>
          </a:xfrm>
          <a:prstGeom prst="roundRect">
            <a:avLst>
              <a:gd name="adj" fmla="val 17742"/>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15" name="Shape 13"/>
          <p:cNvSpPr/>
          <p:nvPr/>
        </p:nvSpPr>
        <p:spPr>
          <a:xfrm>
            <a:off x="6400800" y="2331720"/>
            <a:ext cx="91440" cy="566928"/>
          </a:xfrm>
          <a:prstGeom prst="rect">
            <a:avLst/>
          </a:prstGeom>
          <a:solidFill>
            <a:srgbClr val="2E8B57"/>
          </a:solidFill>
          <a:ln w="12700">
            <a:solidFill>
              <a:srgbClr val="2E8B57"/>
            </a:solidFill>
            <a:prstDash val="solid"/>
          </a:ln>
        </p:spPr>
        <p:txBody>
          <a:bodyPr/>
          <a:lstStyle/>
          <a:p>
            <a:endParaRPr lang="en-IN"/>
          </a:p>
        </p:txBody>
      </p:sp>
      <p:sp>
        <p:nvSpPr>
          <p:cNvPr id="16" name="Text 14"/>
          <p:cNvSpPr/>
          <p:nvPr/>
        </p:nvSpPr>
        <p:spPr>
          <a:xfrm>
            <a:off x="6565392" y="2459736"/>
            <a:ext cx="1645920" cy="347472"/>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data/</a:t>
            </a:r>
            <a:endParaRPr lang="en-US" sz="1050" dirty="0"/>
          </a:p>
        </p:txBody>
      </p:sp>
      <p:sp>
        <p:nvSpPr>
          <p:cNvPr id="17" name="Shape 15"/>
          <p:cNvSpPr/>
          <p:nvPr/>
        </p:nvSpPr>
        <p:spPr>
          <a:xfrm>
            <a:off x="9144000" y="2331720"/>
            <a:ext cx="1920240" cy="566928"/>
          </a:xfrm>
          <a:prstGeom prst="roundRect">
            <a:avLst>
              <a:gd name="adj" fmla="val 17742"/>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18" name="Shape 16"/>
          <p:cNvSpPr/>
          <p:nvPr/>
        </p:nvSpPr>
        <p:spPr>
          <a:xfrm>
            <a:off x="9144000" y="2331720"/>
            <a:ext cx="91440" cy="566928"/>
          </a:xfrm>
          <a:prstGeom prst="rect">
            <a:avLst/>
          </a:prstGeom>
          <a:solidFill>
            <a:srgbClr val="E98300"/>
          </a:solidFill>
          <a:ln w="12700">
            <a:solidFill>
              <a:srgbClr val="E98300"/>
            </a:solidFill>
            <a:prstDash val="solid"/>
          </a:ln>
        </p:spPr>
        <p:txBody>
          <a:bodyPr/>
          <a:lstStyle/>
          <a:p>
            <a:endParaRPr lang="en-IN"/>
          </a:p>
        </p:txBody>
      </p:sp>
      <p:sp>
        <p:nvSpPr>
          <p:cNvPr id="19" name="Text 17"/>
          <p:cNvSpPr/>
          <p:nvPr/>
        </p:nvSpPr>
        <p:spPr>
          <a:xfrm>
            <a:off x="9308592" y="2459736"/>
            <a:ext cx="1645920" cy="347472"/>
          </a:xfrm>
          <a:prstGeom prst="rect">
            <a:avLst/>
          </a:prstGeom>
          <a:noFill/>
          <a:ln/>
        </p:spPr>
        <p:txBody>
          <a:bodyPr wrap="square" lIns="254" tIns="254" rIns="254" bIns="254" rtlCol="0" anchor="ctr">
            <a:normAutofit/>
          </a:bodyPr>
          <a:lstStyle/>
          <a:p>
            <a:pPr marL="0" indent="0" algn="ctr">
              <a:buNone/>
            </a:pPr>
            <a:r>
              <a:rPr lang="en-US" sz="1050" b="1" dirty="0">
                <a:solidFill>
                  <a:srgbClr val="1F2937"/>
                </a:solidFill>
              </a:rPr>
              <a:t>www/</a:t>
            </a:r>
            <a:endParaRPr lang="en-US" sz="1050" dirty="0"/>
          </a:p>
        </p:txBody>
      </p:sp>
      <p:sp>
        <p:nvSpPr>
          <p:cNvPr id="20" name="Shape 18"/>
          <p:cNvSpPr/>
          <p:nvPr/>
        </p:nvSpPr>
        <p:spPr>
          <a:xfrm>
            <a:off x="1783080" y="1965960"/>
            <a:ext cx="1" cy="320040"/>
          </a:xfrm>
          <a:prstGeom prst="line">
            <a:avLst/>
          </a:prstGeom>
          <a:noFill/>
          <a:ln w="25400">
            <a:solidFill>
              <a:srgbClr val="D7E1EA"/>
            </a:solidFill>
            <a:prstDash val="solid"/>
            <a:headEnd type="none"/>
            <a:tailEnd type="triangle"/>
          </a:ln>
        </p:spPr>
        <p:txBody>
          <a:bodyPr/>
          <a:lstStyle/>
          <a:p>
            <a:endParaRPr lang="en-IN"/>
          </a:p>
        </p:txBody>
      </p:sp>
      <p:sp>
        <p:nvSpPr>
          <p:cNvPr id="24" name="Shape 22"/>
          <p:cNvSpPr/>
          <p:nvPr/>
        </p:nvSpPr>
        <p:spPr>
          <a:xfrm>
            <a:off x="3611880" y="3154680"/>
            <a:ext cx="1737360" cy="310896"/>
          </a:xfrm>
          <a:prstGeom prst="roundRect">
            <a:avLst>
              <a:gd name="adj" fmla="val 32353"/>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25" name="Shape 23"/>
          <p:cNvSpPr/>
          <p:nvPr/>
        </p:nvSpPr>
        <p:spPr>
          <a:xfrm>
            <a:off x="3611880" y="3154680"/>
            <a:ext cx="91440" cy="310896"/>
          </a:xfrm>
          <a:prstGeom prst="rect">
            <a:avLst/>
          </a:prstGeom>
          <a:solidFill>
            <a:srgbClr val="008A8A"/>
          </a:solidFill>
          <a:ln w="12700">
            <a:solidFill>
              <a:srgbClr val="008A8A"/>
            </a:solidFill>
            <a:prstDash val="solid"/>
          </a:ln>
        </p:spPr>
        <p:txBody>
          <a:bodyPr/>
          <a:lstStyle/>
          <a:p>
            <a:endParaRPr lang="en-IN"/>
          </a:p>
        </p:txBody>
      </p:sp>
      <p:sp>
        <p:nvSpPr>
          <p:cNvPr id="26" name="Text 24"/>
          <p:cNvSpPr/>
          <p:nvPr/>
        </p:nvSpPr>
        <p:spPr>
          <a:xfrm>
            <a:off x="3776472" y="3282696"/>
            <a:ext cx="1463040" cy="91440"/>
          </a:xfrm>
          <a:prstGeom prst="rect">
            <a:avLst/>
          </a:prstGeom>
          <a:noFill/>
          <a:ln/>
        </p:spPr>
        <p:txBody>
          <a:bodyPr wrap="square" lIns="254" tIns="254" rIns="254" bIns="254" rtlCol="0" anchor="ctr">
            <a:normAutofit fontScale="85000" lnSpcReduction="20000"/>
          </a:bodyPr>
          <a:lstStyle/>
          <a:p>
            <a:pPr marL="0" indent="0" algn="ctr">
              <a:buNone/>
            </a:pPr>
            <a:r>
              <a:rPr lang="en-US" sz="880" b="1" dirty="0">
                <a:solidFill>
                  <a:srgbClr val="1F2937"/>
                </a:solidFill>
              </a:rPr>
              <a:t>filters.R</a:t>
            </a:r>
            <a:endParaRPr lang="en-US" sz="880" dirty="0"/>
          </a:p>
        </p:txBody>
      </p:sp>
      <p:sp>
        <p:nvSpPr>
          <p:cNvPr id="27" name="Shape 25"/>
          <p:cNvSpPr/>
          <p:nvPr/>
        </p:nvSpPr>
        <p:spPr>
          <a:xfrm>
            <a:off x="3611880" y="3657600"/>
            <a:ext cx="1737360" cy="310896"/>
          </a:xfrm>
          <a:prstGeom prst="roundRect">
            <a:avLst>
              <a:gd name="adj" fmla="val 32353"/>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28" name="Shape 26"/>
          <p:cNvSpPr/>
          <p:nvPr/>
        </p:nvSpPr>
        <p:spPr>
          <a:xfrm>
            <a:off x="3611880" y="3657600"/>
            <a:ext cx="91440" cy="310896"/>
          </a:xfrm>
          <a:prstGeom prst="rect">
            <a:avLst/>
          </a:prstGeom>
          <a:solidFill>
            <a:srgbClr val="008A8A"/>
          </a:solidFill>
          <a:ln w="12700">
            <a:solidFill>
              <a:srgbClr val="008A8A"/>
            </a:solidFill>
            <a:prstDash val="solid"/>
          </a:ln>
        </p:spPr>
        <p:txBody>
          <a:bodyPr/>
          <a:lstStyle/>
          <a:p>
            <a:endParaRPr lang="en-IN"/>
          </a:p>
        </p:txBody>
      </p:sp>
      <p:sp>
        <p:nvSpPr>
          <p:cNvPr id="29" name="Text 27"/>
          <p:cNvSpPr/>
          <p:nvPr/>
        </p:nvSpPr>
        <p:spPr>
          <a:xfrm>
            <a:off x="3776472" y="3785616"/>
            <a:ext cx="1463040" cy="91440"/>
          </a:xfrm>
          <a:prstGeom prst="rect">
            <a:avLst/>
          </a:prstGeom>
          <a:noFill/>
          <a:ln/>
        </p:spPr>
        <p:txBody>
          <a:bodyPr wrap="square" lIns="254" tIns="254" rIns="254" bIns="254" rtlCol="0" anchor="ctr">
            <a:normAutofit fontScale="85000" lnSpcReduction="20000"/>
          </a:bodyPr>
          <a:lstStyle/>
          <a:p>
            <a:pPr marL="0" indent="0" algn="ctr">
              <a:buNone/>
            </a:pPr>
            <a:r>
              <a:rPr lang="en-US" sz="880" b="1" dirty="0">
                <a:solidFill>
                  <a:srgbClr val="1F2937"/>
                </a:solidFill>
              </a:rPr>
              <a:t>metrics.R</a:t>
            </a:r>
            <a:endParaRPr lang="en-US" sz="880" dirty="0"/>
          </a:p>
        </p:txBody>
      </p:sp>
      <p:sp>
        <p:nvSpPr>
          <p:cNvPr id="30" name="Shape 28"/>
          <p:cNvSpPr/>
          <p:nvPr/>
        </p:nvSpPr>
        <p:spPr>
          <a:xfrm>
            <a:off x="3611880" y="4160520"/>
            <a:ext cx="1737360" cy="310896"/>
          </a:xfrm>
          <a:prstGeom prst="roundRect">
            <a:avLst>
              <a:gd name="adj" fmla="val 32353"/>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31" name="Shape 29"/>
          <p:cNvSpPr/>
          <p:nvPr/>
        </p:nvSpPr>
        <p:spPr>
          <a:xfrm>
            <a:off x="3611880" y="4160520"/>
            <a:ext cx="91440" cy="310896"/>
          </a:xfrm>
          <a:prstGeom prst="rect">
            <a:avLst/>
          </a:prstGeom>
          <a:solidFill>
            <a:srgbClr val="008A8A"/>
          </a:solidFill>
          <a:ln w="12700">
            <a:solidFill>
              <a:srgbClr val="008A8A"/>
            </a:solidFill>
            <a:prstDash val="solid"/>
          </a:ln>
        </p:spPr>
        <p:txBody>
          <a:bodyPr/>
          <a:lstStyle/>
          <a:p>
            <a:endParaRPr lang="en-IN"/>
          </a:p>
        </p:txBody>
      </p:sp>
      <p:sp>
        <p:nvSpPr>
          <p:cNvPr id="32" name="Text 30"/>
          <p:cNvSpPr/>
          <p:nvPr/>
        </p:nvSpPr>
        <p:spPr>
          <a:xfrm>
            <a:off x="3776472" y="4288536"/>
            <a:ext cx="1463040" cy="91440"/>
          </a:xfrm>
          <a:prstGeom prst="rect">
            <a:avLst/>
          </a:prstGeom>
          <a:noFill/>
          <a:ln/>
        </p:spPr>
        <p:txBody>
          <a:bodyPr wrap="square" lIns="254" tIns="254" rIns="254" bIns="254" rtlCol="0" anchor="ctr">
            <a:normAutofit fontScale="85000" lnSpcReduction="20000"/>
          </a:bodyPr>
          <a:lstStyle/>
          <a:p>
            <a:pPr marL="0" indent="0" algn="ctr">
              <a:buNone/>
            </a:pPr>
            <a:r>
              <a:rPr lang="en-US" sz="880" b="1" dirty="0">
                <a:solidFill>
                  <a:srgbClr val="1F2937"/>
                </a:solidFill>
              </a:rPr>
              <a:t>trend_plot.R</a:t>
            </a:r>
            <a:endParaRPr lang="en-US" sz="880" dirty="0"/>
          </a:p>
        </p:txBody>
      </p:sp>
      <p:sp>
        <p:nvSpPr>
          <p:cNvPr id="33" name="Shape 31"/>
          <p:cNvSpPr/>
          <p:nvPr/>
        </p:nvSpPr>
        <p:spPr>
          <a:xfrm>
            <a:off x="3611880" y="4663440"/>
            <a:ext cx="1737360" cy="310896"/>
          </a:xfrm>
          <a:prstGeom prst="roundRect">
            <a:avLst>
              <a:gd name="adj" fmla="val 32353"/>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34" name="Shape 32"/>
          <p:cNvSpPr/>
          <p:nvPr/>
        </p:nvSpPr>
        <p:spPr>
          <a:xfrm>
            <a:off x="3611880" y="4663440"/>
            <a:ext cx="91440" cy="310896"/>
          </a:xfrm>
          <a:prstGeom prst="rect">
            <a:avLst/>
          </a:prstGeom>
          <a:solidFill>
            <a:srgbClr val="008A8A"/>
          </a:solidFill>
          <a:ln w="12700">
            <a:solidFill>
              <a:srgbClr val="008A8A"/>
            </a:solidFill>
            <a:prstDash val="solid"/>
          </a:ln>
        </p:spPr>
        <p:txBody>
          <a:bodyPr/>
          <a:lstStyle/>
          <a:p>
            <a:endParaRPr lang="en-IN"/>
          </a:p>
        </p:txBody>
      </p:sp>
      <p:sp>
        <p:nvSpPr>
          <p:cNvPr id="35" name="Text 33"/>
          <p:cNvSpPr/>
          <p:nvPr/>
        </p:nvSpPr>
        <p:spPr>
          <a:xfrm>
            <a:off x="3776472" y="4791456"/>
            <a:ext cx="1463040" cy="91440"/>
          </a:xfrm>
          <a:prstGeom prst="rect">
            <a:avLst/>
          </a:prstGeom>
          <a:noFill/>
          <a:ln/>
        </p:spPr>
        <p:txBody>
          <a:bodyPr wrap="square" lIns="254" tIns="254" rIns="254" bIns="254" rtlCol="0" anchor="ctr">
            <a:normAutofit fontScale="85000" lnSpcReduction="20000"/>
          </a:bodyPr>
          <a:lstStyle/>
          <a:p>
            <a:pPr marL="0" indent="0" algn="ctr">
              <a:buNone/>
            </a:pPr>
            <a:r>
              <a:rPr lang="en-US" sz="880" b="1" dirty="0">
                <a:solidFill>
                  <a:srgbClr val="1F2937"/>
                </a:solidFill>
              </a:rPr>
              <a:t>study_table.R</a:t>
            </a:r>
            <a:endParaRPr lang="en-US" sz="880" dirty="0"/>
          </a:p>
        </p:txBody>
      </p:sp>
      <p:sp>
        <p:nvSpPr>
          <p:cNvPr id="36" name="Shape 34"/>
          <p:cNvSpPr/>
          <p:nvPr/>
        </p:nvSpPr>
        <p:spPr>
          <a:xfrm>
            <a:off x="3611880" y="5166360"/>
            <a:ext cx="1737360" cy="310896"/>
          </a:xfrm>
          <a:prstGeom prst="roundRect">
            <a:avLst>
              <a:gd name="adj" fmla="val 32353"/>
            </a:avLst>
          </a:prstGeom>
          <a:solidFill>
            <a:srgbClr val="FFFFFF"/>
          </a:solidFill>
          <a:ln w="15240">
            <a:solidFill>
              <a:srgbClr val="008A8A"/>
            </a:solidFill>
            <a:prstDash val="solid"/>
          </a:ln>
          <a:effectLst>
            <a:outerShdw blurRad="12700" dist="8890" dir="2700000" algn="bl" rotWithShape="0">
              <a:srgbClr val="000000">
                <a:alpha val="10000"/>
              </a:srgbClr>
            </a:outerShdw>
          </a:effectLst>
        </p:spPr>
        <p:txBody>
          <a:bodyPr/>
          <a:lstStyle/>
          <a:p>
            <a:endParaRPr lang="en-IN"/>
          </a:p>
        </p:txBody>
      </p:sp>
      <p:sp>
        <p:nvSpPr>
          <p:cNvPr id="37" name="Shape 35"/>
          <p:cNvSpPr/>
          <p:nvPr/>
        </p:nvSpPr>
        <p:spPr>
          <a:xfrm>
            <a:off x="3611880" y="5166360"/>
            <a:ext cx="91440" cy="310896"/>
          </a:xfrm>
          <a:prstGeom prst="rect">
            <a:avLst/>
          </a:prstGeom>
          <a:solidFill>
            <a:srgbClr val="008A8A"/>
          </a:solidFill>
          <a:ln w="12700">
            <a:solidFill>
              <a:srgbClr val="008A8A"/>
            </a:solidFill>
            <a:prstDash val="solid"/>
          </a:ln>
        </p:spPr>
        <p:txBody>
          <a:bodyPr/>
          <a:lstStyle/>
          <a:p>
            <a:endParaRPr lang="en-IN"/>
          </a:p>
        </p:txBody>
      </p:sp>
      <p:sp>
        <p:nvSpPr>
          <p:cNvPr id="38" name="Text 36"/>
          <p:cNvSpPr/>
          <p:nvPr/>
        </p:nvSpPr>
        <p:spPr>
          <a:xfrm>
            <a:off x="3776472" y="5294376"/>
            <a:ext cx="1463040" cy="91440"/>
          </a:xfrm>
          <a:prstGeom prst="rect">
            <a:avLst/>
          </a:prstGeom>
          <a:noFill/>
          <a:ln/>
        </p:spPr>
        <p:txBody>
          <a:bodyPr wrap="square" lIns="254" tIns="254" rIns="254" bIns="254" rtlCol="0" anchor="ctr">
            <a:normAutofit fontScale="85000" lnSpcReduction="20000"/>
          </a:bodyPr>
          <a:lstStyle/>
          <a:p>
            <a:pPr marL="0" indent="0" algn="ctr">
              <a:buNone/>
            </a:pPr>
            <a:r>
              <a:rPr lang="en-US" sz="880" b="1" dirty="0">
                <a:solidFill>
                  <a:srgbClr val="1F2937"/>
                </a:solidFill>
              </a:rPr>
              <a:t>download_report.R</a:t>
            </a:r>
            <a:endParaRPr lang="en-US" sz="880" dirty="0"/>
          </a:p>
        </p:txBody>
      </p:sp>
      <p:sp>
        <p:nvSpPr>
          <p:cNvPr id="39" name="Shape 37"/>
          <p:cNvSpPr/>
          <p:nvPr/>
        </p:nvSpPr>
        <p:spPr>
          <a:xfrm>
            <a:off x="6492240" y="3154680"/>
            <a:ext cx="1691640" cy="310896"/>
          </a:xfrm>
          <a:prstGeom prst="roundRect">
            <a:avLst>
              <a:gd name="adj" fmla="val 32353"/>
            </a:avLst>
          </a:prstGeom>
          <a:solidFill>
            <a:srgbClr val="FFFFFF"/>
          </a:solidFill>
          <a:ln w="15240">
            <a:solidFill>
              <a:srgbClr val="2E8B57"/>
            </a:solidFill>
            <a:prstDash val="solid"/>
          </a:ln>
          <a:effectLst>
            <a:outerShdw blurRad="12700" dist="8890" dir="2700000" algn="bl" rotWithShape="0">
              <a:srgbClr val="000000">
                <a:alpha val="10000"/>
              </a:srgbClr>
            </a:outerShdw>
          </a:effectLst>
        </p:spPr>
        <p:txBody>
          <a:bodyPr/>
          <a:lstStyle/>
          <a:p>
            <a:endParaRPr lang="en-IN"/>
          </a:p>
        </p:txBody>
      </p:sp>
      <p:sp>
        <p:nvSpPr>
          <p:cNvPr id="40" name="Shape 38"/>
          <p:cNvSpPr/>
          <p:nvPr/>
        </p:nvSpPr>
        <p:spPr>
          <a:xfrm>
            <a:off x="6492240" y="3154680"/>
            <a:ext cx="91440" cy="310896"/>
          </a:xfrm>
          <a:prstGeom prst="rect">
            <a:avLst/>
          </a:prstGeom>
          <a:solidFill>
            <a:srgbClr val="2E8B57"/>
          </a:solidFill>
          <a:ln w="12700">
            <a:solidFill>
              <a:srgbClr val="2E8B57"/>
            </a:solidFill>
            <a:prstDash val="solid"/>
          </a:ln>
        </p:spPr>
        <p:txBody>
          <a:bodyPr/>
          <a:lstStyle/>
          <a:p>
            <a:endParaRPr lang="en-IN"/>
          </a:p>
        </p:txBody>
      </p:sp>
      <p:sp>
        <p:nvSpPr>
          <p:cNvPr id="41" name="Text 39"/>
          <p:cNvSpPr/>
          <p:nvPr/>
        </p:nvSpPr>
        <p:spPr>
          <a:xfrm>
            <a:off x="6656832" y="3282696"/>
            <a:ext cx="1417320" cy="91440"/>
          </a:xfrm>
          <a:prstGeom prst="rect">
            <a:avLst/>
          </a:prstGeom>
          <a:noFill/>
          <a:ln/>
        </p:spPr>
        <p:txBody>
          <a:bodyPr wrap="square" lIns="254" tIns="254" rIns="254" bIns="254" rtlCol="0" anchor="ctr">
            <a:normAutofit fontScale="85000" lnSpcReduction="20000"/>
          </a:bodyPr>
          <a:lstStyle/>
          <a:p>
            <a:pPr marL="0" indent="0" algn="ctr">
              <a:buNone/>
            </a:pPr>
            <a:r>
              <a:rPr lang="en-US" sz="880" b="1" dirty="0">
                <a:solidFill>
                  <a:srgbClr val="1F2937"/>
                </a:solidFill>
              </a:rPr>
              <a:t>study_data.csv</a:t>
            </a:r>
            <a:endParaRPr lang="en-US" sz="880" dirty="0"/>
          </a:p>
        </p:txBody>
      </p:sp>
      <p:sp>
        <p:nvSpPr>
          <p:cNvPr id="42" name="Shape 40"/>
          <p:cNvSpPr/>
          <p:nvPr/>
        </p:nvSpPr>
        <p:spPr>
          <a:xfrm>
            <a:off x="9235440" y="3154680"/>
            <a:ext cx="1691640" cy="310896"/>
          </a:xfrm>
          <a:prstGeom prst="roundRect">
            <a:avLst>
              <a:gd name="adj" fmla="val 32353"/>
            </a:avLst>
          </a:prstGeom>
          <a:solidFill>
            <a:srgbClr val="FFFFFF"/>
          </a:solidFill>
          <a:ln w="15240">
            <a:solidFill>
              <a:srgbClr val="E98300"/>
            </a:solidFill>
            <a:prstDash val="solid"/>
          </a:ln>
          <a:effectLst>
            <a:outerShdw blurRad="12700" dist="8890" dir="2700000" algn="bl" rotWithShape="0">
              <a:srgbClr val="000000">
                <a:alpha val="10000"/>
              </a:srgbClr>
            </a:outerShdw>
          </a:effectLst>
        </p:spPr>
        <p:txBody>
          <a:bodyPr/>
          <a:lstStyle/>
          <a:p>
            <a:endParaRPr lang="en-IN"/>
          </a:p>
        </p:txBody>
      </p:sp>
      <p:sp>
        <p:nvSpPr>
          <p:cNvPr id="43" name="Shape 41"/>
          <p:cNvSpPr/>
          <p:nvPr/>
        </p:nvSpPr>
        <p:spPr>
          <a:xfrm>
            <a:off x="9235440" y="3154680"/>
            <a:ext cx="91440" cy="310896"/>
          </a:xfrm>
          <a:prstGeom prst="rect">
            <a:avLst/>
          </a:prstGeom>
          <a:solidFill>
            <a:srgbClr val="E98300"/>
          </a:solidFill>
          <a:ln w="12700">
            <a:solidFill>
              <a:srgbClr val="E98300"/>
            </a:solidFill>
            <a:prstDash val="solid"/>
          </a:ln>
        </p:spPr>
        <p:txBody>
          <a:bodyPr/>
          <a:lstStyle/>
          <a:p>
            <a:endParaRPr lang="en-IN"/>
          </a:p>
        </p:txBody>
      </p:sp>
      <p:sp>
        <p:nvSpPr>
          <p:cNvPr id="44" name="Text 42"/>
          <p:cNvSpPr/>
          <p:nvPr/>
        </p:nvSpPr>
        <p:spPr>
          <a:xfrm>
            <a:off x="9400032" y="3282696"/>
            <a:ext cx="1417320" cy="91440"/>
          </a:xfrm>
          <a:prstGeom prst="rect">
            <a:avLst/>
          </a:prstGeom>
          <a:noFill/>
          <a:ln/>
        </p:spPr>
        <p:txBody>
          <a:bodyPr wrap="square" lIns="254" tIns="254" rIns="254" bIns="254" rtlCol="0" anchor="ctr">
            <a:normAutofit fontScale="85000" lnSpcReduction="20000"/>
          </a:bodyPr>
          <a:lstStyle/>
          <a:p>
            <a:pPr marL="0" indent="0" algn="ctr">
              <a:buNone/>
            </a:pPr>
            <a:r>
              <a:rPr lang="en-US" sz="880" b="1" dirty="0">
                <a:solidFill>
                  <a:srgbClr val="1F2937"/>
                </a:solidFill>
              </a:rPr>
              <a:t>styles.css</a:t>
            </a:r>
            <a:endParaRPr lang="en-US" sz="880" dirty="0"/>
          </a:p>
        </p:txBody>
      </p:sp>
      <p:sp>
        <p:nvSpPr>
          <p:cNvPr id="4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defRPr>
            </a:lvl1pPr>
          </a:lstStyle>
          <a:p>
            <a:pPr algn="l"/>
            <a:fld id="{F7021451-1387-4CA6-816F-3879F97B5CBC}" type="slidenum">
              <a:rPr lang="en-US" b="0"/>
              <a:t>19</a:t>
            </a:fld>
            <a:endParaRPr lang="en-US"/>
          </a:p>
        </p:txBody>
      </p:sp>
      <p:sp>
        <p:nvSpPr>
          <p:cNvPr id="47" name="Shape 18">
            <a:extLst>
              <a:ext uri="{FF2B5EF4-FFF2-40B4-BE49-F238E27FC236}">
                <a16:creationId xmlns:a16="http://schemas.microsoft.com/office/drawing/2014/main" id="{02278F64-4FD5-78BA-7574-86210073319E}"/>
              </a:ext>
            </a:extLst>
          </p:cNvPr>
          <p:cNvSpPr/>
          <p:nvPr/>
        </p:nvSpPr>
        <p:spPr>
          <a:xfrm>
            <a:off x="4389119" y="1997964"/>
            <a:ext cx="1" cy="320040"/>
          </a:xfrm>
          <a:prstGeom prst="line">
            <a:avLst/>
          </a:prstGeom>
          <a:noFill/>
          <a:ln w="25400">
            <a:solidFill>
              <a:srgbClr val="D7E1EA"/>
            </a:solidFill>
            <a:prstDash val="solid"/>
            <a:headEnd type="none"/>
            <a:tailEnd type="triangle"/>
          </a:ln>
        </p:spPr>
        <p:txBody>
          <a:bodyPr/>
          <a:lstStyle/>
          <a:p>
            <a:endParaRPr lang="en-IN"/>
          </a:p>
        </p:txBody>
      </p:sp>
      <p:sp>
        <p:nvSpPr>
          <p:cNvPr id="49" name="Shape 18">
            <a:extLst>
              <a:ext uri="{FF2B5EF4-FFF2-40B4-BE49-F238E27FC236}">
                <a16:creationId xmlns:a16="http://schemas.microsoft.com/office/drawing/2014/main" id="{9DA82948-7ADD-FA40-67B1-33B162B24CF4}"/>
              </a:ext>
            </a:extLst>
          </p:cNvPr>
          <p:cNvSpPr/>
          <p:nvPr/>
        </p:nvSpPr>
        <p:spPr>
          <a:xfrm>
            <a:off x="7391515" y="1980194"/>
            <a:ext cx="1" cy="320040"/>
          </a:xfrm>
          <a:prstGeom prst="line">
            <a:avLst/>
          </a:prstGeom>
          <a:noFill/>
          <a:ln w="25400">
            <a:solidFill>
              <a:srgbClr val="D7E1EA"/>
            </a:solidFill>
            <a:prstDash val="solid"/>
            <a:headEnd type="none"/>
            <a:tailEnd type="triangle"/>
          </a:ln>
        </p:spPr>
        <p:txBody>
          <a:bodyPr/>
          <a:lstStyle/>
          <a:p>
            <a:endParaRPr lang="en-IN"/>
          </a:p>
        </p:txBody>
      </p:sp>
      <p:sp>
        <p:nvSpPr>
          <p:cNvPr id="51" name="Shape 18">
            <a:extLst>
              <a:ext uri="{FF2B5EF4-FFF2-40B4-BE49-F238E27FC236}">
                <a16:creationId xmlns:a16="http://schemas.microsoft.com/office/drawing/2014/main" id="{7B8DD105-A03A-D584-A703-2ACD26E75E21}"/>
              </a:ext>
            </a:extLst>
          </p:cNvPr>
          <p:cNvSpPr/>
          <p:nvPr/>
        </p:nvSpPr>
        <p:spPr>
          <a:xfrm>
            <a:off x="10078816" y="2011680"/>
            <a:ext cx="1" cy="320040"/>
          </a:xfrm>
          <a:prstGeom prst="line">
            <a:avLst/>
          </a:prstGeom>
          <a:noFill/>
          <a:ln w="25400">
            <a:solidFill>
              <a:srgbClr val="D7E1EA"/>
            </a:solidFill>
            <a:prstDash val="solid"/>
            <a:headEnd type="none"/>
            <a:tailEnd type="triangle"/>
          </a:ln>
        </p:spPr>
        <p:txBody>
          <a:bodyPr/>
          <a:lstStyle/>
          <a:p>
            <a:endParaRPr lang="en-IN"/>
          </a:p>
        </p:txBody>
      </p:sp>
      <p:graphicFrame>
        <p:nvGraphicFramePr>
          <p:cNvPr id="53" name="Object 52">
            <a:extLst>
              <a:ext uri="{FF2B5EF4-FFF2-40B4-BE49-F238E27FC236}">
                <a16:creationId xmlns:a16="http://schemas.microsoft.com/office/drawing/2014/main" id="{BFFF670C-B630-E78E-478D-0845E485D3CD}"/>
              </a:ext>
            </a:extLst>
          </p:cNvPr>
          <p:cNvGraphicFramePr>
            <a:graphicFrameLocks noChangeAspect="1"/>
          </p:cNvGraphicFramePr>
          <p:nvPr>
            <p:extLst>
              <p:ext uri="{D42A27DB-BD31-4B8C-83A1-F6EECF244321}">
                <p14:modId xmlns:p14="http://schemas.microsoft.com/office/powerpoint/2010/main" val="1598016788"/>
              </p:ext>
            </p:extLst>
          </p:nvPr>
        </p:nvGraphicFramePr>
        <p:xfrm>
          <a:off x="4690872" y="6210427"/>
          <a:ext cx="25781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2578142" imgH="526915" progId="Package">
                  <p:embed/>
                </p:oleObj>
              </mc:Choice>
              <mc:Fallback>
                <p:oleObj name="Packager Shell Object" showAsIcon="1" r:id="rId3" imgW="2578142" imgH="526915" progId="Package">
                  <p:embed/>
                  <p:pic>
                    <p:nvPicPr>
                      <p:cNvPr id="31" name="Object 30">
                        <a:extLst>
                          <a:ext uri="{FF2B5EF4-FFF2-40B4-BE49-F238E27FC236}">
                            <a16:creationId xmlns:a16="http://schemas.microsoft.com/office/drawing/2014/main" id="{30FF72C3-66C3-1278-0D33-07A00BAC102E}"/>
                          </a:ext>
                        </a:extLst>
                      </p:cNvPr>
                      <p:cNvPicPr/>
                      <p:nvPr/>
                    </p:nvPicPr>
                    <p:blipFill>
                      <a:blip r:embed="rId4"/>
                      <a:stretch>
                        <a:fillRect/>
                      </a:stretch>
                    </p:blipFill>
                    <p:spPr>
                      <a:xfrm>
                        <a:off x="4690872" y="6210427"/>
                        <a:ext cx="2578100" cy="527050"/>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98847-2EA1-735C-7A12-22372E9C220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5C3AA4A-CECC-A52D-E048-6032362EFCFE}"/>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F4F472E9-7E0F-A9C6-3753-70F1FCB07C21}"/>
              </a:ext>
            </a:extLst>
          </p:cNvPr>
          <p:cNvPicPr>
            <a:picLocks noChangeAspect="1"/>
          </p:cNvPicPr>
          <p:nvPr/>
        </p:nvPicPr>
        <p:blipFill>
          <a:blip r:embed="rId2"/>
          <a:stretch>
            <a:fillRect/>
          </a:stretch>
        </p:blipFill>
        <p:spPr>
          <a:xfrm>
            <a:off x="215598" y="304639"/>
            <a:ext cx="11760804" cy="6248721"/>
          </a:xfrm>
          <a:prstGeom prst="rect">
            <a:avLst/>
          </a:prstGeom>
        </p:spPr>
      </p:pic>
    </p:spTree>
    <p:extLst>
      <p:ext uri="{BB962C8B-B14F-4D97-AF65-F5344CB8AC3E}">
        <p14:creationId xmlns:p14="http://schemas.microsoft.com/office/powerpoint/2010/main" val="4233653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6E5D2-5AA4-55F6-C6EF-DBFE88C32834}"/>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D1993994-32E7-A73B-6BF6-DACCE53F4862}"/>
              </a:ext>
            </a:extLst>
          </p:cNvPr>
          <p:cNvPicPr>
            <a:picLocks noChangeAspect="1"/>
          </p:cNvPicPr>
          <p:nvPr/>
        </p:nvPicPr>
        <p:blipFill>
          <a:blip r:embed="rId2"/>
          <a:stretch>
            <a:fillRect/>
          </a:stretch>
        </p:blipFill>
        <p:spPr>
          <a:xfrm>
            <a:off x="136218" y="663433"/>
            <a:ext cx="11919563" cy="5531134"/>
          </a:xfrm>
          <a:prstGeom prst="rect">
            <a:avLst/>
          </a:prstGeom>
        </p:spPr>
      </p:pic>
    </p:spTree>
    <p:extLst>
      <p:ext uri="{BB962C8B-B14F-4D97-AF65-F5344CB8AC3E}">
        <p14:creationId xmlns:p14="http://schemas.microsoft.com/office/powerpoint/2010/main" val="913846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1892</Words>
  <Application>Microsoft Office PowerPoint</Application>
  <PresentationFormat>Widescreen</PresentationFormat>
  <Paragraphs>317</Paragraphs>
  <Slides>21</Slides>
  <Notes>18</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6" baseType="lpstr">
      <vt:lpstr>Aptos</vt:lpstr>
      <vt:lpstr>Aptos Display</vt:lpstr>
      <vt:lpstr>Arial</vt:lpstr>
      <vt:lpstr>Office Theme</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Diagram-first R Shiny Training Manual</dc:title>
  <dc:subject>Diagram-first R Shiny training slide deck</dc:subject>
  <dc:creator>Venkatesh Krishnan</dc:creator>
  <cp:lastModifiedBy>Venkatesh Krishnan</cp:lastModifiedBy>
  <cp:revision>29</cp:revision>
  <dcterms:created xsi:type="dcterms:W3CDTF">2026-08-19T10:27:52Z</dcterms:created>
  <dcterms:modified xsi:type="dcterms:W3CDTF">2026-09-09T09:27:04Z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26de7c-a783-430a-9757-46c8005a9167_Enabled">
    <vt:lpwstr>true</vt:lpwstr>
  </property>
  <property fmtid="{D5CDD505-2E9C-101B-9397-08002B2CF9AE}" pid="3" name="MSIP_Label_0e26de7c-a783-430a-9757-46c8005a9167_SetDate">
    <vt:lpwstr>2026-08-19T10:27:52Z</vt:lpwstr>
  </property>
  <property fmtid="{D5CDD505-2E9C-101B-9397-08002B2CF9AE}" pid="4" name="MSIP_Label_0e26de7c-a783-430a-9757-46c8005a9167_Method">
    <vt:lpwstr>Standard</vt:lpwstr>
  </property>
  <property fmtid="{D5CDD505-2E9C-101B-9397-08002B2CF9AE}" pid="5" name="MSIP_Label_0e26de7c-a783-430a-9757-46c8005a9167_Name">
    <vt:lpwstr>0e26de7c-a783-430a-9757-46c8005a9167</vt:lpwstr>
  </property>
  <property fmtid="{D5CDD505-2E9C-101B-9397-08002B2CF9AE}" pid="6" name="MSIP_Label_0e26de7c-a783-430a-9757-46c8005a9167_SiteId">
    <vt:lpwstr>18a59a81-eea8-4c30-948a-d8824cdc2580</vt:lpwstr>
  </property>
  <property fmtid="{D5CDD505-2E9C-101B-9397-08002B2CF9AE}" pid="7" name="MSIP_Label_0e26de7c-a783-430a-9757-46c8005a9167_ActionId">
    <vt:lpwstr>356bee2d-9b40-424a-bfde-9da52108a4ee</vt:lpwstr>
  </property>
  <property fmtid="{D5CDD505-2E9C-101B-9397-08002B2CF9AE}" pid="8" name="MSIP_Label_0e26de7c-a783-430a-9757-46c8005a9167_ContentBits">
    <vt:lpwstr>0</vt:lpwstr>
  </property>
</Properties>
</file>