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64" r:id="rId2"/>
    <p:sldId id="262" r:id="rId3"/>
    <p:sldId id="263" r:id="rId4"/>
    <p:sldId id="260" r:id="rId5"/>
    <p:sldId id="264" r:id="rId6"/>
    <p:sldId id="265" r:id="rId7"/>
    <p:sldId id="266" r:id="rId8"/>
    <p:sldId id="256" r:id="rId9"/>
    <p:sldId id="257" r:id="rId10"/>
    <p:sldId id="258" r:id="rId11"/>
    <p:sldId id="259"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B0F601-3A3C-4039-8834-7A7034BB50D7}" v="6" dt="2026-09-08T05:36:01.9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2820"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presProps" Target="presProps.xml"/><Relationship Id="rId115" Type="http://schemas.microsoft.com/office/2015/10/relationships/revisionInfo" Target="revisionInfo.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esh Divakaran" userId="438ee4ba-7671-48ed-a2f1-987ad305971d" providerId="ADAL" clId="{43D2DA90-47BD-46FF-9264-6CBAFAAA4B27}"/>
    <pc:docChg chg="custSel addSld delSld modSld sldOrd">
      <pc:chgData name="Mahesh Divakaran" userId="438ee4ba-7671-48ed-a2f1-987ad305971d" providerId="ADAL" clId="{43D2DA90-47BD-46FF-9264-6CBAFAAA4B27}" dt="2026-09-08T05:36:01.945" v="18"/>
      <pc:docMkLst>
        <pc:docMk/>
      </pc:docMkLst>
      <pc:sldChg chg="ord">
        <pc:chgData name="Mahesh Divakaran" userId="438ee4ba-7671-48ed-a2f1-987ad305971d" providerId="ADAL" clId="{43D2DA90-47BD-46FF-9264-6CBAFAAA4B27}" dt="2026-09-08T05:35:03.420" v="7"/>
        <pc:sldMkLst>
          <pc:docMk/>
          <pc:sldMk cId="2367192259" sldId="260"/>
        </pc:sldMkLst>
      </pc:sldChg>
      <pc:sldChg chg="delSp modSp del mod ord">
        <pc:chgData name="Mahesh Divakaran" userId="438ee4ba-7671-48ed-a2f1-987ad305971d" providerId="ADAL" clId="{43D2DA90-47BD-46FF-9264-6CBAFAAA4B27}" dt="2026-09-08T05:35:52.759" v="16" actId="47"/>
        <pc:sldMkLst>
          <pc:docMk/>
          <pc:sldMk cId="1431623898" sldId="261"/>
        </pc:sldMkLst>
        <pc:spChg chg="del">
          <ac:chgData name="Mahesh Divakaran" userId="438ee4ba-7671-48ed-a2f1-987ad305971d" providerId="ADAL" clId="{43D2DA90-47BD-46FF-9264-6CBAFAAA4B27}" dt="2026-09-08T05:35:42.648" v="14" actId="478"/>
          <ac:spMkLst>
            <pc:docMk/>
            <pc:sldMk cId="1431623898" sldId="261"/>
            <ac:spMk id="2" creationId="{30093532-3A29-75EF-5504-FD0986962A5E}"/>
          </ac:spMkLst>
        </pc:spChg>
        <pc:spChg chg="mod">
          <ac:chgData name="Mahesh Divakaran" userId="438ee4ba-7671-48ed-a2f1-987ad305971d" providerId="ADAL" clId="{43D2DA90-47BD-46FF-9264-6CBAFAAA4B27}" dt="2026-09-08T05:35:19.349" v="11" actId="1076"/>
          <ac:spMkLst>
            <pc:docMk/>
            <pc:sldMk cId="1431623898" sldId="261"/>
            <ac:spMk id="5" creationId="{48790758-FA2A-6579-7628-FE39FA4ABCA8}"/>
          </ac:spMkLst>
        </pc:spChg>
        <pc:spChg chg="del mod">
          <ac:chgData name="Mahesh Divakaran" userId="438ee4ba-7671-48ed-a2f1-987ad305971d" providerId="ADAL" clId="{43D2DA90-47BD-46FF-9264-6CBAFAAA4B27}" dt="2026-09-08T05:35:15.198" v="10" actId="478"/>
          <ac:spMkLst>
            <pc:docMk/>
            <pc:sldMk cId="1431623898" sldId="261"/>
            <ac:spMk id="6" creationId="{85E7B4EC-6680-728B-834F-B898882CC6C7}"/>
          </ac:spMkLst>
        </pc:spChg>
        <pc:spChg chg="del mod">
          <ac:chgData name="Mahesh Divakaran" userId="438ee4ba-7671-48ed-a2f1-987ad305971d" providerId="ADAL" clId="{43D2DA90-47BD-46FF-9264-6CBAFAAA4B27}" dt="2026-09-08T05:35:34.371" v="13" actId="478"/>
          <ac:spMkLst>
            <pc:docMk/>
            <pc:sldMk cId="1431623898" sldId="261"/>
            <ac:spMk id="9" creationId="{520A1AAB-FF03-357E-F0DB-E0592BDD27E6}"/>
          </ac:spMkLst>
        </pc:spChg>
      </pc:sldChg>
      <pc:sldChg chg="ord">
        <pc:chgData name="Mahesh Divakaran" userId="438ee4ba-7671-48ed-a2f1-987ad305971d" providerId="ADAL" clId="{43D2DA90-47BD-46FF-9264-6CBAFAAA4B27}" dt="2026-09-08T05:35:03.420" v="7"/>
        <pc:sldMkLst>
          <pc:docMk/>
          <pc:sldMk cId="2860186026" sldId="262"/>
        </pc:sldMkLst>
      </pc:sldChg>
      <pc:sldChg chg="ord">
        <pc:chgData name="Mahesh Divakaran" userId="438ee4ba-7671-48ed-a2f1-987ad305971d" providerId="ADAL" clId="{43D2DA90-47BD-46FF-9264-6CBAFAAA4B27}" dt="2026-09-08T05:35:03.420" v="7"/>
        <pc:sldMkLst>
          <pc:docMk/>
          <pc:sldMk cId="3668571000" sldId="263"/>
        </pc:sldMkLst>
      </pc:sldChg>
      <pc:sldChg chg="ord">
        <pc:chgData name="Mahesh Divakaran" userId="438ee4ba-7671-48ed-a2f1-987ad305971d" providerId="ADAL" clId="{43D2DA90-47BD-46FF-9264-6CBAFAAA4B27}" dt="2026-09-08T05:35:03.420" v="7"/>
        <pc:sldMkLst>
          <pc:docMk/>
          <pc:sldMk cId="893737389" sldId="264"/>
        </pc:sldMkLst>
      </pc:sldChg>
      <pc:sldChg chg="ord">
        <pc:chgData name="Mahesh Divakaran" userId="438ee4ba-7671-48ed-a2f1-987ad305971d" providerId="ADAL" clId="{43D2DA90-47BD-46FF-9264-6CBAFAAA4B27}" dt="2026-09-08T05:35:03.420" v="7"/>
        <pc:sldMkLst>
          <pc:docMk/>
          <pc:sldMk cId="2940476048" sldId="265"/>
        </pc:sldMkLst>
      </pc:sldChg>
      <pc:sldChg chg="ord">
        <pc:chgData name="Mahesh Divakaran" userId="438ee4ba-7671-48ed-a2f1-987ad305971d" providerId="ADAL" clId="{43D2DA90-47BD-46FF-9264-6CBAFAAA4B27}" dt="2026-09-08T05:35:03.420" v="7"/>
        <pc:sldMkLst>
          <pc:docMk/>
          <pc:sldMk cId="2766040138" sldId="266"/>
        </pc:sldMkLst>
      </pc:sldChg>
      <pc:sldChg chg="add setBg">
        <pc:chgData name="Mahesh Divakaran" userId="438ee4ba-7671-48ed-a2f1-987ad305971d" providerId="ADAL" clId="{43D2DA90-47BD-46FF-9264-6CBAFAAA4B27}" dt="2026-09-08T05:36:01.945" v="18"/>
        <pc:sldMkLst>
          <pc:docMk/>
          <pc:sldMk cId="2684296909" sldId="364"/>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E1BBE-525C-282B-5B12-E60553F05E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5E48493-4A25-6530-E798-BE3124FEBA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E6DFD9F-9893-954D-5F7A-E42E48E502BC}"/>
              </a:ext>
            </a:extLst>
          </p:cNvPr>
          <p:cNvSpPr>
            <a:spLocks noGrp="1"/>
          </p:cNvSpPr>
          <p:nvPr>
            <p:ph type="dt" sz="half" idx="10"/>
          </p:nvPr>
        </p:nvSpPr>
        <p:spPr/>
        <p:txBody>
          <a:bodyPr/>
          <a:lstStyle/>
          <a:p>
            <a:fld id="{67B916B1-2B75-4992-A84A-4E8D595000C8}" type="datetimeFigureOut">
              <a:rPr lang="en-IN" smtClean="0"/>
              <a:t>08-09-2026</a:t>
            </a:fld>
            <a:endParaRPr lang="en-IN"/>
          </a:p>
        </p:txBody>
      </p:sp>
      <p:sp>
        <p:nvSpPr>
          <p:cNvPr id="5" name="Footer Placeholder 4">
            <a:extLst>
              <a:ext uri="{FF2B5EF4-FFF2-40B4-BE49-F238E27FC236}">
                <a16:creationId xmlns:a16="http://schemas.microsoft.com/office/drawing/2014/main" id="{D52A56B3-3816-DE9D-2411-7E3A1FA7C7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2CF872-58EF-8BD9-B05E-867F59D72203}"/>
              </a:ext>
            </a:extLst>
          </p:cNvPr>
          <p:cNvSpPr>
            <a:spLocks noGrp="1"/>
          </p:cNvSpPr>
          <p:nvPr>
            <p:ph type="sldNum" sz="quarter" idx="12"/>
          </p:nvPr>
        </p:nvSpPr>
        <p:spPr/>
        <p:txBody>
          <a:bodyPr/>
          <a:lstStyle/>
          <a:p>
            <a:fld id="{19CA385C-E139-4FA4-8CE4-3437F259B573}" type="slidenum">
              <a:rPr lang="en-IN" smtClean="0"/>
              <a:t>‹#›</a:t>
            </a:fld>
            <a:endParaRPr lang="en-IN" dirty="0"/>
          </a:p>
        </p:txBody>
      </p:sp>
    </p:spTree>
    <p:extLst>
      <p:ext uri="{BB962C8B-B14F-4D97-AF65-F5344CB8AC3E}">
        <p14:creationId xmlns:p14="http://schemas.microsoft.com/office/powerpoint/2010/main" val="8482833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08725-E54C-99E2-DDC6-E8C0FCCE6A2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6F62ED0-08C6-9546-4D3C-9A527E0725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3026C8-5904-8DB4-D94B-41D6629E2977}"/>
              </a:ext>
            </a:extLst>
          </p:cNvPr>
          <p:cNvSpPr>
            <a:spLocks noGrp="1"/>
          </p:cNvSpPr>
          <p:nvPr>
            <p:ph type="dt" sz="half" idx="10"/>
          </p:nvPr>
        </p:nvSpPr>
        <p:spPr/>
        <p:txBody>
          <a:bodyPr/>
          <a:lstStyle/>
          <a:p>
            <a:fld id="{67B916B1-2B75-4992-A84A-4E8D595000C8}" type="datetimeFigureOut">
              <a:rPr lang="en-IN" smtClean="0"/>
              <a:t>08-09-2026</a:t>
            </a:fld>
            <a:endParaRPr lang="en-IN"/>
          </a:p>
        </p:txBody>
      </p:sp>
      <p:sp>
        <p:nvSpPr>
          <p:cNvPr id="5" name="Footer Placeholder 4">
            <a:extLst>
              <a:ext uri="{FF2B5EF4-FFF2-40B4-BE49-F238E27FC236}">
                <a16:creationId xmlns:a16="http://schemas.microsoft.com/office/drawing/2014/main" id="{0F15A11C-1644-5ADD-B3C3-495E871EBE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284440-6C5D-6EFE-992E-C7EAD80ED2FD}"/>
              </a:ext>
            </a:extLst>
          </p:cNvPr>
          <p:cNvSpPr>
            <a:spLocks noGrp="1"/>
          </p:cNvSpPr>
          <p:nvPr>
            <p:ph type="sldNum" sz="quarter" idx="12"/>
          </p:nvPr>
        </p:nvSpPr>
        <p:spPr/>
        <p:txBody>
          <a:bodyPr/>
          <a:lstStyle/>
          <a:p>
            <a:fld id="{19CA385C-E139-4FA4-8CE4-3437F259B573}" type="slidenum">
              <a:rPr lang="en-IN" smtClean="0"/>
              <a:t>‹#›</a:t>
            </a:fld>
            <a:endParaRPr lang="en-IN"/>
          </a:p>
        </p:txBody>
      </p:sp>
    </p:spTree>
    <p:extLst>
      <p:ext uri="{BB962C8B-B14F-4D97-AF65-F5344CB8AC3E}">
        <p14:creationId xmlns:p14="http://schemas.microsoft.com/office/powerpoint/2010/main" val="3057362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26730-56FE-40D7-69C7-B1F4DFBFA5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CEA6632-F85E-9103-03E5-17B5B58BE58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D6414D-8AD2-E1A7-966F-589B0A55B924}"/>
              </a:ext>
            </a:extLst>
          </p:cNvPr>
          <p:cNvSpPr>
            <a:spLocks noGrp="1"/>
          </p:cNvSpPr>
          <p:nvPr>
            <p:ph type="dt" sz="half" idx="10"/>
          </p:nvPr>
        </p:nvSpPr>
        <p:spPr/>
        <p:txBody>
          <a:bodyPr/>
          <a:lstStyle/>
          <a:p>
            <a:fld id="{67B916B1-2B75-4992-A84A-4E8D595000C8}" type="datetimeFigureOut">
              <a:rPr lang="en-IN" smtClean="0"/>
              <a:t>08-09-2026</a:t>
            </a:fld>
            <a:endParaRPr lang="en-IN"/>
          </a:p>
        </p:txBody>
      </p:sp>
      <p:sp>
        <p:nvSpPr>
          <p:cNvPr id="5" name="Footer Placeholder 4">
            <a:extLst>
              <a:ext uri="{FF2B5EF4-FFF2-40B4-BE49-F238E27FC236}">
                <a16:creationId xmlns:a16="http://schemas.microsoft.com/office/drawing/2014/main" id="{97237787-4106-12D6-5D1F-B065817991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C691F5-0EE2-88F8-2724-27161ABD0B21}"/>
              </a:ext>
            </a:extLst>
          </p:cNvPr>
          <p:cNvSpPr>
            <a:spLocks noGrp="1"/>
          </p:cNvSpPr>
          <p:nvPr>
            <p:ph type="sldNum" sz="quarter" idx="12"/>
          </p:nvPr>
        </p:nvSpPr>
        <p:spPr/>
        <p:txBody>
          <a:bodyPr/>
          <a:lstStyle/>
          <a:p>
            <a:fld id="{19CA385C-E139-4FA4-8CE4-3437F259B573}" type="slidenum">
              <a:rPr lang="en-IN" smtClean="0"/>
              <a:t>‹#›</a:t>
            </a:fld>
            <a:endParaRPr lang="en-IN"/>
          </a:p>
        </p:txBody>
      </p:sp>
    </p:spTree>
    <p:extLst>
      <p:ext uri="{BB962C8B-B14F-4D97-AF65-F5344CB8AC3E}">
        <p14:creationId xmlns:p14="http://schemas.microsoft.com/office/powerpoint/2010/main" val="1377023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4F61C-3E48-D7DD-568C-2EB236B832B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FD48FCD-F7BC-C408-3B19-CCAE580D8AB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4D60317-D26F-A276-F851-6D99720F36E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439271D-26E6-C0A7-5199-16E5A54D18B5}"/>
              </a:ext>
            </a:extLst>
          </p:cNvPr>
          <p:cNvSpPr>
            <a:spLocks noGrp="1"/>
          </p:cNvSpPr>
          <p:nvPr>
            <p:ph type="dt" sz="half" idx="10"/>
          </p:nvPr>
        </p:nvSpPr>
        <p:spPr/>
        <p:txBody>
          <a:bodyPr/>
          <a:lstStyle/>
          <a:p>
            <a:fld id="{67B916B1-2B75-4992-A84A-4E8D595000C8}" type="datetimeFigureOut">
              <a:rPr lang="en-IN" smtClean="0"/>
              <a:t>08-09-2026</a:t>
            </a:fld>
            <a:endParaRPr lang="en-IN"/>
          </a:p>
        </p:txBody>
      </p:sp>
      <p:sp>
        <p:nvSpPr>
          <p:cNvPr id="6" name="Footer Placeholder 5">
            <a:extLst>
              <a:ext uri="{FF2B5EF4-FFF2-40B4-BE49-F238E27FC236}">
                <a16:creationId xmlns:a16="http://schemas.microsoft.com/office/drawing/2014/main" id="{2DCF37EA-B3E2-4DAB-8777-52843E090DE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1E46140-AADD-C812-BDD4-E326A949F430}"/>
              </a:ext>
            </a:extLst>
          </p:cNvPr>
          <p:cNvSpPr>
            <a:spLocks noGrp="1"/>
          </p:cNvSpPr>
          <p:nvPr>
            <p:ph type="sldNum" sz="quarter" idx="12"/>
          </p:nvPr>
        </p:nvSpPr>
        <p:spPr/>
        <p:txBody>
          <a:bodyPr/>
          <a:lstStyle/>
          <a:p>
            <a:fld id="{19CA385C-E139-4FA4-8CE4-3437F259B573}" type="slidenum">
              <a:rPr lang="en-IN" smtClean="0"/>
              <a:t>‹#›</a:t>
            </a:fld>
            <a:endParaRPr lang="en-IN"/>
          </a:p>
        </p:txBody>
      </p:sp>
    </p:spTree>
    <p:extLst>
      <p:ext uri="{BB962C8B-B14F-4D97-AF65-F5344CB8AC3E}">
        <p14:creationId xmlns:p14="http://schemas.microsoft.com/office/powerpoint/2010/main" val="15087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6B6F2-FAE0-267E-89E6-FB65B8355B5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54AD670-1292-7F62-5D2B-9EEA34284D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23276F-79D4-1F57-F3EA-9F975E1BE8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EEBB361-2524-C603-1DA0-DFC136990D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44C877-B93D-BE56-4C23-282F5707F6E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1487628-E328-5D9F-8645-5608A001C7D3}"/>
              </a:ext>
            </a:extLst>
          </p:cNvPr>
          <p:cNvSpPr>
            <a:spLocks noGrp="1"/>
          </p:cNvSpPr>
          <p:nvPr>
            <p:ph type="dt" sz="half" idx="10"/>
          </p:nvPr>
        </p:nvSpPr>
        <p:spPr/>
        <p:txBody>
          <a:bodyPr/>
          <a:lstStyle/>
          <a:p>
            <a:fld id="{67B916B1-2B75-4992-A84A-4E8D595000C8}" type="datetimeFigureOut">
              <a:rPr lang="en-IN" smtClean="0"/>
              <a:t>08-09-2026</a:t>
            </a:fld>
            <a:endParaRPr lang="en-IN"/>
          </a:p>
        </p:txBody>
      </p:sp>
      <p:sp>
        <p:nvSpPr>
          <p:cNvPr id="8" name="Footer Placeholder 7">
            <a:extLst>
              <a:ext uri="{FF2B5EF4-FFF2-40B4-BE49-F238E27FC236}">
                <a16:creationId xmlns:a16="http://schemas.microsoft.com/office/drawing/2014/main" id="{931FFF5C-B3D7-8087-BD27-3130E3F7835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415ECB8-947A-679A-C8CD-A4065A549030}"/>
              </a:ext>
            </a:extLst>
          </p:cNvPr>
          <p:cNvSpPr>
            <a:spLocks noGrp="1"/>
          </p:cNvSpPr>
          <p:nvPr>
            <p:ph type="sldNum" sz="quarter" idx="12"/>
          </p:nvPr>
        </p:nvSpPr>
        <p:spPr/>
        <p:txBody>
          <a:bodyPr/>
          <a:lstStyle/>
          <a:p>
            <a:fld id="{19CA385C-E139-4FA4-8CE4-3437F259B573}" type="slidenum">
              <a:rPr lang="en-IN" smtClean="0"/>
              <a:t>‹#›</a:t>
            </a:fld>
            <a:endParaRPr lang="en-IN"/>
          </a:p>
        </p:txBody>
      </p:sp>
    </p:spTree>
    <p:extLst>
      <p:ext uri="{BB962C8B-B14F-4D97-AF65-F5344CB8AC3E}">
        <p14:creationId xmlns:p14="http://schemas.microsoft.com/office/powerpoint/2010/main" val="2877397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CE643-0F87-758B-3C00-F793925593F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939D238-0378-9490-66F0-E63E8A7E477C}"/>
              </a:ext>
            </a:extLst>
          </p:cNvPr>
          <p:cNvSpPr>
            <a:spLocks noGrp="1"/>
          </p:cNvSpPr>
          <p:nvPr>
            <p:ph type="dt" sz="half" idx="10"/>
          </p:nvPr>
        </p:nvSpPr>
        <p:spPr/>
        <p:txBody>
          <a:bodyPr/>
          <a:lstStyle/>
          <a:p>
            <a:fld id="{67B916B1-2B75-4992-A84A-4E8D595000C8}" type="datetimeFigureOut">
              <a:rPr lang="en-IN" smtClean="0"/>
              <a:t>08-09-2026</a:t>
            </a:fld>
            <a:endParaRPr lang="en-IN"/>
          </a:p>
        </p:txBody>
      </p:sp>
      <p:sp>
        <p:nvSpPr>
          <p:cNvPr id="4" name="Footer Placeholder 3">
            <a:extLst>
              <a:ext uri="{FF2B5EF4-FFF2-40B4-BE49-F238E27FC236}">
                <a16:creationId xmlns:a16="http://schemas.microsoft.com/office/drawing/2014/main" id="{720318A7-64A9-4526-B7B9-616D87D5B70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90661B5-0FEE-DEE0-21BB-C0BDFE162422}"/>
              </a:ext>
            </a:extLst>
          </p:cNvPr>
          <p:cNvSpPr>
            <a:spLocks noGrp="1"/>
          </p:cNvSpPr>
          <p:nvPr>
            <p:ph type="sldNum" sz="quarter" idx="12"/>
          </p:nvPr>
        </p:nvSpPr>
        <p:spPr/>
        <p:txBody>
          <a:bodyPr/>
          <a:lstStyle/>
          <a:p>
            <a:fld id="{19CA385C-E139-4FA4-8CE4-3437F259B573}" type="slidenum">
              <a:rPr lang="en-IN" smtClean="0"/>
              <a:t>‹#›</a:t>
            </a:fld>
            <a:endParaRPr lang="en-IN"/>
          </a:p>
        </p:txBody>
      </p:sp>
    </p:spTree>
    <p:extLst>
      <p:ext uri="{BB962C8B-B14F-4D97-AF65-F5344CB8AC3E}">
        <p14:creationId xmlns:p14="http://schemas.microsoft.com/office/powerpoint/2010/main" val="9193589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BEEE77-8B50-C21C-4B0D-C0B549B32474}"/>
              </a:ext>
            </a:extLst>
          </p:cNvPr>
          <p:cNvSpPr>
            <a:spLocks noGrp="1"/>
          </p:cNvSpPr>
          <p:nvPr>
            <p:ph type="dt" sz="half" idx="10"/>
          </p:nvPr>
        </p:nvSpPr>
        <p:spPr/>
        <p:txBody>
          <a:bodyPr/>
          <a:lstStyle/>
          <a:p>
            <a:fld id="{67B916B1-2B75-4992-A84A-4E8D595000C8}" type="datetimeFigureOut">
              <a:rPr lang="en-IN" smtClean="0"/>
              <a:t>08-09-2026</a:t>
            </a:fld>
            <a:endParaRPr lang="en-IN"/>
          </a:p>
        </p:txBody>
      </p:sp>
      <p:sp>
        <p:nvSpPr>
          <p:cNvPr id="3" name="Footer Placeholder 2">
            <a:extLst>
              <a:ext uri="{FF2B5EF4-FFF2-40B4-BE49-F238E27FC236}">
                <a16:creationId xmlns:a16="http://schemas.microsoft.com/office/drawing/2014/main" id="{BA4650E8-C507-2B6C-2A08-043F8B5C4B9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C08696F-AA61-38F7-7BFE-B3CBA900B691}"/>
              </a:ext>
            </a:extLst>
          </p:cNvPr>
          <p:cNvSpPr>
            <a:spLocks noGrp="1"/>
          </p:cNvSpPr>
          <p:nvPr>
            <p:ph type="sldNum" sz="quarter" idx="12"/>
          </p:nvPr>
        </p:nvSpPr>
        <p:spPr/>
        <p:txBody>
          <a:bodyPr/>
          <a:lstStyle/>
          <a:p>
            <a:fld id="{19CA385C-E139-4FA4-8CE4-3437F259B573}" type="slidenum">
              <a:rPr lang="en-IN" smtClean="0"/>
              <a:t>‹#›</a:t>
            </a:fld>
            <a:endParaRPr lang="en-IN"/>
          </a:p>
        </p:txBody>
      </p:sp>
    </p:spTree>
    <p:extLst>
      <p:ext uri="{BB962C8B-B14F-4D97-AF65-F5344CB8AC3E}">
        <p14:creationId xmlns:p14="http://schemas.microsoft.com/office/powerpoint/2010/main" val="2362070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D3C69-9017-4FD9-D2A3-A81746FD6A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6336A2C-E596-1FF9-0B07-0B8C09097C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0D4E2A5-CDE1-53E8-554F-DB61FBB28D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24130F-6C84-7792-DFC9-A9B16149361D}"/>
              </a:ext>
            </a:extLst>
          </p:cNvPr>
          <p:cNvSpPr>
            <a:spLocks noGrp="1"/>
          </p:cNvSpPr>
          <p:nvPr>
            <p:ph type="dt" sz="half" idx="10"/>
          </p:nvPr>
        </p:nvSpPr>
        <p:spPr/>
        <p:txBody>
          <a:bodyPr/>
          <a:lstStyle/>
          <a:p>
            <a:fld id="{67B916B1-2B75-4992-A84A-4E8D595000C8}" type="datetimeFigureOut">
              <a:rPr lang="en-IN" smtClean="0"/>
              <a:t>08-09-2026</a:t>
            </a:fld>
            <a:endParaRPr lang="en-IN"/>
          </a:p>
        </p:txBody>
      </p:sp>
      <p:sp>
        <p:nvSpPr>
          <p:cNvPr id="6" name="Footer Placeholder 5">
            <a:extLst>
              <a:ext uri="{FF2B5EF4-FFF2-40B4-BE49-F238E27FC236}">
                <a16:creationId xmlns:a16="http://schemas.microsoft.com/office/drawing/2014/main" id="{93E00C10-69FD-FF9D-953A-EFB54D496A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493239C-56A7-26E5-8783-0A75A09AF1B1}"/>
              </a:ext>
            </a:extLst>
          </p:cNvPr>
          <p:cNvSpPr>
            <a:spLocks noGrp="1"/>
          </p:cNvSpPr>
          <p:nvPr>
            <p:ph type="sldNum" sz="quarter" idx="12"/>
          </p:nvPr>
        </p:nvSpPr>
        <p:spPr/>
        <p:txBody>
          <a:bodyPr/>
          <a:lstStyle/>
          <a:p>
            <a:fld id="{19CA385C-E139-4FA4-8CE4-3437F259B573}" type="slidenum">
              <a:rPr lang="en-IN" smtClean="0"/>
              <a:t>‹#›</a:t>
            </a:fld>
            <a:endParaRPr lang="en-IN"/>
          </a:p>
        </p:txBody>
      </p:sp>
    </p:spTree>
    <p:extLst>
      <p:ext uri="{BB962C8B-B14F-4D97-AF65-F5344CB8AC3E}">
        <p14:creationId xmlns:p14="http://schemas.microsoft.com/office/powerpoint/2010/main" val="35746014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B41CD-A97E-678B-00BE-0D5B633F49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DE9A7EA-EE33-6ACE-B065-367EB3A46A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E0A41CD-0209-52CA-2618-08E8219519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E324A3-D05B-BE35-8B4A-90C40A4777AB}"/>
              </a:ext>
            </a:extLst>
          </p:cNvPr>
          <p:cNvSpPr>
            <a:spLocks noGrp="1"/>
          </p:cNvSpPr>
          <p:nvPr>
            <p:ph type="dt" sz="half" idx="10"/>
          </p:nvPr>
        </p:nvSpPr>
        <p:spPr/>
        <p:txBody>
          <a:bodyPr/>
          <a:lstStyle/>
          <a:p>
            <a:fld id="{67B916B1-2B75-4992-A84A-4E8D595000C8}" type="datetimeFigureOut">
              <a:rPr lang="en-IN" smtClean="0"/>
              <a:t>08-09-2026</a:t>
            </a:fld>
            <a:endParaRPr lang="en-IN"/>
          </a:p>
        </p:txBody>
      </p:sp>
      <p:sp>
        <p:nvSpPr>
          <p:cNvPr id="6" name="Footer Placeholder 5">
            <a:extLst>
              <a:ext uri="{FF2B5EF4-FFF2-40B4-BE49-F238E27FC236}">
                <a16:creationId xmlns:a16="http://schemas.microsoft.com/office/drawing/2014/main" id="{2312A73A-C9DD-8A82-8589-709AE19482A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F49B2CD-0058-DFD8-C757-0D237D3CDE75}"/>
              </a:ext>
            </a:extLst>
          </p:cNvPr>
          <p:cNvSpPr>
            <a:spLocks noGrp="1"/>
          </p:cNvSpPr>
          <p:nvPr>
            <p:ph type="sldNum" sz="quarter" idx="12"/>
          </p:nvPr>
        </p:nvSpPr>
        <p:spPr/>
        <p:txBody>
          <a:bodyPr/>
          <a:lstStyle/>
          <a:p>
            <a:fld id="{19CA385C-E139-4FA4-8CE4-3437F259B573}" type="slidenum">
              <a:rPr lang="en-IN" smtClean="0"/>
              <a:t>‹#›</a:t>
            </a:fld>
            <a:endParaRPr lang="en-IN"/>
          </a:p>
        </p:txBody>
      </p:sp>
    </p:spTree>
    <p:extLst>
      <p:ext uri="{BB962C8B-B14F-4D97-AF65-F5344CB8AC3E}">
        <p14:creationId xmlns:p14="http://schemas.microsoft.com/office/powerpoint/2010/main" val="2867199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6BE8E-5365-2A61-5008-A27B615DAD4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AFEF3BA-E066-CA53-AB1E-B5126A4D18A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215C28-6E01-AAB4-46FB-E99CF4A6A0CE}"/>
              </a:ext>
            </a:extLst>
          </p:cNvPr>
          <p:cNvSpPr>
            <a:spLocks noGrp="1"/>
          </p:cNvSpPr>
          <p:nvPr>
            <p:ph type="dt" sz="half" idx="10"/>
          </p:nvPr>
        </p:nvSpPr>
        <p:spPr/>
        <p:txBody>
          <a:bodyPr/>
          <a:lstStyle/>
          <a:p>
            <a:fld id="{67B916B1-2B75-4992-A84A-4E8D595000C8}" type="datetimeFigureOut">
              <a:rPr lang="en-IN" smtClean="0"/>
              <a:t>08-09-2026</a:t>
            </a:fld>
            <a:endParaRPr lang="en-IN"/>
          </a:p>
        </p:txBody>
      </p:sp>
      <p:sp>
        <p:nvSpPr>
          <p:cNvPr id="5" name="Footer Placeholder 4">
            <a:extLst>
              <a:ext uri="{FF2B5EF4-FFF2-40B4-BE49-F238E27FC236}">
                <a16:creationId xmlns:a16="http://schemas.microsoft.com/office/drawing/2014/main" id="{8DB4666D-8554-131A-34F2-53415BDF60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3439521-AB75-588D-D3CD-AD00007EC0D9}"/>
              </a:ext>
            </a:extLst>
          </p:cNvPr>
          <p:cNvSpPr>
            <a:spLocks noGrp="1"/>
          </p:cNvSpPr>
          <p:nvPr>
            <p:ph type="sldNum" sz="quarter" idx="12"/>
          </p:nvPr>
        </p:nvSpPr>
        <p:spPr/>
        <p:txBody>
          <a:bodyPr/>
          <a:lstStyle/>
          <a:p>
            <a:fld id="{19CA385C-E139-4FA4-8CE4-3437F259B573}" type="slidenum">
              <a:rPr lang="en-IN" smtClean="0"/>
              <a:t>‹#›</a:t>
            </a:fld>
            <a:endParaRPr lang="en-IN"/>
          </a:p>
        </p:txBody>
      </p:sp>
    </p:spTree>
    <p:extLst>
      <p:ext uri="{BB962C8B-B14F-4D97-AF65-F5344CB8AC3E}">
        <p14:creationId xmlns:p14="http://schemas.microsoft.com/office/powerpoint/2010/main" val="3924951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18F9FF-6B5E-DB4D-9191-5C1F90FE50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AE658E-722C-2B76-F157-006CD1B4EF4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621478-0167-F4CA-82D3-D792B20B06F1}"/>
              </a:ext>
            </a:extLst>
          </p:cNvPr>
          <p:cNvSpPr>
            <a:spLocks noGrp="1"/>
          </p:cNvSpPr>
          <p:nvPr>
            <p:ph type="dt" sz="half" idx="10"/>
          </p:nvPr>
        </p:nvSpPr>
        <p:spPr/>
        <p:txBody>
          <a:bodyPr/>
          <a:lstStyle/>
          <a:p>
            <a:fld id="{67B916B1-2B75-4992-A84A-4E8D595000C8}" type="datetimeFigureOut">
              <a:rPr lang="en-IN" smtClean="0"/>
              <a:t>08-09-2026</a:t>
            </a:fld>
            <a:endParaRPr lang="en-IN"/>
          </a:p>
        </p:txBody>
      </p:sp>
      <p:sp>
        <p:nvSpPr>
          <p:cNvPr id="5" name="Footer Placeholder 4">
            <a:extLst>
              <a:ext uri="{FF2B5EF4-FFF2-40B4-BE49-F238E27FC236}">
                <a16:creationId xmlns:a16="http://schemas.microsoft.com/office/drawing/2014/main" id="{A476E077-2BBD-B75D-D5F8-645C8B016A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05A1B9-544A-AE99-2590-4B9FC22AFC58}"/>
              </a:ext>
            </a:extLst>
          </p:cNvPr>
          <p:cNvSpPr>
            <a:spLocks noGrp="1"/>
          </p:cNvSpPr>
          <p:nvPr>
            <p:ph type="sldNum" sz="quarter" idx="12"/>
          </p:nvPr>
        </p:nvSpPr>
        <p:spPr/>
        <p:txBody>
          <a:bodyPr/>
          <a:lstStyle/>
          <a:p>
            <a:fld id="{19CA385C-E139-4FA4-8CE4-3437F259B573}" type="slidenum">
              <a:rPr lang="en-IN" smtClean="0"/>
              <a:t>‹#›</a:t>
            </a:fld>
            <a:endParaRPr lang="en-IN"/>
          </a:p>
        </p:txBody>
      </p:sp>
    </p:spTree>
    <p:extLst>
      <p:ext uri="{BB962C8B-B14F-4D97-AF65-F5344CB8AC3E}">
        <p14:creationId xmlns:p14="http://schemas.microsoft.com/office/powerpoint/2010/main" val="2214635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6A42E7-4C95-7A46-48A0-4972FDB0A8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1D2D4F-0574-6D3F-D328-25C5B9EADF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B80205-C8BF-3B14-3AD1-777C935BB8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7B916B1-2B75-4992-A84A-4E8D595000C8}" type="datetimeFigureOut">
              <a:rPr lang="en-IN" smtClean="0"/>
              <a:t>08-09-2026</a:t>
            </a:fld>
            <a:endParaRPr lang="en-IN"/>
          </a:p>
        </p:txBody>
      </p:sp>
      <p:sp>
        <p:nvSpPr>
          <p:cNvPr id="5" name="Footer Placeholder 4">
            <a:extLst>
              <a:ext uri="{FF2B5EF4-FFF2-40B4-BE49-F238E27FC236}">
                <a16:creationId xmlns:a16="http://schemas.microsoft.com/office/drawing/2014/main" id="{A13782D4-449B-CAC2-1D83-0CBDB3821B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E25EE30-6095-E40E-99FF-F54757C698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9CA385C-E139-4FA4-8CE4-3437F259B573}" type="slidenum">
              <a:rPr lang="en-IN" smtClean="0"/>
              <a:t>‹#›</a:t>
            </a:fld>
            <a:endParaRPr lang="en-IN"/>
          </a:p>
        </p:txBody>
      </p:sp>
    </p:spTree>
    <p:extLst>
      <p:ext uri="{BB962C8B-B14F-4D97-AF65-F5344CB8AC3E}">
        <p14:creationId xmlns:p14="http://schemas.microsoft.com/office/powerpoint/2010/main" val="17061430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B28DE-CEB1-8B48-AFE2-DC90EABC47C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00913BE-17B6-18DD-AF3D-4330A31879DB}"/>
              </a:ext>
            </a:extLst>
          </p:cNvPr>
          <p:cNvSpPr txBox="1"/>
          <p:nvPr/>
        </p:nvSpPr>
        <p:spPr>
          <a:xfrm>
            <a:off x="584200" y="508000"/>
            <a:ext cx="5334000" cy="276999"/>
          </a:xfrm>
          <a:prstGeom prst="rect">
            <a:avLst/>
          </a:prstGeom>
          <a:noFill/>
        </p:spPr>
        <p:txBody>
          <a:bodyPr vert="horz" wrap="square" rtlCol="0">
            <a:spAutoFit/>
          </a:bodyPr>
          <a:lstStyle/>
          <a:p>
            <a:pPr algn="ctr"/>
            <a:r>
              <a:rPr lang="en-US" sz="1200" b="1">
                <a:solidFill>
                  <a:srgbClr val="FFFFFF"/>
                </a:solidFill>
                <a:latin typeface="IBM Plex Sans" panose="020B0503050203000203" pitchFamily="34" charset="0"/>
              </a:rPr>
              <a:t>IASCT Workshop . 12 September 2026</a:t>
            </a:r>
            <a:endParaRPr lang="en-IN" sz="1200" b="1">
              <a:solidFill>
                <a:srgbClr val="FFFFFF"/>
              </a:solidFill>
              <a:latin typeface="IBM Plex Sans" panose="020B0503050203000203" pitchFamily="34" charset="0"/>
            </a:endParaRPr>
          </a:p>
        </p:txBody>
      </p:sp>
      <p:sp>
        <p:nvSpPr>
          <p:cNvPr id="4" name="TextBox 3">
            <a:extLst>
              <a:ext uri="{FF2B5EF4-FFF2-40B4-BE49-F238E27FC236}">
                <a16:creationId xmlns:a16="http://schemas.microsoft.com/office/drawing/2014/main" id="{F2712A8E-2738-EBB1-3060-5B859C2F5231}"/>
              </a:ext>
            </a:extLst>
          </p:cNvPr>
          <p:cNvSpPr txBox="1"/>
          <p:nvPr/>
        </p:nvSpPr>
        <p:spPr>
          <a:xfrm>
            <a:off x="584200" y="1651000"/>
            <a:ext cx="14605000" cy="707886"/>
          </a:xfrm>
          <a:prstGeom prst="rect">
            <a:avLst/>
          </a:prstGeom>
          <a:noFill/>
        </p:spPr>
        <p:txBody>
          <a:bodyPr vert="horz" wrap="square" rtlCol="0">
            <a:spAutoFit/>
          </a:bodyPr>
          <a:lstStyle/>
          <a:p>
            <a:r>
              <a:rPr lang="en-IN" sz="4000" b="1">
                <a:solidFill>
                  <a:srgbClr val="FFFFFF"/>
                </a:solidFill>
                <a:latin typeface="IBM Plex Sans" panose="020B0503050203000203" pitchFamily="34" charset="0"/>
              </a:rPr>
              <a:t> Building Interactive Dashboards</a:t>
            </a:r>
          </a:p>
        </p:txBody>
      </p:sp>
      <p:sp>
        <p:nvSpPr>
          <p:cNvPr id="5" name="TextBox 4">
            <a:extLst>
              <a:ext uri="{FF2B5EF4-FFF2-40B4-BE49-F238E27FC236}">
                <a16:creationId xmlns:a16="http://schemas.microsoft.com/office/drawing/2014/main" id="{A3774B40-F37B-EF18-804F-A389481CBBD7}"/>
              </a:ext>
            </a:extLst>
          </p:cNvPr>
          <p:cNvSpPr txBox="1"/>
          <p:nvPr/>
        </p:nvSpPr>
        <p:spPr>
          <a:xfrm>
            <a:off x="889000" y="2413456"/>
            <a:ext cx="11430000" cy="353943"/>
          </a:xfrm>
          <a:prstGeom prst="rect">
            <a:avLst/>
          </a:prstGeom>
          <a:noFill/>
        </p:spPr>
        <p:txBody>
          <a:bodyPr vert="horz" wrap="square" rtlCol="0">
            <a:spAutoFit/>
          </a:bodyPr>
          <a:lstStyle/>
          <a:p>
            <a:r>
              <a:rPr lang="en-US" sz="1700" dirty="0">
                <a:solidFill>
                  <a:srgbClr val="DCE3F5"/>
                </a:solidFill>
                <a:latin typeface="IBM Plex Sans" panose="020B0503050203000203" pitchFamily="34" charset="0"/>
              </a:rPr>
              <a:t>for Smarter Insights Using R Shiny</a:t>
            </a:r>
            <a:endParaRPr lang="en-IN" sz="1700" dirty="0">
              <a:solidFill>
                <a:srgbClr val="DCE3F5"/>
              </a:solidFill>
              <a:latin typeface="IBM Plex Sans" panose="020B0503050203000203" pitchFamily="34" charset="0"/>
            </a:endParaRPr>
          </a:p>
        </p:txBody>
      </p:sp>
      <p:sp>
        <p:nvSpPr>
          <p:cNvPr id="7" name="TextBox 6">
            <a:extLst>
              <a:ext uri="{FF2B5EF4-FFF2-40B4-BE49-F238E27FC236}">
                <a16:creationId xmlns:a16="http://schemas.microsoft.com/office/drawing/2014/main" id="{CF00DB4C-232B-92E4-BAD3-AF46C6DDD4DD}"/>
              </a:ext>
            </a:extLst>
          </p:cNvPr>
          <p:cNvSpPr txBox="1"/>
          <p:nvPr/>
        </p:nvSpPr>
        <p:spPr>
          <a:xfrm>
            <a:off x="889000" y="5651500"/>
            <a:ext cx="6096000" cy="338554"/>
          </a:xfrm>
          <a:prstGeom prst="rect">
            <a:avLst/>
          </a:prstGeom>
          <a:noFill/>
        </p:spPr>
        <p:txBody>
          <a:bodyPr vert="horz" wrap="square" rtlCol="0">
            <a:spAutoFit/>
          </a:bodyPr>
          <a:lstStyle/>
          <a:p>
            <a:r>
              <a:rPr lang="en-IN" sz="1600" b="1">
                <a:solidFill>
                  <a:srgbClr val="1B2340"/>
                </a:solidFill>
                <a:latin typeface="IBM Plex Sans" panose="020B0503050203000203" pitchFamily="34" charset="0"/>
              </a:rPr>
              <a:t>Mahesh Divakaran</a:t>
            </a:r>
          </a:p>
        </p:txBody>
      </p:sp>
      <p:sp>
        <p:nvSpPr>
          <p:cNvPr id="8" name="TextBox 7">
            <a:extLst>
              <a:ext uri="{FF2B5EF4-FFF2-40B4-BE49-F238E27FC236}">
                <a16:creationId xmlns:a16="http://schemas.microsoft.com/office/drawing/2014/main" id="{631DAC9E-810C-480D-1600-E72D68E33AA5}"/>
              </a:ext>
            </a:extLst>
          </p:cNvPr>
          <p:cNvSpPr txBox="1"/>
          <p:nvPr/>
        </p:nvSpPr>
        <p:spPr>
          <a:xfrm>
            <a:off x="889000" y="5969000"/>
            <a:ext cx="6096000" cy="276999"/>
          </a:xfrm>
          <a:prstGeom prst="rect">
            <a:avLst/>
          </a:prstGeom>
          <a:noFill/>
        </p:spPr>
        <p:txBody>
          <a:bodyPr vert="horz" wrap="square" rtlCol="0">
            <a:spAutoFit/>
          </a:bodyPr>
          <a:lstStyle/>
          <a:p>
            <a:r>
              <a:rPr lang="en-US" sz="1200">
                <a:solidFill>
                  <a:srgbClr val="5B6182"/>
                </a:solidFill>
                <a:latin typeface="IBM Plex Sans" panose="020B0503050203000203" pitchFamily="34" charset="0"/>
              </a:rPr>
              <a:t>Senior Tech Lead - R Developer, Ephicacy Life Science Analytics</a:t>
            </a:r>
            <a:endParaRPr lang="en-IN" sz="1200">
              <a:solidFill>
                <a:srgbClr val="5B6182"/>
              </a:solidFill>
              <a:latin typeface="IBM Plex Sans" panose="020B0503050203000203" pitchFamily="34" charset="0"/>
            </a:endParaRPr>
          </a:p>
        </p:txBody>
      </p:sp>
    </p:spTree>
    <p:extLst>
      <p:ext uri="{BB962C8B-B14F-4D97-AF65-F5344CB8AC3E}">
        <p14:creationId xmlns:p14="http://schemas.microsoft.com/office/powerpoint/2010/main" val="26842969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F3A0F69-8712-C4A2-3ACA-A8883B64DDF9}"/>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PRESENTER</a:t>
            </a:r>
          </a:p>
        </p:txBody>
      </p:sp>
      <p:sp>
        <p:nvSpPr>
          <p:cNvPr id="3" name="TextBox 2">
            <a:extLst>
              <a:ext uri="{FF2B5EF4-FFF2-40B4-BE49-F238E27FC236}">
                <a16:creationId xmlns:a16="http://schemas.microsoft.com/office/drawing/2014/main" id="{7E567451-157F-0261-4A6E-D9A7AADD1928}"/>
              </a:ext>
            </a:extLst>
          </p:cNvPr>
          <p:cNvSpPr txBox="1"/>
          <p:nvPr/>
        </p:nvSpPr>
        <p:spPr>
          <a:xfrm>
            <a:off x="584200" y="609600"/>
            <a:ext cx="14605000" cy="492443"/>
          </a:xfrm>
          <a:prstGeom prst="rect">
            <a:avLst/>
          </a:prstGeom>
          <a:noFill/>
        </p:spPr>
        <p:txBody>
          <a:bodyPr vert="horz" wrap="square" rtlCol="0">
            <a:spAutoFit/>
          </a:bodyPr>
          <a:lstStyle/>
          <a:p>
            <a:r>
              <a:rPr lang="en-IN" sz="2600" b="1">
                <a:solidFill>
                  <a:srgbClr val="1B2340"/>
                </a:solidFill>
                <a:latin typeface="IBM Plex Sans" panose="020B0503050203000203" pitchFamily="34" charset="0"/>
              </a:rPr>
              <a:t>About your speaker today</a:t>
            </a:r>
          </a:p>
        </p:txBody>
      </p:sp>
      <p:sp>
        <p:nvSpPr>
          <p:cNvPr id="4" name="Rectangle: Rounded Corners 3">
            <a:extLst>
              <a:ext uri="{FF2B5EF4-FFF2-40B4-BE49-F238E27FC236}">
                <a16:creationId xmlns:a16="http://schemas.microsoft.com/office/drawing/2014/main" id="{154B0D59-1CCA-8B50-B026-91E1DF10F91F}"/>
              </a:ext>
            </a:extLst>
          </p:cNvPr>
          <p:cNvSpPr/>
          <p:nvPr/>
        </p:nvSpPr>
        <p:spPr>
          <a:xfrm>
            <a:off x="584200" y="1651000"/>
            <a:ext cx="11023295"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7C61BA43-2582-223B-4010-92DD50AF4D45}"/>
              </a:ext>
            </a:extLst>
          </p:cNvPr>
          <p:cNvSpPr txBox="1"/>
          <p:nvPr/>
        </p:nvSpPr>
        <p:spPr>
          <a:xfrm>
            <a:off x="889000" y="1930400"/>
            <a:ext cx="10413695" cy="369332"/>
          </a:xfrm>
          <a:prstGeom prst="rect">
            <a:avLst/>
          </a:prstGeom>
          <a:noFill/>
        </p:spPr>
        <p:txBody>
          <a:bodyPr vert="horz" wrap="square" rtlCol="0">
            <a:noAutofit/>
          </a:bodyPr>
          <a:lstStyle/>
          <a:p>
            <a:pPr marL="342900" indent="-342900">
              <a:buFont typeface="+mj-lt"/>
              <a:buChar char="•"/>
            </a:pPr>
            <a:r>
              <a:rPr lang="en-IN" sz="1600">
                <a:solidFill>
                  <a:srgbClr val="5B6182"/>
                </a:solidFill>
                <a:latin typeface="IBM Plex Sans" panose="020B0503050203000203" pitchFamily="34" charset="0"/>
              </a:rPr>
              <a:t>`
 Mahesh Divakaran is a Senior Tech Lead and R Developer at Ephicacy Life Science Analytics, specializing in R Shiny application development for clinical trial reporting - from ADaM-driven TFL automation to interactive review dashboards and, most recently, LLM-assisted output generation.
 R ShinyClinical TFLsADaM / pharmaverseAI integration
 MD
 Mahesh DivakaranSenior Tech Lead - R Developer
Ephicacy Life Science Analytics
`</a:t>
            </a:r>
          </a:p>
        </p:txBody>
      </p:sp>
      <p:sp>
        <p:nvSpPr>
          <p:cNvPr id="6" name="TextBox 5">
            <a:extLst>
              <a:ext uri="{FF2B5EF4-FFF2-40B4-BE49-F238E27FC236}">
                <a16:creationId xmlns:a16="http://schemas.microsoft.com/office/drawing/2014/main" id="{91883B2C-7572-FE77-C266-9A88FDB99D2E}"/>
              </a:ext>
            </a:extLst>
          </p:cNvPr>
          <p:cNvSpPr txBox="1"/>
          <p:nvPr/>
        </p:nvSpPr>
        <p:spPr>
          <a:xfrm>
            <a:off x="304800" y="6553200"/>
            <a:ext cx="6350000" cy="276999"/>
          </a:xfrm>
          <a:prstGeom prst="rect">
            <a:avLst/>
          </a:prstGeom>
          <a:noFill/>
        </p:spPr>
        <p:txBody>
          <a:bodyPr vert="horz" wrap="square" rtlCol="0">
            <a:spAutoFit/>
          </a:bodyPr>
          <a:lstStyle/>
          <a:p>
            <a:r>
              <a:rPr lang="en-IN" sz="1200" i="1">
                <a:solidFill>
                  <a:srgbClr val="5B6182"/>
                </a:solidFill>
                <a:latin typeface="IBM Plex Sans" panose="020B0503050203000203" pitchFamily="34" charset="0"/>
              </a:rPr>
              <a:t>Opening</a:t>
            </a:r>
          </a:p>
        </p:txBody>
      </p:sp>
    </p:spTree>
    <p:extLst>
      <p:ext uri="{BB962C8B-B14F-4D97-AF65-F5344CB8AC3E}">
        <p14:creationId xmlns:p14="http://schemas.microsoft.com/office/powerpoint/2010/main" val="28601860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D7ED7B-AD0E-4C39-4F31-50BB2C2DFFB4}"/>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LEARNING OUTCOMES</a:t>
            </a:r>
          </a:p>
        </p:txBody>
      </p:sp>
      <p:sp>
        <p:nvSpPr>
          <p:cNvPr id="3" name="TextBox 2">
            <a:extLst>
              <a:ext uri="{FF2B5EF4-FFF2-40B4-BE49-F238E27FC236}">
                <a16:creationId xmlns:a16="http://schemas.microsoft.com/office/drawing/2014/main" id="{46229057-1E37-0070-5AA0-A33D39AB3658}"/>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What you'll be able to do by 6:00 PM</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62CEB446-7A8D-425F-56C6-83B95334D6E2}"/>
              </a:ext>
            </a:extLst>
          </p:cNvPr>
          <p:cNvSpPr/>
          <p:nvPr/>
        </p:nvSpPr>
        <p:spPr>
          <a:xfrm>
            <a:off x="584200" y="1651000"/>
            <a:ext cx="5359248"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81355717-F4C0-3F4B-02C6-B9BF635E88DF}"/>
              </a:ext>
            </a:extLst>
          </p:cNvPr>
          <p:cNvSpPr txBox="1"/>
          <p:nvPr/>
        </p:nvSpPr>
        <p:spPr>
          <a:xfrm>
            <a:off x="863600" y="1879600"/>
            <a:ext cx="4800448" cy="353943"/>
          </a:xfrm>
          <a:prstGeom prst="rect">
            <a:avLst/>
          </a:prstGeom>
          <a:noFill/>
        </p:spPr>
        <p:txBody>
          <a:bodyPr vert="horz" wrap="square" rtlCol="0">
            <a:spAutoFit/>
          </a:bodyPr>
          <a:lstStyle/>
          <a:p>
            <a:r>
              <a:rPr lang="en-IN" sz="1700" b="1">
                <a:solidFill>
                  <a:srgbClr val="1B2340"/>
                </a:solidFill>
                <a:latin typeface="IBM Plex Sans" panose="020B0503050203000203" pitchFamily="34" charset="0"/>
              </a:rPr>
              <a:t>Concepts</a:t>
            </a:r>
          </a:p>
        </p:txBody>
      </p:sp>
      <p:sp>
        <p:nvSpPr>
          <p:cNvPr id="6" name="TextBox 5">
            <a:extLst>
              <a:ext uri="{FF2B5EF4-FFF2-40B4-BE49-F238E27FC236}">
                <a16:creationId xmlns:a16="http://schemas.microsoft.com/office/drawing/2014/main" id="{C50C658E-09EB-E9DF-7497-6274B80C9762}"/>
              </a:ext>
            </a:extLst>
          </p:cNvPr>
          <p:cNvSpPr txBox="1"/>
          <p:nvPr/>
        </p:nvSpPr>
        <p:spPr>
          <a:xfrm>
            <a:off x="863600" y="2311400"/>
            <a:ext cx="4800448" cy="369332"/>
          </a:xfrm>
          <a:prstGeom prst="rect">
            <a:avLst/>
          </a:prstGeom>
          <a:noFill/>
        </p:spPr>
        <p:txBody>
          <a:bodyPr vert="horz" wrap="square" rtlCol="0">
            <a:noAutofit/>
          </a:bodyPr>
          <a:lstStyle/>
          <a:p>
            <a:pPr marL="342900" indent="-342900">
              <a:buFont typeface="+mj-lt"/>
              <a:buChar char="•"/>
            </a:pPr>
            <a:r>
              <a:rPr lang="en-US" sz="1500">
                <a:solidFill>
                  <a:srgbClr val="5B6182"/>
                </a:solidFill>
                <a:latin typeface="IBM Plex Sans" panose="020B0503050203000203" pitchFamily="34" charset="0"/>
              </a:rPr>
              <a:t>Explain where R Shiny fits among clinical dashboard tools
Describe the UI / Server / Reactive-engine model
Recognize the building blocks of a clinical TFL dashboard</a:t>
            </a:r>
            <a:endParaRPr lang="en-IN" sz="1500">
              <a:solidFill>
                <a:srgbClr val="5B6182"/>
              </a:solidFill>
              <a:latin typeface="IBM Plex Sans" panose="020B0503050203000203" pitchFamily="34" charset="0"/>
            </a:endParaRPr>
          </a:p>
        </p:txBody>
      </p:sp>
      <p:sp>
        <p:nvSpPr>
          <p:cNvPr id="7" name="Rectangle: Rounded Corners 6">
            <a:extLst>
              <a:ext uri="{FF2B5EF4-FFF2-40B4-BE49-F238E27FC236}">
                <a16:creationId xmlns:a16="http://schemas.microsoft.com/office/drawing/2014/main" id="{154BFFB5-444A-259C-AF69-0FB784A7BFDD}"/>
              </a:ext>
            </a:extLst>
          </p:cNvPr>
          <p:cNvSpPr/>
          <p:nvPr/>
        </p:nvSpPr>
        <p:spPr>
          <a:xfrm>
            <a:off x="6248248" y="1651000"/>
            <a:ext cx="5359247"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0B10189D-38B0-0A9B-E1BD-E96F881E99BA}"/>
              </a:ext>
            </a:extLst>
          </p:cNvPr>
          <p:cNvSpPr txBox="1"/>
          <p:nvPr/>
        </p:nvSpPr>
        <p:spPr>
          <a:xfrm>
            <a:off x="6527647" y="1879600"/>
            <a:ext cx="4800448" cy="353943"/>
          </a:xfrm>
          <a:prstGeom prst="rect">
            <a:avLst/>
          </a:prstGeom>
          <a:noFill/>
        </p:spPr>
        <p:txBody>
          <a:bodyPr vert="horz" wrap="square" rtlCol="0">
            <a:spAutoFit/>
          </a:bodyPr>
          <a:lstStyle/>
          <a:p>
            <a:r>
              <a:rPr lang="en-IN" sz="1700" b="1">
                <a:solidFill>
                  <a:srgbClr val="1B2340"/>
                </a:solidFill>
                <a:latin typeface="IBM Plex Sans" panose="020B0503050203000203" pitchFamily="34" charset="0"/>
              </a:rPr>
              <a:t>Hands-on</a:t>
            </a:r>
          </a:p>
        </p:txBody>
      </p:sp>
      <p:sp>
        <p:nvSpPr>
          <p:cNvPr id="9" name="TextBox 8">
            <a:extLst>
              <a:ext uri="{FF2B5EF4-FFF2-40B4-BE49-F238E27FC236}">
                <a16:creationId xmlns:a16="http://schemas.microsoft.com/office/drawing/2014/main" id="{D7EAE38A-0ED3-9CE1-8080-FF54EC6436CC}"/>
              </a:ext>
            </a:extLst>
          </p:cNvPr>
          <p:cNvSpPr txBox="1"/>
          <p:nvPr/>
        </p:nvSpPr>
        <p:spPr>
          <a:xfrm>
            <a:off x="6527647" y="2311400"/>
            <a:ext cx="4800448" cy="369332"/>
          </a:xfrm>
          <a:prstGeom prst="rect">
            <a:avLst/>
          </a:prstGeom>
          <a:noFill/>
        </p:spPr>
        <p:txBody>
          <a:bodyPr vert="horz" wrap="square" rtlCol="0">
            <a:noAutofit/>
          </a:bodyPr>
          <a:lstStyle/>
          <a:p>
            <a:pPr marL="342900" indent="-342900">
              <a:buFont typeface="+mj-lt"/>
              <a:buChar char="•"/>
            </a:pPr>
            <a:r>
              <a:rPr lang="en-US" sz="1500">
                <a:solidFill>
                  <a:srgbClr val="5B6182"/>
                </a:solidFill>
                <a:latin typeface="IBM Plex Sans" panose="020B0503050203000203" pitchFamily="34" charset="0"/>
              </a:rPr>
              <a:t>Build and filter a mini TFL dashboard from ADaM data
Export a table to HTML, Word and CSV, and a figure to PNG/SVG
See a working pattern for LLM-assisted TFL generation</a:t>
            </a:r>
            <a:endParaRPr lang="en-IN" sz="1500">
              <a:solidFill>
                <a:srgbClr val="5B6182"/>
              </a:solidFill>
              <a:latin typeface="IBM Plex Sans" panose="020B0503050203000203" pitchFamily="34" charset="0"/>
            </a:endParaRPr>
          </a:p>
        </p:txBody>
      </p:sp>
      <p:sp>
        <p:nvSpPr>
          <p:cNvPr id="10" name="TextBox 9">
            <a:extLst>
              <a:ext uri="{FF2B5EF4-FFF2-40B4-BE49-F238E27FC236}">
                <a16:creationId xmlns:a16="http://schemas.microsoft.com/office/drawing/2014/main" id="{96EA2EA2-1CF2-32CD-AB9B-16697288E252}"/>
              </a:ext>
            </a:extLst>
          </p:cNvPr>
          <p:cNvSpPr txBox="1"/>
          <p:nvPr/>
        </p:nvSpPr>
        <p:spPr>
          <a:xfrm>
            <a:off x="304800" y="6553200"/>
            <a:ext cx="6350000" cy="276999"/>
          </a:xfrm>
          <a:prstGeom prst="rect">
            <a:avLst/>
          </a:prstGeom>
          <a:noFill/>
        </p:spPr>
        <p:txBody>
          <a:bodyPr vert="horz" wrap="square" rtlCol="0">
            <a:spAutoFit/>
          </a:bodyPr>
          <a:lstStyle/>
          <a:p>
            <a:r>
              <a:rPr lang="en-IN" sz="1200" i="1">
                <a:solidFill>
                  <a:srgbClr val="5B6182"/>
                </a:solidFill>
                <a:latin typeface="IBM Plex Sans" panose="020B0503050203000203" pitchFamily="34" charset="0"/>
              </a:rPr>
              <a:t>Opening</a:t>
            </a:r>
          </a:p>
        </p:txBody>
      </p:sp>
    </p:spTree>
    <p:extLst>
      <p:ext uri="{BB962C8B-B14F-4D97-AF65-F5344CB8AC3E}">
        <p14:creationId xmlns:p14="http://schemas.microsoft.com/office/powerpoint/2010/main" val="36685710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C103160-782A-BE91-9BFA-80FD668D05C9}"/>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FOUNDATIONS</a:t>
            </a:r>
          </a:p>
        </p:txBody>
      </p:sp>
      <p:sp>
        <p:nvSpPr>
          <p:cNvPr id="3" name="TextBox 2">
            <a:extLst>
              <a:ext uri="{FF2B5EF4-FFF2-40B4-BE49-F238E27FC236}">
                <a16:creationId xmlns:a16="http://schemas.microsoft.com/office/drawing/2014/main" id="{A89C79EE-FCAD-30E4-2C39-EB7B6E908BE4}"/>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Setting Expectations: The Flow of Thought for Today</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C54953A1-DD05-4613-F148-6A34FF4173E6}"/>
              </a:ext>
            </a:extLst>
          </p:cNvPr>
          <p:cNvSpPr/>
          <p:nvPr/>
        </p:nvSpPr>
        <p:spPr>
          <a:xfrm>
            <a:off x="584200" y="1651000"/>
            <a:ext cx="11023295"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B2D51663-F7F5-C5E1-232F-A323EC4C42B9}"/>
              </a:ext>
            </a:extLst>
          </p:cNvPr>
          <p:cNvSpPr txBox="1"/>
          <p:nvPr/>
        </p:nvSpPr>
        <p:spPr>
          <a:xfrm>
            <a:off x="889000" y="1930400"/>
            <a:ext cx="10413695" cy="369332"/>
          </a:xfrm>
          <a:prstGeom prst="rect">
            <a:avLst/>
          </a:prstGeom>
          <a:noFill/>
        </p:spPr>
        <p:txBody>
          <a:bodyPr vert="horz" wrap="square" rtlCol="0">
            <a:noAutofit/>
          </a:bodyPr>
          <a:lstStyle/>
          <a:p>
            <a:pPr marL="342900" indent="-342900">
              <a:buFont typeface="+mj-lt"/>
              <a:buChar char="•"/>
            </a:pPr>
            <a:r>
              <a:rPr lang="en-US" sz="1600">
                <a:solidFill>
                  <a:srgbClr val="5B6182"/>
                </a:solidFill>
                <a:latin typeface="IBM Plex Sans" panose="020B0503050203000203" pitchFamily="34" charset="0"/>
              </a:rPr>
              <a:t>1. Why -- dashboards support recurring decisions, not one-off reports (this section)
2. What -- the UI / Server / Reactive-engine vocabulary every Shiny app is built from (Session 2)
3. See it -- watch that vocabulary become a real clinical scenario end-to-end (Session 3)
4. Build it -- put your hands on the same patterns in the Mini TFL Builder (Session 4)
5. Extend it -- see where AI/LLMs fit without breaking the guardrails you just learned to value (Session 5)
Carry this thought through the day: every design choice you will see -- shared filtering, one renderer per table, visible N's -- is a direct answer to the 'science' and 'not a filter toy' ideas just covered</a:t>
            </a:r>
            <a:endParaRPr lang="en-IN" sz="1600">
              <a:solidFill>
                <a:srgbClr val="5B6182"/>
              </a:solidFill>
              <a:latin typeface="IBM Plex Sans" panose="020B0503050203000203" pitchFamily="34" charset="0"/>
            </a:endParaRPr>
          </a:p>
        </p:txBody>
      </p:sp>
      <p:sp>
        <p:nvSpPr>
          <p:cNvPr id="6" name="TextBox 5">
            <a:extLst>
              <a:ext uri="{FF2B5EF4-FFF2-40B4-BE49-F238E27FC236}">
                <a16:creationId xmlns:a16="http://schemas.microsoft.com/office/drawing/2014/main" id="{810740C8-A784-46CD-837E-3D88AD614DB3}"/>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Session 1 - Context &amp; Use Cases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2367192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E945C4-D6F7-1841-D7C3-9DF3DF659979}"/>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TODAY'S FLOW</a:t>
            </a:r>
          </a:p>
        </p:txBody>
      </p:sp>
      <p:sp>
        <p:nvSpPr>
          <p:cNvPr id="3" name="TextBox 2">
            <a:extLst>
              <a:ext uri="{FF2B5EF4-FFF2-40B4-BE49-F238E27FC236}">
                <a16:creationId xmlns:a16="http://schemas.microsoft.com/office/drawing/2014/main" id="{6A6165B3-D77D-B633-469E-93BE8A1BD3BC}"/>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Five sessions, one working dashboard</a:t>
            </a:r>
            <a:endParaRPr lang="en-IN" sz="2600" b="1">
              <a:solidFill>
                <a:srgbClr val="1B2340"/>
              </a:solidFill>
              <a:latin typeface="IBM Plex Sans" panose="020B0503050203000203" pitchFamily="34" charset="0"/>
            </a:endParaRPr>
          </a:p>
        </p:txBody>
      </p:sp>
      <p:graphicFrame>
        <p:nvGraphicFramePr>
          <p:cNvPr id="4" name="Table 3">
            <a:extLst>
              <a:ext uri="{FF2B5EF4-FFF2-40B4-BE49-F238E27FC236}">
                <a16:creationId xmlns:a16="http://schemas.microsoft.com/office/drawing/2014/main" id="{7647EFCE-9CC4-CCD4-4AB5-A4D973AC6A1E}"/>
              </a:ext>
            </a:extLst>
          </p:cNvPr>
          <p:cNvGraphicFramePr>
            <a:graphicFrameLocks noGrp="1"/>
          </p:cNvGraphicFramePr>
          <p:nvPr>
            <p:extLst>
              <p:ext uri="{D42A27DB-BD31-4B8C-83A1-F6EECF244321}">
                <p14:modId xmlns:p14="http://schemas.microsoft.com/office/powerpoint/2010/main" val="1802549663"/>
              </p:ext>
            </p:extLst>
          </p:nvPr>
        </p:nvGraphicFramePr>
        <p:xfrm>
          <a:off x="584200" y="1651000"/>
          <a:ext cx="11023295" cy="469900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1655654279"/>
                    </a:ext>
                  </a:extLst>
                </a:gridCol>
                <a:gridCol w="5461000">
                  <a:extLst>
                    <a:ext uri="{9D8B030D-6E8A-4147-A177-3AD203B41FA5}">
                      <a16:colId xmlns:a16="http://schemas.microsoft.com/office/drawing/2014/main" val="4037011813"/>
                    </a:ext>
                  </a:extLst>
                </a:gridCol>
                <a:gridCol w="5461000">
                  <a:extLst>
                    <a:ext uri="{9D8B030D-6E8A-4147-A177-3AD203B41FA5}">
                      <a16:colId xmlns:a16="http://schemas.microsoft.com/office/drawing/2014/main" val="1104955180"/>
                    </a:ext>
                  </a:extLst>
                </a:gridCol>
                <a:gridCol w="208280">
                  <a:extLst>
                    <a:ext uri="{9D8B030D-6E8A-4147-A177-3AD203B41FA5}">
                      <a16:colId xmlns:a16="http://schemas.microsoft.com/office/drawing/2014/main" val="3290982682"/>
                    </a:ext>
                  </a:extLst>
                </a:gridCol>
              </a:tblGrid>
              <a:tr h="587375">
                <a:tc>
                  <a:txBody>
                    <a:bodyPr/>
                    <a:lstStyle/>
                    <a:p>
                      <a:r>
                        <a:rPr lang="en-IN" sz="1300" b="1">
                          <a:solidFill>
                            <a:srgbClr val="FFFFFF"/>
                          </a:solidFill>
                        </a:rPr>
                        <a:t>Time</a:t>
                      </a:r>
                    </a:p>
                  </a:txBody>
                  <a:tcPr>
                    <a:solidFill>
                      <a:srgbClr val="2C3E7A"/>
                    </a:solidFill>
                  </a:tcPr>
                </a:tc>
                <a:tc>
                  <a:txBody>
                    <a:bodyPr/>
                    <a:lstStyle/>
                    <a:p>
                      <a:r>
                        <a:rPr lang="en-IN" sz="1300" b="1">
                          <a:solidFill>
                            <a:srgbClr val="FFFFFF"/>
                          </a:solidFill>
                        </a:rPr>
                        <a:t>Topic</a:t>
                      </a:r>
                    </a:p>
                  </a:txBody>
                  <a:tcPr>
                    <a:solidFill>
                      <a:srgbClr val="2C3E7A"/>
                    </a:solidFill>
                  </a:tcPr>
                </a:tc>
                <a:tc>
                  <a:txBody>
                    <a:bodyPr/>
                    <a:lstStyle/>
                    <a:p>
                      <a:r>
                        <a:rPr lang="en-IN" sz="1300" b="1">
                          <a:solidFill>
                            <a:srgbClr val="FFFFFF"/>
                          </a:solidFill>
                        </a:rPr>
                        <a:t>Detail</a:t>
                      </a:r>
                    </a:p>
                  </a:txBody>
                  <a:tcPr>
                    <a:solidFill>
                      <a:srgbClr val="2C3E7A"/>
                    </a:solidFill>
                  </a:tcPr>
                </a:tc>
                <a:tc>
                  <a:txBody>
                    <a:bodyPr/>
                    <a:lstStyle/>
                    <a:p>
                      <a:r>
                        <a:rPr lang="en-IN" sz="1300" b="1">
                          <a:solidFill>
                            <a:srgbClr val="FFFFFF"/>
                          </a:solidFill>
                        </a:rPr>
                        <a:t>Who</a:t>
                      </a:r>
                    </a:p>
                  </a:txBody>
                  <a:tcPr>
                    <a:solidFill>
                      <a:srgbClr val="2C3E7A"/>
                    </a:solidFill>
                  </a:tcPr>
                </a:tc>
                <a:extLst>
                  <a:ext uri="{0D108BD9-81ED-4DB2-BD59-A6C34878D82A}">
                    <a16:rowId xmlns:a16="http://schemas.microsoft.com/office/drawing/2014/main" val="274899143"/>
                  </a:ext>
                </a:extLst>
              </a:tr>
              <a:tr h="587375">
                <a:tc>
                  <a:txBody>
                    <a:bodyPr/>
                    <a:lstStyle/>
                    <a:p>
                      <a:r>
                        <a:rPr lang="en-IN" sz="1200">
                          <a:solidFill>
                            <a:srgbClr val="1B2340"/>
                          </a:solidFill>
                        </a:rPr>
                        <a:t>09:45</a:t>
                      </a:r>
                    </a:p>
                  </a:txBody>
                  <a:tcPr>
                    <a:solidFill>
                      <a:srgbClr val="FFFFFF"/>
                    </a:solidFill>
                  </a:tcPr>
                </a:tc>
                <a:tc>
                  <a:txBody>
                    <a:bodyPr/>
                    <a:lstStyle/>
                    <a:p>
                      <a:r>
                        <a:rPr lang="en-IN" sz="1200" b="1">
                          <a:solidFill>
                            <a:srgbClr val="1B2340"/>
                          </a:solidFill>
                        </a:rPr>
                        <a:t>Welcome &amp; Introductions</a:t>
                      </a:r>
                    </a:p>
                  </a:txBody>
                  <a:tcPr>
                    <a:solidFill>
                      <a:srgbClr val="FFFFFF"/>
                    </a:solidFill>
                  </a:tcPr>
                </a:tc>
                <a:tc>
                  <a:txBody>
                    <a:bodyPr/>
                    <a:lstStyle/>
                    <a:p>
                      <a:r>
                        <a:rPr lang="en-US" sz="1200">
                          <a:solidFill>
                            <a:srgbClr val="1B2340"/>
                          </a:solidFill>
                        </a:rPr>
                        <a:t>Setting expectations for the day</a:t>
                      </a:r>
                      <a:endParaRPr lang="en-IN" sz="1200">
                        <a:solidFill>
                          <a:srgbClr val="1B2340"/>
                        </a:solidFill>
                      </a:endParaRPr>
                    </a:p>
                  </a:txBody>
                  <a:tcPr>
                    <a:solidFill>
                      <a:srgbClr val="FFFFFF"/>
                    </a:solidFill>
                  </a:tcPr>
                </a:tc>
                <a:tc>
                  <a:txBody>
                    <a:bodyPr/>
                    <a:lstStyle/>
                    <a:p>
                      <a:r>
                        <a:rPr lang="en-IN" sz="1200">
                          <a:solidFill>
                            <a:srgbClr val="1B2340"/>
                          </a:solidFill>
                        </a:rPr>
                        <a:t>IASCT EC member</a:t>
                      </a:r>
                    </a:p>
                  </a:txBody>
                  <a:tcPr>
                    <a:solidFill>
                      <a:srgbClr val="FFFFFF"/>
                    </a:solidFill>
                  </a:tcPr>
                </a:tc>
                <a:extLst>
                  <a:ext uri="{0D108BD9-81ED-4DB2-BD59-A6C34878D82A}">
                    <a16:rowId xmlns:a16="http://schemas.microsoft.com/office/drawing/2014/main" val="2963614892"/>
                  </a:ext>
                </a:extLst>
              </a:tr>
              <a:tr h="587375">
                <a:tc>
                  <a:txBody>
                    <a:bodyPr/>
                    <a:lstStyle/>
                    <a:p>
                      <a:r>
                        <a:rPr lang="en-IN" sz="1200">
                          <a:solidFill>
                            <a:srgbClr val="1B2340"/>
                          </a:solidFill>
                        </a:rPr>
                        <a:t>10:00</a:t>
                      </a:r>
                    </a:p>
                  </a:txBody>
                  <a:tcPr>
                    <a:solidFill>
                      <a:srgbClr val="F5F6FA"/>
                    </a:solidFill>
                  </a:tcPr>
                </a:tc>
                <a:tc>
                  <a:txBody>
                    <a:bodyPr/>
                    <a:lstStyle/>
                    <a:p>
                      <a:r>
                        <a:rPr lang="en-IN" sz="1200" b="1">
                          <a:solidFill>
                            <a:srgbClr val="1B2340"/>
                          </a:solidFill>
                        </a:rPr>
                        <a:t>S1 . Context &amp; Use Cases</a:t>
                      </a:r>
                    </a:p>
                  </a:txBody>
                  <a:tcPr>
                    <a:solidFill>
                      <a:srgbClr val="F5F6FA"/>
                    </a:solidFill>
                  </a:tcPr>
                </a:tc>
                <a:tc>
                  <a:txBody>
                    <a:bodyPr/>
                    <a:lstStyle/>
                    <a:p>
                      <a:r>
                        <a:rPr lang="en-US" sz="1200">
                          <a:solidFill>
                            <a:srgbClr val="1B2340"/>
                          </a:solidFill>
                        </a:rPr>
                        <a:t>Why dashboards, where R Shiny fits</a:t>
                      </a:r>
                      <a:endParaRPr lang="en-IN" sz="1200">
                        <a:solidFill>
                          <a:srgbClr val="1B2340"/>
                        </a:solidFill>
                      </a:endParaRPr>
                    </a:p>
                  </a:txBody>
                  <a:tcPr>
                    <a:solidFill>
                      <a:srgbClr val="F5F6FA"/>
                    </a:solidFill>
                  </a:tcPr>
                </a:tc>
                <a:tc>
                  <a:txBody>
                    <a:bodyPr/>
                    <a:lstStyle/>
                    <a:p>
                      <a:r>
                        <a:rPr lang="en-IN" sz="1200">
                          <a:solidFill>
                            <a:srgbClr val="1B2340"/>
                          </a:solidFill>
                        </a:rPr>
                        <a:t>Mahesh, Venkatesh</a:t>
                      </a:r>
                    </a:p>
                  </a:txBody>
                  <a:tcPr>
                    <a:solidFill>
                      <a:srgbClr val="F5F6FA"/>
                    </a:solidFill>
                  </a:tcPr>
                </a:tc>
                <a:extLst>
                  <a:ext uri="{0D108BD9-81ED-4DB2-BD59-A6C34878D82A}">
                    <a16:rowId xmlns:a16="http://schemas.microsoft.com/office/drawing/2014/main" val="4002433080"/>
                  </a:ext>
                </a:extLst>
              </a:tr>
              <a:tr h="587375">
                <a:tc>
                  <a:txBody>
                    <a:bodyPr/>
                    <a:lstStyle/>
                    <a:p>
                      <a:r>
                        <a:rPr lang="en-IN" sz="1200">
                          <a:solidFill>
                            <a:srgbClr val="1B2340"/>
                          </a:solidFill>
                        </a:rPr>
                        <a:t>10:45</a:t>
                      </a:r>
                    </a:p>
                  </a:txBody>
                  <a:tcPr>
                    <a:solidFill>
                      <a:srgbClr val="FFFFFF"/>
                    </a:solidFill>
                  </a:tcPr>
                </a:tc>
                <a:tc>
                  <a:txBody>
                    <a:bodyPr/>
                    <a:lstStyle/>
                    <a:p>
                      <a:r>
                        <a:rPr lang="en-IN" sz="1200" b="1">
                          <a:solidFill>
                            <a:srgbClr val="1B2340"/>
                          </a:solidFill>
                        </a:rPr>
                        <a:t>S2 . Setup &amp; Building Blocks</a:t>
                      </a:r>
                    </a:p>
                  </a:txBody>
                  <a:tcPr>
                    <a:solidFill>
                      <a:srgbClr val="FFFFFF"/>
                    </a:solidFill>
                  </a:tcPr>
                </a:tc>
                <a:tc>
                  <a:txBody>
                    <a:bodyPr/>
                    <a:lstStyle/>
                    <a:p>
                      <a:r>
                        <a:rPr lang="en-IN" sz="1200">
                          <a:solidFill>
                            <a:srgbClr val="1B2340"/>
                          </a:solidFill>
                        </a:rPr>
                        <a:t>UI / Server / Reactivity / Modules</a:t>
                      </a:r>
                    </a:p>
                  </a:txBody>
                  <a:tcPr>
                    <a:solidFill>
                      <a:srgbClr val="FFFFFF"/>
                    </a:solidFill>
                  </a:tcPr>
                </a:tc>
                <a:tc>
                  <a:txBody>
                    <a:bodyPr/>
                    <a:lstStyle/>
                    <a:p>
                      <a:r>
                        <a:rPr lang="en-IN" sz="1200">
                          <a:solidFill>
                            <a:srgbClr val="1B2340"/>
                          </a:solidFill>
                        </a:rPr>
                        <a:t>Mahesh, Venkatesh</a:t>
                      </a:r>
                    </a:p>
                  </a:txBody>
                  <a:tcPr>
                    <a:solidFill>
                      <a:srgbClr val="FFFFFF"/>
                    </a:solidFill>
                  </a:tcPr>
                </a:tc>
                <a:extLst>
                  <a:ext uri="{0D108BD9-81ED-4DB2-BD59-A6C34878D82A}">
                    <a16:rowId xmlns:a16="http://schemas.microsoft.com/office/drawing/2014/main" val="73210642"/>
                  </a:ext>
                </a:extLst>
              </a:tr>
              <a:tr h="587375">
                <a:tc>
                  <a:txBody>
                    <a:bodyPr/>
                    <a:lstStyle/>
                    <a:p>
                      <a:r>
                        <a:rPr lang="en-IN" sz="1200">
                          <a:solidFill>
                            <a:srgbClr val="1B2340"/>
                          </a:solidFill>
                        </a:rPr>
                        <a:t>11:35</a:t>
                      </a:r>
                    </a:p>
                  </a:txBody>
                  <a:tcPr>
                    <a:solidFill>
                      <a:srgbClr val="F5F6FA"/>
                    </a:solidFill>
                  </a:tcPr>
                </a:tc>
                <a:tc>
                  <a:txBody>
                    <a:bodyPr/>
                    <a:lstStyle/>
                    <a:p>
                      <a:r>
                        <a:rPr lang="en-IN" sz="1200" b="1">
                          <a:solidFill>
                            <a:srgbClr val="1B2340"/>
                          </a:solidFill>
                        </a:rPr>
                        <a:t>S3 . Mini-Shiny Walkthrough</a:t>
                      </a:r>
                    </a:p>
                  </a:txBody>
                  <a:tcPr>
                    <a:solidFill>
                      <a:srgbClr val="F5F6FA"/>
                    </a:solidFill>
                  </a:tcPr>
                </a:tc>
                <a:tc>
                  <a:txBody>
                    <a:bodyPr/>
                    <a:lstStyle/>
                    <a:p>
                      <a:r>
                        <a:rPr lang="en-IN" sz="1200">
                          <a:solidFill>
                            <a:srgbClr val="1B2340"/>
                          </a:solidFill>
                        </a:rPr>
                        <a:t>A clinical-trial scenario, live</a:t>
                      </a:r>
                    </a:p>
                  </a:txBody>
                  <a:tcPr>
                    <a:solidFill>
                      <a:srgbClr val="F5F6FA"/>
                    </a:solidFill>
                  </a:tcPr>
                </a:tc>
                <a:tc>
                  <a:txBody>
                    <a:bodyPr/>
                    <a:lstStyle/>
                    <a:p>
                      <a:r>
                        <a:rPr lang="en-IN" sz="1200">
                          <a:solidFill>
                            <a:srgbClr val="1B2340"/>
                          </a:solidFill>
                        </a:rPr>
                        <a:t>Speaker, Mahesh</a:t>
                      </a:r>
                    </a:p>
                  </a:txBody>
                  <a:tcPr>
                    <a:solidFill>
                      <a:srgbClr val="F5F6FA"/>
                    </a:solidFill>
                  </a:tcPr>
                </a:tc>
                <a:extLst>
                  <a:ext uri="{0D108BD9-81ED-4DB2-BD59-A6C34878D82A}">
                    <a16:rowId xmlns:a16="http://schemas.microsoft.com/office/drawing/2014/main" val="1308109795"/>
                  </a:ext>
                </a:extLst>
              </a:tr>
              <a:tr h="587375">
                <a:tc>
                  <a:txBody>
                    <a:bodyPr/>
                    <a:lstStyle/>
                    <a:p>
                      <a:r>
                        <a:rPr lang="en-IN" sz="1200">
                          <a:solidFill>
                            <a:srgbClr val="1B2340"/>
                          </a:solidFill>
                        </a:rPr>
                        <a:t>13:30</a:t>
                      </a:r>
                    </a:p>
                  </a:txBody>
                  <a:tcPr>
                    <a:solidFill>
                      <a:srgbClr val="FFFFFF"/>
                    </a:solidFill>
                  </a:tcPr>
                </a:tc>
                <a:tc>
                  <a:txBody>
                    <a:bodyPr/>
                    <a:lstStyle/>
                    <a:p>
                      <a:r>
                        <a:rPr lang="en-IN" sz="1200" b="1">
                          <a:solidFill>
                            <a:srgbClr val="1B2340"/>
                          </a:solidFill>
                        </a:rPr>
                        <a:t>S4 . Mini TFL Builder</a:t>
                      </a:r>
                    </a:p>
                  </a:txBody>
                  <a:tcPr>
                    <a:solidFill>
                      <a:srgbClr val="FFFFFF"/>
                    </a:solidFill>
                  </a:tcPr>
                </a:tc>
                <a:tc>
                  <a:txBody>
                    <a:bodyPr/>
                    <a:lstStyle/>
                    <a:p>
                      <a:r>
                        <a:rPr lang="en-IN" sz="1200">
                          <a:solidFill>
                            <a:srgbClr val="1B2340"/>
                          </a:solidFill>
                        </a:rPr>
                        <a:t>Interactivity &amp; output exports, hands-on</a:t>
                      </a:r>
                    </a:p>
                  </a:txBody>
                  <a:tcPr>
                    <a:solidFill>
                      <a:srgbClr val="FFFFFF"/>
                    </a:solidFill>
                  </a:tcPr>
                </a:tc>
                <a:tc>
                  <a:txBody>
                    <a:bodyPr/>
                    <a:lstStyle/>
                    <a:p>
                      <a:r>
                        <a:rPr lang="en-IN" sz="1200">
                          <a:solidFill>
                            <a:srgbClr val="1B2340"/>
                          </a:solidFill>
                        </a:rPr>
                        <a:t>Speaker, Venkatesh + Audience</a:t>
                      </a:r>
                    </a:p>
                  </a:txBody>
                  <a:tcPr>
                    <a:solidFill>
                      <a:srgbClr val="FFFFFF"/>
                    </a:solidFill>
                  </a:tcPr>
                </a:tc>
                <a:extLst>
                  <a:ext uri="{0D108BD9-81ED-4DB2-BD59-A6C34878D82A}">
                    <a16:rowId xmlns:a16="http://schemas.microsoft.com/office/drawing/2014/main" val="1408774836"/>
                  </a:ext>
                </a:extLst>
              </a:tr>
              <a:tr h="587375">
                <a:tc>
                  <a:txBody>
                    <a:bodyPr/>
                    <a:lstStyle/>
                    <a:p>
                      <a:r>
                        <a:rPr lang="en-IN" sz="1200">
                          <a:solidFill>
                            <a:srgbClr val="1B2340"/>
                          </a:solidFill>
                        </a:rPr>
                        <a:t>15:45</a:t>
                      </a:r>
                    </a:p>
                  </a:txBody>
                  <a:tcPr>
                    <a:solidFill>
                      <a:srgbClr val="F5F6FA"/>
                    </a:solidFill>
                  </a:tcPr>
                </a:tc>
                <a:tc>
                  <a:txBody>
                    <a:bodyPr/>
                    <a:lstStyle/>
                    <a:p>
                      <a:r>
                        <a:rPr lang="en-IN" sz="1200" b="1">
                          <a:solidFill>
                            <a:srgbClr val="1B2340"/>
                          </a:solidFill>
                        </a:rPr>
                        <a:t>S5 . AI &amp; LLM Integration</a:t>
                      </a:r>
                    </a:p>
                  </a:txBody>
                  <a:tcPr>
                    <a:solidFill>
                      <a:srgbClr val="F5F6FA"/>
                    </a:solidFill>
                  </a:tcPr>
                </a:tc>
                <a:tc>
                  <a:txBody>
                    <a:bodyPr/>
                    <a:lstStyle/>
                    <a:p>
                      <a:r>
                        <a:rPr lang="en-IN" sz="1200">
                          <a:solidFill>
                            <a:srgbClr val="1B2340"/>
                          </a:solidFill>
                        </a:rPr>
                        <a:t>Chatbot-driven TFL generation</a:t>
                      </a:r>
                    </a:p>
                  </a:txBody>
                  <a:tcPr>
                    <a:solidFill>
                      <a:srgbClr val="F5F6FA"/>
                    </a:solidFill>
                  </a:tcPr>
                </a:tc>
                <a:tc>
                  <a:txBody>
                    <a:bodyPr/>
                    <a:lstStyle/>
                    <a:p>
                      <a:r>
                        <a:rPr lang="en-IN" sz="1200">
                          <a:solidFill>
                            <a:srgbClr val="1B2340"/>
                          </a:solidFill>
                        </a:rPr>
                        <a:t>Venkatesh, Mahesh</a:t>
                      </a:r>
                    </a:p>
                  </a:txBody>
                  <a:tcPr>
                    <a:solidFill>
                      <a:srgbClr val="F5F6FA"/>
                    </a:solidFill>
                  </a:tcPr>
                </a:tc>
                <a:extLst>
                  <a:ext uri="{0D108BD9-81ED-4DB2-BD59-A6C34878D82A}">
                    <a16:rowId xmlns:a16="http://schemas.microsoft.com/office/drawing/2014/main" val="620061983"/>
                  </a:ext>
                </a:extLst>
              </a:tr>
              <a:tr h="587375">
                <a:tc>
                  <a:txBody>
                    <a:bodyPr/>
                    <a:lstStyle/>
                    <a:p>
                      <a:r>
                        <a:rPr lang="en-IN" sz="1200">
                          <a:solidFill>
                            <a:srgbClr val="1B2340"/>
                          </a:solidFill>
                        </a:rPr>
                        <a:t>17:30</a:t>
                      </a:r>
                    </a:p>
                  </a:txBody>
                  <a:tcPr>
                    <a:solidFill>
                      <a:srgbClr val="FFFFFF"/>
                    </a:solidFill>
                  </a:tcPr>
                </a:tc>
                <a:tc>
                  <a:txBody>
                    <a:bodyPr/>
                    <a:lstStyle/>
                    <a:p>
                      <a:r>
                        <a:rPr lang="en-IN" sz="1200" b="1">
                          <a:solidFill>
                            <a:srgbClr val="1B2340"/>
                          </a:solidFill>
                        </a:rPr>
                        <a:t>Closing &amp; Concluding Remarks</a:t>
                      </a:r>
                    </a:p>
                  </a:txBody>
                  <a:tcPr>
                    <a:solidFill>
                      <a:srgbClr val="FFFFFF"/>
                    </a:solidFill>
                  </a:tcPr>
                </a:tc>
                <a:tc>
                  <a:txBody>
                    <a:bodyPr/>
                    <a:lstStyle/>
                    <a:p>
                      <a:r>
                        <a:rPr lang="en-US" sz="1200">
                          <a:solidFill>
                            <a:srgbClr val="1B2340"/>
                          </a:solidFill>
                        </a:rPr>
                        <a:t>Summary and open Q&amp;A</a:t>
                      </a:r>
                      <a:endParaRPr lang="en-IN" sz="1200">
                        <a:solidFill>
                          <a:srgbClr val="1B2340"/>
                        </a:solidFill>
                      </a:endParaRPr>
                    </a:p>
                  </a:txBody>
                  <a:tcPr>
                    <a:solidFill>
                      <a:srgbClr val="FFFFFF"/>
                    </a:solidFill>
                  </a:tcPr>
                </a:tc>
                <a:tc>
                  <a:txBody>
                    <a:bodyPr/>
                    <a:lstStyle/>
                    <a:p>
                      <a:r>
                        <a:rPr lang="en-IN" sz="1200">
                          <a:solidFill>
                            <a:srgbClr val="1B2340"/>
                          </a:solidFill>
                        </a:rPr>
                        <a:t>IASCT EC member</a:t>
                      </a:r>
                    </a:p>
                  </a:txBody>
                  <a:tcPr>
                    <a:solidFill>
                      <a:srgbClr val="FFFFFF"/>
                    </a:solidFill>
                  </a:tcPr>
                </a:tc>
                <a:extLst>
                  <a:ext uri="{0D108BD9-81ED-4DB2-BD59-A6C34878D82A}">
                    <a16:rowId xmlns:a16="http://schemas.microsoft.com/office/drawing/2014/main" val="2922224934"/>
                  </a:ext>
                </a:extLst>
              </a:tr>
            </a:tbl>
          </a:graphicData>
        </a:graphic>
      </p:graphicFrame>
      <p:sp>
        <p:nvSpPr>
          <p:cNvPr id="5" name="TextBox 4">
            <a:extLst>
              <a:ext uri="{FF2B5EF4-FFF2-40B4-BE49-F238E27FC236}">
                <a16:creationId xmlns:a16="http://schemas.microsoft.com/office/drawing/2014/main" id="{259B0301-2593-312E-CB69-63FC333E8A00}"/>
              </a:ext>
            </a:extLst>
          </p:cNvPr>
          <p:cNvSpPr txBox="1"/>
          <p:nvPr/>
        </p:nvSpPr>
        <p:spPr>
          <a:xfrm>
            <a:off x="304800" y="6553200"/>
            <a:ext cx="6350000" cy="276999"/>
          </a:xfrm>
          <a:prstGeom prst="rect">
            <a:avLst/>
          </a:prstGeom>
          <a:noFill/>
        </p:spPr>
        <p:txBody>
          <a:bodyPr vert="horz" wrap="square" rtlCol="0">
            <a:spAutoFit/>
          </a:bodyPr>
          <a:lstStyle/>
          <a:p>
            <a:r>
              <a:rPr lang="en-IN" sz="1200" i="1">
                <a:solidFill>
                  <a:srgbClr val="5B6182"/>
                </a:solidFill>
                <a:latin typeface="IBM Plex Sans" panose="020B0503050203000203" pitchFamily="34" charset="0"/>
              </a:rPr>
              <a:t>Opening</a:t>
            </a:r>
          </a:p>
        </p:txBody>
      </p:sp>
    </p:spTree>
    <p:extLst>
      <p:ext uri="{BB962C8B-B14F-4D97-AF65-F5344CB8AC3E}">
        <p14:creationId xmlns:p14="http://schemas.microsoft.com/office/powerpoint/2010/main" val="893737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02B38FF-B100-768B-1D51-3EB3745DDF7C}"/>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TODAY'S FLOW</a:t>
            </a:r>
          </a:p>
        </p:txBody>
      </p:sp>
      <p:sp>
        <p:nvSpPr>
          <p:cNvPr id="3" name="TextBox 2">
            <a:extLst>
              <a:ext uri="{FF2B5EF4-FFF2-40B4-BE49-F238E27FC236}">
                <a16:creationId xmlns:a16="http://schemas.microsoft.com/office/drawing/2014/main" id="{CF90A0D1-14AA-9001-CC5A-1C0254D5CF37}"/>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Morning at a glance - concepts into a live build</a:t>
            </a:r>
            <a:endParaRPr lang="en-IN" sz="2600" b="1">
              <a:solidFill>
                <a:srgbClr val="1B2340"/>
              </a:solidFill>
              <a:latin typeface="IBM Plex Sans" panose="020B0503050203000203" pitchFamily="34" charset="0"/>
            </a:endParaRPr>
          </a:p>
        </p:txBody>
      </p:sp>
      <p:graphicFrame>
        <p:nvGraphicFramePr>
          <p:cNvPr id="4" name="Table 3">
            <a:extLst>
              <a:ext uri="{FF2B5EF4-FFF2-40B4-BE49-F238E27FC236}">
                <a16:creationId xmlns:a16="http://schemas.microsoft.com/office/drawing/2014/main" id="{D717C25A-CB9E-3472-5C53-E46250D9CD0E}"/>
              </a:ext>
            </a:extLst>
          </p:cNvPr>
          <p:cNvGraphicFramePr>
            <a:graphicFrameLocks noGrp="1"/>
          </p:cNvGraphicFramePr>
          <p:nvPr>
            <p:extLst>
              <p:ext uri="{D42A27DB-BD31-4B8C-83A1-F6EECF244321}">
                <p14:modId xmlns:p14="http://schemas.microsoft.com/office/powerpoint/2010/main" val="668413226"/>
              </p:ext>
            </p:extLst>
          </p:nvPr>
        </p:nvGraphicFramePr>
        <p:xfrm>
          <a:off x="584200" y="1651000"/>
          <a:ext cx="11023295" cy="469900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104112210"/>
                    </a:ext>
                  </a:extLst>
                </a:gridCol>
                <a:gridCol w="5461000">
                  <a:extLst>
                    <a:ext uri="{9D8B030D-6E8A-4147-A177-3AD203B41FA5}">
                      <a16:colId xmlns:a16="http://schemas.microsoft.com/office/drawing/2014/main" val="434458584"/>
                    </a:ext>
                  </a:extLst>
                </a:gridCol>
                <a:gridCol w="5461000">
                  <a:extLst>
                    <a:ext uri="{9D8B030D-6E8A-4147-A177-3AD203B41FA5}">
                      <a16:colId xmlns:a16="http://schemas.microsoft.com/office/drawing/2014/main" val="2793319339"/>
                    </a:ext>
                  </a:extLst>
                </a:gridCol>
                <a:gridCol w="208280">
                  <a:extLst>
                    <a:ext uri="{9D8B030D-6E8A-4147-A177-3AD203B41FA5}">
                      <a16:colId xmlns:a16="http://schemas.microsoft.com/office/drawing/2014/main" val="1898465250"/>
                    </a:ext>
                  </a:extLst>
                </a:gridCol>
              </a:tblGrid>
              <a:tr h="522111">
                <a:tc>
                  <a:txBody>
                    <a:bodyPr/>
                    <a:lstStyle/>
                    <a:p>
                      <a:r>
                        <a:rPr lang="en-IN" sz="1300" b="1">
                          <a:solidFill>
                            <a:srgbClr val="FFFFFF"/>
                          </a:solidFill>
                        </a:rPr>
                        <a:t>Time</a:t>
                      </a:r>
                    </a:p>
                  </a:txBody>
                  <a:tcPr>
                    <a:solidFill>
                      <a:srgbClr val="2C3E7A"/>
                    </a:solidFill>
                  </a:tcPr>
                </a:tc>
                <a:tc>
                  <a:txBody>
                    <a:bodyPr/>
                    <a:lstStyle/>
                    <a:p>
                      <a:r>
                        <a:rPr lang="en-IN" sz="1300" b="1">
                          <a:solidFill>
                            <a:srgbClr val="FFFFFF"/>
                          </a:solidFill>
                        </a:rPr>
                        <a:t>Topic</a:t>
                      </a:r>
                    </a:p>
                  </a:txBody>
                  <a:tcPr>
                    <a:solidFill>
                      <a:srgbClr val="2C3E7A"/>
                    </a:solidFill>
                  </a:tcPr>
                </a:tc>
                <a:tc>
                  <a:txBody>
                    <a:bodyPr/>
                    <a:lstStyle/>
                    <a:p>
                      <a:r>
                        <a:rPr lang="en-IN" sz="1300" b="1">
                          <a:solidFill>
                            <a:srgbClr val="FFFFFF"/>
                          </a:solidFill>
                        </a:rPr>
                        <a:t>Detail</a:t>
                      </a:r>
                    </a:p>
                  </a:txBody>
                  <a:tcPr>
                    <a:solidFill>
                      <a:srgbClr val="2C3E7A"/>
                    </a:solidFill>
                  </a:tcPr>
                </a:tc>
                <a:tc>
                  <a:txBody>
                    <a:bodyPr/>
                    <a:lstStyle/>
                    <a:p>
                      <a:r>
                        <a:rPr lang="en-IN" sz="1300" b="1">
                          <a:solidFill>
                            <a:srgbClr val="FFFFFF"/>
                          </a:solidFill>
                        </a:rPr>
                        <a:t>Who</a:t>
                      </a:r>
                    </a:p>
                  </a:txBody>
                  <a:tcPr>
                    <a:solidFill>
                      <a:srgbClr val="2C3E7A"/>
                    </a:solidFill>
                  </a:tcPr>
                </a:tc>
                <a:extLst>
                  <a:ext uri="{0D108BD9-81ED-4DB2-BD59-A6C34878D82A}">
                    <a16:rowId xmlns:a16="http://schemas.microsoft.com/office/drawing/2014/main" val="979712127"/>
                  </a:ext>
                </a:extLst>
              </a:tr>
              <a:tr h="522111">
                <a:tc>
                  <a:txBody>
                    <a:bodyPr/>
                    <a:lstStyle/>
                    <a:p>
                      <a:r>
                        <a:rPr lang="en-IN" sz="1200">
                          <a:solidFill>
                            <a:srgbClr val="1B2340"/>
                          </a:solidFill>
                        </a:rPr>
                        <a:t>09:45</a:t>
                      </a:r>
                    </a:p>
                  </a:txBody>
                  <a:tcPr>
                    <a:solidFill>
                      <a:srgbClr val="FFFFFF"/>
                    </a:solidFill>
                  </a:tcPr>
                </a:tc>
                <a:tc>
                  <a:txBody>
                    <a:bodyPr/>
                    <a:lstStyle/>
                    <a:p>
                      <a:r>
                        <a:rPr lang="en-US" sz="1200" b="1">
                          <a:solidFill>
                            <a:srgbClr val="1B2340"/>
                          </a:solidFill>
                        </a:rPr>
                        <a:t>Introduction of IASCT and speakers</a:t>
                      </a:r>
                      <a:endParaRPr lang="en-IN" sz="1200" b="1">
                        <a:solidFill>
                          <a:srgbClr val="1B2340"/>
                        </a:solidFill>
                      </a:endParaRPr>
                    </a:p>
                  </a:txBody>
                  <a:tcPr>
                    <a:solidFill>
                      <a:srgbClr val="FFFFFF"/>
                    </a:solidFill>
                  </a:tcPr>
                </a:tc>
                <a:tc>
                  <a:txBody>
                    <a:bodyPr/>
                    <a:lstStyle/>
                    <a:p>
                      <a:r>
                        <a:rPr lang="en-US" sz="1200">
                          <a:solidFill>
                            <a:srgbClr val="1B2340"/>
                          </a:solidFill>
                        </a:rPr>
                        <a:t>Welcome note, expectations for the day</a:t>
                      </a:r>
                      <a:endParaRPr lang="en-IN" sz="1200">
                        <a:solidFill>
                          <a:srgbClr val="1B2340"/>
                        </a:solidFill>
                      </a:endParaRPr>
                    </a:p>
                  </a:txBody>
                  <a:tcPr>
                    <a:solidFill>
                      <a:srgbClr val="FFFFFF"/>
                    </a:solidFill>
                  </a:tcPr>
                </a:tc>
                <a:tc>
                  <a:txBody>
                    <a:bodyPr/>
                    <a:lstStyle/>
                    <a:p>
                      <a:r>
                        <a:rPr lang="en-IN" sz="1200">
                          <a:solidFill>
                            <a:srgbClr val="1B2340"/>
                          </a:solidFill>
                        </a:rPr>
                        <a:t>IASCT EC member</a:t>
                      </a:r>
                    </a:p>
                  </a:txBody>
                  <a:tcPr>
                    <a:solidFill>
                      <a:srgbClr val="FFFFFF"/>
                    </a:solidFill>
                  </a:tcPr>
                </a:tc>
                <a:extLst>
                  <a:ext uri="{0D108BD9-81ED-4DB2-BD59-A6C34878D82A}">
                    <a16:rowId xmlns:a16="http://schemas.microsoft.com/office/drawing/2014/main" val="3058797980"/>
                  </a:ext>
                </a:extLst>
              </a:tr>
              <a:tr h="522111">
                <a:tc>
                  <a:txBody>
                    <a:bodyPr/>
                    <a:lstStyle/>
                    <a:p>
                      <a:r>
                        <a:rPr lang="en-IN" sz="1200">
                          <a:solidFill>
                            <a:srgbClr val="1B2340"/>
                          </a:solidFill>
                        </a:rPr>
                        <a:t>10:00</a:t>
                      </a:r>
                    </a:p>
                  </a:txBody>
                  <a:tcPr>
                    <a:solidFill>
                      <a:srgbClr val="F5F6FA"/>
                    </a:solidFill>
                  </a:tcPr>
                </a:tc>
                <a:tc>
                  <a:txBody>
                    <a:bodyPr/>
                    <a:lstStyle/>
                    <a:p>
                      <a:r>
                        <a:rPr lang="en-US" sz="1200" b="1">
                          <a:solidFill>
                            <a:srgbClr val="1B2340"/>
                          </a:solidFill>
                        </a:rPr>
                        <a:t>Dashboard purpose &amp; clinical trial use cases</a:t>
                      </a:r>
                      <a:endParaRPr lang="en-IN" sz="1200" b="1">
                        <a:solidFill>
                          <a:srgbClr val="1B2340"/>
                        </a:solidFill>
                      </a:endParaRPr>
                    </a:p>
                  </a:txBody>
                  <a:tcPr>
                    <a:solidFill>
                      <a:srgbClr val="F5F6FA"/>
                    </a:solidFill>
                  </a:tcPr>
                </a:tc>
                <a:tc>
                  <a:txBody>
                    <a:bodyPr/>
                    <a:lstStyle/>
                    <a:p>
                      <a:r>
                        <a:rPr lang="en-IN" sz="1200">
                          <a:solidFill>
                            <a:srgbClr val="1B2340"/>
                          </a:solidFill>
                        </a:rPr>
                        <a:t>Static reports -&gt; interactive analytics</a:t>
                      </a:r>
                    </a:p>
                  </a:txBody>
                  <a:tcPr>
                    <a:solidFill>
                      <a:srgbClr val="F5F6FA"/>
                    </a:solidFill>
                  </a:tcPr>
                </a:tc>
                <a:tc>
                  <a:txBody>
                    <a:bodyPr/>
                    <a:lstStyle/>
                    <a:p>
                      <a:r>
                        <a:rPr lang="en-IN" sz="1200">
                          <a:solidFill>
                            <a:srgbClr val="1B2340"/>
                          </a:solidFill>
                        </a:rPr>
                        <a:t>Mahesh</a:t>
                      </a:r>
                    </a:p>
                  </a:txBody>
                  <a:tcPr>
                    <a:solidFill>
                      <a:srgbClr val="F5F6FA"/>
                    </a:solidFill>
                  </a:tcPr>
                </a:tc>
                <a:extLst>
                  <a:ext uri="{0D108BD9-81ED-4DB2-BD59-A6C34878D82A}">
                    <a16:rowId xmlns:a16="http://schemas.microsoft.com/office/drawing/2014/main" val="3091404764"/>
                  </a:ext>
                </a:extLst>
              </a:tr>
              <a:tr h="522111">
                <a:tc>
                  <a:txBody>
                    <a:bodyPr/>
                    <a:lstStyle/>
                    <a:p>
                      <a:r>
                        <a:rPr lang="en-IN" sz="1200">
                          <a:solidFill>
                            <a:srgbClr val="1B2340"/>
                          </a:solidFill>
                        </a:rPr>
                        <a:t>10:15</a:t>
                      </a:r>
                    </a:p>
                  </a:txBody>
                  <a:tcPr>
                    <a:solidFill>
                      <a:srgbClr val="FFFFFF"/>
                    </a:solidFill>
                  </a:tcPr>
                </a:tc>
                <a:tc>
                  <a:txBody>
                    <a:bodyPr/>
                    <a:lstStyle/>
                    <a:p>
                      <a:r>
                        <a:rPr lang="en-IN" sz="1200" b="1">
                          <a:solidFill>
                            <a:srgbClr val="1B2340"/>
                          </a:solidFill>
                        </a:rPr>
                        <a:t>R Shiny positioning</a:t>
                      </a:r>
                    </a:p>
                  </a:txBody>
                  <a:tcPr>
                    <a:solidFill>
                      <a:srgbClr val="FFFFFF"/>
                    </a:solidFill>
                  </a:tcPr>
                </a:tc>
                <a:tc>
                  <a:txBody>
                    <a:bodyPr/>
                    <a:lstStyle/>
                    <a:p>
                      <a:r>
                        <a:rPr lang="en-IN" sz="1200">
                          <a:solidFill>
                            <a:srgbClr val="1B2340"/>
                          </a:solidFill>
                        </a:rPr>
                        <a:t>vs. Tableau, Spotfire, Qlik, SAS VA; network graphs, heatmaps</a:t>
                      </a:r>
                    </a:p>
                  </a:txBody>
                  <a:tcPr>
                    <a:solidFill>
                      <a:srgbClr val="FFFFFF"/>
                    </a:solidFill>
                  </a:tcPr>
                </a:tc>
                <a:tc>
                  <a:txBody>
                    <a:bodyPr/>
                    <a:lstStyle/>
                    <a:p>
                      <a:r>
                        <a:rPr lang="en-IN" sz="1200">
                          <a:solidFill>
                            <a:srgbClr val="1B2340"/>
                          </a:solidFill>
                        </a:rPr>
                        <a:t>Venkatesh</a:t>
                      </a:r>
                    </a:p>
                  </a:txBody>
                  <a:tcPr>
                    <a:solidFill>
                      <a:srgbClr val="FFFFFF"/>
                    </a:solidFill>
                  </a:tcPr>
                </a:tc>
                <a:extLst>
                  <a:ext uri="{0D108BD9-81ED-4DB2-BD59-A6C34878D82A}">
                    <a16:rowId xmlns:a16="http://schemas.microsoft.com/office/drawing/2014/main" val="2943363517"/>
                  </a:ext>
                </a:extLst>
              </a:tr>
              <a:tr h="522111">
                <a:tc>
                  <a:txBody>
                    <a:bodyPr/>
                    <a:lstStyle/>
                    <a:p>
                      <a:r>
                        <a:rPr lang="en-IN" sz="1200">
                          <a:solidFill>
                            <a:srgbClr val="1B2340"/>
                          </a:solidFill>
                        </a:rPr>
                        <a:t>10:30</a:t>
                      </a:r>
                    </a:p>
                  </a:txBody>
                  <a:tcPr>
                    <a:solidFill>
                      <a:srgbClr val="F5F6FA"/>
                    </a:solidFill>
                  </a:tcPr>
                </a:tc>
                <a:tc>
                  <a:txBody>
                    <a:bodyPr/>
                    <a:lstStyle/>
                    <a:p>
                      <a:r>
                        <a:rPr lang="en-IN" sz="1200" b="1">
                          <a:solidFill>
                            <a:srgbClr val="1B2340"/>
                          </a:solidFill>
                        </a:rPr>
                        <a:t>High-level design considerations</a:t>
                      </a:r>
                    </a:p>
                  </a:txBody>
                  <a:tcPr>
                    <a:solidFill>
                      <a:srgbClr val="F5F6FA"/>
                    </a:solidFill>
                  </a:tcPr>
                </a:tc>
                <a:tc>
                  <a:txBody>
                    <a:bodyPr/>
                    <a:lstStyle/>
                    <a:p>
                      <a:r>
                        <a:rPr lang="en-IN" sz="1200">
                          <a:solidFill>
                            <a:srgbClr val="1B2340"/>
                          </a:solidFill>
                        </a:rPr>
                        <a:t>Compliance, traceability, common mistakes</a:t>
                      </a:r>
                    </a:p>
                  </a:txBody>
                  <a:tcPr>
                    <a:solidFill>
                      <a:srgbClr val="F5F6FA"/>
                    </a:solidFill>
                  </a:tcPr>
                </a:tc>
                <a:tc>
                  <a:txBody>
                    <a:bodyPr/>
                    <a:lstStyle/>
                    <a:p>
                      <a:r>
                        <a:rPr lang="en-IN" sz="1200">
                          <a:solidFill>
                            <a:srgbClr val="1B2340"/>
                          </a:solidFill>
                        </a:rPr>
                        <a:t>Mahesh</a:t>
                      </a:r>
                    </a:p>
                  </a:txBody>
                  <a:tcPr>
                    <a:solidFill>
                      <a:srgbClr val="F5F6FA"/>
                    </a:solidFill>
                  </a:tcPr>
                </a:tc>
                <a:extLst>
                  <a:ext uri="{0D108BD9-81ED-4DB2-BD59-A6C34878D82A}">
                    <a16:rowId xmlns:a16="http://schemas.microsoft.com/office/drawing/2014/main" val="1084250683"/>
                  </a:ext>
                </a:extLst>
              </a:tr>
              <a:tr h="522111">
                <a:tc>
                  <a:txBody>
                    <a:bodyPr/>
                    <a:lstStyle/>
                    <a:p>
                      <a:r>
                        <a:rPr lang="en-IN" sz="1200">
                          <a:solidFill>
                            <a:srgbClr val="1B2340"/>
                          </a:solidFill>
                        </a:rPr>
                        <a:t>10:45</a:t>
                      </a:r>
                    </a:p>
                  </a:txBody>
                  <a:tcPr>
                    <a:solidFill>
                      <a:srgbClr val="FFFFFF"/>
                    </a:solidFill>
                  </a:tcPr>
                </a:tc>
                <a:tc>
                  <a:txBody>
                    <a:bodyPr/>
                    <a:lstStyle/>
                    <a:p>
                      <a:r>
                        <a:rPr lang="en-IN" sz="1200" b="1">
                          <a:solidFill>
                            <a:srgbClr val="1B2340"/>
                          </a:solidFill>
                        </a:rPr>
                        <a:t>Environment setup</a:t>
                      </a:r>
                    </a:p>
                  </a:txBody>
                  <a:tcPr>
                    <a:solidFill>
                      <a:srgbClr val="FFFFFF"/>
                    </a:solidFill>
                  </a:tcPr>
                </a:tc>
                <a:tc>
                  <a:txBody>
                    <a:bodyPr/>
                    <a:lstStyle/>
                    <a:p>
                      <a:r>
                        <a:rPr lang="en-IN" sz="1200">
                          <a:solidFill>
                            <a:srgbClr val="1B2340"/>
                          </a:solidFill>
                        </a:rPr>
                        <a:t>R, RStudio, packages, project structure</a:t>
                      </a:r>
                    </a:p>
                  </a:txBody>
                  <a:tcPr>
                    <a:solidFill>
                      <a:srgbClr val="FFFFFF"/>
                    </a:solidFill>
                  </a:tcPr>
                </a:tc>
                <a:tc>
                  <a:txBody>
                    <a:bodyPr/>
                    <a:lstStyle/>
                    <a:p>
                      <a:r>
                        <a:rPr lang="en-IN" sz="1200">
                          <a:solidFill>
                            <a:srgbClr val="1B2340"/>
                          </a:solidFill>
                        </a:rPr>
                        <a:t>Mahesh</a:t>
                      </a:r>
                    </a:p>
                  </a:txBody>
                  <a:tcPr>
                    <a:solidFill>
                      <a:srgbClr val="FFFFFF"/>
                    </a:solidFill>
                  </a:tcPr>
                </a:tc>
                <a:extLst>
                  <a:ext uri="{0D108BD9-81ED-4DB2-BD59-A6C34878D82A}">
                    <a16:rowId xmlns:a16="http://schemas.microsoft.com/office/drawing/2014/main" val="223737287"/>
                  </a:ext>
                </a:extLst>
              </a:tr>
              <a:tr h="522111">
                <a:tc>
                  <a:txBody>
                    <a:bodyPr/>
                    <a:lstStyle/>
                    <a:p>
                      <a:r>
                        <a:rPr lang="en-IN" sz="1200">
                          <a:solidFill>
                            <a:srgbClr val="1B2340"/>
                          </a:solidFill>
                        </a:rPr>
                        <a:t>10:55</a:t>
                      </a:r>
                    </a:p>
                  </a:txBody>
                  <a:tcPr>
                    <a:solidFill>
                      <a:srgbClr val="F5F6FA"/>
                    </a:solidFill>
                  </a:tcPr>
                </a:tc>
                <a:tc>
                  <a:txBody>
                    <a:bodyPr/>
                    <a:lstStyle/>
                    <a:p>
                      <a:r>
                        <a:rPr lang="en-US" sz="1200" b="1">
                          <a:solidFill>
                            <a:srgbClr val="1B2340"/>
                          </a:solidFill>
                        </a:rPr>
                        <a:t>UI, server, reactivity, module concepts</a:t>
                      </a:r>
                      <a:endParaRPr lang="en-IN" sz="1200" b="1">
                        <a:solidFill>
                          <a:srgbClr val="1B2340"/>
                        </a:solidFill>
                      </a:endParaRPr>
                    </a:p>
                  </a:txBody>
                  <a:tcPr>
                    <a:solidFill>
                      <a:srgbClr val="F5F6FA"/>
                    </a:solidFill>
                  </a:tcPr>
                </a:tc>
                <a:tc>
                  <a:txBody>
                    <a:bodyPr/>
                    <a:lstStyle/>
                    <a:p>
                      <a:r>
                        <a:rPr lang="en-IN" sz="1200">
                          <a:solidFill>
                            <a:srgbClr val="1B2340"/>
                          </a:solidFill>
                        </a:rPr>
                        <a:t>Architecture overview</a:t>
                      </a:r>
                    </a:p>
                  </a:txBody>
                  <a:tcPr>
                    <a:solidFill>
                      <a:srgbClr val="F5F6FA"/>
                    </a:solidFill>
                  </a:tcPr>
                </a:tc>
                <a:tc>
                  <a:txBody>
                    <a:bodyPr/>
                    <a:lstStyle/>
                    <a:p>
                      <a:r>
                        <a:rPr lang="en-IN" sz="1200">
                          <a:solidFill>
                            <a:srgbClr val="1B2340"/>
                          </a:solidFill>
                        </a:rPr>
                        <a:t>Mahesh</a:t>
                      </a:r>
                    </a:p>
                  </a:txBody>
                  <a:tcPr>
                    <a:solidFill>
                      <a:srgbClr val="F5F6FA"/>
                    </a:solidFill>
                  </a:tcPr>
                </a:tc>
                <a:extLst>
                  <a:ext uri="{0D108BD9-81ED-4DB2-BD59-A6C34878D82A}">
                    <a16:rowId xmlns:a16="http://schemas.microsoft.com/office/drawing/2014/main" val="623820716"/>
                  </a:ext>
                </a:extLst>
              </a:tr>
              <a:tr h="522111">
                <a:tc>
                  <a:txBody>
                    <a:bodyPr/>
                    <a:lstStyle/>
                    <a:p>
                      <a:r>
                        <a:rPr lang="en-IN" sz="1200">
                          <a:solidFill>
                            <a:srgbClr val="1B2340"/>
                          </a:solidFill>
                        </a:rPr>
                        <a:t>11:10</a:t>
                      </a:r>
                    </a:p>
                  </a:txBody>
                  <a:tcPr>
                    <a:solidFill>
                      <a:srgbClr val="FFFFFF"/>
                    </a:solidFill>
                  </a:tcPr>
                </a:tc>
                <a:tc>
                  <a:txBody>
                    <a:bodyPr/>
                    <a:lstStyle/>
                    <a:p>
                      <a:r>
                        <a:rPr lang="en-US" sz="1200" b="1">
                          <a:solidFill>
                            <a:srgbClr val="1B2340"/>
                          </a:solidFill>
                        </a:rPr>
                        <a:t>Building blocks for dashboard workflows</a:t>
                      </a:r>
                      <a:endParaRPr lang="en-IN" sz="1200" b="1">
                        <a:solidFill>
                          <a:srgbClr val="1B2340"/>
                        </a:solidFill>
                      </a:endParaRPr>
                    </a:p>
                  </a:txBody>
                  <a:tcPr>
                    <a:solidFill>
                      <a:srgbClr val="FFFFFF"/>
                    </a:solidFill>
                  </a:tcPr>
                </a:tc>
                <a:tc>
                  <a:txBody>
                    <a:bodyPr/>
                    <a:lstStyle/>
                    <a:p>
                      <a:r>
                        <a:rPr lang="en-US" sz="1200">
                          <a:solidFill>
                            <a:srgbClr val="1B2340"/>
                          </a:solidFill>
                        </a:rPr>
                        <a:t>Data loading modules, reusable practices</a:t>
                      </a:r>
                      <a:endParaRPr lang="en-IN" sz="1200">
                        <a:solidFill>
                          <a:srgbClr val="1B2340"/>
                        </a:solidFill>
                      </a:endParaRPr>
                    </a:p>
                  </a:txBody>
                  <a:tcPr>
                    <a:solidFill>
                      <a:srgbClr val="FFFFFF"/>
                    </a:solidFill>
                  </a:tcPr>
                </a:tc>
                <a:tc>
                  <a:txBody>
                    <a:bodyPr/>
                    <a:lstStyle/>
                    <a:p>
                      <a:r>
                        <a:rPr lang="en-IN" sz="1200">
                          <a:solidFill>
                            <a:srgbClr val="1B2340"/>
                          </a:solidFill>
                        </a:rPr>
                        <a:t>Venkatesh</a:t>
                      </a:r>
                    </a:p>
                  </a:txBody>
                  <a:tcPr>
                    <a:solidFill>
                      <a:srgbClr val="FFFFFF"/>
                    </a:solidFill>
                  </a:tcPr>
                </a:tc>
                <a:extLst>
                  <a:ext uri="{0D108BD9-81ED-4DB2-BD59-A6C34878D82A}">
                    <a16:rowId xmlns:a16="http://schemas.microsoft.com/office/drawing/2014/main" val="1166328054"/>
                  </a:ext>
                </a:extLst>
              </a:tr>
              <a:tr h="522111">
                <a:tc>
                  <a:txBody>
                    <a:bodyPr/>
                    <a:lstStyle/>
                    <a:p>
                      <a:r>
                        <a:rPr lang="en-IN" sz="1200">
                          <a:solidFill>
                            <a:srgbClr val="1B2340"/>
                          </a:solidFill>
                        </a:rPr>
                        <a:t>11:15</a:t>
                      </a:r>
                    </a:p>
                  </a:txBody>
                  <a:tcPr>
                    <a:solidFill>
                      <a:srgbClr val="F5F6FA"/>
                    </a:solidFill>
                  </a:tcPr>
                </a:tc>
                <a:tc>
                  <a:txBody>
                    <a:bodyPr/>
                    <a:lstStyle/>
                    <a:p>
                      <a:r>
                        <a:rPr lang="en-IN" sz="1200" b="1">
                          <a:solidFill>
                            <a:srgbClr val="1B2340"/>
                          </a:solidFill>
                        </a:rPr>
                        <a:t>Interactivity in graphs</a:t>
                      </a:r>
                    </a:p>
                  </a:txBody>
                  <a:tcPr>
                    <a:solidFill>
                      <a:srgbClr val="F5F6FA"/>
                    </a:solidFill>
                  </a:tcPr>
                </a:tc>
                <a:tc>
                  <a:txBody>
                    <a:bodyPr/>
                    <a:lstStyle/>
                    <a:p>
                      <a:r>
                        <a:rPr lang="en-IN" sz="1200">
                          <a:solidFill>
                            <a:srgbClr val="1B2340"/>
                          </a:solidFill>
                        </a:rPr>
                        <a:t>Dynamic, linked, drill-down visuals</a:t>
                      </a:r>
                    </a:p>
                  </a:txBody>
                  <a:tcPr>
                    <a:solidFill>
                      <a:srgbClr val="F5F6FA"/>
                    </a:solidFill>
                  </a:tcPr>
                </a:tc>
                <a:tc>
                  <a:txBody>
                    <a:bodyPr/>
                    <a:lstStyle/>
                    <a:p>
                      <a:r>
                        <a:rPr lang="en-IN" sz="1200">
                          <a:solidFill>
                            <a:srgbClr val="1B2340"/>
                          </a:solidFill>
                        </a:rPr>
                        <a:t>Venkatesh</a:t>
                      </a:r>
                    </a:p>
                  </a:txBody>
                  <a:tcPr>
                    <a:solidFill>
                      <a:srgbClr val="F5F6FA"/>
                    </a:solidFill>
                  </a:tcPr>
                </a:tc>
                <a:extLst>
                  <a:ext uri="{0D108BD9-81ED-4DB2-BD59-A6C34878D82A}">
                    <a16:rowId xmlns:a16="http://schemas.microsoft.com/office/drawing/2014/main" val="1106723213"/>
                  </a:ext>
                </a:extLst>
              </a:tr>
            </a:tbl>
          </a:graphicData>
        </a:graphic>
      </p:graphicFrame>
      <p:sp>
        <p:nvSpPr>
          <p:cNvPr id="5" name="TextBox 4">
            <a:extLst>
              <a:ext uri="{FF2B5EF4-FFF2-40B4-BE49-F238E27FC236}">
                <a16:creationId xmlns:a16="http://schemas.microsoft.com/office/drawing/2014/main" id="{DB622397-E089-C696-5BAE-186CA675DBAC}"/>
              </a:ext>
            </a:extLst>
          </p:cNvPr>
          <p:cNvSpPr txBox="1"/>
          <p:nvPr/>
        </p:nvSpPr>
        <p:spPr>
          <a:xfrm>
            <a:off x="304800" y="6553200"/>
            <a:ext cx="6350000" cy="276999"/>
          </a:xfrm>
          <a:prstGeom prst="rect">
            <a:avLst/>
          </a:prstGeom>
          <a:noFill/>
        </p:spPr>
        <p:txBody>
          <a:bodyPr vert="horz" wrap="square" rtlCol="0">
            <a:spAutoFit/>
          </a:bodyPr>
          <a:lstStyle/>
          <a:p>
            <a:r>
              <a:rPr lang="en-IN" sz="1200" i="1">
                <a:solidFill>
                  <a:srgbClr val="5B6182"/>
                </a:solidFill>
                <a:latin typeface="IBM Plex Sans" panose="020B0503050203000203" pitchFamily="34" charset="0"/>
              </a:rPr>
              <a:t>Opening</a:t>
            </a:r>
          </a:p>
        </p:txBody>
      </p:sp>
    </p:spTree>
    <p:extLst>
      <p:ext uri="{BB962C8B-B14F-4D97-AF65-F5344CB8AC3E}">
        <p14:creationId xmlns:p14="http://schemas.microsoft.com/office/powerpoint/2010/main" val="2940476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9420D9-E06D-8137-CDA4-4FF321DCBE39}"/>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TODAY'S FLOW</a:t>
            </a:r>
          </a:p>
        </p:txBody>
      </p:sp>
      <p:sp>
        <p:nvSpPr>
          <p:cNvPr id="3" name="TextBox 2">
            <a:extLst>
              <a:ext uri="{FF2B5EF4-FFF2-40B4-BE49-F238E27FC236}">
                <a16:creationId xmlns:a16="http://schemas.microsoft.com/office/drawing/2014/main" id="{B79F3EBE-27FF-526A-62E0-44C4FC8673A5}"/>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Afternoon at a glance - build, export, and go AI-assisted</a:t>
            </a:r>
            <a:endParaRPr lang="en-IN" sz="2600" b="1">
              <a:solidFill>
                <a:srgbClr val="1B2340"/>
              </a:solidFill>
              <a:latin typeface="IBM Plex Sans" panose="020B0503050203000203" pitchFamily="34" charset="0"/>
            </a:endParaRPr>
          </a:p>
        </p:txBody>
      </p:sp>
      <p:graphicFrame>
        <p:nvGraphicFramePr>
          <p:cNvPr id="4" name="Table 3">
            <a:extLst>
              <a:ext uri="{FF2B5EF4-FFF2-40B4-BE49-F238E27FC236}">
                <a16:creationId xmlns:a16="http://schemas.microsoft.com/office/drawing/2014/main" id="{77E537A9-D4B4-C254-A08E-DFCDB0D7FC7A}"/>
              </a:ext>
            </a:extLst>
          </p:cNvPr>
          <p:cNvGraphicFramePr>
            <a:graphicFrameLocks noGrp="1"/>
          </p:cNvGraphicFramePr>
          <p:nvPr>
            <p:extLst>
              <p:ext uri="{D42A27DB-BD31-4B8C-83A1-F6EECF244321}">
                <p14:modId xmlns:p14="http://schemas.microsoft.com/office/powerpoint/2010/main" val="682235891"/>
              </p:ext>
            </p:extLst>
          </p:nvPr>
        </p:nvGraphicFramePr>
        <p:xfrm>
          <a:off x="584200" y="1651000"/>
          <a:ext cx="11023295" cy="469900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124246274"/>
                    </a:ext>
                  </a:extLst>
                </a:gridCol>
                <a:gridCol w="5461000">
                  <a:extLst>
                    <a:ext uri="{9D8B030D-6E8A-4147-A177-3AD203B41FA5}">
                      <a16:colId xmlns:a16="http://schemas.microsoft.com/office/drawing/2014/main" val="595559027"/>
                    </a:ext>
                  </a:extLst>
                </a:gridCol>
                <a:gridCol w="5461000">
                  <a:extLst>
                    <a:ext uri="{9D8B030D-6E8A-4147-A177-3AD203B41FA5}">
                      <a16:colId xmlns:a16="http://schemas.microsoft.com/office/drawing/2014/main" val="3226529825"/>
                    </a:ext>
                  </a:extLst>
                </a:gridCol>
                <a:gridCol w="208280">
                  <a:extLst>
                    <a:ext uri="{9D8B030D-6E8A-4147-A177-3AD203B41FA5}">
                      <a16:colId xmlns:a16="http://schemas.microsoft.com/office/drawing/2014/main" val="2026088530"/>
                    </a:ext>
                  </a:extLst>
                </a:gridCol>
              </a:tblGrid>
              <a:tr h="522111">
                <a:tc>
                  <a:txBody>
                    <a:bodyPr/>
                    <a:lstStyle/>
                    <a:p>
                      <a:r>
                        <a:rPr lang="en-IN" sz="1300" b="1">
                          <a:solidFill>
                            <a:srgbClr val="FFFFFF"/>
                          </a:solidFill>
                        </a:rPr>
                        <a:t>Time</a:t>
                      </a:r>
                    </a:p>
                  </a:txBody>
                  <a:tcPr>
                    <a:solidFill>
                      <a:srgbClr val="2C3E7A"/>
                    </a:solidFill>
                  </a:tcPr>
                </a:tc>
                <a:tc>
                  <a:txBody>
                    <a:bodyPr/>
                    <a:lstStyle/>
                    <a:p>
                      <a:r>
                        <a:rPr lang="en-IN" sz="1300" b="1">
                          <a:solidFill>
                            <a:srgbClr val="FFFFFF"/>
                          </a:solidFill>
                        </a:rPr>
                        <a:t>Topic</a:t>
                      </a:r>
                    </a:p>
                  </a:txBody>
                  <a:tcPr>
                    <a:solidFill>
                      <a:srgbClr val="2C3E7A"/>
                    </a:solidFill>
                  </a:tcPr>
                </a:tc>
                <a:tc>
                  <a:txBody>
                    <a:bodyPr/>
                    <a:lstStyle/>
                    <a:p>
                      <a:r>
                        <a:rPr lang="en-IN" sz="1300" b="1">
                          <a:solidFill>
                            <a:srgbClr val="FFFFFF"/>
                          </a:solidFill>
                        </a:rPr>
                        <a:t>Detail</a:t>
                      </a:r>
                    </a:p>
                  </a:txBody>
                  <a:tcPr>
                    <a:solidFill>
                      <a:srgbClr val="2C3E7A"/>
                    </a:solidFill>
                  </a:tcPr>
                </a:tc>
                <a:tc>
                  <a:txBody>
                    <a:bodyPr/>
                    <a:lstStyle/>
                    <a:p>
                      <a:r>
                        <a:rPr lang="en-IN" sz="1300" b="1">
                          <a:solidFill>
                            <a:srgbClr val="FFFFFF"/>
                          </a:solidFill>
                        </a:rPr>
                        <a:t>Who</a:t>
                      </a:r>
                    </a:p>
                  </a:txBody>
                  <a:tcPr>
                    <a:solidFill>
                      <a:srgbClr val="2C3E7A"/>
                    </a:solidFill>
                  </a:tcPr>
                </a:tc>
                <a:extLst>
                  <a:ext uri="{0D108BD9-81ED-4DB2-BD59-A6C34878D82A}">
                    <a16:rowId xmlns:a16="http://schemas.microsoft.com/office/drawing/2014/main" val="739671568"/>
                  </a:ext>
                </a:extLst>
              </a:tr>
              <a:tr h="522111">
                <a:tc>
                  <a:txBody>
                    <a:bodyPr/>
                    <a:lstStyle/>
                    <a:p>
                      <a:r>
                        <a:rPr lang="en-IN" sz="1200">
                          <a:solidFill>
                            <a:srgbClr val="1B2340"/>
                          </a:solidFill>
                        </a:rPr>
                        <a:t>11:35</a:t>
                      </a:r>
                    </a:p>
                  </a:txBody>
                  <a:tcPr>
                    <a:solidFill>
                      <a:srgbClr val="FFFFFF"/>
                    </a:solidFill>
                  </a:tcPr>
                </a:tc>
                <a:tc>
                  <a:txBody>
                    <a:bodyPr/>
                    <a:lstStyle/>
                    <a:p>
                      <a:r>
                        <a:rPr lang="en-IN" sz="1200" b="1">
                          <a:solidFill>
                            <a:srgbClr val="1B2340"/>
                          </a:solidFill>
                        </a:rPr>
                        <a:t>Mini-Shiny Dashboard Walkthrough</a:t>
                      </a:r>
                    </a:p>
                  </a:txBody>
                  <a:tcPr>
                    <a:solidFill>
                      <a:srgbClr val="FFFFFF"/>
                    </a:solidFill>
                  </a:tcPr>
                </a:tc>
                <a:tc>
                  <a:txBody>
                    <a:bodyPr/>
                    <a:lstStyle/>
                    <a:p>
                      <a:r>
                        <a:rPr lang="en-US" sz="1200">
                          <a:solidFill>
                            <a:srgbClr val="1B2340"/>
                          </a:solidFill>
                        </a:rPr>
                        <a:t>Problem statement, table vs. figure, AE workflow</a:t>
                      </a:r>
                      <a:endParaRPr lang="en-IN" sz="1200">
                        <a:solidFill>
                          <a:srgbClr val="1B2340"/>
                        </a:solidFill>
                      </a:endParaRPr>
                    </a:p>
                  </a:txBody>
                  <a:tcPr>
                    <a:solidFill>
                      <a:srgbClr val="FFFFFF"/>
                    </a:solidFill>
                  </a:tcPr>
                </a:tc>
                <a:tc>
                  <a:txBody>
                    <a:bodyPr/>
                    <a:lstStyle/>
                    <a:p>
                      <a:r>
                        <a:rPr lang="en-IN" sz="1200">
                          <a:solidFill>
                            <a:srgbClr val="1B2340"/>
                          </a:solidFill>
                        </a:rPr>
                        <a:t>Speaker, Mahesh</a:t>
                      </a:r>
                    </a:p>
                  </a:txBody>
                  <a:tcPr>
                    <a:solidFill>
                      <a:srgbClr val="FFFFFF"/>
                    </a:solidFill>
                  </a:tcPr>
                </a:tc>
                <a:extLst>
                  <a:ext uri="{0D108BD9-81ED-4DB2-BD59-A6C34878D82A}">
                    <a16:rowId xmlns:a16="http://schemas.microsoft.com/office/drawing/2014/main" val="2908408389"/>
                  </a:ext>
                </a:extLst>
              </a:tr>
              <a:tr h="522111">
                <a:tc>
                  <a:txBody>
                    <a:bodyPr/>
                    <a:lstStyle/>
                    <a:p>
                      <a:r>
                        <a:rPr lang="en-IN" sz="1200">
                          <a:solidFill>
                            <a:srgbClr val="1B2340"/>
                          </a:solidFill>
                        </a:rPr>
                        <a:t>12:15</a:t>
                      </a:r>
                    </a:p>
                  </a:txBody>
                  <a:tcPr>
                    <a:solidFill>
                      <a:srgbClr val="F5F6FA"/>
                    </a:solidFill>
                  </a:tcPr>
                </a:tc>
                <a:tc>
                  <a:txBody>
                    <a:bodyPr/>
                    <a:lstStyle/>
                    <a:p>
                      <a:r>
                        <a:rPr lang="en-US" sz="1200" b="1">
                          <a:solidFill>
                            <a:srgbClr val="1B2340"/>
                          </a:solidFill>
                        </a:rPr>
                        <a:t>Q&amp;A and recap before lunch</a:t>
                      </a:r>
                      <a:endParaRPr lang="en-IN" sz="1200" b="1">
                        <a:solidFill>
                          <a:srgbClr val="1B2340"/>
                        </a:solidFill>
                      </a:endParaRPr>
                    </a:p>
                  </a:txBody>
                  <a:tcPr>
                    <a:solidFill>
                      <a:srgbClr val="F5F6FA"/>
                    </a:solidFill>
                  </a:tcPr>
                </a:tc>
                <a:tc>
                  <a:txBody>
                    <a:bodyPr/>
                    <a:lstStyle/>
                    <a:p>
                      <a:endParaRPr lang="en-IN" sz="1200">
                        <a:solidFill>
                          <a:srgbClr val="1B2340"/>
                        </a:solidFill>
                      </a:endParaRPr>
                    </a:p>
                  </a:txBody>
                  <a:tcPr>
                    <a:solidFill>
                      <a:srgbClr val="F5F6FA"/>
                    </a:solidFill>
                  </a:tcPr>
                </a:tc>
                <a:tc>
                  <a:txBody>
                    <a:bodyPr/>
                    <a:lstStyle/>
                    <a:p>
                      <a:r>
                        <a:rPr lang="en-IN" sz="1200">
                          <a:solidFill>
                            <a:srgbClr val="1B2340"/>
                          </a:solidFill>
                        </a:rPr>
                        <a:t>All</a:t>
                      </a:r>
                    </a:p>
                  </a:txBody>
                  <a:tcPr>
                    <a:solidFill>
                      <a:srgbClr val="F5F6FA"/>
                    </a:solidFill>
                  </a:tcPr>
                </a:tc>
                <a:extLst>
                  <a:ext uri="{0D108BD9-81ED-4DB2-BD59-A6C34878D82A}">
                    <a16:rowId xmlns:a16="http://schemas.microsoft.com/office/drawing/2014/main" val="4084611048"/>
                  </a:ext>
                </a:extLst>
              </a:tr>
              <a:tr h="522111">
                <a:tc>
                  <a:txBody>
                    <a:bodyPr/>
                    <a:lstStyle/>
                    <a:p>
                      <a:r>
                        <a:rPr lang="en-IN" sz="1200">
                          <a:solidFill>
                            <a:srgbClr val="1B2340"/>
                          </a:solidFill>
                        </a:rPr>
                        <a:t>13:30</a:t>
                      </a:r>
                    </a:p>
                  </a:txBody>
                  <a:tcPr>
                    <a:solidFill>
                      <a:srgbClr val="FFFFFF"/>
                    </a:solidFill>
                  </a:tcPr>
                </a:tc>
                <a:tc>
                  <a:txBody>
                    <a:bodyPr/>
                    <a:lstStyle/>
                    <a:p>
                      <a:r>
                        <a:rPr lang="en-US" sz="1200" b="1">
                          <a:solidFill>
                            <a:srgbClr val="1B2340"/>
                          </a:solidFill>
                        </a:rPr>
                        <a:t>Mini TFL Builder - hands-on build</a:t>
                      </a:r>
                      <a:endParaRPr lang="en-IN" sz="1200" b="1">
                        <a:solidFill>
                          <a:srgbClr val="1B2340"/>
                        </a:solidFill>
                      </a:endParaRPr>
                    </a:p>
                  </a:txBody>
                  <a:tcPr>
                    <a:solidFill>
                      <a:srgbClr val="FFFFFF"/>
                    </a:solidFill>
                  </a:tcPr>
                </a:tc>
                <a:tc>
                  <a:txBody>
                    <a:bodyPr/>
                    <a:lstStyle/>
                    <a:p>
                      <a:r>
                        <a:rPr lang="en-US" sz="1200">
                          <a:solidFill>
                            <a:srgbClr val="1B2340"/>
                          </a:solidFill>
                        </a:rPr>
                        <a:t>Arm -&gt; Population -&gt; AE Summary Table</a:t>
                      </a:r>
                      <a:endParaRPr lang="en-IN" sz="1200">
                        <a:solidFill>
                          <a:srgbClr val="1B2340"/>
                        </a:solidFill>
                      </a:endParaRPr>
                    </a:p>
                  </a:txBody>
                  <a:tcPr>
                    <a:solidFill>
                      <a:srgbClr val="FFFFFF"/>
                    </a:solidFill>
                  </a:tcPr>
                </a:tc>
                <a:tc>
                  <a:txBody>
                    <a:bodyPr/>
                    <a:lstStyle/>
                    <a:p>
                      <a:r>
                        <a:rPr lang="en-IN" sz="1200">
                          <a:solidFill>
                            <a:srgbClr val="1B2340"/>
                          </a:solidFill>
                        </a:rPr>
                        <a:t>Speaker, Venkatesh + Audience</a:t>
                      </a:r>
                    </a:p>
                  </a:txBody>
                  <a:tcPr>
                    <a:solidFill>
                      <a:srgbClr val="FFFFFF"/>
                    </a:solidFill>
                  </a:tcPr>
                </a:tc>
                <a:extLst>
                  <a:ext uri="{0D108BD9-81ED-4DB2-BD59-A6C34878D82A}">
                    <a16:rowId xmlns:a16="http://schemas.microsoft.com/office/drawing/2014/main" val="2700414345"/>
                  </a:ext>
                </a:extLst>
              </a:tr>
              <a:tr h="522111">
                <a:tc>
                  <a:txBody>
                    <a:bodyPr/>
                    <a:lstStyle/>
                    <a:p>
                      <a:r>
                        <a:rPr lang="en-IN" sz="1200">
                          <a:solidFill>
                            <a:srgbClr val="1B2340"/>
                          </a:solidFill>
                        </a:rPr>
                        <a:t>14:15</a:t>
                      </a:r>
                    </a:p>
                  </a:txBody>
                  <a:tcPr>
                    <a:solidFill>
                      <a:srgbClr val="F5F6FA"/>
                    </a:solidFill>
                  </a:tcPr>
                </a:tc>
                <a:tc>
                  <a:txBody>
                    <a:bodyPr/>
                    <a:lstStyle/>
                    <a:p>
                      <a:r>
                        <a:rPr lang="en-IN" sz="1200" b="1">
                          <a:solidFill>
                            <a:srgbClr val="1B2340"/>
                          </a:solidFill>
                        </a:rPr>
                        <a:t>Interactivity for reviewing outputs</a:t>
                      </a:r>
                    </a:p>
                  </a:txBody>
                  <a:tcPr>
                    <a:solidFill>
                      <a:srgbClr val="F5F6FA"/>
                    </a:solidFill>
                  </a:tcPr>
                </a:tc>
                <a:tc>
                  <a:txBody>
                    <a:bodyPr/>
                    <a:lstStyle/>
                    <a:p>
                      <a:r>
                        <a:rPr lang="en-IN" sz="1200">
                          <a:solidFill>
                            <a:srgbClr val="1B2340"/>
                          </a:solidFill>
                        </a:rPr>
                        <a:t>AE incidence viz, reactive filtering</a:t>
                      </a:r>
                    </a:p>
                  </a:txBody>
                  <a:tcPr>
                    <a:solidFill>
                      <a:srgbClr val="F5F6FA"/>
                    </a:solidFill>
                  </a:tcPr>
                </a:tc>
                <a:tc>
                  <a:txBody>
                    <a:bodyPr/>
                    <a:lstStyle/>
                    <a:p>
                      <a:r>
                        <a:rPr lang="en-IN" sz="1200">
                          <a:solidFill>
                            <a:srgbClr val="1B2340"/>
                          </a:solidFill>
                        </a:rPr>
                        <a:t>Audience</a:t>
                      </a:r>
                    </a:p>
                  </a:txBody>
                  <a:tcPr>
                    <a:solidFill>
                      <a:srgbClr val="F5F6FA"/>
                    </a:solidFill>
                  </a:tcPr>
                </a:tc>
                <a:extLst>
                  <a:ext uri="{0D108BD9-81ED-4DB2-BD59-A6C34878D82A}">
                    <a16:rowId xmlns:a16="http://schemas.microsoft.com/office/drawing/2014/main" val="352990834"/>
                  </a:ext>
                </a:extLst>
              </a:tr>
              <a:tr h="522111">
                <a:tc>
                  <a:txBody>
                    <a:bodyPr/>
                    <a:lstStyle/>
                    <a:p>
                      <a:r>
                        <a:rPr lang="en-IN" sz="1200">
                          <a:solidFill>
                            <a:srgbClr val="1B2340"/>
                          </a:solidFill>
                        </a:rPr>
                        <a:t>15:00</a:t>
                      </a:r>
                    </a:p>
                  </a:txBody>
                  <a:tcPr>
                    <a:solidFill>
                      <a:srgbClr val="FFFFFF"/>
                    </a:solidFill>
                  </a:tcPr>
                </a:tc>
                <a:tc>
                  <a:txBody>
                    <a:bodyPr/>
                    <a:lstStyle/>
                    <a:p>
                      <a:r>
                        <a:rPr lang="en-US" sz="1200" b="1">
                          <a:solidFill>
                            <a:srgbClr val="1B2340"/>
                          </a:solidFill>
                        </a:rPr>
                        <a:t>Exporting to PDF and Word</a:t>
                      </a:r>
                      <a:endParaRPr lang="en-IN" sz="1200" b="1">
                        <a:solidFill>
                          <a:srgbClr val="1B2340"/>
                        </a:solidFill>
                      </a:endParaRPr>
                    </a:p>
                  </a:txBody>
                  <a:tcPr>
                    <a:solidFill>
                      <a:srgbClr val="FFFFFF"/>
                    </a:solidFill>
                  </a:tcPr>
                </a:tc>
                <a:tc>
                  <a:txBody>
                    <a:bodyPr/>
                    <a:lstStyle/>
                    <a:p>
                      <a:r>
                        <a:rPr lang="en-IN" sz="1200">
                          <a:solidFill>
                            <a:srgbClr val="1B2340"/>
                          </a:solidFill>
                        </a:rPr>
                        <a:t>Download/export functionality, reusability</a:t>
                      </a:r>
                    </a:p>
                  </a:txBody>
                  <a:tcPr>
                    <a:solidFill>
                      <a:srgbClr val="FFFFFF"/>
                    </a:solidFill>
                  </a:tcPr>
                </a:tc>
                <a:tc>
                  <a:txBody>
                    <a:bodyPr/>
                    <a:lstStyle/>
                    <a:p>
                      <a:r>
                        <a:rPr lang="en-IN" sz="1200">
                          <a:solidFill>
                            <a:srgbClr val="1B2340"/>
                          </a:solidFill>
                        </a:rPr>
                        <a:t>Audience + Mahesh</a:t>
                      </a:r>
                    </a:p>
                  </a:txBody>
                  <a:tcPr>
                    <a:solidFill>
                      <a:srgbClr val="FFFFFF"/>
                    </a:solidFill>
                  </a:tcPr>
                </a:tc>
                <a:extLst>
                  <a:ext uri="{0D108BD9-81ED-4DB2-BD59-A6C34878D82A}">
                    <a16:rowId xmlns:a16="http://schemas.microsoft.com/office/drawing/2014/main" val="4080103982"/>
                  </a:ext>
                </a:extLst>
              </a:tr>
              <a:tr h="522111">
                <a:tc>
                  <a:txBody>
                    <a:bodyPr/>
                    <a:lstStyle/>
                    <a:p>
                      <a:r>
                        <a:rPr lang="en-IN" sz="1200">
                          <a:solidFill>
                            <a:srgbClr val="1B2340"/>
                          </a:solidFill>
                        </a:rPr>
                        <a:t>15:45</a:t>
                      </a:r>
                    </a:p>
                  </a:txBody>
                  <a:tcPr>
                    <a:solidFill>
                      <a:srgbClr val="F5F6FA"/>
                    </a:solidFill>
                  </a:tcPr>
                </a:tc>
                <a:tc>
                  <a:txBody>
                    <a:bodyPr/>
                    <a:lstStyle/>
                    <a:p>
                      <a:r>
                        <a:rPr lang="en-IN" sz="1200" b="1">
                          <a:solidFill>
                            <a:srgbClr val="1B2340"/>
                          </a:solidFill>
                        </a:rPr>
                        <a:t>AI/LLM integration patterns</a:t>
                      </a:r>
                    </a:p>
                  </a:txBody>
                  <a:tcPr>
                    <a:solidFill>
                      <a:srgbClr val="F5F6FA"/>
                    </a:solidFill>
                  </a:tcPr>
                </a:tc>
                <a:tc>
                  <a:txBody>
                    <a:bodyPr/>
                    <a:lstStyle/>
                    <a:p>
                      <a:r>
                        <a:rPr lang="en-US" sz="1200">
                          <a:solidFill>
                            <a:srgbClr val="1B2340"/>
                          </a:solidFill>
                        </a:rPr>
                        <a:t>With Ollama or OpenAI API</a:t>
                      </a:r>
                      <a:endParaRPr lang="en-IN" sz="1200">
                        <a:solidFill>
                          <a:srgbClr val="1B2340"/>
                        </a:solidFill>
                      </a:endParaRPr>
                    </a:p>
                  </a:txBody>
                  <a:tcPr>
                    <a:solidFill>
                      <a:srgbClr val="F5F6FA"/>
                    </a:solidFill>
                  </a:tcPr>
                </a:tc>
                <a:tc>
                  <a:txBody>
                    <a:bodyPr/>
                    <a:lstStyle/>
                    <a:p>
                      <a:r>
                        <a:rPr lang="en-IN" sz="1200">
                          <a:solidFill>
                            <a:srgbClr val="1B2340"/>
                          </a:solidFill>
                        </a:rPr>
                        <a:t>Venkatesh</a:t>
                      </a:r>
                    </a:p>
                  </a:txBody>
                  <a:tcPr>
                    <a:solidFill>
                      <a:srgbClr val="F5F6FA"/>
                    </a:solidFill>
                  </a:tcPr>
                </a:tc>
                <a:extLst>
                  <a:ext uri="{0D108BD9-81ED-4DB2-BD59-A6C34878D82A}">
                    <a16:rowId xmlns:a16="http://schemas.microsoft.com/office/drawing/2014/main" val="2016219111"/>
                  </a:ext>
                </a:extLst>
              </a:tr>
              <a:tr h="522111">
                <a:tc>
                  <a:txBody>
                    <a:bodyPr/>
                    <a:lstStyle/>
                    <a:p>
                      <a:r>
                        <a:rPr lang="en-IN" sz="1200">
                          <a:solidFill>
                            <a:srgbClr val="1B2340"/>
                          </a:solidFill>
                        </a:rPr>
                        <a:t>16:15</a:t>
                      </a:r>
                    </a:p>
                  </a:txBody>
                  <a:tcPr>
                    <a:solidFill>
                      <a:srgbClr val="FFFFFF"/>
                    </a:solidFill>
                  </a:tcPr>
                </a:tc>
                <a:tc>
                  <a:txBody>
                    <a:bodyPr/>
                    <a:lstStyle/>
                    <a:p>
                      <a:r>
                        <a:rPr lang="en-IN" sz="1200" b="1">
                          <a:solidFill>
                            <a:srgbClr val="1B2340"/>
                          </a:solidFill>
                        </a:rPr>
                        <a:t>Chatbot interface in R Shiny</a:t>
                      </a:r>
                    </a:p>
                  </a:txBody>
                  <a:tcPr>
                    <a:solidFill>
                      <a:srgbClr val="FFFFFF"/>
                    </a:solidFill>
                  </a:tcPr>
                </a:tc>
                <a:tc>
                  <a:txBody>
                    <a:bodyPr/>
                    <a:lstStyle/>
                    <a:p>
                      <a:endParaRPr lang="en-IN" sz="1200">
                        <a:solidFill>
                          <a:srgbClr val="1B2340"/>
                        </a:solidFill>
                      </a:endParaRPr>
                    </a:p>
                  </a:txBody>
                  <a:tcPr>
                    <a:solidFill>
                      <a:srgbClr val="FFFFFF"/>
                    </a:solidFill>
                  </a:tcPr>
                </a:tc>
                <a:tc>
                  <a:txBody>
                    <a:bodyPr/>
                    <a:lstStyle/>
                    <a:p>
                      <a:r>
                        <a:rPr lang="en-IN" sz="1200">
                          <a:solidFill>
                            <a:srgbClr val="1B2340"/>
                          </a:solidFill>
                        </a:rPr>
                        <a:t>Venkatesh</a:t>
                      </a:r>
                    </a:p>
                  </a:txBody>
                  <a:tcPr>
                    <a:solidFill>
                      <a:srgbClr val="FFFFFF"/>
                    </a:solidFill>
                  </a:tcPr>
                </a:tc>
                <a:extLst>
                  <a:ext uri="{0D108BD9-81ED-4DB2-BD59-A6C34878D82A}">
                    <a16:rowId xmlns:a16="http://schemas.microsoft.com/office/drawing/2014/main" val="991775957"/>
                  </a:ext>
                </a:extLst>
              </a:tr>
              <a:tr h="522111">
                <a:tc>
                  <a:txBody>
                    <a:bodyPr/>
                    <a:lstStyle/>
                    <a:p>
                      <a:r>
                        <a:rPr lang="en-IN" sz="1200">
                          <a:solidFill>
                            <a:srgbClr val="1B2340"/>
                          </a:solidFill>
                        </a:rPr>
                        <a:t>16:45</a:t>
                      </a:r>
                    </a:p>
                  </a:txBody>
                  <a:tcPr>
                    <a:solidFill>
                      <a:srgbClr val="F5F6FA"/>
                    </a:solidFill>
                  </a:tcPr>
                </a:tc>
                <a:tc>
                  <a:txBody>
                    <a:bodyPr/>
                    <a:lstStyle/>
                    <a:p>
                      <a:r>
                        <a:rPr lang="en-US" sz="1200" b="1">
                          <a:solidFill>
                            <a:srgbClr val="1B2340"/>
                          </a:solidFill>
                        </a:rPr>
                        <a:t>Illustrative use case with the mini TFL app</a:t>
                      </a:r>
                      <a:endParaRPr lang="en-IN" sz="1200" b="1">
                        <a:solidFill>
                          <a:srgbClr val="1B2340"/>
                        </a:solidFill>
                      </a:endParaRPr>
                    </a:p>
                  </a:txBody>
                  <a:tcPr>
                    <a:solidFill>
                      <a:srgbClr val="F5F6FA"/>
                    </a:solidFill>
                  </a:tcPr>
                </a:tc>
                <a:tc>
                  <a:txBody>
                    <a:bodyPr/>
                    <a:lstStyle/>
                    <a:p>
                      <a:endParaRPr lang="en-IN" sz="1200">
                        <a:solidFill>
                          <a:srgbClr val="1B2340"/>
                        </a:solidFill>
                      </a:endParaRPr>
                    </a:p>
                  </a:txBody>
                  <a:tcPr>
                    <a:solidFill>
                      <a:srgbClr val="F5F6FA"/>
                    </a:solidFill>
                  </a:tcPr>
                </a:tc>
                <a:tc>
                  <a:txBody>
                    <a:bodyPr/>
                    <a:lstStyle/>
                    <a:p>
                      <a:r>
                        <a:rPr lang="en-IN" sz="1200">
                          <a:solidFill>
                            <a:srgbClr val="1B2340"/>
                          </a:solidFill>
                        </a:rPr>
                        <a:t>Venkatesh + Mahesh</a:t>
                      </a:r>
                    </a:p>
                  </a:txBody>
                  <a:tcPr>
                    <a:solidFill>
                      <a:srgbClr val="F5F6FA"/>
                    </a:solidFill>
                  </a:tcPr>
                </a:tc>
                <a:extLst>
                  <a:ext uri="{0D108BD9-81ED-4DB2-BD59-A6C34878D82A}">
                    <a16:rowId xmlns:a16="http://schemas.microsoft.com/office/drawing/2014/main" val="3732787522"/>
                  </a:ext>
                </a:extLst>
              </a:tr>
            </a:tbl>
          </a:graphicData>
        </a:graphic>
      </p:graphicFrame>
      <p:sp>
        <p:nvSpPr>
          <p:cNvPr id="5" name="TextBox 4">
            <a:extLst>
              <a:ext uri="{FF2B5EF4-FFF2-40B4-BE49-F238E27FC236}">
                <a16:creationId xmlns:a16="http://schemas.microsoft.com/office/drawing/2014/main" id="{91B4F213-E4AA-A78E-1DF2-F13158C18179}"/>
              </a:ext>
            </a:extLst>
          </p:cNvPr>
          <p:cNvSpPr txBox="1"/>
          <p:nvPr/>
        </p:nvSpPr>
        <p:spPr>
          <a:xfrm>
            <a:off x="304800" y="6553200"/>
            <a:ext cx="6350000" cy="276999"/>
          </a:xfrm>
          <a:prstGeom prst="rect">
            <a:avLst/>
          </a:prstGeom>
          <a:noFill/>
        </p:spPr>
        <p:txBody>
          <a:bodyPr vert="horz" wrap="square" rtlCol="0">
            <a:spAutoFit/>
          </a:bodyPr>
          <a:lstStyle/>
          <a:p>
            <a:r>
              <a:rPr lang="en-IN" sz="1200" i="1">
                <a:solidFill>
                  <a:srgbClr val="5B6182"/>
                </a:solidFill>
                <a:latin typeface="IBM Plex Sans" panose="020B0503050203000203" pitchFamily="34" charset="0"/>
              </a:rPr>
              <a:t>Opening</a:t>
            </a:r>
          </a:p>
        </p:txBody>
      </p:sp>
    </p:spTree>
    <p:extLst>
      <p:ext uri="{BB962C8B-B14F-4D97-AF65-F5344CB8AC3E}">
        <p14:creationId xmlns:p14="http://schemas.microsoft.com/office/powerpoint/2010/main" val="27660401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E70ADE-4C01-81D9-0F25-7DBE9E47CB3D}"/>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FOUNDATIONS</a:t>
            </a:r>
          </a:p>
        </p:txBody>
      </p:sp>
      <p:sp>
        <p:nvSpPr>
          <p:cNvPr id="3" name="TextBox 2">
            <a:extLst>
              <a:ext uri="{FF2B5EF4-FFF2-40B4-BE49-F238E27FC236}">
                <a16:creationId xmlns:a16="http://schemas.microsoft.com/office/drawing/2014/main" id="{05523427-85D5-2093-090D-702A86E9D680}"/>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What Is a Dashboard, and Why Does It Matter?</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EF9D53FE-79DB-2A18-3BEE-9A98704AB55A}"/>
              </a:ext>
            </a:extLst>
          </p:cNvPr>
          <p:cNvSpPr/>
          <p:nvPr/>
        </p:nvSpPr>
        <p:spPr>
          <a:xfrm>
            <a:off x="584200" y="1651000"/>
            <a:ext cx="5359248"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BF2F531D-334D-A08C-5983-7864EBC4666B}"/>
              </a:ext>
            </a:extLst>
          </p:cNvPr>
          <p:cNvSpPr txBox="1"/>
          <p:nvPr/>
        </p:nvSpPr>
        <p:spPr>
          <a:xfrm>
            <a:off x="863600" y="1879600"/>
            <a:ext cx="4800448" cy="353943"/>
          </a:xfrm>
          <a:prstGeom prst="rect">
            <a:avLst/>
          </a:prstGeom>
          <a:noFill/>
        </p:spPr>
        <p:txBody>
          <a:bodyPr vert="horz" wrap="square" rtlCol="0">
            <a:spAutoFit/>
          </a:bodyPr>
          <a:lstStyle/>
          <a:p>
            <a:r>
              <a:rPr lang="en-IN" sz="1700" b="1">
                <a:solidFill>
                  <a:srgbClr val="1B2340"/>
                </a:solidFill>
                <a:latin typeface="IBM Plex Sans" panose="020B0503050203000203" pitchFamily="34" charset="0"/>
              </a:rPr>
              <a:t>What it actually is</a:t>
            </a:r>
          </a:p>
        </p:txBody>
      </p:sp>
      <p:sp>
        <p:nvSpPr>
          <p:cNvPr id="6" name="TextBox 5">
            <a:extLst>
              <a:ext uri="{FF2B5EF4-FFF2-40B4-BE49-F238E27FC236}">
                <a16:creationId xmlns:a16="http://schemas.microsoft.com/office/drawing/2014/main" id="{A4105649-95C6-08F5-1E75-69F1BCC89CD0}"/>
              </a:ext>
            </a:extLst>
          </p:cNvPr>
          <p:cNvSpPr txBox="1"/>
          <p:nvPr/>
        </p:nvSpPr>
        <p:spPr>
          <a:xfrm>
            <a:off x="863600" y="2311400"/>
            <a:ext cx="4800448" cy="369332"/>
          </a:xfrm>
          <a:prstGeom prst="rect">
            <a:avLst/>
          </a:prstGeom>
          <a:noFill/>
        </p:spPr>
        <p:txBody>
          <a:bodyPr vert="horz" wrap="square" rtlCol="0">
            <a:noAutofit/>
          </a:bodyPr>
          <a:lstStyle/>
          <a:p>
            <a:pPr marL="342900" indent="-342900">
              <a:buFont typeface="+mj-lt"/>
              <a:buChar char="•"/>
            </a:pPr>
            <a:r>
              <a:rPr lang="en-US" sz="1500">
                <a:solidFill>
                  <a:srgbClr val="5B6182"/>
                </a:solidFill>
                <a:latin typeface="IBM Plex Sans" panose="020B0503050203000203" pitchFamily="34" charset="0"/>
              </a:rPr>
              <a:t>Not a report with buttons -- a decision-support instrument built around a question someone must keep re-asking
Compresses a large, changing dataset into a few signals a person can monitor at a glance, repeatedly
The underlying question rarely has one answer -- it has a new answer every week of the trial</a:t>
            </a:r>
            <a:endParaRPr lang="en-IN" sz="1500">
              <a:solidFill>
                <a:srgbClr val="5B6182"/>
              </a:solidFill>
              <a:latin typeface="IBM Plex Sans" panose="020B0503050203000203" pitchFamily="34" charset="0"/>
            </a:endParaRPr>
          </a:p>
        </p:txBody>
      </p:sp>
      <p:sp>
        <p:nvSpPr>
          <p:cNvPr id="7" name="Rectangle: Rounded Corners 6">
            <a:extLst>
              <a:ext uri="{FF2B5EF4-FFF2-40B4-BE49-F238E27FC236}">
                <a16:creationId xmlns:a16="http://schemas.microsoft.com/office/drawing/2014/main" id="{1C07CDD6-B8F9-5129-6610-9AB2A1264654}"/>
              </a:ext>
            </a:extLst>
          </p:cNvPr>
          <p:cNvSpPr/>
          <p:nvPr/>
        </p:nvSpPr>
        <p:spPr>
          <a:xfrm>
            <a:off x="6248248" y="1651000"/>
            <a:ext cx="5359247"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560ADD87-129E-7374-4046-0B62ED9C911A}"/>
              </a:ext>
            </a:extLst>
          </p:cNvPr>
          <p:cNvSpPr txBox="1"/>
          <p:nvPr/>
        </p:nvSpPr>
        <p:spPr>
          <a:xfrm>
            <a:off x="6527647" y="1879600"/>
            <a:ext cx="4800448" cy="353943"/>
          </a:xfrm>
          <a:prstGeom prst="rect">
            <a:avLst/>
          </a:prstGeom>
          <a:noFill/>
        </p:spPr>
        <p:txBody>
          <a:bodyPr vert="horz" wrap="square" rtlCol="0">
            <a:spAutoFit/>
          </a:bodyPr>
          <a:lstStyle/>
          <a:p>
            <a:r>
              <a:rPr lang="en-IN" sz="1700" b="1">
                <a:solidFill>
                  <a:srgbClr val="1B2340"/>
                </a:solidFill>
                <a:latin typeface="IBM Plex Sans" panose="020B0503050203000203" pitchFamily="34" charset="0"/>
              </a:rPr>
              <a:t>Why it matters here</a:t>
            </a:r>
          </a:p>
        </p:txBody>
      </p:sp>
      <p:sp>
        <p:nvSpPr>
          <p:cNvPr id="9" name="TextBox 8">
            <a:extLst>
              <a:ext uri="{FF2B5EF4-FFF2-40B4-BE49-F238E27FC236}">
                <a16:creationId xmlns:a16="http://schemas.microsoft.com/office/drawing/2014/main" id="{230A819A-1931-4942-7DDD-6F69E25F2D79}"/>
              </a:ext>
            </a:extLst>
          </p:cNvPr>
          <p:cNvSpPr txBox="1"/>
          <p:nvPr/>
        </p:nvSpPr>
        <p:spPr>
          <a:xfrm>
            <a:off x="6527647" y="2311400"/>
            <a:ext cx="4800448" cy="369332"/>
          </a:xfrm>
          <a:prstGeom prst="rect">
            <a:avLst/>
          </a:prstGeom>
          <a:noFill/>
        </p:spPr>
        <p:txBody>
          <a:bodyPr vert="horz" wrap="square" rtlCol="0">
            <a:noAutofit/>
          </a:bodyPr>
          <a:lstStyle/>
          <a:p>
            <a:pPr marL="342900" indent="-342900">
              <a:buFont typeface="+mj-lt"/>
              <a:buChar char="•"/>
            </a:pPr>
            <a:r>
              <a:rPr lang="en-US" sz="1500">
                <a:solidFill>
                  <a:srgbClr val="5B6182"/>
                </a:solidFill>
                <a:latin typeface="IBM Plex Sans" panose="020B0503050203000203" pitchFamily="34" charset="0"/>
              </a:rPr>
              <a:t>Shortens the distance between 'something changed in the data' and 'someone with authority noticed and acted'
That distance is exactly where clinical and operational risk accumulates
A validated app can replace dozens of one-off ad-hoc requests over a study's lifecycle</a:t>
            </a:r>
            <a:endParaRPr lang="en-IN" sz="1500">
              <a:solidFill>
                <a:srgbClr val="5B6182"/>
              </a:solidFill>
              <a:latin typeface="IBM Plex Sans" panose="020B0503050203000203" pitchFamily="34" charset="0"/>
            </a:endParaRPr>
          </a:p>
        </p:txBody>
      </p:sp>
      <p:sp>
        <p:nvSpPr>
          <p:cNvPr id="10" name="TextBox 9">
            <a:extLst>
              <a:ext uri="{FF2B5EF4-FFF2-40B4-BE49-F238E27FC236}">
                <a16:creationId xmlns:a16="http://schemas.microsoft.com/office/drawing/2014/main" id="{14A71A1B-0686-1594-B6DC-38106B48665D}"/>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Session 1 - Context &amp; Use Cases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5344678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BB82F4-8625-9028-26D9-18D07C600BE8}"/>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FOUNDATIONS</a:t>
            </a:r>
          </a:p>
        </p:txBody>
      </p:sp>
      <p:sp>
        <p:nvSpPr>
          <p:cNvPr id="3" name="TextBox 2">
            <a:extLst>
              <a:ext uri="{FF2B5EF4-FFF2-40B4-BE49-F238E27FC236}">
                <a16:creationId xmlns:a16="http://schemas.microsoft.com/office/drawing/2014/main" id="{DC9649BF-C94E-F023-5B3B-83E0996484AC}"/>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The Science Behind a Dashboard</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0CC61E4F-DA8F-F43A-BCE1-CC5D7F0CE6E8}"/>
              </a:ext>
            </a:extLst>
          </p:cNvPr>
          <p:cNvSpPr/>
          <p:nvPr/>
        </p:nvSpPr>
        <p:spPr>
          <a:xfrm>
            <a:off x="584200" y="1651000"/>
            <a:ext cx="5359248"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A2AC230-0E14-DE65-AB89-A2017B819C37}"/>
              </a:ext>
            </a:extLst>
          </p:cNvPr>
          <p:cNvSpPr txBox="1"/>
          <p:nvPr/>
        </p:nvSpPr>
        <p:spPr>
          <a:xfrm>
            <a:off x="863600" y="1879600"/>
            <a:ext cx="4800448" cy="353943"/>
          </a:xfrm>
          <a:prstGeom prst="rect">
            <a:avLst/>
          </a:prstGeom>
          <a:noFill/>
        </p:spPr>
        <p:txBody>
          <a:bodyPr vert="horz" wrap="square" rtlCol="0">
            <a:spAutoFit/>
          </a:bodyPr>
          <a:lstStyle/>
          <a:p>
            <a:r>
              <a:rPr lang="en-IN" sz="1700" b="1">
                <a:solidFill>
                  <a:srgbClr val="1B2340"/>
                </a:solidFill>
                <a:latin typeface="IBM Plex Sans" panose="020B0503050203000203" pitchFamily="34" charset="0"/>
              </a:rPr>
              <a:t>Perception &amp; cognition</a:t>
            </a:r>
          </a:p>
        </p:txBody>
      </p:sp>
      <p:sp>
        <p:nvSpPr>
          <p:cNvPr id="6" name="TextBox 5">
            <a:extLst>
              <a:ext uri="{FF2B5EF4-FFF2-40B4-BE49-F238E27FC236}">
                <a16:creationId xmlns:a16="http://schemas.microsoft.com/office/drawing/2014/main" id="{96342881-3484-2F44-689D-9A2C2AF3EC66}"/>
              </a:ext>
            </a:extLst>
          </p:cNvPr>
          <p:cNvSpPr txBox="1"/>
          <p:nvPr/>
        </p:nvSpPr>
        <p:spPr>
          <a:xfrm>
            <a:off x="863600" y="2311400"/>
            <a:ext cx="4800448" cy="369332"/>
          </a:xfrm>
          <a:prstGeom prst="rect">
            <a:avLst/>
          </a:prstGeom>
          <a:noFill/>
        </p:spPr>
        <p:txBody>
          <a:bodyPr vert="horz" wrap="square" rtlCol="0">
            <a:noAutofit/>
          </a:bodyPr>
          <a:lstStyle/>
          <a:p>
            <a:pPr marL="342900" indent="-342900">
              <a:buFont typeface="+mj-lt"/>
              <a:buChar char="•"/>
            </a:pPr>
            <a:r>
              <a:rPr lang="en-US" sz="1500">
                <a:solidFill>
                  <a:srgbClr val="5B6182"/>
                </a:solidFill>
                <a:latin typeface="IBM Plex Sans" panose="020B0503050203000203" pitchFamily="34" charset="0"/>
              </a:rPr>
              <a:t>Pre-attentive attributes (color, position, size) are processed in under 250ms, before conscious reasoning
Working memory holds about 4 plus/minus 1 chunks -- a dashboard's job is to reduce what a reviewer must hold in their head
Gestalt grouping (proximity, alignment, similarity) is why a table reads as one statement, not a grid of numbers</a:t>
            </a:r>
            <a:endParaRPr lang="en-IN" sz="1500">
              <a:solidFill>
                <a:srgbClr val="5B6182"/>
              </a:solidFill>
              <a:latin typeface="IBM Plex Sans" panose="020B0503050203000203" pitchFamily="34" charset="0"/>
            </a:endParaRPr>
          </a:p>
        </p:txBody>
      </p:sp>
      <p:sp>
        <p:nvSpPr>
          <p:cNvPr id="7" name="Rectangle: Rounded Corners 6">
            <a:extLst>
              <a:ext uri="{FF2B5EF4-FFF2-40B4-BE49-F238E27FC236}">
                <a16:creationId xmlns:a16="http://schemas.microsoft.com/office/drawing/2014/main" id="{19AAF34C-A7F2-4FB0-29BC-1AB131432F29}"/>
              </a:ext>
            </a:extLst>
          </p:cNvPr>
          <p:cNvSpPr/>
          <p:nvPr/>
        </p:nvSpPr>
        <p:spPr>
          <a:xfrm>
            <a:off x="6248248" y="1651000"/>
            <a:ext cx="5359247"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CE1B0696-EA79-120B-C8C0-E513E95A7660}"/>
              </a:ext>
            </a:extLst>
          </p:cNvPr>
          <p:cNvSpPr txBox="1"/>
          <p:nvPr/>
        </p:nvSpPr>
        <p:spPr>
          <a:xfrm>
            <a:off x="6527647" y="1879600"/>
            <a:ext cx="4800448" cy="353943"/>
          </a:xfrm>
          <a:prstGeom prst="rect">
            <a:avLst/>
          </a:prstGeom>
          <a:noFill/>
        </p:spPr>
        <p:txBody>
          <a:bodyPr vert="horz" wrap="square" rtlCol="0">
            <a:spAutoFit/>
          </a:bodyPr>
          <a:lstStyle/>
          <a:p>
            <a:r>
              <a:rPr lang="en-IN" sz="1700" b="1">
                <a:solidFill>
                  <a:srgbClr val="1B2340"/>
                </a:solidFill>
                <a:latin typeface="IBM Plex Sans" panose="020B0503050203000203" pitchFamily="34" charset="0"/>
              </a:rPr>
              <a:t>Design consequence</a:t>
            </a:r>
          </a:p>
        </p:txBody>
      </p:sp>
      <p:sp>
        <p:nvSpPr>
          <p:cNvPr id="9" name="TextBox 8">
            <a:extLst>
              <a:ext uri="{FF2B5EF4-FFF2-40B4-BE49-F238E27FC236}">
                <a16:creationId xmlns:a16="http://schemas.microsoft.com/office/drawing/2014/main" id="{50D54412-D5C1-33E8-74C5-BC7523EE21D9}"/>
              </a:ext>
            </a:extLst>
          </p:cNvPr>
          <p:cNvSpPr txBox="1"/>
          <p:nvPr/>
        </p:nvSpPr>
        <p:spPr>
          <a:xfrm>
            <a:off x="6527647" y="2311400"/>
            <a:ext cx="4800448" cy="369332"/>
          </a:xfrm>
          <a:prstGeom prst="rect">
            <a:avLst/>
          </a:prstGeom>
          <a:noFill/>
        </p:spPr>
        <p:txBody>
          <a:bodyPr vert="horz" wrap="square" rtlCol="0">
            <a:noAutofit/>
          </a:bodyPr>
          <a:lstStyle/>
          <a:p>
            <a:pPr marL="342900" indent="-342900">
              <a:buFont typeface="+mj-lt"/>
              <a:buChar char="•"/>
            </a:pPr>
            <a:r>
              <a:rPr lang="en-US" sz="1500">
                <a:solidFill>
                  <a:srgbClr val="5B6182"/>
                </a:solidFill>
                <a:latin typeface="IBM Plex Sans" panose="020B0503050203000203" pitchFamily="34" charset="0"/>
              </a:rPr>
              <a:t>Data-ink ratio (Tufte): every pixel not carrying information competes with the pixels that are
This is why 'no truncated axes', 'consistent color', 'visible N' are not decoration -- they are the mechanism
Good defaults do the cognitive work up front, so the viewer's attention goes to the finding, not the layout</a:t>
            </a:r>
            <a:endParaRPr lang="en-IN" sz="1500">
              <a:solidFill>
                <a:srgbClr val="5B6182"/>
              </a:solidFill>
              <a:latin typeface="IBM Plex Sans" panose="020B0503050203000203" pitchFamily="34" charset="0"/>
            </a:endParaRPr>
          </a:p>
        </p:txBody>
      </p:sp>
      <p:sp>
        <p:nvSpPr>
          <p:cNvPr id="10" name="TextBox 9">
            <a:extLst>
              <a:ext uri="{FF2B5EF4-FFF2-40B4-BE49-F238E27FC236}">
                <a16:creationId xmlns:a16="http://schemas.microsoft.com/office/drawing/2014/main" id="{E90875F0-351E-6EB5-6F37-ABA0DCA9B922}"/>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Session 1 - Context &amp; Use Cases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13873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BB43CE-BF6C-E1CF-D57E-D5EC9AEE1019}"/>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FOUNDATIONS</a:t>
            </a:r>
          </a:p>
        </p:txBody>
      </p:sp>
      <p:sp>
        <p:nvSpPr>
          <p:cNvPr id="3" name="TextBox 2">
            <a:extLst>
              <a:ext uri="{FF2B5EF4-FFF2-40B4-BE49-F238E27FC236}">
                <a16:creationId xmlns:a16="http://schemas.microsoft.com/office/drawing/2014/main" id="{80E6BE83-5F8E-E771-93A5-A1DB7FFED364}"/>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Why a Dashboard Is Not a Click-and-Filter Tool</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C3618957-C3E4-76DC-AC31-8DEA4DCBC656}"/>
              </a:ext>
            </a:extLst>
          </p:cNvPr>
          <p:cNvSpPr/>
          <p:nvPr/>
        </p:nvSpPr>
        <p:spPr>
          <a:xfrm>
            <a:off x="584200" y="1651000"/>
            <a:ext cx="5359248"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EA12EADC-E8CD-5869-916D-DCAE8E608CA3}"/>
              </a:ext>
            </a:extLst>
          </p:cNvPr>
          <p:cNvSpPr txBox="1"/>
          <p:nvPr/>
        </p:nvSpPr>
        <p:spPr>
          <a:xfrm>
            <a:off x="863600" y="1879600"/>
            <a:ext cx="4800448" cy="353943"/>
          </a:xfrm>
          <a:prstGeom prst="rect">
            <a:avLst/>
          </a:prstGeom>
          <a:noFill/>
        </p:spPr>
        <p:txBody>
          <a:bodyPr vert="horz" wrap="square" rtlCol="0">
            <a:spAutoFit/>
          </a:bodyPr>
          <a:lstStyle/>
          <a:p>
            <a:r>
              <a:rPr lang="en-IN" sz="1700" b="1">
                <a:solidFill>
                  <a:srgbClr val="1B2340"/>
                </a:solidFill>
                <a:latin typeface="IBM Plex Sans" panose="020B0503050203000203" pitchFamily="34" charset="0"/>
              </a:rPr>
              <a:t>The common misconception</a:t>
            </a:r>
          </a:p>
        </p:txBody>
      </p:sp>
      <p:sp>
        <p:nvSpPr>
          <p:cNvPr id="6" name="TextBox 5">
            <a:extLst>
              <a:ext uri="{FF2B5EF4-FFF2-40B4-BE49-F238E27FC236}">
                <a16:creationId xmlns:a16="http://schemas.microsoft.com/office/drawing/2014/main" id="{6EAD8393-887D-2360-1DF6-2C30C498E066}"/>
              </a:ext>
            </a:extLst>
          </p:cNvPr>
          <p:cNvSpPr txBox="1"/>
          <p:nvPr/>
        </p:nvSpPr>
        <p:spPr>
          <a:xfrm>
            <a:off x="863600" y="2311400"/>
            <a:ext cx="4800448" cy="369332"/>
          </a:xfrm>
          <a:prstGeom prst="rect">
            <a:avLst/>
          </a:prstGeom>
          <a:noFill/>
        </p:spPr>
        <p:txBody>
          <a:bodyPr vert="horz" wrap="square" rtlCol="0">
            <a:noAutofit/>
          </a:bodyPr>
          <a:lstStyle/>
          <a:p>
            <a:pPr marL="342900" indent="-342900">
              <a:buFont typeface="+mj-lt"/>
              <a:buChar char="•"/>
            </a:pPr>
            <a:r>
              <a:rPr lang="en-US" sz="1500">
                <a:solidFill>
                  <a:srgbClr val="5B6182"/>
                </a:solidFill>
                <a:latin typeface="IBM Plex Sans" panose="020B0503050203000203" pitchFamily="34" charset="0"/>
              </a:rPr>
              <a:t>A dashboard's value is assumed to be its filters -- it is not; filters are the mechanism, not the point
A pile of dropdowns with no guiding question just moves the analysis burden from programmer to reviewer
That is a regression, not an improvement, if nothing else changes</a:t>
            </a:r>
            <a:endParaRPr lang="en-IN" sz="1500">
              <a:solidFill>
                <a:srgbClr val="5B6182"/>
              </a:solidFill>
              <a:latin typeface="IBM Plex Sans" panose="020B0503050203000203" pitchFamily="34" charset="0"/>
            </a:endParaRPr>
          </a:p>
        </p:txBody>
      </p:sp>
      <p:sp>
        <p:nvSpPr>
          <p:cNvPr id="7" name="Rectangle: Rounded Corners 6">
            <a:extLst>
              <a:ext uri="{FF2B5EF4-FFF2-40B4-BE49-F238E27FC236}">
                <a16:creationId xmlns:a16="http://schemas.microsoft.com/office/drawing/2014/main" id="{8B74DE31-9363-3042-2134-0AA49BA3A074}"/>
              </a:ext>
            </a:extLst>
          </p:cNvPr>
          <p:cNvSpPr/>
          <p:nvPr/>
        </p:nvSpPr>
        <p:spPr>
          <a:xfrm>
            <a:off x="6248248" y="1651000"/>
            <a:ext cx="5359247"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951090D0-B4B8-435E-4060-5B6BAF829F58}"/>
              </a:ext>
            </a:extLst>
          </p:cNvPr>
          <p:cNvSpPr txBox="1"/>
          <p:nvPr/>
        </p:nvSpPr>
        <p:spPr>
          <a:xfrm>
            <a:off x="6527647" y="1879600"/>
            <a:ext cx="4800448" cy="353943"/>
          </a:xfrm>
          <a:prstGeom prst="rect">
            <a:avLst/>
          </a:prstGeom>
          <a:noFill/>
        </p:spPr>
        <p:txBody>
          <a:bodyPr vert="horz" wrap="square" rtlCol="0">
            <a:spAutoFit/>
          </a:bodyPr>
          <a:lstStyle/>
          <a:p>
            <a:r>
              <a:rPr lang="en-US" sz="1700" b="1">
                <a:solidFill>
                  <a:srgbClr val="1B2340"/>
                </a:solidFill>
                <a:latin typeface="IBM Plex Sans" panose="020B0503050203000203" pitchFamily="34" charset="0"/>
              </a:rPr>
              <a:t>What a good one does instead</a:t>
            </a:r>
            <a:endParaRPr lang="en-IN" sz="1700" b="1">
              <a:solidFill>
                <a:srgbClr val="1B2340"/>
              </a:solidFill>
              <a:latin typeface="IBM Plex Sans" panose="020B0503050203000203" pitchFamily="34" charset="0"/>
            </a:endParaRPr>
          </a:p>
        </p:txBody>
      </p:sp>
      <p:sp>
        <p:nvSpPr>
          <p:cNvPr id="9" name="TextBox 8">
            <a:extLst>
              <a:ext uri="{FF2B5EF4-FFF2-40B4-BE49-F238E27FC236}">
                <a16:creationId xmlns:a16="http://schemas.microsoft.com/office/drawing/2014/main" id="{B6653BE0-026E-B5D9-79D3-BAE6D3B729E9}"/>
              </a:ext>
            </a:extLst>
          </p:cNvPr>
          <p:cNvSpPr txBox="1"/>
          <p:nvPr/>
        </p:nvSpPr>
        <p:spPr>
          <a:xfrm>
            <a:off x="6527647" y="2311400"/>
            <a:ext cx="4800448" cy="369332"/>
          </a:xfrm>
          <a:prstGeom prst="rect">
            <a:avLst/>
          </a:prstGeom>
          <a:noFill/>
        </p:spPr>
        <p:txBody>
          <a:bodyPr vert="horz" wrap="square" rtlCol="0">
            <a:noAutofit/>
          </a:bodyPr>
          <a:lstStyle/>
          <a:p>
            <a:pPr marL="342900" indent="-342900">
              <a:buFont typeface="+mj-lt"/>
              <a:buChar char="•"/>
            </a:pPr>
            <a:r>
              <a:rPr lang="en-US" sz="1500">
                <a:solidFill>
                  <a:srgbClr val="5B6182"/>
                </a:solidFill>
                <a:latin typeface="IBM Plex Sans" panose="020B0503050203000203" pitchFamily="34" charset="0"/>
              </a:rPr>
              <a:t>Encodes a point of view: which comparisons matter, which denominator is correct, which order tells the truth
Filters let the viewer explore variations of a question that was already framed correctly
Answers 'what should I be worried about right now', not just 'what can I look at'</a:t>
            </a:r>
            <a:endParaRPr lang="en-IN" sz="1500">
              <a:solidFill>
                <a:srgbClr val="5B6182"/>
              </a:solidFill>
              <a:latin typeface="IBM Plex Sans" panose="020B0503050203000203" pitchFamily="34" charset="0"/>
            </a:endParaRPr>
          </a:p>
        </p:txBody>
      </p:sp>
      <p:sp>
        <p:nvSpPr>
          <p:cNvPr id="10" name="TextBox 9">
            <a:extLst>
              <a:ext uri="{FF2B5EF4-FFF2-40B4-BE49-F238E27FC236}">
                <a16:creationId xmlns:a16="http://schemas.microsoft.com/office/drawing/2014/main" id="{1908037B-E347-8E89-5219-568B245368DC}"/>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Session 1 - Context &amp; Use Cases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27557769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C51D70-0975-D8D8-17F7-8E51707C94B4}"/>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FOUNDATIONS</a:t>
            </a:r>
          </a:p>
        </p:txBody>
      </p:sp>
      <p:sp>
        <p:nvSpPr>
          <p:cNvPr id="3" name="TextBox 2">
            <a:extLst>
              <a:ext uri="{FF2B5EF4-FFF2-40B4-BE49-F238E27FC236}">
                <a16:creationId xmlns:a16="http://schemas.microsoft.com/office/drawing/2014/main" id="{AF74EA75-73B9-E19F-7825-BCA0214A26CC}"/>
              </a:ext>
            </a:extLst>
          </p:cNvPr>
          <p:cNvSpPr txBox="1"/>
          <p:nvPr/>
        </p:nvSpPr>
        <p:spPr>
          <a:xfrm>
            <a:off x="584200" y="609600"/>
            <a:ext cx="14605000" cy="492443"/>
          </a:xfrm>
          <a:prstGeom prst="rect">
            <a:avLst/>
          </a:prstGeom>
          <a:noFill/>
        </p:spPr>
        <p:txBody>
          <a:bodyPr vert="horz" wrap="square" rtlCol="0">
            <a:spAutoFit/>
          </a:bodyPr>
          <a:lstStyle/>
          <a:p>
            <a:r>
              <a:rPr lang="en-IN" sz="2600" b="1">
                <a:solidFill>
                  <a:srgbClr val="1B2340"/>
                </a:solidFill>
                <a:latin typeface="IBM Plex Sans" panose="020B0503050203000203" pitchFamily="34" charset="0"/>
              </a:rPr>
              <a:t>Breaking the Traditional Mindset</a:t>
            </a:r>
          </a:p>
        </p:txBody>
      </p:sp>
      <p:sp>
        <p:nvSpPr>
          <p:cNvPr id="4" name="Rectangle: Rounded Corners 3">
            <a:extLst>
              <a:ext uri="{FF2B5EF4-FFF2-40B4-BE49-F238E27FC236}">
                <a16:creationId xmlns:a16="http://schemas.microsoft.com/office/drawing/2014/main" id="{544C5DED-6E83-9857-5F89-26E4571576C9}"/>
              </a:ext>
            </a:extLst>
          </p:cNvPr>
          <p:cNvSpPr/>
          <p:nvPr/>
        </p:nvSpPr>
        <p:spPr>
          <a:xfrm>
            <a:off x="584200" y="1651000"/>
            <a:ext cx="5359248"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4919D26B-92A9-7AC9-7B39-200F2C7E80A2}"/>
              </a:ext>
            </a:extLst>
          </p:cNvPr>
          <p:cNvSpPr txBox="1"/>
          <p:nvPr/>
        </p:nvSpPr>
        <p:spPr>
          <a:xfrm>
            <a:off x="863600" y="1879600"/>
            <a:ext cx="4800448" cy="353943"/>
          </a:xfrm>
          <a:prstGeom prst="rect">
            <a:avLst/>
          </a:prstGeom>
          <a:noFill/>
        </p:spPr>
        <p:txBody>
          <a:bodyPr vert="horz" wrap="square" rtlCol="0">
            <a:spAutoFit/>
          </a:bodyPr>
          <a:lstStyle/>
          <a:p>
            <a:r>
              <a:rPr lang="en-IN" sz="1700" b="1">
                <a:solidFill>
                  <a:srgbClr val="1B2340"/>
                </a:solidFill>
                <a:latin typeface="IBM Plex Sans" panose="020B0503050203000203" pitchFamily="34" charset="0"/>
              </a:rPr>
              <a:t>Traditional (report-era) mindset</a:t>
            </a:r>
          </a:p>
        </p:txBody>
      </p:sp>
      <p:sp>
        <p:nvSpPr>
          <p:cNvPr id="6" name="TextBox 5">
            <a:extLst>
              <a:ext uri="{FF2B5EF4-FFF2-40B4-BE49-F238E27FC236}">
                <a16:creationId xmlns:a16="http://schemas.microsoft.com/office/drawing/2014/main" id="{E39F6024-CED3-4AB5-CE78-877E40303D70}"/>
              </a:ext>
            </a:extLst>
          </p:cNvPr>
          <p:cNvSpPr txBox="1"/>
          <p:nvPr/>
        </p:nvSpPr>
        <p:spPr>
          <a:xfrm>
            <a:off x="863600" y="2311400"/>
            <a:ext cx="4800448" cy="369332"/>
          </a:xfrm>
          <a:prstGeom prst="rect">
            <a:avLst/>
          </a:prstGeom>
          <a:noFill/>
        </p:spPr>
        <p:txBody>
          <a:bodyPr vert="horz" wrap="square" rtlCol="0">
            <a:noAutofit/>
          </a:bodyPr>
          <a:lstStyle/>
          <a:p>
            <a:pPr marL="342900" indent="-342900">
              <a:buFont typeface="+mj-lt"/>
              <a:buChar char="•"/>
            </a:pPr>
            <a:r>
              <a:rPr lang="en-US" sz="1500">
                <a:solidFill>
                  <a:srgbClr val="5B6182"/>
                </a:solidFill>
                <a:latin typeface="IBM Plex Sans" panose="020B0503050203000203" pitchFamily="34" charset="0"/>
              </a:rPr>
              <a:t>'The programmer produces the exact table specified; any new question means a new specification'
Judgment about what matters is re-applied by hand on every ad-hoc request
Interactivity bolted onto this thinking just produces a slower, more fragile static report</a:t>
            </a:r>
            <a:endParaRPr lang="en-IN" sz="1500">
              <a:solidFill>
                <a:srgbClr val="5B6182"/>
              </a:solidFill>
              <a:latin typeface="IBM Plex Sans" panose="020B0503050203000203" pitchFamily="34" charset="0"/>
            </a:endParaRPr>
          </a:p>
        </p:txBody>
      </p:sp>
      <p:sp>
        <p:nvSpPr>
          <p:cNvPr id="7" name="Rectangle: Rounded Corners 6">
            <a:extLst>
              <a:ext uri="{FF2B5EF4-FFF2-40B4-BE49-F238E27FC236}">
                <a16:creationId xmlns:a16="http://schemas.microsoft.com/office/drawing/2014/main" id="{3406602C-E6D6-C5BC-0029-3C84AFBA77E1}"/>
              </a:ext>
            </a:extLst>
          </p:cNvPr>
          <p:cNvSpPr/>
          <p:nvPr/>
        </p:nvSpPr>
        <p:spPr>
          <a:xfrm>
            <a:off x="6248248" y="1651000"/>
            <a:ext cx="5359247"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9EB0EDD8-6C05-242D-E246-E2BB7DCA5272}"/>
              </a:ext>
            </a:extLst>
          </p:cNvPr>
          <p:cNvSpPr txBox="1"/>
          <p:nvPr/>
        </p:nvSpPr>
        <p:spPr>
          <a:xfrm>
            <a:off x="6527647" y="1879600"/>
            <a:ext cx="4800448" cy="353943"/>
          </a:xfrm>
          <a:prstGeom prst="rect">
            <a:avLst/>
          </a:prstGeom>
          <a:noFill/>
        </p:spPr>
        <p:txBody>
          <a:bodyPr vert="horz" wrap="square" rtlCol="0">
            <a:spAutoFit/>
          </a:bodyPr>
          <a:lstStyle/>
          <a:p>
            <a:r>
              <a:rPr lang="en-IN" sz="1700" b="1">
                <a:solidFill>
                  <a:srgbClr val="1B2340"/>
                </a:solidFill>
                <a:latin typeface="IBM Plex Sans" panose="020B0503050203000203" pitchFamily="34" charset="0"/>
              </a:rPr>
              <a:t>Dashboard mindset</a:t>
            </a:r>
          </a:p>
        </p:txBody>
      </p:sp>
      <p:sp>
        <p:nvSpPr>
          <p:cNvPr id="9" name="TextBox 8">
            <a:extLst>
              <a:ext uri="{FF2B5EF4-FFF2-40B4-BE49-F238E27FC236}">
                <a16:creationId xmlns:a16="http://schemas.microsoft.com/office/drawing/2014/main" id="{E59CCD43-962A-C198-3494-E14718D7F13B}"/>
              </a:ext>
            </a:extLst>
          </p:cNvPr>
          <p:cNvSpPr txBox="1"/>
          <p:nvPr/>
        </p:nvSpPr>
        <p:spPr>
          <a:xfrm>
            <a:off x="6527647" y="2311400"/>
            <a:ext cx="4800448" cy="369332"/>
          </a:xfrm>
          <a:prstGeom prst="rect">
            <a:avLst/>
          </a:prstGeom>
          <a:noFill/>
        </p:spPr>
        <p:txBody>
          <a:bodyPr vert="horz" wrap="square" rtlCol="0">
            <a:noAutofit/>
          </a:bodyPr>
          <a:lstStyle/>
          <a:p>
            <a:pPr marL="342900" indent="-342900">
              <a:buFont typeface="+mj-lt"/>
              <a:buChar char="•"/>
            </a:pPr>
            <a:r>
              <a:rPr lang="en-US" sz="1500">
                <a:solidFill>
                  <a:srgbClr val="5B6182"/>
                </a:solidFill>
                <a:latin typeface="IBM Plex Sans" panose="020B0503050203000203" pitchFamily="34" charset="0"/>
              </a:rPr>
              <a:t>'Validated logic is built once; the reviewer asks the next question themselves, inside guardrails already set'
Rigor moves earlier -- into designing filters, denominators, and defaults -- rather than repeating per request
What to unlearn: more clicks equals more power. What to adopt: the right default plus a few filters equals trust</a:t>
            </a:r>
            <a:endParaRPr lang="en-IN" sz="1500">
              <a:solidFill>
                <a:srgbClr val="5B6182"/>
              </a:solidFill>
              <a:latin typeface="IBM Plex Sans" panose="020B0503050203000203" pitchFamily="34" charset="0"/>
            </a:endParaRPr>
          </a:p>
        </p:txBody>
      </p:sp>
      <p:sp>
        <p:nvSpPr>
          <p:cNvPr id="10" name="TextBox 9">
            <a:extLst>
              <a:ext uri="{FF2B5EF4-FFF2-40B4-BE49-F238E27FC236}">
                <a16:creationId xmlns:a16="http://schemas.microsoft.com/office/drawing/2014/main" id="{F9610205-AB46-614B-43A5-C7B7903DC150}"/>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Session 1 - Context &amp; Use Cases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2879593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C3E7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682EE3-318A-17C6-E7E9-2E82AD0C0E4C}"/>
              </a:ext>
            </a:extLst>
          </p:cNvPr>
          <p:cNvSpPr txBox="1"/>
          <p:nvPr/>
        </p:nvSpPr>
        <p:spPr>
          <a:xfrm>
            <a:off x="8889695" y="254000"/>
            <a:ext cx="2794000" cy="1938992"/>
          </a:xfrm>
          <a:prstGeom prst="rect">
            <a:avLst/>
          </a:prstGeom>
          <a:noFill/>
        </p:spPr>
        <p:txBody>
          <a:bodyPr vert="horz" wrap="square" rtlCol="0">
            <a:spAutoFit/>
          </a:bodyPr>
          <a:lstStyle/>
          <a:p>
            <a:pPr algn="ctr"/>
            <a:r>
              <a:rPr lang="en-IN" sz="12000" b="1">
                <a:solidFill>
                  <a:srgbClr val="5A69AA"/>
                </a:solidFill>
                <a:latin typeface="IBM Plex Sans" panose="020B0503050203000203" pitchFamily="34" charset="0"/>
              </a:rPr>
              <a:t>01</a:t>
            </a:r>
          </a:p>
        </p:txBody>
      </p:sp>
      <p:sp>
        <p:nvSpPr>
          <p:cNvPr id="3" name="TextBox 2">
            <a:extLst>
              <a:ext uri="{FF2B5EF4-FFF2-40B4-BE49-F238E27FC236}">
                <a16:creationId xmlns:a16="http://schemas.microsoft.com/office/drawing/2014/main" id="{302B0F43-B0EC-73DA-3BAF-02800FC7EA53}"/>
              </a:ext>
            </a:extLst>
          </p:cNvPr>
          <p:cNvSpPr txBox="1"/>
          <p:nvPr/>
        </p:nvSpPr>
        <p:spPr>
          <a:xfrm>
            <a:off x="584200" y="762000"/>
            <a:ext cx="6350000" cy="292388"/>
          </a:xfrm>
          <a:prstGeom prst="rect">
            <a:avLst/>
          </a:prstGeom>
          <a:noFill/>
        </p:spPr>
        <p:txBody>
          <a:bodyPr vert="horz" wrap="square" rtlCol="0">
            <a:spAutoFit/>
          </a:bodyPr>
          <a:lstStyle/>
          <a:p>
            <a:r>
              <a:rPr lang="en-US" sz="1300" b="1">
                <a:solidFill>
                  <a:srgbClr val="D6EEEC"/>
                </a:solidFill>
                <a:latin typeface="IBM Plex Sans" panose="020B0503050203000203" pitchFamily="34" charset="0"/>
              </a:rPr>
              <a:t>SESSION 1 Ã‚Â· CONTEXT &amp; USE CASES</a:t>
            </a:r>
            <a:endParaRPr lang="en-IN" sz="1300" b="1">
              <a:solidFill>
                <a:srgbClr val="D6EEEC"/>
              </a:solidFill>
              <a:latin typeface="IBM Plex Sans" panose="020B0503050203000203" pitchFamily="34" charset="0"/>
            </a:endParaRPr>
          </a:p>
        </p:txBody>
      </p:sp>
      <p:sp>
        <p:nvSpPr>
          <p:cNvPr id="4" name="TextBox 3">
            <a:extLst>
              <a:ext uri="{FF2B5EF4-FFF2-40B4-BE49-F238E27FC236}">
                <a16:creationId xmlns:a16="http://schemas.microsoft.com/office/drawing/2014/main" id="{64DC17E6-CAEE-1EC2-C3A1-7604DB315882}"/>
              </a:ext>
            </a:extLst>
          </p:cNvPr>
          <p:cNvSpPr txBox="1"/>
          <p:nvPr/>
        </p:nvSpPr>
        <p:spPr>
          <a:xfrm>
            <a:off x="584200" y="1397000"/>
            <a:ext cx="12065000" cy="615553"/>
          </a:xfrm>
          <a:prstGeom prst="rect">
            <a:avLst/>
          </a:prstGeom>
          <a:noFill/>
        </p:spPr>
        <p:txBody>
          <a:bodyPr vert="horz" wrap="square" rtlCol="0">
            <a:spAutoFit/>
          </a:bodyPr>
          <a:lstStyle/>
          <a:p>
            <a:r>
              <a:rPr lang="en-US" sz="3400" b="1">
                <a:solidFill>
                  <a:srgbClr val="FFFFFF"/>
                </a:solidFill>
                <a:latin typeface="IBM Plex Sans" panose="020B0503050203000203" pitchFamily="34" charset="0"/>
              </a:rPr>
              <a:t>R Shiny in Clinical Trial Dashboards</a:t>
            </a:r>
            <a:endParaRPr lang="en-IN" sz="3400" b="1">
              <a:solidFill>
                <a:srgbClr val="FFFFFF"/>
              </a:solidFill>
              <a:latin typeface="IBM Plex Sans" panose="020B0503050203000203" pitchFamily="34" charset="0"/>
            </a:endParaRPr>
          </a:p>
        </p:txBody>
      </p:sp>
      <p:sp>
        <p:nvSpPr>
          <p:cNvPr id="5" name="TextBox 4">
            <a:extLst>
              <a:ext uri="{FF2B5EF4-FFF2-40B4-BE49-F238E27FC236}">
                <a16:creationId xmlns:a16="http://schemas.microsoft.com/office/drawing/2014/main" id="{86D27B3A-F17A-A92B-0FDC-35347075B9DA}"/>
              </a:ext>
            </a:extLst>
          </p:cNvPr>
          <p:cNvSpPr txBox="1"/>
          <p:nvPr/>
        </p:nvSpPr>
        <p:spPr>
          <a:xfrm>
            <a:off x="584200" y="3556000"/>
            <a:ext cx="10795000" cy="338554"/>
          </a:xfrm>
          <a:prstGeom prst="rect">
            <a:avLst/>
          </a:prstGeom>
          <a:noFill/>
        </p:spPr>
        <p:txBody>
          <a:bodyPr vert="horz" wrap="square" rtlCol="0">
            <a:spAutoFit/>
          </a:bodyPr>
          <a:lstStyle/>
          <a:p>
            <a:r>
              <a:rPr lang="en-US" sz="1600">
                <a:solidFill>
                  <a:srgbClr val="DCE3F5"/>
                </a:solidFill>
                <a:latin typeface="IBM Plex Sans" panose="020B0503050203000203" pitchFamily="34" charset="0"/>
              </a:rPr>
              <a:t>Context, positioning, and design considerations for teams already comfortable with R Shiny basics.</a:t>
            </a:r>
            <a:endParaRPr lang="en-IN" sz="1600">
              <a:solidFill>
                <a:srgbClr val="DCE3F5"/>
              </a:solidFill>
              <a:latin typeface="IBM Plex Sans" panose="020B0503050203000203" pitchFamily="34" charset="0"/>
            </a:endParaRPr>
          </a:p>
        </p:txBody>
      </p:sp>
      <p:sp>
        <p:nvSpPr>
          <p:cNvPr id="6" name="TextBox 5">
            <a:extLst>
              <a:ext uri="{FF2B5EF4-FFF2-40B4-BE49-F238E27FC236}">
                <a16:creationId xmlns:a16="http://schemas.microsoft.com/office/drawing/2014/main" id="{DEC0F738-EBBA-717D-3E25-EFFC0194B33A}"/>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Session 1 Ã‚Â· Context &amp; Use Cases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3082330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0767E1A-483A-42C5-6BF3-828E07692F48}"/>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10:00 Ã¢ 10:15 Ã‚Â· MAHESH</a:t>
            </a:r>
          </a:p>
        </p:txBody>
      </p:sp>
      <p:sp>
        <p:nvSpPr>
          <p:cNvPr id="3" name="TextBox 2">
            <a:extLst>
              <a:ext uri="{FF2B5EF4-FFF2-40B4-BE49-F238E27FC236}">
                <a16:creationId xmlns:a16="http://schemas.microsoft.com/office/drawing/2014/main" id="{BF74B592-7DE1-3CA1-582C-CA92C78A4C41}"/>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Evolution from static reports to interactive analytics</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1DBB2EDA-7F39-1880-E356-A8FA6C02BD0D}"/>
              </a:ext>
            </a:extLst>
          </p:cNvPr>
          <p:cNvSpPr/>
          <p:nvPr/>
        </p:nvSpPr>
        <p:spPr>
          <a:xfrm>
            <a:off x="584200" y="1651000"/>
            <a:ext cx="5359248"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7AD926CE-0ECB-674A-360B-1B465B956C9D}"/>
              </a:ext>
            </a:extLst>
          </p:cNvPr>
          <p:cNvSpPr txBox="1"/>
          <p:nvPr/>
        </p:nvSpPr>
        <p:spPr>
          <a:xfrm>
            <a:off x="863600" y="1879600"/>
            <a:ext cx="4800448" cy="353943"/>
          </a:xfrm>
          <a:prstGeom prst="rect">
            <a:avLst/>
          </a:prstGeom>
          <a:noFill/>
        </p:spPr>
        <p:txBody>
          <a:bodyPr vert="horz" wrap="square" rtlCol="0">
            <a:spAutoFit/>
          </a:bodyPr>
          <a:lstStyle/>
          <a:p>
            <a:r>
              <a:rPr lang="en-IN" sz="1700" b="1">
                <a:solidFill>
                  <a:srgbClr val="1B2340"/>
                </a:solidFill>
                <a:latin typeface="IBM Plex Sans" panose="020B0503050203000203" pitchFamily="34" charset="0"/>
              </a:rPr>
              <a:t>What's changing</a:t>
            </a:r>
          </a:p>
        </p:txBody>
      </p:sp>
      <p:sp>
        <p:nvSpPr>
          <p:cNvPr id="6" name="TextBox 5">
            <a:extLst>
              <a:ext uri="{FF2B5EF4-FFF2-40B4-BE49-F238E27FC236}">
                <a16:creationId xmlns:a16="http://schemas.microsoft.com/office/drawing/2014/main" id="{1A806559-4FE7-924A-2A70-368D7BAFF2CF}"/>
              </a:ext>
            </a:extLst>
          </p:cNvPr>
          <p:cNvSpPr txBox="1"/>
          <p:nvPr/>
        </p:nvSpPr>
        <p:spPr>
          <a:xfrm>
            <a:off x="863600" y="2311400"/>
            <a:ext cx="4800448" cy="369332"/>
          </a:xfrm>
          <a:prstGeom prst="rect">
            <a:avLst/>
          </a:prstGeom>
          <a:noFill/>
        </p:spPr>
        <p:txBody>
          <a:bodyPr vert="horz" wrap="square" rtlCol="0">
            <a:noAutofit/>
          </a:bodyPr>
          <a:lstStyle/>
          <a:p>
            <a:pPr marL="342900" indent="-342900">
              <a:buFont typeface="+mj-lt"/>
              <a:buChar char="•"/>
            </a:pPr>
            <a:r>
              <a:rPr lang="en-US" sz="1500">
                <a:solidFill>
                  <a:srgbClr val="5B6182"/>
                </a:solidFill>
                <a:latin typeface="IBM Plex Sans" panose="020B0503050203000203" pitchFamily="34" charset="0"/>
              </a:rPr>
              <a:t>Static PDF/RTF TFLs answer only the exact question they were built for
Interactive dashboards let a reviewer ask the next question without a new programming request
The underlying statistical logic doesn't change - only how a user reaches it does</a:t>
            </a:r>
            <a:endParaRPr lang="en-IN" sz="1500">
              <a:solidFill>
                <a:srgbClr val="5B6182"/>
              </a:solidFill>
              <a:latin typeface="IBM Plex Sans" panose="020B0503050203000203" pitchFamily="34" charset="0"/>
            </a:endParaRPr>
          </a:p>
        </p:txBody>
      </p:sp>
      <p:sp>
        <p:nvSpPr>
          <p:cNvPr id="7" name="Rectangle: Rounded Corners 6">
            <a:extLst>
              <a:ext uri="{FF2B5EF4-FFF2-40B4-BE49-F238E27FC236}">
                <a16:creationId xmlns:a16="http://schemas.microsoft.com/office/drawing/2014/main" id="{666691DC-A81A-52CD-0BED-4A8FAC734101}"/>
              </a:ext>
            </a:extLst>
          </p:cNvPr>
          <p:cNvSpPr/>
          <p:nvPr/>
        </p:nvSpPr>
        <p:spPr>
          <a:xfrm>
            <a:off x="6248248" y="1651000"/>
            <a:ext cx="5359247"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167C2175-1D9C-66E0-B9C9-399A52060A98}"/>
              </a:ext>
            </a:extLst>
          </p:cNvPr>
          <p:cNvSpPr txBox="1"/>
          <p:nvPr/>
        </p:nvSpPr>
        <p:spPr>
          <a:xfrm>
            <a:off x="6527647" y="1879600"/>
            <a:ext cx="4800448" cy="353943"/>
          </a:xfrm>
          <a:prstGeom prst="rect">
            <a:avLst/>
          </a:prstGeom>
          <a:noFill/>
        </p:spPr>
        <p:txBody>
          <a:bodyPr vert="horz" wrap="square" rtlCol="0">
            <a:spAutoFit/>
          </a:bodyPr>
          <a:lstStyle/>
          <a:p>
            <a:r>
              <a:rPr lang="en-IN" sz="1700" b="1">
                <a:solidFill>
                  <a:srgbClr val="1B2340"/>
                </a:solidFill>
                <a:latin typeface="IBM Plex Sans" panose="020B0503050203000203" pitchFamily="34" charset="0"/>
              </a:rPr>
              <a:t>Where it shows up</a:t>
            </a:r>
          </a:p>
        </p:txBody>
      </p:sp>
      <p:sp>
        <p:nvSpPr>
          <p:cNvPr id="9" name="TextBox 8">
            <a:extLst>
              <a:ext uri="{FF2B5EF4-FFF2-40B4-BE49-F238E27FC236}">
                <a16:creationId xmlns:a16="http://schemas.microsoft.com/office/drawing/2014/main" id="{552F6622-51B7-5D3F-8890-C79111A3F5EC}"/>
              </a:ext>
            </a:extLst>
          </p:cNvPr>
          <p:cNvSpPr txBox="1"/>
          <p:nvPr/>
        </p:nvSpPr>
        <p:spPr>
          <a:xfrm>
            <a:off x="6527647" y="2311400"/>
            <a:ext cx="4800448" cy="369332"/>
          </a:xfrm>
          <a:prstGeom prst="rect">
            <a:avLst/>
          </a:prstGeom>
          <a:noFill/>
        </p:spPr>
        <p:txBody>
          <a:bodyPr vert="horz" wrap="square" rtlCol="0">
            <a:noAutofit/>
          </a:bodyPr>
          <a:lstStyle/>
          <a:p>
            <a:pPr marL="342900" indent="-342900">
              <a:buFont typeface="+mj-lt"/>
              <a:buChar char="•"/>
            </a:pPr>
            <a:r>
              <a:rPr lang="en-US" sz="1500">
                <a:solidFill>
                  <a:srgbClr val="5B6182"/>
                </a:solidFill>
                <a:latin typeface="IBM Plex Sans" panose="020B0503050203000203" pitchFamily="34" charset="0"/>
              </a:rPr>
              <a:t>Ad-hoc safety review during DSMB preparation
Cross-functional study team check-ins
Exploratory data review ahead of a formal analysis</a:t>
            </a:r>
            <a:endParaRPr lang="en-IN" sz="1500">
              <a:solidFill>
                <a:srgbClr val="5B6182"/>
              </a:solidFill>
              <a:latin typeface="IBM Plex Sans" panose="020B0503050203000203" pitchFamily="34" charset="0"/>
            </a:endParaRPr>
          </a:p>
        </p:txBody>
      </p:sp>
      <p:sp>
        <p:nvSpPr>
          <p:cNvPr id="10" name="TextBox 9">
            <a:extLst>
              <a:ext uri="{FF2B5EF4-FFF2-40B4-BE49-F238E27FC236}">
                <a16:creationId xmlns:a16="http://schemas.microsoft.com/office/drawing/2014/main" id="{3A1B1DA3-820D-C972-66A5-89A4A07DEB9F}"/>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Session 1 Ã‚Â· Context &amp; Use Cases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27550228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1653FE-C40A-EB4C-9DA9-AD02202B6BC8}"/>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10:00 Ã¢ 10:15 Ã‚Â· MAHESH</a:t>
            </a:r>
          </a:p>
        </p:txBody>
      </p:sp>
      <p:sp>
        <p:nvSpPr>
          <p:cNvPr id="3" name="TextBox 2">
            <a:extLst>
              <a:ext uri="{FF2B5EF4-FFF2-40B4-BE49-F238E27FC236}">
                <a16:creationId xmlns:a16="http://schemas.microsoft.com/office/drawing/2014/main" id="{6640B94A-01DB-5F5D-81A5-1D1D05C615F5}"/>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Dashboards for study monitoring and decision support</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C7A1541F-27A9-6202-1216-DE974C3B49F8}"/>
              </a:ext>
            </a:extLst>
          </p:cNvPr>
          <p:cNvSpPr/>
          <p:nvPr/>
        </p:nvSpPr>
        <p:spPr>
          <a:xfrm>
            <a:off x="584200" y="1651000"/>
            <a:ext cx="5359248"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8EA1A925-1209-8E0F-A95C-EC1EE4BEE151}"/>
              </a:ext>
            </a:extLst>
          </p:cNvPr>
          <p:cNvSpPr txBox="1"/>
          <p:nvPr/>
        </p:nvSpPr>
        <p:spPr>
          <a:xfrm>
            <a:off x="863600" y="1879600"/>
            <a:ext cx="4800448" cy="353943"/>
          </a:xfrm>
          <a:prstGeom prst="rect">
            <a:avLst/>
          </a:prstGeom>
          <a:noFill/>
        </p:spPr>
        <p:txBody>
          <a:bodyPr vert="horz" wrap="square" rtlCol="0">
            <a:spAutoFit/>
          </a:bodyPr>
          <a:lstStyle/>
          <a:p>
            <a:r>
              <a:rPr lang="en-IN" sz="1700" b="1">
                <a:solidFill>
                  <a:srgbClr val="1B2340"/>
                </a:solidFill>
                <a:latin typeface="IBM Plex Sans" panose="020B0503050203000203" pitchFamily="34" charset="0"/>
              </a:rPr>
              <a:t>Monitoring use cases</a:t>
            </a:r>
          </a:p>
        </p:txBody>
      </p:sp>
      <p:sp>
        <p:nvSpPr>
          <p:cNvPr id="6" name="TextBox 5">
            <a:extLst>
              <a:ext uri="{FF2B5EF4-FFF2-40B4-BE49-F238E27FC236}">
                <a16:creationId xmlns:a16="http://schemas.microsoft.com/office/drawing/2014/main" id="{54B5122D-4B0C-8800-6050-F0933DC9FFD7}"/>
              </a:ext>
            </a:extLst>
          </p:cNvPr>
          <p:cNvSpPr txBox="1"/>
          <p:nvPr/>
        </p:nvSpPr>
        <p:spPr>
          <a:xfrm>
            <a:off x="863600" y="2311400"/>
            <a:ext cx="4800448" cy="369332"/>
          </a:xfrm>
          <a:prstGeom prst="rect">
            <a:avLst/>
          </a:prstGeom>
          <a:noFill/>
        </p:spPr>
        <p:txBody>
          <a:bodyPr vert="horz" wrap="square" rtlCol="0">
            <a:noAutofit/>
          </a:bodyPr>
          <a:lstStyle/>
          <a:p>
            <a:pPr marL="342900" indent="-342900">
              <a:buFont typeface="+mj-lt"/>
              <a:buChar char="•"/>
            </a:pPr>
            <a:r>
              <a:rPr lang="en-US" sz="1500">
                <a:solidFill>
                  <a:srgbClr val="5B6182"/>
                </a:solidFill>
                <a:latin typeface="IBM Plex Sans" panose="020B0503050203000203" pitchFamily="34" charset="0"/>
              </a:rPr>
              <a:t>Enrollment and disposition tracking across sites
Ongoing AE signal monitoring outside the locked-database cycle
Query and data-quality trend views for CRAs and DM</a:t>
            </a:r>
            <a:endParaRPr lang="en-IN" sz="1500">
              <a:solidFill>
                <a:srgbClr val="5B6182"/>
              </a:solidFill>
              <a:latin typeface="IBM Plex Sans" panose="020B0503050203000203" pitchFamily="34" charset="0"/>
            </a:endParaRPr>
          </a:p>
        </p:txBody>
      </p:sp>
      <p:sp>
        <p:nvSpPr>
          <p:cNvPr id="7" name="Rectangle: Rounded Corners 6">
            <a:extLst>
              <a:ext uri="{FF2B5EF4-FFF2-40B4-BE49-F238E27FC236}">
                <a16:creationId xmlns:a16="http://schemas.microsoft.com/office/drawing/2014/main" id="{AF71FBA8-DEB5-CA1F-4DD9-5DDA5F820092}"/>
              </a:ext>
            </a:extLst>
          </p:cNvPr>
          <p:cNvSpPr/>
          <p:nvPr/>
        </p:nvSpPr>
        <p:spPr>
          <a:xfrm>
            <a:off x="6248248" y="1651000"/>
            <a:ext cx="5359247"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93D4BD46-30F6-30B9-221D-6174E9BD708E}"/>
              </a:ext>
            </a:extLst>
          </p:cNvPr>
          <p:cNvSpPr txBox="1"/>
          <p:nvPr/>
        </p:nvSpPr>
        <p:spPr>
          <a:xfrm>
            <a:off x="6527647" y="1879600"/>
            <a:ext cx="4800448" cy="353943"/>
          </a:xfrm>
          <a:prstGeom prst="rect">
            <a:avLst/>
          </a:prstGeom>
          <a:noFill/>
        </p:spPr>
        <p:txBody>
          <a:bodyPr vert="horz" wrap="square" rtlCol="0">
            <a:spAutoFit/>
          </a:bodyPr>
          <a:lstStyle/>
          <a:p>
            <a:r>
              <a:rPr lang="en-IN" sz="1700" b="1">
                <a:solidFill>
                  <a:srgbClr val="1B2340"/>
                </a:solidFill>
                <a:latin typeface="IBM Plex Sans" panose="020B0503050203000203" pitchFamily="34" charset="0"/>
              </a:rPr>
              <a:t>Decision support</a:t>
            </a:r>
          </a:p>
        </p:txBody>
      </p:sp>
      <p:sp>
        <p:nvSpPr>
          <p:cNvPr id="9" name="TextBox 8">
            <a:extLst>
              <a:ext uri="{FF2B5EF4-FFF2-40B4-BE49-F238E27FC236}">
                <a16:creationId xmlns:a16="http://schemas.microsoft.com/office/drawing/2014/main" id="{AE25C660-5FA2-9098-E025-60C18DBC5074}"/>
              </a:ext>
            </a:extLst>
          </p:cNvPr>
          <p:cNvSpPr txBox="1"/>
          <p:nvPr/>
        </p:nvSpPr>
        <p:spPr>
          <a:xfrm>
            <a:off x="6527647" y="2311400"/>
            <a:ext cx="4800448" cy="369332"/>
          </a:xfrm>
          <a:prstGeom prst="rect">
            <a:avLst/>
          </a:prstGeom>
          <a:noFill/>
        </p:spPr>
        <p:txBody>
          <a:bodyPr vert="horz" wrap="square" rtlCol="0">
            <a:noAutofit/>
          </a:bodyPr>
          <a:lstStyle/>
          <a:p>
            <a:pPr marL="342900" indent="-342900">
              <a:buFont typeface="+mj-lt"/>
              <a:buChar char="•"/>
            </a:pPr>
            <a:r>
              <a:rPr lang="en-US" sz="1500">
                <a:solidFill>
                  <a:srgbClr val="5B6182"/>
                </a:solidFill>
                <a:latin typeface="IBM Plex Sans" panose="020B0503050203000203" pitchFamily="34" charset="0"/>
              </a:rPr>
              <a:t>Faster DSMB / safety committee turnaround on ad-hoc questions
Study teams self-serve filtered views instead of queueing programming requests
One source of truth reduces duplicate one-off analyses</a:t>
            </a:r>
            <a:endParaRPr lang="en-IN" sz="1500">
              <a:solidFill>
                <a:srgbClr val="5B6182"/>
              </a:solidFill>
              <a:latin typeface="IBM Plex Sans" panose="020B0503050203000203" pitchFamily="34" charset="0"/>
            </a:endParaRPr>
          </a:p>
        </p:txBody>
      </p:sp>
      <p:sp>
        <p:nvSpPr>
          <p:cNvPr id="10" name="TextBox 9">
            <a:extLst>
              <a:ext uri="{FF2B5EF4-FFF2-40B4-BE49-F238E27FC236}">
                <a16:creationId xmlns:a16="http://schemas.microsoft.com/office/drawing/2014/main" id="{04B1D2DC-7A46-0DB3-276E-2E7FDD7532E4}"/>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Session 1 Ã‚Â· Context &amp; Use Cases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2411448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95822D-A606-2669-CF2A-66E6AD03F1CF}"/>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10:00 Ã¢ 10:15 Ã‚Â· MAHESH</a:t>
            </a:r>
          </a:p>
        </p:txBody>
      </p:sp>
      <p:sp>
        <p:nvSpPr>
          <p:cNvPr id="3" name="TextBox 2">
            <a:extLst>
              <a:ext uri="{FF2B5EF4-FFF2-40B4-BE49-F238E27FC236}">
                <a16:creationId xmlns:a16="http://schemas.microsoft.com/office/drawing/2014/main" id="{C0CE86A2-4D25-A508-1710-0B4428A3179E}"/>
              </a:ext>
            </a:extLst>
          </p:cNvPr>
          <p:cNvSpPr txBox="1"/>
          <p:nvPr/>
        </p:nvSpPr>
        <p:spPr>
          <a:xfrm>
            <a:off x="584200" y="609600"/>
            <a:ext cx="14605000" cy="492443"/>
          </a:xfrm>
          <a:prstGeom prst="rect">
            <a:avLst/>
          </a:prstGeom>
          <a:noFill/>
        </p:spPr>
        <p:txBody>
          <a:bodyPr vert="horz" wrap="square" rtlCol="0">
            <a:spAutoFit/>
          </a:bodyPr>
          <a:lstStyle/>
          <a:p>
            <a:r>
              <a:rPr lang="en-IN" sz="2600" b="1">
                <a:solidFill>
                  <a:srgbClr val="1B2340"/>
                </a:solidFill>
                <a:latin typeface="IBM Plex Sans" panose="020B0503050203000203" pitchFamily="34" charset="0"/>
              </a:rPr>
              <a:t>Who benefits, and how</a:t>
            </a:r>
          </a:p>
        </p:txBody>
      </p:sp>
      <p:sp>
        <p:nvSpPr>
          <p:cNvPr id="4" name="Rectangle: Rounded Corners 3">
            <a:extLst>
              <a:ext uri="{FF2B5EF4-FFF2-40B4-BE49-F238E27FC236}">
                <a16:creationId xmlns:a16="http://schemas.microsoft.com/office/drawing/2014/main" id="{F6868566-C28C-F0BA-2D8A-4FB0FC333422}"/>
              </a:ext>
            </a:extLst>
          </p:cNvPr>
          <p:cNvSpPr/>
          <p:nvPr/>
        </p:nvSpPr>
        <p:spPr>
          <a:xfrm>
            <a:off x="584200" y="1905000"/>
            <a:ext cx="3505098" cy="4191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627F17CE-368F-AD2E-DDF6-77A2B9D9C1F9}"/>
              </a:ext>
            </a:extLst>
          </p:cNvPr>
          <p:cNvSpPr/>
          <p:nvPr/>
        </p:nvSpPr>
        <p:spPr>
          <a:xfrm>
            <a:off x="584200" y="1905000"/>
            <a:ext cx="3505098" cy="76200"/>
          </a:xfrm>
          <a:prstGeom prst="rect">
            <a:avLst/>
          </a:prstGeom>
          <a:solidFill>
            <a:srgbClr val="0F7A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B6121C40-229A-0ADF-F6D7-787966857197}"/>
              </a:ext>
            </a:extLst>
          </p:cNvPr>
          <p:cNvSpPr txBox="1"/>
          <p:nvPr/>
        </p:nvSpPr>
        <p:spPr>
          <a:xfrm>
            <a:off x="787400" y="2133600"/>
            <a:ext cx="3098698" cy="323165"/>
          </a:xfrm>
          <a:prstGeom prst="rect">
            <a:avLst/>
          </a:prstGeom>
          <a:noFill/>
        </p:spPr>
        <p:txBody>
          <a:bodyPr vert="horz" wrap="square" rtlCol="0">
            <a:spAutoFit/>
          </a:bodyPr>
          <a:lstStyle/>
          <a:p>
            <a:r>
              <a:rPr lang="en-IN" sz="1500" b="1">
                <a:solidFill>
                  <a:srgbClr val="1B2340"/>
                </a:solidFill>
                <a:latin typeface="IBM Plex Sans" panose="020B0503050203000203" pitchFamily="34" charset="0"/>
              </a:rPr>
              <a:t>Statisticians</a:t>
            </a:r>
          </a:p>
        </p:txBody>
      </p:sp>
      <p:sp>
        <p:nvSpPr>
          <p:cNvPr id="7" name="TextBox 6">
            <a:extLst>
              <a:ext uri="{FF2B5EF4-FFF2-40B4-BE49-F238E27FC236}">
                <a16:creationId xmlns:a16="http://schemas.microsoft.com/office/drawing/2014/main" id="{D011A1B6-C373-5DF1-4FDD-880B6B64AAD2}"/>
              </a:ext>
            </a:extLst>
          </p:cNvPr>
          <p:cNvSpPr txBox="1"/>
          <p:nvPr/>
        </p:nvSpPr>
        <p:spPr>
          <a:xfrm>
            <a:off x="787400" y="2743200"/>
            <a:ext cx="3098698" cy="369332"/>
          </a:xfrm>
          <a:prstGeom prst="rect">
            <a:avLst/>
          </a:prstGeom>
          <a:noFill/>
        </p:spPr>
        <p:txBody>
          <a:bodyPr vert="horz" wrap="square" rtlCol="0">
            <a:noAutofit/>
          </a:bodyPr>
          <a:lstStyle/>
          <a:p>
            <a:pPr marL="342900" indent="-342900">
              <a:buFont typeface="+mj-lt"/>
              <a:buChar char="•"/>
            </a:pPr>
            <a:r>
              <a:rPr lang="en-US" sz="1300">
                <a:solidFill>
                  <a:srgbClr val="5B6182"/>
                </a:solidFill>
                <a:latin typeface="IBM Plex Sans" panose="020B0503050203000203" pitchFamily="34" charset="0"/>
              </a:rPr>
              <a:t>Explore subgroup and sensitivity views without re-running SAS/R batch jobs for every cut.</a:t>
            </a:r>
            <a:endParaRPr lang="en-IN" sz="1300">
              <a:solidFill>
                <a:srgbClr val="5B6182"/>
              </a:solidFill>
              <a:latin typeface="IBM Plex Sans" panose="020B0503050203000203" pitchFamily="34" charset="0"/>
            </a:endParaRPr>
          </a:p>
        </p:txBody>
      </p:sp>
      <p:sp>
        <p:nvSpPr>
          <p:cNvPr id="8" name="Rectangle: Rounded Corners 7">
            <a:extLst>
              <a:ext uri="{FF2B5EF4-FFF2-40B4-BE49-F238E27FC236}">
                <a16:creationId xmlns:a16="http://schemas.microsoft.com/office/drawing/2014/main" id="{9EA74D67-796B-218E-FCA7-2A16461506B9}"/>
              </a:ext>
            </a:extLst>
          </p:cNvPr>
          <p:cNvSpPr/>
          <p:nvPr/>
        </p:nvSpPr>
        <p:spPr>
          <a:xfrm>
            <a:off x="4343298" y="1905000"/>
            <a:ext cx="3505099" cy="4191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051BD4FA-931D-B4A9-D0AE-211C76E8D114}"/>
              </a:ext>
            </a:extLst>
          </p:cNvPr>
          <p:cNvSpPr/>
          <p:nvPr/>
        </p:nvSpPr>
        <p:spPr>
          <a:xfrm>
            <a:off x="4343298" y="1905000"/>
            <a:ext cx="3505099" cy="76200"/>
          </a:xfrm>
          <a:prstGeom prst="rect">
            <a:avLst/>
          </a:prstGeom>
          <a:solidFill>
            <a:srgbClr val="0F7A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F00E0479-40FB-A135-72EC-BF50CA6D9CAB}"/>
              </a:ext>
            </a:extLst>
          </p:cNvPr>
          <p:cNvSpPr txBox="1"/>
          <p:nvPr/>
        </p:nvSpPr>
        <p:spPr>
          <a:xfrm>
            <a:off x="4546498" y="2133600"/>
            <a:ext cx="3098698" cy="323165"/>
          </a:xfrm>
          <a:prstGeom prst="rect">
            <a:avLst/>
          </a:prstGeom>
          <a:noFill/>
        </p:spPr>
        <p:txBody>
          <a:bodyPr vert="horz" wrap="square" rtlCol="0">
            <a:spAutoFit/>
          </a:bodyPr>
          <a:lstStyle/>
          <a:p>
            <a:r>
              <a:rPr lang="en-IN" sz="1500" b="1">
                <a:solidFill>
                  <a:srgbClr val="1B2340"/>
                </a:solidFill>
                <a:latin typeface="IBM Plex Sans" panose="020B0503050203000203" pitchFamily="34" charset="0"/>
              </a:rPr>
              <a:t>Programmers</a:t>
            </a:r>
          </a:p>
        </p:txBody>
      </p:sp>
      <p:sp>
        <p:nvSpPr>
          <p:cNvPr id="11" name="TextBox 10">
            <a:extLst>
              <a:ext uri="{FF2B5EF4-FFF2-40B4-BE49-F238E27FC236}">
                <a16:creationId xmlns:a16="http://schemas.microsoft.com/office/drawing/2014/main" id="{A4D56D57-B0F1-CF16-54F8-9E2BF0C09ACB}"/>
              </a:ext>
            </a:extLst>
          </p:cNvPr>
          <p:cNvSpPr txBox="1"/>
          <p:nvPr/>
        </p:nvSpPr>
        <p:spPr>
          <a:xfrm>
            <a:off x="4546498" y="2743200"/>
            <a:ext cx="3098698" cy="369332"/>
          </a:xfrm>
          <a:prstGeom prst="rect">
            <a:avLst/>
          </a:prstGeom>
          <a:noFill/>
        </p:spPr>
        <p:txBody>
          <a:bodyPr vert="horz" wrap="square" rtlCol="0">
            <a:noAutofit/>
          </a:bodyPr>
          <a:lstStyle/>
          <a:p>
            <a:pPr marL="342900" indent="-342900">
              <a:buFont typeface="+mj-lt"/>
              <a:buChar char="•"/>
            </a:pPr>
            <a:r>
              <a:rPr lang="en-US" sz="1300">
                <a:solidFill>
                  <a:srgbClr val="5B6182"/>
                </a:solidFill>
                <a:latin typeface="IBM Plex Sans" panose="020B0503050203000203" pitchFamily="34" charset="0"/>
              </a:rPr>
              <a:t>One validated app replaces dozens of one-off ad-hoc TFL requests over a study's lifecycle.</a:t>
            </a:r>
            <a:endParaRPr lang="en-IN" sz="1300">
              <a:solidFill>
                <a:srgbClr val="5B6182"/>
              </a:solidFill>
              <a:latin typeface="IBM Plex Sans" panose="020B0503050203000203" pitchFamily="34" charset="0"/>
            </a:endParaRPr>
          </a:p>
        </p:txBody>
      </p:sp>
      <p:sp>
        <p:nvSpPr>
          <p:cNvPr id="12" name="Rectangle: Rounded Corners 11">
            <a:extLst>
              <a:ext uri="{FF2B5EF4-FFF2-40B4-BE49-F238E27FC236}">
                <a16:creationId xmlns:a16="http://schemas.microsoft.com/office/drawing/2014/main" id="{CD05055C-75B6-80DC-F219-5FFB68308708}"/>
              </a:ext>
            </a:extLst>
          </p:cNvPr>
          <p:cNvSpPr/>
          <p:nvPr/>
        </p:nvSpPr>
        <p:spPr>
          <a:xfrm>
            <a:off x="8102397" y="1905000"/>
            <a:ext cx="3505098" cy="4191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92EFBF05-594C-80BE-9124-8EADA9C0DEB0}"/>
              </a:ext>
            </a:extLst>
          </p:cNvPr>
          <p:cNvSpPr/>
          <p:nvPr/>
        </p:nvSpPr>
        <p:spPr>
          <a:xfrm>
            <a:off x="8102397" y="1905000"/>
            <a:ext cx="3505098" cy="76200"/>
          </a:xfrm>
          <a:prstGeom prst="rect">
            <a:avLst/>
          </a:prstGeom>
          <a:solidFill>
            <a:srgbClr val="0F7A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172CB476-ECFF-6920-58A2-895B42514D2E}"/>
              </a:ext>
            </a:extLst>
          </p:cNvPr>
          <p:cNvSpPr txBox="1"/>
          <p:nvPr/>
        </p:nvSpPr>
        <p:spPr>
          <a:xfrm>
            <a:off x="8305597" y="2133600"/>
            <a:ext cx="3098698" cy="323165"/>
          </a:xfrm>
          <a:prstGeom prst="rect">
            <a:avLst/>
          </a:prstGeom>
          <a:noFill/>
        </p:spPr>
        <p:txBody>
          <a:bodyPr vert="horz" wrap="square" rtlCol="0">
            <a:spAutoFit/>
          </a:bodyPr>
          <a:lstStyle/>
          <a:p>
            <a:r>
              <a:rPr lang="en-IN" sz="1500" b="1">
                <a:solidFill>
                  <a:srgbClr val="1B2340"/>
                </a:solidFill>
                <a:latin typeface="IBM Plex Sans" panose="020B0503050203000203" pitchFamily="34" charset="0"/>
              </a:rPr>
              <a:t>Clinicians &amp; study teams</a:t>
            </a:r>
          </a:p>
        </p:txBody>
      </p:sp>
      <p:sp>
        <p:nvSpPr>
          <p:cNvPr id="15" name="TextBox 14">
            <a:extLst>
              <a:ext uri="{FF2B5EF4-FFF2-40B4-BE49-F238E27FC236}">
                <a16:creationId xmlns:a16="http://schemas.microsoft.com/office/drawing/2014/main" id="{FBDA1BCC-E908-BF2B-5BF4-D8FC639540F9}"/>
              </a:ext>
            </a:extLst>
          </p:cNvPr>
          <p:cNvSpPr txBox="1"/>
          <p:nvPr/>
        </p:nvSpPr>
        <p:spPr>
          <a:xfrm>
            <a:off x="8305597" y="2743200"/>
            <a:ext cx="3098698" cy="369332"/>
          </a:xfrm>
          <a:prstGeom prst="rect">
            <a:avLst/>
          </a:prstGeom>
          <a:noFill/>
        </p:spPr>
        <p:txBody>
          <a:bodyPr vert="horz" wrap="square" rtlCol="0">
            <a:noAutofit/>
          </a:bodyPr>
          <a:lstStyle/>
          <a:p>
            <a:pPr marL="342900" indent="-342900">
              <a:buFont typeface="+mj-lt"/>
              <a:buChar char="•"/>
            </a:pPr>
            <a:r>
              <a:rPr lang="en-US" sz="1300">
                <a:solidFill>
                  <a:srgbClr val="5B6182"/>
                </a:solidFill>
                <a:latin typeface="IBM Plex Sans" panose="020B0503050203000203" pitchFamily="34" charset="0"/>
              </a:rPr>
              <a:t>Self-serve, guided filtering - no coding required to answer a review question.</a:t>
            </a:r>
            <a:endParaRPr lang="en-IN" sz="1300">
              <a:solidFill>
                <a:srgbClr val="5B6182"/>
              </a:solidFill>
              <a:latin typeface="IBM Plex Sans" panose="020B0503050203000203" pitchFamily="34" charset="0"/>
            </a:endParaRPr>
          </a:p>
        </p:txBody>
      </p:sp>
      <p:sp>
        <p:nvSpPr>
          <p:cNvPr id="16" name="TextBox 15">
            <a:extLst>
              <a:ext uri="{FF2B5EF4-FFF2-40B4-BE49-F238E27FC236}">
                <a16:creationId xmlns:a16="http://schemas.microsoft.com/office/drawing/2014/main" id="{DA7A4CC5-F8C1-9E78-B7E1-54F96D8834DF}"/>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Session 1 Ã‚Â· Context &amp; Use Cases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29450021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31918B-8190-7F26-B6B0-6BB573F98E55}"/>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10:15 Ã¢ 10:30 Ã‚Â· VENKATESH</a:t>
            </a:r>
          </a:p>
        </p:txBody>
      </p:sp>
      <p:sp>
        <p:nvSpPr>
          <p:cNvPr id="3" name="TextBox 2">
            <a:extLst>
              <a:ext uri="{FF2B5EF4-FFF2-40B4-BE49-F238E27FC236}">
                <a16:creationId xmlns:a16="http://schemas.microsoft.com/office/drawing/2014/main" id="{D6F5556B-AABC-2B62-140F-018C11A54B3A}"/>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Where R Shiny sits among clinical dashboard tools</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1B41F213-7F17-74B8-0C55-B513870BAF4F}"/>
              </a:ext>
            </a:extLst>
          </p:cNvPr>
          <p:cNvSpPr/>
          <p:nvPr/>
        </p:nvSpPr>
        <p:spPr>
          <a:xfrm>
            <a:off x="584200" y="1651000"/>
            <a:ext cx="5359248"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79CD43C8-74E1-ED0C-41C5-D90E111BA9F3}"/>
              </a:ext>
            </a:extLst>
          </p:cNvPr>
          <p:cNvSpPr txBox="1"/>
          <p:nvPr/>
        </p:nvSpPr>
        <p:spPr>
          <a:xfrm>
            <a:off x="863600" y="1879600"/>
            <a:ext cx="4800448" cy="353943"/>
          </a:xfrm>
          <a:prstGeom prst="rect">
            <a:avLst/>
          </a:prstGeom>
          <a:noFill/>
        </p:spPr>
        <p:txBody>
          <a:bodyPr vert="horz" wrap="square" rtlCol="0">
            <a:spAutoFit/>
          </a:bodyPr>
          <a:lstStyle/>
          <a:p>
            <a:r>
              <a:rPr lang="en-IN" sz="1700" b="1">
                <a:solidFill>
                  <a:srgbClr val="1B2340"/>
                </a:solidFill>
                <a:latin typeface="IBM Plex Sans" panose="020B0503050203000203" pitchFamily="34" charset="0"/>
              </a:rPr>
              <a:t>Commercial BI platforms</a:t>
            </a:r>
          </a:p>
        </p:txBody>
      </p:sp>
      <p:sp>
        <p:nvSpPr>
          <p:cNvPr id="6" name="TextBox 5">
            <a:extLst>
              <a:ext uri="{FF2B5EF4-FFF2-40B4-BE49-F238E27FC236}">
                <a16:creationId xmlns:a16="http://schemas.microsoft.com/office/drawing/2014/main" id="{55D0B63A-80EB-A7A8-E52E-0B99885F0366}"/>
              </a:ext>
            </a:extLst>
          </p:cNvPr>
          <p:cNvSpPr txBox="1"/>
          <p:nvPr/>
        </p:nvSpPr>
        <p:spPr>
          <a:xfrm>
            <a:off x="863600" y="2311400"/>
            <a:ext cx="4800448" cy="369332"/>
          </a:xfrm>
          <a:prstGeom prst="rect">
            <a:avLst/>
          </a:prstGeom>
          <a:noFill/>
        </p:spPr>
        <p:txBody>
          <a:bodyPr vert="horz" wrap="square" rtlCol="0">
            <a:noAutofit/>
          </a:bodyPr>
          <a:lstStyle/>
          <a:p>
            <a:pPr marL="342900" indent="-342900">
              <a:buFont typeface="+mj-lt"/>
              <a:buChar char="•"/>
            </a:pPr>
            <a:r>
              <a:rPr lang="en-IN" sz="1500">
                <a:solidFill>
                  <a:srgbClr val="5B6182"/>
                </a:solidFill>
                <a:latin typeface="IBM Plex Sans" panose="020B0503050203000203" pitchFamily="34" charset="0"/>
              </a:rPr>
              <a:t>Tableau / Qlik - fast to configure, strong for general BI, licensed per seat
Spotfire - established in life sciences, strong ad-hoc visual analytics
SAS Visual Analytics - tight fit for SAS-based validated pipelines</a:t>
            </a:r>
          </a:p>
        </p:txBody>
      </p:sp>
      <p:sp>
        <p:nvSpPr>
          <p:cNvPr id="7" name="Rectangle: Rounded Corners 6">
            <a:extLst>
              <a:ext uri="{FF2B5EF4-FFF2-40B4-BE49-F238E27FC236}">
                <a16:creationId xmlns:a16="http://schemas.microsoft.com/office/drawing/2014/main" id="{9B5A30BC-41B4-286F-1BEF-889F72D7531F}"/>
              </a:ext>
            </a:extLst>
          </p:cNvPr>
          <p:cNvSpPr/>
          <p:nvPr/>
        </p:nvSpPr>
        <p:spPr>
          <a:xfrm>
            <a:off x="6248248" y="1651000"/>
            <a:ext cx="5359247"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80673956-FC6C-43DF-8DCB-85F88F1289CB}"/>
              </a:ext>
            </a:extLst>
          </p:cNvPr>
          <p:cNvSpPr txBox="1"/>
          <p:nvPr/>
        </p:nvSpPr>
        <p:spPr>
          <a:xfrm>
            <a:off x="6527647" y="1879600"/>
            <a:ext cx="4800448" cy="353943"/>
          </a:xfrm>
          <a:prstGeom prst="rect">
            <a:avLst/>
          </a:prstGeom>
          <a:noFill/>
        </p:spPr>
        <p:txBody>
          <a:bodyPr vert="horz" wrap="square" rtlCol="0">
            <a:spAutoFit/>
          </a:bodyPr>
          <a:lstStyle/>
          <a:p>
            <a:r>
              <a:rPr lang="en-IN" sz="1700" b="1">
                <a:solidFill>
                  <a:srgbClr val="1B2340"/>
                </a:solidFill>
                <a:latin typeface="IBM Plex Sans" panose="020B0503050203000203" pitchFamily="34" charset="0"/>
              </a:rPr>
              <a:t>R Shiny's niche</a:t>
            </a:r>
          </a:p>
        </p:txBody>
      </p:sp>
      <p:sp>
        <p:nvSpPr>
          <p:cNvPr id="9" name="TextBox 8">
            <a:extLst>
              <a:ext uri="{FF2B5EF4-FFF2-40B4-BE49-F238E27FC236}">
                <a16:creationId xmlns:a16="http://schemas.microsoft.com/office/drawing/2014/main" id="{81B632AE-8FD8-E334-25A5-0D90CE47AE5C}"/>
              </a:ext>
            </a:extLst>
          </p:cNvPr>
          <p:cNvSpPr txBox="1"/>
          <p:nvPr/>
        </p:nvSpPr>
        <p:spPr>
          <a:xfrm>
            <a:off x="6527647" y="2311400"/>
            <a:ext cx="4800448" cy="369332"/>
          </a:xfrm>
          <a:prstGeom prst="rect">
            <a:avLst/>
          </a:prstGeom>
          <a:noFill/>
        </p:spPr>
        <p:txBody>
          <a:bodyPr vert="horz" wrap="square" rtlCol="0">
            <a:noAutofit/>
          </a:bodyPr>
          <a:lstStyle/>
          <a:p>
            <a:pPr marL="342900" indent="-342900">
              <a:buFont typeface="+mj-lt"/>
              <a:buChar char="•"/>
            </a:pPr>
            <a:r>
              <a:rPr lang="en-US" sz="1500">
                <a:solidFill>
                  <a:srgbClr val="5B6182"/>
                </a:solidFill>
                <a:latin typeface="IBM Plex Sans" panose="020B0503050203000203" pitchFamily="34" charset="0"/>
              </a:rPr>
              <a:t>Full R ecosystem access - the same language used to program ADaM/TLFs
Open source: no per-seat licensing, fully customizable UI and statistical logic
Best fit when the output logic itself - not just the visualization - is the hard part</a:t>
            </a:r>
            <a:endParaRPr lang="en-IN" sz="1500">
              <a:solidFill>
                <a:srgbClr val="5B6182"/>
              </a:solidFill>
              <a:latin typeface="IBM Plex Sans" panose="020B0503050203000203" pitchFamily="34" charset="0"/>
            </a:endParaRPr>
          </a:p>
        </p:txBody>
      </p:sp>
      <p:sp>
        <p:nvSpPr>
          <p:cNvPr id="10" name="TextBox 9">
            <a:extLst>
              <a:ext uri="{FF2B5EF4-FFF2-40B4-BE49-F238E27FC236}">
                <a16:creationId xmlns:a16="http://schemas.microsoft.com/office/drawing/2014/main" id="{57D98485-7E41-49DE-FDEB-17A60EFE8518}"/>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Session 1 Ã‚Â· Context &amp; Use Cases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41778371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6CF0206-230C-5279-A387-7AF83C1261FF}"/>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10:15 Ã¢ 10:30 Ã‚Â· VENKATESH</a:t>
            </a:r>
          </a:p>
        </p:txBody>
      </p:sp>
      <p:sp>
        <p:nvSpPr>
          <p:cNvPr id="3" name="TextBox 2">
            <a:extLst>
              <a:ext uri="{FF2B5EF4-FFF2-40B4-BE49-F238E27FC236}">
                <a16:creationId xmlns:a16="http://schemas.microsoft.com/office/drawing/2014/main" id="{1967D3B5-F2C1-25FE-F3EE-1A563C73B1A3}"/>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Statistical graphics R Shiny renders natively</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DFB2DECB-BC0A-DA95-62B9-EF4EE2C3D691}"/>
              </a:ext>
            </a:extLst>
          </p:cNvPr>
          <p:cNvSpPr/>
          <p:nvPr/>
        </p:nvSpPr>
        <p:spPr>
          <a:xfrm>
            <a:off x="584200" y="1651000"/>
            <a:ext cx="11023295"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A839C3F8-697C-0CA9-9024-909A30B059F0}"/>
              </a:ext>
            </a:extLst>
          </p:cNvPr>
          <p:cNvSpPr txBox="1"/>
          <p:nvPr/>
        </p:nvSpPr>
        <p:spPr>
          <a:xfrm>
            <a:off x="889000" y="1930400"/>
            <a:ext cx="10413695" cy="369332"/>
          </a:xfrm>
          <a:prstGeom prst="rect">
            <a:avLst/>
          </a:prstGeom>
          <a:noFill/>
        </p:spPr>
        <p:txBody>
          <a:bodyPr vert="horz" wrap="square" rtlCol="0">
            <a:noAutofit/>
          </a:bodyPr>
          <a:lstStyle/>
          <a:p>
            <a:pPr marL="342900" indent="-342900">
              <a:buFont typeface="+mj-lt"/>
              <a:buChar char="•"/>
            </a:pPr>
            <a:r>
              <a:rPr lang="en-IN" sz="1600">
                <a:solidFill>
                  <a:srgbClr val="5B6182"/>
                </a:solidFill>
                <a:latin typeface="IBM Plex Sans" panose="020B0503050203000203" pitchFamily="34" charset="0"/>
              </a:rPr>
              <a:t>`
 Network graphsAdverse event co-occurrence, SOC/PT relationship maps, site-to-site enrollment flow - rendered with ggraph/visNetwork directly inside a reactive panel.
 Heatmaps &amp; other statistical graphsLab shift heatmaps, correlation matrices, forest plots - all first-class ggplot2 geoms, styled once and reused everywhere in the app.
`</a:t>
            </a:r>
          </a:p>
        </p:txBody>
      </p:sp>
      <p:sp>
        <p:nvSpPr>
          <p:cNvPr id="6" name="TextBox 5">
            <a:extLst>
              <a:ext uri="{FF2B5EF4-FFF2-40B4-BE49-F238E27FC236}">
                <a16:creationId xmlns:a16="http://schemas.microsoft.com/office/drawing/2014/main" id="{48F446D7-EFD2-468A-1D8B-93EFB9239EF5}"/>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Session 1 Ã‚Â· Context &amp; Use Cases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37127865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40DF74-0687-A8DE-DD3D-C2FC5A8952BD}"/>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10:30 Ã¢ 10:45 Ã‚Â· MAHESH</a:t>
            </a:r>
          </a:p>
        </p:txBody>
      </p:sp>
      <p:sp>
        <p:nvSpPr>
          <p:cNvPr id="3" name="TextBox 2">
            <a:extLst>
              <a:ext uri="{FF2B5EF4-FFF2-40B4-BE49-F238E27FC236}">
                <a16:creationId xmlns:a16="http://schemas.microsoft.com/office/drawing/2014/main" id="{893513DF-C809-855D-0D24-AAC36D2CFAE9}"/>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High-level design considerations for users familiar with R Shiny basics</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E2B4AC87-1E55-BE98-58A7-B3BBD7539696}"/>
              </a:ext>
            </a:extLst>
          </p:cNvPr>
          <p:cNvSpPr/>
          <p:nvPr/>
        </p:nvSpPr>
        <p:spPr>
          <a:xfrm>
            <a:off x="584200" y="1651000"/>
            <a:ext cx="5359248"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312E52EE-456B-78E8-EE38-BB7DEFE6FDD5}"/>
              </a:ext>
            </a:extLst>
          </p:cNvPr>
          <p:cNvSpPr txBox="1"/>
          <p:nvPr/>
        </p:nvSpPr>
        <p:spPr>
          <a:xfrm>
            <a:off x="863600" y="1879600"/>
            <a:ext cx="4800448" cy="353943"/>
          </a:xfrm>
          <a:prstGeom prst="rect">
            <a:avLst/>
          </a:prstGeom>
          <a:noFill/>
        </p:spPr>
        <p:txBody>
          <a:bodyPr vert="horz" wrap="square" rtlCol="0">
            <a:spAutoFit/>
          </a:bodyPr>
          <a:lstStyle/>
          <a:p>
            <a:r>
              <a:rPr lang="en-IN" sz="1700" b="1">
                <a:solidFill>
                  <a:srgbClr val="1B2340"/>
                </a:solidFill>
                <a:latin typeface="IBM Plex Sans" panose="020B0503050203000203" pitchFamily="34" charset="0"/>
              </a:rPr>
              <a:t>Translating outputs into visuals</a:t>
            </a:r>
          </a:p>
        </p:txBody>
      </p:sp>
      <p:sp>
        <p:nvSpPr>
          <p:cNvPr id="6" name="TextBox 5">
            <a:extLst>
              <a:ext uri="{FF2B5EF4-FFF2-40B4-BE49-F238E27FC236}">
                <a16:creationId xmlns:a16="http://schemas.microsoft.com/office/drawing/2014/main" id="{3CEE37C3-E6F1-73D0-7AB6-C61BB48EFF8A}"/>
              </a:ext>
            </a:extLst>
          </p:cNvPr>
          <p:cNvSpPr txBox="1"/>
          <p:nvPr/>
        </p:nvSpPr>
        <p:spPr>
          <a:xfrm>
            <a:off x="863600" y="2311400"/>
            <a:ext cx="4800448" cy="369332"/>
          </a:xfrm>
          <a:prstGeom prst="rect">
            <a:avLst/>
          </a:prstGeom>
          <a:noFill/>
        </p:spPr>
        <p:txBody>
          <a:bodyPr vert="horz" wrap="square" rtlCol="0">
            <a:noAutofit/>
          </a:bodyPr>
          <a:lstStyle/>
          <a:p>
            <a:pPr marL="342900" indent="-342900">
              <a:buFont typeface="+mj-lt"/>
              <a:buChar char="•"/>
            </a:pPr>
            <a:r>
              <a:rPr lang="en-US" sz="1500">
                <a:solidFill>
                  <a:srgbClr val="5B6182"/>
                </a:solidFill>
                <a:latin typeface="IBM Plex Sans" panose="020B0503050203000203" pitchFamily="34" charset="0"/>
              </a:rPr>
              <a:t>A table row and a chart mark should represent the exact same underlying computation
Preserve the N used for percentages visibly - don't let a filter silently change the denominator
Keep clinical vocabulary (SOC, PT, TEAE) consistent between tables and figures</a:t>
            </a:r>
            <a:endParaRPr lang="en-IN" sz="1500">
              <a:solidFill>
                <a:srgbClr val="5B6182"/>
              </a:solidFill>
              <a:latin typeface="IBM Plex Sans" panose="020B0503050203000203" pitchFamily="34" charset="0"/>
            </a:endParaRPr>
          </a:p>
        </p:txBody>
      </p:sp>
      <p:sp>
        <p:nvSpPr>
          <p:cNvPr id="7" name="Rectangle: Rounded Corners 6">
            <a:extLst>
              <a:ext uri="{FF2B5EF4-FFF2-40B4-BE49-F238E27FC236}">
                <a16:creationId xmlns:a16="http://schemas.microsoft.com/office/drawing/2014/main" id="{71F65398-B480-DE8A-7622-5B5D6AFFFCC6}"/>
              </a:ext>
            </a:extLst>
          </p:cNvPr>
          <p:cNvSpPr/>
          <p:nvPr/>
        </p:nvSpPr>
        <p:spPr>
          <a:xfrm>
            <a:off x="6248248" y="1651000"/>
            <a:ext cx="5359247"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2308BC78-B0E2-27FC-FD7B-EFE34C817044}"/>
              </a:ext>
            </a:extLst>
          </p:cNvPr>
          <p:cNvSpPr txBox="1"/>
          <p:nvPr/>
        </p:nvSpPr>
        <p:spPr>
          <a:xfrm>
            <a:off x="6527647" y="1879600"/>
            <a:ext cx="4800448" cy="353943"/>
          </a:xfrm>
          <a:prstGeom prst="rect">
            <a:avLst/>
          </a:prstGeom>
          <a:noFill/>
        </p:spPr>
        <p:txBody>
          <a:bodyPr vert="horz" wrap="square" rtlCol="0">
            <a:spAutoFit/>
          </a:bodyPr>
          <a:lstStyle/>
          <a:p>
            <a:r>
              <a:rPr lang="en-IN" sz="1700" b="1">
                <a:solidFill>
                  <a:srgbClr val="1B2340"/>
                </a:solidFill>
                <a:latin typeface="IBM Plex Sans" panose="020B0503050203000203" pitchFamily="34" charset="0"/>
              </a:rPr>
              <a:t>Compliance &amp; traceability</a:t>
            </a:r>
          </a:p>
        </p:txBody>
      </p:sp>
      <p:sp>
        <p:nvSpPr>
          <p:cNvPr id="9" name="TextBox 8">
            <a:extLst>
              <a:ext uri="{FF2B5EF4-FFF2-40B4-BE49-F238E27FC236}">
                <a16:creationId xmlns:a16="http://schemas.microsoft.com/office/drawing/2014/main" id="{24C00B32-06B5-DD8F-5566-4ADB9D7E5024}"/>
              </a:ext>
            </a:extLst>
          </p:cNvPr>
          <p:cNvSpPr txBox="1"/>
          <p:nvPr/>
        </p:nvSpPr>
        <p:spPr>
          <a:xfrm>
            <a:off x="6527647" y="2311400"/>
            <a:ext cx="4800448" cy="369332"/>
          </a:xfrm>
          <a:prstGeom prst="rect">
            <a:avLst/>
          </a:prstGeom>
          <a:noFill/>
        </p:spPr>
        <p:txBody>
          <a:bodyPr vert="horz" wrap="square" rtlCol="0">
            <a:noAutofit/>
          </a:bodyPr>
          <a:lstStyle/>
          <a:p>
            <a:pPr marL="342900" indent="-342900">
              <a:buFont typeface="+mj-lt"/>
              <a:buChar char="•"/>
            </a:pPr>
            <a:r>
              <a:rPr lang="en-US" sz="1500">
                <a:solidFill>
                  <a:srgbClr val="5B6182"/>
                </a:solidFill>
                <a:latin typeface="IBM Plex Sans" panose="020B0503050203000203" pitchFamily="34" charset="0"/>
              </a:rPr>
              <a:t>Every displayed number must trace back to a specific ADaM variable and filter
Reproducibility: the same inputs must always produce the same output
Log or version what population/treatment filters produced a given export</a:t>
            </a:r>
            <a:endParaRPr lang="en-IN" sz="1500">
              <a:solidFill>
                <a:srgbClr val="5B6182"/>
              </a:solidFill>
              <a:latin typeface="IBM Plex Sans" panose="020B0503050203000203" pitchFamily="34" charset="0"/>
            </a:endParaRPr>
          </a:p>
        </p:txBody>
      </p:sp>
      <p:sp>
        <p:nvSpPr>
          <p:cNvPr id="10" name="TextBox 9">
            <a:extLst>
              <a:ext uri="{FF2B5EF4-FFF2-40B4-BE49-F238E27FC236}">
                <a16:creationId xmlns:a16="http://schemas.microsoft.com/office/drawing/2014/main" id="{05B13731-8D8C-05E6-B706-B22C57DDCF56}"/>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Session 1 Ã‚Â· Context &amp; Use Cases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39056546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613A93-A83A-AD49-EA63-18328AF24046}"/>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10:30 Ã¢ 10:45 Ã‚Â· MAHESH</a:t>
            </a:r>
          </a:p>
        </p:txBody>
      </p:sp>
      <p:sp>
        <p:nvSpPr>
          <p:cNvPr id="3" name="TextBox 2">
            <a:extLst>
              <a:ext uri="{FF2B5EF4-FFF2-40B4-BE49-F238E27FC236}">
                <a16:creationId xmlns:a16="http://schemas.microsoft.com/office/drawing/2014/main" id="{402E6DF5-F7B4-D0A3-9895-198E7CF118B6}"/>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Common visualization mistakes to avoid</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978D5E23-51C1-6AEB-CCF4-2D9957933B34}"/>
              </a:ext>
            </a:extLst>
          </p:cNvPr>
          <p:cNvSpPr/>
          <p:nvPr/>
        </p:nvSpPr>
        <p:spPr>
          <a:xfrm>
            <a:off x="584200" y="1651000"/>
            <a:ext cx="11023295"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33DCEF05-39D9-CAFF-410E-C464E5F71FF5}"/>
              </a:ext>
            </a:extLst>
          </p:cNvPr>
          <p:cNvSpPr txBox="1"/>
          <p:nvPr/>
        </p:nvSpPr>
        <p:spPr>
          <a:xfrm>
            <a:off x="889000" y="1930400"/>
            <a:ext cx="10413695" cy="369332"/>
          </a:xfrm>
          <a:prstGeom prst="rect">
            <a:avLst/>
          </a:prstGeom>
          <a:noFill/>
        </p:spPr>
        <p:txBody>
          <a:bodyPr vert="horz" wrap="square" rtlCol="0">
            <a:noAutofit/>
          </a:bodyPr>
          <a:lstStyle/>
          <a:p>
            <a:pPr marL="342900" indent="-342900">
              <a:buFont typeface="+mj-lt"/>
              <a:buChar char="•"/>
            </a:pPr>
            <a:r>
              <a:rPr lang="en-US" sz="1600">
                <a:solidFill>
                  <a:srgbClr val="5B6182"/>
                </a:solidFill>
                <a:latin typeface="IBM Plex Sans" panose="020B0503050203000203" pitchFamily="34" charset="0"/>
              </a:rPr>
              <a:t>`
 Truncated or non-zero-based axes that visually exaggerate treatment differences
 Uncontrolled, non-consistent color mapping for treatment arms across tables and figures
 Omitting the N per arm, making percentages impossible to sanity-check
 Overplotting dense categorical data without faceting, sorting, or top-N filtering
 Interactive filters that silently change results with no visible indication a filter is active
`</a:t>
            </a:r>
            <a:endParaRPr lang="en-IN" sz="1600">
              <a:solidFill>
                <a:srgbClr val="5B6182"/>
              </a:solidFill>
              <a:latin typeface="IBM Plex Sans" panose="020B0503050203000203" pitchFamily="34" charset="0"/>
            </a:endParaRPr>
          </a:p>
        </p:txBody>
      </p:sp>
      <p:sp>
        <p:nvSpPr>
          <p:cNvPr id="6" name="TextBox 5">
            <a:extLst>
              <a:ext uri="{FF2B5EF4-FFF2-40B4-BE49-F238E27FC236}">
                <a16:creationId xmlns:a16="http://schemas.microsoft.com/office/drawing/2014/main" id="{47B8A413-27B3-70AB-C2E5-3986CC06B34C}"/>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Session 1 Ã‚Â· Context &amp; Use Cases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39929891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2C3E7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177FE6C-BC88-8B62-998E-E22BA29EAE8A}"/>
              </a:ext>
            </a:extLst>
          </p:cNvPr>
          <p:cNvSpPr txBox="1"/>
          <p:nvPr/>
        </p:nvSpPr>
        <p:spPr>
          <a:xfrm>
            <a:off x="8889695" y="254000"/>
            <a:ext cx="2794000" cy="1938992"/>
          </a:xfrm>
          <a:prstGeom prst="rect">
            <a:avLst/>
          </a:prstGeom>
          <a:noFill/>
        </p:spPr>
        <p:txBody>
          <a:bodyPr vert="horz" wrap="square" rtlCol="0">
            <a:spAutoFit/>
          </a:bodyPr>
          <a:lstStyle/>
          <a:p>
            <a:pPr algn="ctr"/>
            <a:r>
              <a:rPr lang="en-IN" sz="12000" b="1">
                <a:solidFill>
                  <a:srgbClr val="5A69AA"/>
                </a:solidFill>
                <a:latin typeface="IBM Plex Sans" panose="020B0503050203000203" pitchFamily="34" charset="0"/>
              </a:rPr>
              <a:t>02</a:t>
            </a:r>
          </a:p>
        </p:txBody>
      </p:sp>
      <p:sp>
        <p:nvSpPr>
          <p:cNvPr id="3" name="TextBox 2">
            <a:extLst>
              <a:ext uri="{FF2B5EF4-FFF2-40B4-BE49-F238E27FC236}">
                <a16:creationId xmlns:a16="http://schemas.microsoft.com/office/drawing/2014/main" id="{6258DBE1-0E4B-9566-1F0D-6A3016F9CD31}"/>
              </a:ext>
            </a:extLst>
          </p:cNvPr>
          <p:cNvSpPr txBox="1"/>
          <p:nvPr/>
        </p:nvSpPr>
        <p:spPr>
          <a:xfrm>
            <a:off x="584200" y="762000"/>
            <a:ext cx="6350000" cy="292388"/>
          </a:xfrm>
          <a:prstGeom prst="rect">
            <a:avLst/>
          </a:prstGeom>
          <a:noFill/>
        </p:spPr>
        <p:txBody>
          <a:bodyPr vert="horz" wrap="square" rtlCol="0">
            <a:spAutoFit/>
          </a:bodyPr>
          <a:lstStyle/>
          <a:p>
            <a:r>
              <a:rPr lang="en-US" sz="1300" b="1">
                <a:solidFill>
                  <a:srgbClr val="D6EEEC"/>
                </a:solidFill>
                <a:latin typeface="IBM Plex Sans" panose="020B0503050203000203" pitchFamily="34" charset="0"/>
              </a:rPr>
              <a:t>SESSION 2 Ã‚Â· SETUP &amp; BUILDING BLOCKS</a:t>
            </a:r>
            <a:endParaRPr lang="en-IN" sz="1300" b="1">
              <a:solidFill>
                <a:srgbClr val="D6EEEC"/>
              </a:solidFill>
              <a:latin typeface="IBM Plex Sans" panose="020B0503050203000203" pitchFamily="34" charset="0"/>
            </a:endParaRPr>
          </a:p>
        </p:txBody>
      </p:sp>
      <p:sp>
        <p:nvSpPr>
          <p:cNvPr id="4" name="TextBox 3">
            <a:extLst>
              <a:ext uri="{FF2B5EF4-FFF2-40B4-BE49-F238E27FC236}">
                <a16:creationId xmlns:a16="http://schemas.microsoft.com/office/drawing/2014/main" id="{E281D668-8BE7-7D44-D88D-F344B3BDA0EF}"/>
              </a:ext>
            </a:extLst>
          </p:cNvPr>
          <p:cNvSpPr txBox="1"/>
          <p:nvPr/>
        </p:nvSpPr>
        <p:spPr>
          <a:xfrm>
            <a:off x="584200" y="1397000"/>
            <a:ext cx="12065000" cy="1138773"/>
          </a:xfrm>
          <a:prstGeom prst="rect">
            <a:avLst/>
          </a:prstGeom>
          <a:noFill/>
        </p:spPr>
        <p:txBody>
          <a:bodyPr vert="horz" wrap="square" rtlCol="0">
            <a:spAutoFit/>
          </a:bodyPr>
          <a:lstStyle/>
          <a:p>
            <a:r>
              <a:rPr lang="en-US" sz="3400" b="1">
                <a:solidFill>
                  <a:srgbClr val="FFFFFF"/>
                </a:solidFill>
                <a:latin typeface="IBM Plex Sans" panose="020B0503050203000203" pitchFamily="34" charset="0"/>
              </a:rPr>
              <a:t>R Shiny Environment Setup and Dashboard Building Blocks</a:t>
            </a:r>
            <a:endParaRPr lang="en-IN" sz="3400" b="1">
              <a:solidFill>
                <a:srgbClr val="FFFFFF"/>
              </a:solidFill>
              <a:latin typeface="IBM Plex Sans" panose="020B0503050203000203" pitchFamily="34" charset="0"/>
            </a:endParaRPr>
          </a:p>
        </p:txBody>
      </p:sp>
      <p:sp>
        <p:nvSpPr>
          <p:cNvPr id="5" name="TextBox 4">
            <a:extLst>
              <a:ext uri="{FF2B5EF4-FFF2-40B4-BE49-F238E27FC236}">
                <a16:creationId xmlns:a16="http://schemas.microsoft.com/office/drawing/2014/main" id="{5E4993D8-F6CE-8FE2-D244-5B8ED28FE23B}"/>
              </a:ext>
            </a:extLst>
          </p:cNvPr>
          <p:cNvSpPr txBox="1"/>
          <p:nvPr/>
        </p:nvSpPr>
        <p:spPr>
          <a:xfrm>
            <a:off x="584200" y="3556000"/>
            <a:ext cx="10795000" cy="338554"/>
          </a:xfrm>
          <a:prstGeom prst="rect">
            <a:avLst/>
          </a:prstGeom>
          <a:noFill/>
        </p:spPr>
        <p:txBody>
          <a:bodyPr vert="horz" wrap="square" rtlCol="0">
            <a:spAutoFit/>
          </a:bodyPr>
          <a:lstStyle/>
          <a:p>
            <a:r>
              <a:rPr lang="en-US" sz="1600">
                <a:solidFill>
                  <a:srgbClr val="DCE3F5"/>
                </a:solidFill>
                <a:latin typeface="IBM Plex Sans" panose="020B0503050203000203" pitchFamily="34" charset="0"/>
              </a:rPr>
              <a:t>The architecture and vocabulary we'll reuse for the rest of the day, once, in the abstract.</a:t>
            </a:r>
            <a:endParaRPr lang="en-IN" sz="1600">
              <a:solidFill>
                <a:srgbClr val="DCE3F5"/>
              </a:solidFill>
              <a:latin typeface="IBM Plex Sans" panose="020B0503050203000203" pitchFamily="34" charset="0"/>
            </a:endParaRPr>
          </a:p>
        </p:txBody>
      </p:sp>
      <p:sp>
        <p:nvSpPr>
          <p:cNvPr id="6" name="TextBox 5">
            <a:extLst>
              <a:ext uri="{FF2B5EF4-FFF2-40B4-BE49-F238E27FC236}">
                <a16:creationId xmlns:a16="http://schemas.microsoft.com/office/drawing/2014/main" id="{6F779D4E-9478-92FF-00D7-8005FA506EAE}"/>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Session 2 Ã‚Â· Setup &amp; Building Blocks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708057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97C265-777C-70AC-DA1C-B098BF7E8DC7}"/>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10:45 Ã¢ 10:55 Ã‚Â· MAHESH</a:t>
            </a:r>
          </a:p>
        </p:txBody>
      </p:sp>
      <p:sp>
        <p:nvSpPr>
          <p:cNvPr id="3" name="TextBox 2">
            <a:extLst>
              <a:ext uri="{FF2B5EF4-FFF2-40B4-BE49-F238E27FC236}">
                <a16:creationId xmlns:a16="http://schemas.microsoft.com/office/drawing/2014/main" id="{024A47BC-C283-7D1F-54DC-8089C7F514E2}"/>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Setting up the R Shiny development environment</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9DB220D3-9FA6-8E3C-4E4C-C0A190F4C082}"/>
              </a:ext>
            </a:extLst>
          </p:cNvPr>
          <p:cNvSpPr/>
          <p:nvPr/>
        </p:nvSpPr>
        <p:spPr>
          <a:xfrm>
            <a:off x="584200" y="1651000"/>
            <a:ext cx="5359248"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8C8107CA-62EA-4901-A021-B170F94332E9}"/>
              </a:ext>
            </a:extLst>
          </p:cNvPr>
          <p:cNvSpPr txBox="1"/>
          <p:nvPr/>
        </p:nvSpPr>
        <p:spPr>
          <a:xfrm>
            <a:off x="863600" y="1879600"/>
            <a:ext cx="4800448" cy="353943"/>
          </a:xfrm>
          <a:prstGeom prst="rect">
            <a:avLst/>
          </a:prstGeom>
          <a:noFill/>
        </p:spPr>
        <p:txBody>
          <a:bodyPr vert="horz" wrap="square" rtlCol="0">
            <a:spAutoFit/>
          </a:bodyPr>
          <a:lstStyle/>
          <a:p>
            <a:r>
              <a:rPr lang="en-IN" sz="1700" b="1">
                <a:solidFill>
                  <a:srgbClr val="1B2340"/>
                </a:solidFill>
                <a:latin typeface="IBM Plex Sans" panose="020B0503050203000203" pitchFamily="34" charset="0"/>
              </a:rPr>
              <a:t>Core setup</a:t>
            </a:r>
          </a:p>
        </p:txBody>
      </p:sp>
      <p:sp>
        <p:nvSpPr>
          <p:cNvPr id="6" name="TextBox 5">
            <a:extLst>
              <a:ext uri="{FF2B5EF4-FFF2-40B4-BE49-F238E27FC236}">
                <a16:creationId xmlns:a16="http://schemas.microsoft.com/office/drawing/2014/main" id="{13CD6A7F-D718-F10D-7471-E57F8A7B2080}"/>
              </a:ext>
            </a:extLst>
          </p:cNvPr>
          <p:cNvSpPr txBox="1"/>
          <p:nvPr/>
        </p:nvSpPr>
        <p:spPr>
          <a:xfrm>
            <a:off x="863600" y="2311400"/>
            <a:ext cx="4800448" cy="369332"/>
          </a:xfrm>
          <a:prstGeom prst="rect">
            <a:avLst/>
          </a:prstGeom>
          <a:noFill/>
        </p:spPr>
        <p:txBody>
          <a:bodyPr vert="horz" wrap="square" rtlCol="0">
            <a:noAutofit/>
          </a:bodyPr>
          <a:lstStyle/>
          <a:p>
            <a:pPr marL="342900" indent="-342900">
              <a:buFont typeface="+mj-lt"/>
              <a:buChar char="•"/>
            </a:pPr>
            <a:r>
              <a:rPr lang="en-US" sz="1500">
                <a:solidFill>
                  <a:srgbClr val="5B6182"/>
                </a:solidFill>
                <a:latin typeface="IBM Plex Sans" panose="020B0503050203000203" pitchFamily="34" charset="0"/>
              </a:rPr>
              <a:t>R (4.x) + RStudio, or any IDE with an R language server
Project-per-app structure: app.R or split ui.R/server.R
renv recommended for locking package versions on a validated build</a:t>
            </a:r>
            <a:endParaRPr lang="en-IN" sz="1500">
              <a:solidFill>
                <a:srgbClr val="5B6182"/>
              </a:solidFill>
              <a:latin typeface="IBM Plex Sans" panose="020B0503050203000203" pitchFamily="34" charset="0"/>
            </a:endParaRPr>
          </a:p>
        </p:txBody>
      </p:sp>
      <p:sp>
        <p:nvSpPr>
          <p:cNvPr id="7" name="Rectangle: Rounded Corners 6">
            <a:extLst>
              <a:ext uri="{FF2B5EF4-FFF2-40B4-BE49-F238E27FC236}">
                <a16:creationId xmlns:a16="http://schemas.microsoft.com/office/drawing/2014/main" id="{627A8D88-38C0-1CAE-1A40-78E11F2E4C31}"/>
              </a:ext>
            </a:extLst>
          </p:cNvPr>
          <p:cNvSpPr/>
          <p:nvPr/>
        </p:nvSpPr>
        <p:spPr>
          <a:xfrm>
            <a:off x="6248248" y="1651000"/>
            <a:ext cx="5359247"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70D6AEFB-D527-5F8B-CDF9-65FF8EFA5DB7}"/>
              </a:ext>
            </a:extLst>
          </p:cNvPr>
          <p:cNvSpPr txBox="1"/>
          <p:nvPr/>
        </p:nvSpPr>
        <p:spPr>
          <a:xfrm>
            <a:off x="6527647" y="1879600"/>
            <a:ext cx="4800448" cy="353943"/>
          </a:xfrm>
          <a:prstGeom prst="rect">
            <a:avLst/>
          </a:prstGeom>
          <a:noFill/>
        </p:spPr>
        <p:txBody>
          <a:bodyPr vert="horz" wrap="square" rtlCol="0">
            <a:spAutoFit/>
          </a:bodyPr>
          <a:lstStyle/>
          <a:p>
            <a:r>
              <a:rPr lang="en-IN" sz="1700" b="1">
                <a:solidFill>
                  <a:srgbClr val="1B2340"/>
                </a:solidFill>
                <a:latin typeface="IBM Plex Sans" panose="020B0503050203000203" pitchFamily="34" charset="0"/>
              </a:rPr>
              <a:t>Recommended project layout</a:t>
            </a:r>
          </a:p>
        </p:txBody>
      </p:sp>
      <p:sp>
        <p:nvSpPr>
          <p:cNvPr id="9" name="TextBox 8">
            <a:extLst>
              <a:ext uri="{FF2B5EF4-FFF2-40B4-BE49-F238E27FC236}">
                <a16:creationId xmlns:a16="http://schemas.microsoft.com/office/drawing/2014/main" id="{8D38713C-AA41-2B55-4B68-A7E9ABA2E684}"/>
              </a:ext>
            </a:extLst>
          </p:cNvPr>
          <p:cNvSpPr txBox="1"/>
          <p:nvPr/>
        </p:nvSpPr>
        <p:spPr>
          <a:xfrm>
            <a:off x="6527647" y="2311400"/>
            <a:ext cx="4800448" cy="369332"/>
          </a:xfrm>
          <a:prstGeom prst="rect">
            <a:avLst/>
          </a:prstGeom>
          <a:noFill/>
        </p:spPr>
        <p:txBody>
          <a:bodyPr vert="horz" wrap="square" rtlCol="0">
            <a:noAutofit/>
          </a:bodyPr>
          <a:lstStyle/>
          <a:p>
            <a:pPr marL="342900" indent="-342900">
              <a:buFont typeface="+mj-lt"/>
              <a:buChar char="•"/>
            </a:pPr>
            <a:r>
              <a:rPr lang="en-US" sz="1500">
                <a:solidFill>
                  <a:srgbClr val="5B6182"/>
                </a:solidFill>
                <a:latin typeface="IBM Plex Sans" panose="020B0503050203000203" pitchFamily="34" charset="0"/>
              </a:rPr>
              <a:t>One app.R for a self-contained app (what today's demo uses)
A R/ folder for helper functions once the app grows past one file
Keep data-loading, transformation, and rendering logic in separate functions from the start</a:t>
            </a:r>
            <a:endParaRPr lang="en-IN" sz="1500">
              <a:solidFill>
                <a:srgbClr val="5B6182"/>
              </a:solidFill>
              <a:latin typeface="IBM Plex Sans" panose="020B0503050203000203" pitchFamily="34" charset="0"/>
            </a:endParaRPr>
          </a:p>
        </p:txBody>
      </p:sp>
      <p:sp>
        <p:nvSpPr>
          <p:cNvPr id="10" name="TextBox 9">
            <a:extLst>
              <a:ext uri="{FF2B5EF4-FFF2-40B4-BE49-F238E27FC236}">
                <a16:creationId xmlns:a16="http://schemas.microsoft.com/office/drawing/2014/main" id="{4F365221-03F3-C5B2-88E4-AB2C1A12D1E4}"/>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Session 2 Ã‚Â· Setup &amp; Building Blocks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36525356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DB536F-F4C8-078B-3014-0699C78E30B3}"/>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10:45 Ã¢ 10:55 Ã‚Â· MAHESH</a:t>
            </a:r>
          </a:p>
        </p:txBody>
      </p:sp>
      <p:sp>
        <p:nvSpPr>
          <p:cNvPr id="3" name="TextBox 2">
            <a:extLst>
              <a:ext uri="{FF2B5EF4-FFF2-40B4-BE49-F238E27FC236}">
                <a16:creationId xmlns:a16="http://schemas.microsoft.com/office/drawing/2014/main" id="{48994A7A-2CDC-C9CA-E56A-FCC94C74838D}"/>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The package stack behind today's demo app</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6FA927D2-0968-2E3D-97D2-93FDEC29B18E}"/>
              </a:ext>
            </a:extLst>
          </p:cNvPr>
          <p:cNvSpPr/>
          <p:nvPr/>
        </p:nvSpPr>
        <p:spPr>
          <a:xfrm>
            <a:off x="584200" y="1651000"/>
            <a:ext cx="11023295"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695038F1-2304-AF8E-DD4F-4B0D41324698}"/>
              </a:ext>
            </a:extLst>
          </p:cNvPr>
          <p:cNvSpPr txBox="1"/>
          <p:nvPr/>
        </p:nvSpPr>
        <p:spPr>
          <a:xfrm>
            <a:off x="889000" y="1930400"/>
            <a:ext cx="10413695" cy="369332"/>
          </a:xfrm>
          <a:prstGeom prst="rect">
            <a:avLst/>
          </a:prstGeom>
          <a:noFill/>
        </p:spPr>
        <p:txBody>
          <a:bodyPr vert="horz" wrap="square" rtlCol="0">
            <a:noAutofit/>
          </a:bodyPr>
          <a:lstStyle/>
          <a:p>
            <a:pPr marL="342900" indent="-342900">
              <a:buFont typeface="+mj-lt"/>
              <a:buChar char="•"/>
            </a:pPr>
            <a:r>
              <a:rPr lang="en-IN" sz="1600">
                <a:solidFill>
                  <a:srgbClr val="5B6182"/>
                </a:solidFill>
                <a:latin typeface="IBM Plex Sans" panose="020B0503050203000203" pitchFamily="34" charset="0"/>
              </a:rPr>
              <a:t>`
 shinybslibdplyr / tidyr / purrrggplot2
 gtDThavenshinyWidgets
 pharmaverseadamflextable + officer
 Each package owns one concern: shiny/bslib for app structure and theming, dplyr/tidyr for data shaping, gt/DT for tables, ggplot2 for figures, flextable/officer for Word export, and pharmaverseadam for realistic, ready-made ADaM sample data.
`</a:t>
            </a:r>
          </a:p>
        </p:txBody>
      </p:sp>
      <p:sp>
        <p:nvSpPr>
          <p:cNvPr id="6" name="TextBox 5">
            <a:extLst>
              <a:ext uri="{FF2B5EF4-FFF2-40B4-BE49-F238E27FC236}">
                <a16:creationId xmlns:a16="http://schemas.microsoft.com/office/drawing/2014/main" id="{66198C4B-8957-78DE-7BA7-CD30EA0D9683}"/>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Session 2 Ã‚Â· Setup &amp; Building Blocks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21832200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97FEE00-9975-7A99-2675-9C405796A2AF}"/>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10:55 Ã¢ 11:10 Ã‚Â· MAHESH</a:t>
            </a:r>
          </a:p>
        </p:txBody>
      </p:sp>
      <p:sp>
        <p:nvSpPr>
          <p:cNvPr id="3" name="TextBox 2">
            <a:extLst>
              <a:ext uri="{FF2B5EF4-FFF2-40B4-BE49-F238E27FC236}">
                <a16:creationId xmlns:a16="http://schemas.microsoft.com/office/drawing/2014/main" id="{DF46BE13-DBA8-987B-13AA-32DD646BB6FF}"/>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Architecture overview: UI / Server / Reactive Engine</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BA72656C-0115-7823-79C6-BFEE1540C2D7}"/>
              </a:ext>
            </a:extLst>
          </p:cNvPr>
          <p:cNvSpPr/>
          <p:nvPr/>
        </p:nvSpPr>
        <p:spPr>
          <a:xfrm>
            <a:off x="584200" y="2921000"/>
            <a:ext cx="3251098" cy="1778000"/>
          </a:xfrm>
          <a:prstGeom prst="roundRect">
            <a:avLst/>
          </a:prstGeom>
          <a:solidFill>
            <a:srgbClr val="DCE3F5"/>
          </a:solidFill>
          <a:ln w="12700">
            <a:solidFill>
              <a:srgbClr val="2C3E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ABCB93B7-EA65-2D9D-748A-D5679AB36ECE}"/>
              </a:ext>
            </a:extLst>
          </p:cNvPr>
          <p:cNvSpPr txBox="1"/>
          <p:nvPr/>
        </p:nvSpPr>
        <p:spPr>
          <a:xfrm>
            <a:off x="711200" y="3124200"/>
            <a:ext cx="2997098" cy="323165"/>
          </a:xfrm>
          <a:prstGeom prst="rect">
            <a:avLst/>
          </a:prstGeom>
          <a:noFill/>
        </p:spPr>
        <p:txBody>
          <a:bodyPr vert="horz" wrap="square" rtlCol="0">
            <a:spAutoFit/>
          </a:bodyPr>
          <a:lstStyle/>
          <a:p>
            <a:pPr algn="ctr"/>
            <a:r>
              <a:rPr lang="en-IN" sz="1500" b="1">
                <a:solidFill>
                  <a:srgbClr val="1B2340"/>
                </a:solidFill>
                <a:latin typeface="IBM Plex Sans" panose="020B0503050203000203" pitchFamily="34" charset="0"/>
              </a:rPr>
              <a:t>UI</a:t>
            </a:r>
          </a:p>
        </p:txBody>
      </p:sp>
      <p:sp>
        <p:nvSpPr>
          <p:cNvPr id="6" name="TextBox 5">
            <a:extLst>
              <a:ext uri="{FF2B5EF4-FFF2-40B4-BE49-F238E27FC236}">
                <a16:creationId xmlns:a16="http://schemas.microsoft.com/office/drawing/2014/main" id="{19825C99-CE51-AE8B-6B61-5425D57EA09D}"/>
              </a:ext>
            </a:extLst>
          </p:cNvPr>
          <p:cNvSpPr txBox="1"/>
          <p:nvPr/>
        </p:nvSpPr>
        <p:spPr>
          <a:xfrm>
            <a:off x="711200" y="3556000"/>
            <a:ext cx="2997098" cy="261610"/>
          </a:xfrm>
          <a:prstGeom prst="rect">
            <a:avLst/>
          </a:prstGeom>
          <a:noFill/>
        </p:spPr>
        <p:txBody>
          <a:bodyPr vert="horz" wrap="square" rtlCol="0">
            <a:spAutoFit/>
          </a:bodyPr>
          <a:lstStyle/>
          <a:p>
            <a:pPr algn="ctr"/>
            <a:r>
              <a:rPr lang="en-US" sz="1100">
                <a:solidFill>
                  <a:srgbClr val="5B6182"/>
                </a:solidFill>
                <a:latin typeface="IBM Plex Sans" panose="020B0503050203000203" pitchFamily="34" charset="0"/>
              </a:rPr>
              <a:t>declares what the user can see and touch</a:t>
            </a:r>
            <a:endParaRPr lang="en-IN" sz="1100">
              <a:solidFill>
                <a:srgbClr val="5B6182"/>
              </a:solidFill>
              <a:latin typeface="IBM Plex Sans" panose="020B0503050203000203" pitchFamily="34" charset="0"/>
            </a:endParaRPr>
          </a:p>
        </p:txBody>
      </p:sp>
      <p:sp>
        <p:nvSpPr>
          <p:cNvPr id="7" name="TextBox 6">
            <a:extLst>
              <a:ext uri="{FF2B5EF4-FFF2-40B4-BE49-F238E27FC236}">
                <a16:creationId xmlns:a16="http://schemas.microsoft.com/office/drawing/2014/main" id="{FCEFF143-0323-0214-4168-5390872BEF4B}"/>
              </a:ext>
            </a:extLst>
          </p:cNvPr>
          <p:cNvSpPr txBox="1"/>
          <p:nvPr/>
        </p:nvSpPr>
        <p:spPr>
          <a:xfrm>
            <a:off x="3835298" y="3606800"/>
            <a:ext cx="635000" cy="430887"/>
          </a:xfrm>
          <a:prstGeom prst="rect">
            <a:avLst/>
          </a:prstGeom>
          <a:noFill/>
        </p:spPr>
        <p:txBody>
          <a:bodyPr vert="horz" wrap="square" rtlCol="0">
            <a:spAutoFit/>
          </a:bodyPr>
          <a:lstStyle/>
          <a:p>
            <a:pPr algn="ctr"/>
            <a:r>
              <a:rPr lang="en-IN" sz="2200" b="1">
                <a:solidFill>
                  <a:srgbClr val="5B6182"/>
                </a:solidFill>
                <a:latin typeface="IBM Plex Sans" panose="020B0503050203000203" pitchFamily="34" charset="0"/>
              </a:rPr>
              <a:t>-&gt;</a:t>
            </a:r>
          </a:p>
        </p:txBody>
      </p:sp>
      <p:sp>
        <p:nvSpPr>
          <p:cNvPr id="8" name="Rectangle: Rounded Corners 7">
            <a:extLst>
              <a:ext uri="{FF2B5EF4-FFF2-40B4-BE49-F238E27FC236}">
                <a16:creationId xmlns:a16="http://schemas.microsoft.com/office/drawing/2014/main" id="{640846E1-09F0-E2DF-D79A-B3A9BFC9C652}"/>
              </a:ext>
            </a:extLst>
          </p:cNvPr>
          <p:cNvSpPr/>
          <p:nvPr/>
        </p:nvSpPr>
        <p:spPr>
          <a:xfrm>
            <a:off x="4470298" y="2921000"/>
            <a:ext cx="3251099" cy="1778000"/>
          </a:xfrm>
          <a:prstGeom prst="roundRect">
            <a:avLst/>
          </a:prstGeom>
          <a:solidFill>
            <a:srgbClr val="DCE3F5"/>
          </a:solidFill>
          <a:ln w="12700">
            <a:solidFill>
              <a:srgbClr val="2C3E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F3945F65-169F-61A1-C8C3-DEBCCCD73717}"/>
              </a:ext>
            </a:extLst>
          </p:cNvPr>
          <p:cNvSpPr txBox="1"/>
          <p:nvPr/>
        </p:nvSpPr>
        <p:spPr>
          <a:xfrm>
            <a:off x="4597298" y="3124200"/>
            <a:ext cx="2997098" cy="323165"/>
          </a:xfrm>
          <a:prstGeom prst="rect">
            <a:avLst/>
          </a:prstGeom>
          <a:noFill/>
        </p:spPr>
        <p:txBody>
          <a:bodyPr vert="horz" wrap="square" rtlCol="0">
            <a:spAutoFit/>
          </a:bodyPr>
          <a:lstStyle/>
          <a:p>
            <a:pPr algn="ctr"/>
            <a:r>
              <a:rPr lang="en-IN" sz="1500" b="1">
                <a:solidFill>
                  <a:srgbClr val="1B2340"/>
                </a:solidFill>
                <a:latin typeface="IBM Plex Sans" panose="020B0503050203000203" pitchFamily="34" charset="0"/>
              </a:rPr>
              <a:t>Reactive Engine</a:t>
            </a:r>
          </a:p>
        </p:txBody>
      </p:sp>
      <p:sp>
        <p:nvSpPr>
          <p:cNvPr id="10" name="TextBox 9">
            <a:extLst>
              <a:ext uri="{FF2B5EF4-FFF2-40B4-BE49-F238E27FC236}">
                <a16:creationId xmlns:a16="http://schemas.microsoft.com/office/drawing/2014/main" id="{83F2A8C8-D843-F9BC-234B-5CE2E91677A0}"/>
              </a:ext>
            </a:extLst>
          </p:cNvPr>
          <p:cNvSpPr txBox="1"/>
          <p:nvPr/>
        </p:nvSpPr>
        <p:spPr>
          <a:xfrm>
            <a:off x="4597298" y="3556000"/>
            <a:ext cx="2997098" cy="430887"/>
          </a:xfrm>
          <a:prstGeom prst="rect">
            <a:avLst/>
          </a:prstGeom>
          <a:noFill/>
        </p:spPr>
        <p:txBody>
          <a:bodyPr vert="horz" wrap="square" rtlCol="0">
            <a:spAutoFit/>
          </a:bodyPr>
          <a:lstStyle/>
          <a:p>
            <a:pPr algn="ctr"/>
            <a:r>
              <a:rPr lang="en-US" sz="1100">
                <a:solidFill>
                  <a:srgbClr val="5B6182"/>
                </a:solidFill>
                <a:latin typeface="IBM Plex Sans" panose="020B0503050203000203" pitchFamily="34" charset="0"/>
              </a:rPr>
              <a:t>tracks dependencies, re-runs only what changed</a:t>
            </a:r>
            <a:endParaRPr lang="en-IN" sz="1100">
              <a:solidFill>
                <a:srgbClr val="5B6182"/>
              </a:solidFill>
              <a:latin typeface="IBM Plex Sans" panose="020B0503050203000203" pitchFamily="34" charset="0"/>
            </a:endParaRPr>
          </a:p>
        </p:txBody>
      </p:sp>
      <p:sp>
        <p:nvSpPr>
          <p:cNvPr id="11" name="TextBox 10">
            <a:extLst>
              <a:ext uri="{FF2B5EF4-FFF2-40B4-BE49-F238E27FC236}">
                <a16:creationId xmlns:a16="http://schemas.microsoft.com/office/drawing/2014/main" id="{A0565918-92CB-C0C0-4D76-E98924C67CE3}"/>
              </a:ext>
            </a:extLst>
          </p:cNvPr>
          <p:cNvSpPr txBox="1"/>
          <p:nvPr/>
        </p:nvSpPr>
        <p:spPr>
          <a:xfrm>
            <a:off x="7721397" y="3606800"/>
            <a:ext cx="635000" cy="430887"/>
          </a:xfrm>
          <a:prstGeom prst="rect">
            <a:avLst/>
          </a:prstGeom>
          <a:noFill/>
        </p:spPr>
        <p:txBody>
          <a:bodyPr vert="horz" wrap="square" rtlCol="0">
            <a:spAutoFit/>
          </a:bodyPr>
          <a:lstStyle/>
          <a:p>
            <a:pPr algn="ctr"/>
            <a:r>
              <a:rPr lang="en-IN" sz="2200" b="1">
                <a:solidFill>
                  <a:srgbClr val="5B6182"/>
                </a:solidFill>
                <a:latin typeface="IBM Plex Sans" panose="020B0503050203000203" pitchFamily="34" charset="0"/>
              </a:rPr>
              <a:t>-&gt;</a:t>
            </a:r>
          </a:p>
        </p:txBody>
      </p:sp>
      <p:sp>
        <p:nvSpPr>
          <p:cNvPr id="12" name="Rectangle: Rounded Corners 11">
            <a:extLst>
              <a:ext uri="{FF2B5EF4-FFF2-40B4-BE49-F238E27FC236}">
                <a16:creationId xmlns:a16="http://schemas.microsoft.com/office/drawing/2014/main" id="{3BA241C5-3210-C808-875B-4B7A551A60EF}"/>
              </a:ext>
            </a:extLst>
          </p:cNvPr>
          <p:cNvSpPr/>
          <p:nvPr/>
        </p:nvSpPr>
        <p:spPr>
          <a:xfrm>
            <a:off x="8356397" y="2921000"/>
            <a:ext cx="3251098" cy="1778000"/>
          </a:xfrm>
          <a:prstGeom prst="roundRect">
            <a:avLst/>
          </a:prstGeom>
          <a:solidFill>
            <a:srgbClr val="DCE3F5"/>
          </a:solidFill>
          <a:ln w="12700">
            <a:solidFill>
              <a:srgbClr val="2C3E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94EBE06F-26EE-260F-CD95-8620006BD4CB}"/>
              </a:ext>
            </a:extLst>
          </p:cNvPr>
          <p:cNvSpPr txBox="1"/>
          <p:nvPr/>
        </p:nvSpPr>
        <p:spPr>
          <a:xfrm>
            <a:off x="8483397" y="3124200"/>
            <a:ext cx="2997098" cy="323165"/>
          </a:xfrm>
          <a:prstGeom prst="rect">
            <a:avLst/>
          </a:prstGeom>
          <a:noFill/>
        </p:spPr>
        <p:txBody>
          <a:bodyPr vert="horz" wrap="square" rtlCol="0">
            <a:spAutoFit/>
          </a:bodyPr>
          <a:lstStyle/>
          <a:p>
            <a:pPr algn="ctr"/>
            <a:r>
              <a:rPr lang="en-IN" sz="1500" b="1">
                <a:solidFill>
                  <a:srgbClr val="1B2340"/>
                </a:solidFill>
                <a:latin typeface="IBM Plex Sans" panose="020B0503050203000203" pitchFamily="34" charset="0"/>
              </a:rPr>
              <a:t>Server</a:t>
            </a:r>
          </a:p>
        </p:txBody>
      </p:sp>
      <p:sp>
        <p:nvSpPr>
          <p:cNvPr id="14" name="TextBox 13">
            <a:extLst>
              <a:ext uri="{FF2B5EF4-FFF2-40B4-BE49-F238E27FC236}">
                <a16:creationId xmlns:a16="http://schemas.microsoft.com/office/drawing/2014/main" id="{21EDCCBF-060C-8108-C002-C9ABF816B3C6}"/>
              </a:ext>
            </a:extLst>
          </p:cNvPr>
          <p:cNvSpPr txBox="1"/>
          <p:nvPr/>
        </p:nvSpPr>
        <p:spPr>
          <a:xfrm>
            <a:off x="8483397" y="3556000"/>
            <a:ext cx="2997098" cy="261610"/>
          </a:xfrm>
          <a:prstGeom prst="rect">
            <a:avLst/>
          </a:prstGeom>
          <a:noFill/>
        </p:spPr>
        <p:txBody>
          <a:bodyPr vert="horz" wrap="square" rtlCol="0">
            <a:spAutoFit/>
          </a:bodyPr>
          <a:lstStyle/>
          <a:p>
            <a:pPr algn="ctr"/>
            <a:r>
              <a:rPr lang="en-US" sz="1100">
                <a:solidFill>
                  <a:srgbClr val="5B6182"/>
                </a:solidFill>
                <a:latin typeface="IBM Plex Sans" panose="020B0503050203000203" pitchFamily="34" charset="0"/>
              </a:rPr>
              <a:t>reads inputs, computes, writes outputs</a:t>
            </a:r>
            <a:endParaRPr lang="en-IN" sz="1100">
              <a:solidFill>
                <a:srgbClr val="5B6182"/>
              </a:solidFill>
              <a:latin typeface="IBM Plex Sans" panose="020B0503050203000203" pitchFamily="34" charset="0"/>
            </a:endParaRPr>
          </a:p>
        </p:txBody>
      </p:sp>
      <p:sp>
        <p:nvSpPr>
          <p:cNvPr id="15" name="TextBox 14">
            <a:extLst>
              <a:ext uri="{FF2B5EF4-FFF2-40B4-BE49-F238E27FC236}">
                <a16:creationId xmlns:a16="http://schemas.microsoft.com/office/drawing/2014/main" id="{740FD5E3-1DCF-FF50-4427-38B1B000C4A0}"/>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Session 2 Ã‚Â· Setup &amp; Building Blocks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34134828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4C259DF-69B8-BC7D-280E-A2C4834E2B4E}"/>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10:55 Ã¢ 11:10 Ã‚Â· MAHESH</a:t>
            </a:r>
          </a:p>
        </p:txBody>
      </p:sp>
      <p:sp>
        <p:nvSpPr>
          <p:cNvPr id="3" name="TextBox 2">
            <a:extLst>
              <a:ext uri="{FF2B5EF4-FFF2-40B4-BE49-F238E27FC236}">
                <a16:creationId xmlns:a16="http://schemas.microsoft.com/office/drawing/2014/main" id="{FA2AE735-09A1-518C-4A72-5DC4B0205483}"/>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Inputs, outputs, layouts and widgets</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8364CC5B-D1C2-C5A3-118A-0E9DC397592C}"/>
              </a:ext>
            </a:extLst>
          </p:cNvPr>
          <p:cNvSpPr/>
          <p:nvPr/>
        </p:nvSpPr>
        <p:spPr>
          <a:xfrm>
            <a:off x="584200" y="1651000"/>
            <a:ext cx="5359248"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BDF1814C-E700-EDB6-C23E-9E3C85291A26}"/>
              </a:ext>
            </a:extLst>
          </p:cNvPr>
          <p:cNvSpPr txBox="1"/>
          <p:nvPr/>
        </p:nvSpPr>
        <p:spPr>
          <a:xfrm>
            <a:off x="863600" y="1879600"/>
            <a:ext cx="4800448" cy="353943"/>
          </a:xfrm>
          <a:prstGeom prst="rect">
            <a:avLst/>
          </a:prstGeom>
          <a:noFill/>
        </p:spPr>
        <p:txBody>
          <a:bodyPr vert="horz" wrap="square" rtlCol="0">
            <a:spAutoFit/>
          </a:bodyPr>
          <a:lstStyle/>
          <a:p>
            <a:r>
              <a:rPr lang="en-IN" sz="1700" b="1">
                <a:solidFill>
                  <a:srgbClr val="1B2340"/>
                </a:solidFill>
                <a:latin typeface="IBM Plex Sans" panose="020B0503050203000203" pitchFamily="34" charset="0"/>
              </a:rPr>
              <a:t>Inputs</a:t>
            </a:r>
          </a:p>
        </p:txBody>
      </p:sp>
      <p:sp>
        <p:nvSpPr>
          <p:cNvPr id="6" name="TextBox 5">
            <a:extLst>
              <a:ext uri="{FF2B5EF4-FFF2-40B4-BE49-F238E27FC236}">
                <a16:creationId xmlns:a16="http://schemas.microsoft.com/office/drawing/2014/main" id="{BDB2D1BA-3F7C-3A35-9806-66715D788329}"/>
              </a:ext>
            </a:extLst>
          </p:cNvPr>
          <p:cNvSpPr txBox="1"/>
          <p:nvPr/>
        </p:nvSpPr>
        <p:spPr>
          <a:xfrm>
            <a:off x="863600" y="2311400"/>
            <a:ext cx="4800448" cy="369332"/>
          </a:xfrm>
          <a:prstGeom prst="rect">
            <a:avLst/>
          </a:prstGeom>
          <a:noFill/>
        </p:spPr>
        <p:txBody>
          <a:bodyPr vert="horz" wrap="square" rtlCol="0">
            <a:noAutofit/>
          </a:bodyPr>
          <a:lstStyle/>
          <a:p>
            <a:pPr marL="342900" indent="-342900">
              <a:buFont typeface="+mj-lt"/>
              <a:buChar char="•"/>
            </a:pPr>
            <a:r>
              <a:rPr lang="en-IN" sz="1500">
                <a:solidFill>
                  <a:srgbClr val="5B6182"/>
                </a:solidFill>
                <a:latin typeface="IBM Plex Sans" panose="020B0503050203000203" pitchFamily="34" charset="0"/>
              </a:rPr>
              <a:t>selectInput, checkboxGroupInput - dropdowns and multi-select
sliderInput - numeric ranges, e.g. minimum AE incidence %
fileInput, dateRangeInput - uploads and date pickers
shinyWidgets::switchInput - a nicer boolean toggle</a:t>
            </a:r>
          </a:p>
        </p:txBody>
      </p:sp>
      <p:sp>
        <p:nvSpPr>
          <p:cNvPr id="7" name="Rectangle: Rounded Corners 6">
            <a:extLst>
              <a:ext uri="{FF2B5EF4-FFF2-40B4-BE49-F238E27FC236}">
                <a16:creationId xmlns:a16="http://schemas.microsoft.com/office/drawing/2014/main" id="{F0AF52F9-A32E-6656-3825-ADAE9A3A6DEE}"/>
              </a:ext>
            </a:extLst>
          </p:cNvPr>
          <p:cNvSpPr/>
          <p:nvPr/>
        </p:nvSpPr>
        <p:spPr>
          <a:xfrm>
            <a:off x="6248248" y="1651000"/>
            <a:ext cx="5359247"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256926B7-E69B-FF60-32C0-034E3EEF2C5B}"/>
              </a:ext>
            </a:extLst>
          </p:cNvPr>
          <p:cNvSpPr txBox="1"/>
          <p:nvPr/>
        </p:nvSpPr>
        <p:spPr>
          <a:xfrm>
            <a:off x="6527647" y="1879600"/>
            <a:ext cx="4800448" cy="353943"/>
          </a:xfrm>
          <a:prstGeom prst="rect">
            <a:avLst/>
          </a:prstGeom>
          <a:noFill/>
        </p:spPr>
        <p:txBody>
          <a:bodyPr vert="horz" wrap="square" rtlCol="0">
            <a:spAutoFit/>
          </a:bodyPr>
          <a:lstStyle/>
          <a:p>
            <a:r>
              <a:rPr lang="en-IN" sz="1700" b="1">
                <a:solidFill>
                  <a:srgbClr val="1B2340"/>
                </a:solidFill>
                <a:latin typeface="IBM Plex Sans" panose="020B0503050203000203" pitchFamily="34" charset="0"/>
              </a:rPr>
              <a:t>Outputs</a:t>
            </a:r>
          </a:p>
        </p:txBody>
      </p:sp>
      <p:sp>
        <p:nvSpPr>
          <p:cNvPr id="9" name="TextBox 8">
            <a:extLst>
              <a:ext uri="{FF2B5EF4-FFF2-40B4-BE49-F238E27FC236}">
                <a16:creationId xmlns:a16="http://schemas.microsoft.com/office/drawing/2014/main" id="{4561784B-71AD-D79F-43CC-C13993DEAF14}"/>
              </a:ext>
            </a:extLst>
          </p:cNvPr>
          <p:cNvSpPr txBox="1"/>
          <p:nvPr/>
        </p:nvSpPr>
        <p:spPr>
          <a:xfrm>
            <a:off x="6527647" y="2311400"/>
            <a:ext cx="4800448" cy="369332"/>
          </a:xfrm>
          <a:prstGeom prst="rect">
            <a:avLst/>
          </a:prstGeom>
          <a:noFill/>
        </p:spPr>
        <p:txBody>
          <a:bodyPr vert="horz" wrap="square" rtlCol="0">
            <a:noAutofit/>
          </a:bodyPr>
          <a:lstStyle/>
          <a:p>
            <a:pPr marL="342900" indent="-342900">
              <a:buFont typeface="+mj-lt"/>
              <a:buChar char="•"/>
            </a:pPr>
            <a:r>
              <a:rPr lang="en-US" sz="1500">
                <a:solidFill>
                  <a:srgbClr val="5B6182"/>
                </a:solidFill>
                <a:latin typeface="IBM Plex Sans" panose="020B0503050203000203" pitchFamily="34" charset="0"/>
              </a:rPr>
              <a:t>tableOutput / gt_output - tables
plotOutput - static ggplot2 figures
textOutput, uiOutput - dynamic text and dynamically generated UI
Every output has a matching render*() call in the server</a:t>
            </a:r>
            <a:endParaRPr lang="en-IN" sz="1500">
              <a:solidFill>
                <a:srgbClr val="5B6182"/>
              </a:solidFill>
              <a:latin typeface="IBM Plex Sans" panose="020B0503050203000203" pitchFamily="34" charset="0"/>
            </a:endParaRPr>
          </a:p>
        </p:txBody>
      </p:sp>
      <p:sp>
        <p:nvSpPr>
          <p:cNvPr id="10" name="TextBox 9">
            <a:extLst>
              <a:ext uri="{FF2B5EF4-FFF2-40B4-BE49-F238E27FC236}">
                <a16:creationId xmlns:a16="http://schemas.microsoft.com/office/drawing/2014/main" id="{059D7874-015C-D13F-1F49-616A18EFC906}"/>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Session 2 Ã‚Â· Setup &amp; Building Blocks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33996495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3C8A8B3-AB8D-90C0-5425-5F12781C7433}"/>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10:55 Ã¢ 11:10 Ã‚Â· MAHESH</a:t>
            </a:r>
          </a:p>
        </p:txBody>
      </p:sp>
      <p:sp>
        <p:nvSpPr>
          <p:cNvPr id="3" name="TextBox 2">
            <a:extLst>
              <a:ext uri="{FF2B5EF4-FFF2-40B4-BE49-F238E27FC236}">
                <a16:creationId xmlns:a16="http://schemas.microsoft.com/office/drawing/2014/main" id="{A4990898-1EEC-ADDB-39F3-A5B230E3A8F1}"/>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Reactivity: the part that feels like magic</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D4AAFDDC-AA9C-5E5E-E951-4F3B8A65978D}"/>
              </a:ext>
            </a:extLst>
          </p:cNvPr>
          <p:cNvSpPr/>
          <p:nvPr/>
        </p:nvSpPr>
        <p:spPr>
          <a:xfrm>
            <a:off x="584200" y="1651000"/>
            <a:ext cx="5359248"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1A7908C8-2142-2079-39E9-73E928422928}"/>
              </a:ext>
            </a:extLst>
          </p:cNvPr>
          <p:cNvSpPr txBox="1"/>
          <p:nvPr/>
        </p:nvSpPr>
        <p:spPr>
          <a:xfrm>
            <a:off x="863600" y="1879600"/>
            <a:ext cx="4800448" cy="353943"/>
          </a:xfrm>
          <a:prstGeom prst="rect">
            <a:avLst/>
          </a:prstGeom>
          <a:noFill/>
        </p:spPr>
        <p:txBody>
          <a:bodyPr vert="horz" wrap="square" rtlCol="0">
            <a:spAutoFit/>
          </a:bodyPr>
          <a:lstStyle/>
          <a:p>
            <a:r>
              <a:rPr lang="en-IN" sz="1700" b="1">
                <a:solidFill>
                  <a:srgbClr val="1B2340"/>
                </a:solidFill>
                <a:latin typeface="IBM Plex Sans" panose="020B0503050203000203" pitchFamily="34" charset="0"/>
              </a:rPr>
              <a:t>reactive()</a:t>
            </a:r>
          </a:p>
        </p:txBody>
      </p:sp>
      <p:sp>
        <p:nvSpPr>
          <p:cNvPr id="6" name="TextBox 5">
            <a:extLst>
              <a:ext uri="{FF2B5EF4-FFF2-40B4-BE49-F238E27FC236}">
                <a16:creationId xmlns:a16="http://schemas.microsoft.com/office/drawing/2014/main" id="{9B6052CB-0DF8-7102-84A4-18750DD9055D}"/>
              </a:ext>
            </a:extLst>
          </p:cNvPr>
          <p:cNvSpPr txBox="1"/>
          <p:nvPr/>
        </p:nvSpPr>
        <p:spPr>
          <a:xfrm>
            <a:off x="863600" y="2311400"/>
            <a:ext cx="4800448" cy="369332"/>
          </a:xfrm>
          <a:prstGeom prst="rect">
            <a:avLst/>
          </a:prstGeom>
          <a:noFill/>
        </p:spPr>
        <p:txBody>
          <a:bodyPr vert="horz" wrap="square" rtlCol="0">
            <a:noAutofit/>
          </a:bodyPr>
          <a:lstStyle/>
          <a:p>
            <a:pPr marL="342900" indent="-342900">
              <a:buFont typeface="+mj-lt"/>
              <a:buChar char="•"/>
            </a:pPr>
            <a:r>
              <a:rPr lang="en-US" sz="1500">
                <a:solidFill>
                  <a:srgbClr val="5B6182"/>
                </a:solidFill>
                <a:latin typeface="IBM Plex Sans" panose="020B0503050203000203" pitchFamily="34" charset="0"/>
              </a:rPr>
              <a:t>Wraps a computation that depends on inputs and caches its result
Only re-runs when one of its dependencies actually changes
Called like a function: table_data(), not referenced like a variable</a:t>
            </a:r>
            <a:endParaRPr lang="en-IN" sz="1500">
              <a:solidFill>
                <a:srgbClr val="5B6182"/>
              </a:solidFill>
              <a:latin typeface="IBM Plex Sans" panose="020B0503050203000203" pitchFamily="34" charset="0"/>
            </a:endParaRPr>
          </a:p>
        </p:txBody>
      </p:sp>
      <p:sp>
        <p:nvSpPr>
          <p:cNvPr id="7" name="Rectangle: Rounded Corners 6">
            <a:extLst>
              <a:ext uri="{FF2B5EF4-FFF2-40B4-BE49-F238E27FC236}">
                <a16:creationId xmlns:a16="http://schemas.microsoft.com/office/drawing/2014/main" id="{ECCA8037-C0CC-EB66-A55F-B754C7F1C701}"/>
              </a:ext>
            </a:extLst>
          </p:cNvPr>
          <p:cNvSpPr/>
          <p:nvPr/>
        </p:nvSpPr>
        <p:spPr>
          <a:xfrm>
            <a:off x="6248248" y="1651000"/>
            <a:ext cx="5359247"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FC25EE58-3C53-2D77-C9F1-5A1852A8691C}"/>
              </a:ext>
            </a:extLst>
          </p:cNvPr>
          <p:cNvSpPr txBox="1"/>
          <p:nvPr/>
        </p:nvSpPr>
        <p:spPr>
          <a:xfrm>
            <a:off x="6527647" y="1879600"/>
            <a:ext cx="4800448" cy="353943"/>
          </a:xfrm>
          <a:prstGeom prst="rect">
            <a:avLst/>
          </a:prstGeom>
          <a:noFill/>
        </p:spPr>
        <p:txBody>
          <a:bodyPr vert="horz" wrap="square" rtlCol="0">
            <a:spAutoFit/>
          </a:bodyPr>
          <a:lstStyle/>
          <a:p>
            <a:r>
              <a:rPr lang="en-IN" sz="1700" b="1">
                <a:solidFill>
                  <a:srgbClr val="1B2340"/>
                </a:solidFill>
                <a:latin typeface="IBM Plex Sans" panose="020B0503050203000203" pitchFamily="34" charset="0"/>
              </a:rPr>
              <a:t>observe() / observeEvent()</a:t>
            </a:r>
          </a:p>
        </p:txBody>
      </p:sp>
      <p:sp>
        <p:nvSpPr>
          <p:cNvPr id="9" name="TextBox 8">
            <a:extLst>
              <a:ext uri="{FF2B5EF4-FFF2-40B4-BE49-F238E27FC236}">
                <a16:creationId xmlns:a16="http://schemas.microsoft.com/office/drawing/2014/main" id="{4E852D58-FF2E-FA51-AF8C-AC7379B0ED19}"/>
              </a:ext>
            </a:extLst>
          </p:cNvPr>
          <p:cNvSpPr txBox="1"/>
          <p:nvPr/>
        </p:nvSpPr>
        <p:spPr>
          <a:xfrm>
            <a:off x="6527647" y="2311400"/>
            <a:ext cx="4800448" cy="369332"/>
          </a:xfrm>
          <a:prstGeom prst="rect">
            <a:avLst/>
          </a:prstGeom>
          <a:noFill/>
        </p:spPr>
        <p:txBody>
          <a:bodyPr vert="horz" wrap="square" rtlCol="0">
            <a:noAutofit/>
          </a:bodyPr>
          <a:lstStyle/>
          <a:p>
            <a:pPr marL="342900" indent="-342900">
              <a:buFont typeface="+mj-lt"/>
              <a:buChar char="•"/>
            </a:pPr>
            <a:r>
              <a:rPr lang="en-US" sz="1500">
                <a:solidFill>
                  <a:srgbClr val="5B6182"/>
                </a:solidFill>
                <a:latin typeface="IBM Plex Sans" panose="020B0503050203000203" pitchFamily="34" charset="0"/>
              </a:rPr>
              <a:t>Runs code for a side effect - not for its return value
Used for things like showing a notification or updating another input
req() pauses reactive execution silently until a condition is met</a:t>
            </a:r>
            <a:endParaRPr lang="en-IN" sz="1500">
              <a:solidFill>
                <a:srgbClr val="5B6182"/>
              </a:solidFill>
              <a:latin typeface="IBM Plex Sans" panose="020B0503050203000203" pitchFamily="34" charset="0"/>
            </a:endParaRPr>
          </a:p>
        </p:txBody>
      </p:sp>
      <p:sp>
        <p:nvSpPr>
          <p:cNvPr id="10" name="TextBox 9">
            <a:extLst>
              <a:ext uri="{FF2B5EF4-FFF2-40B4-BE49-F238E27FC236}">
                <a16:creationId xmlns:a16="http://schemas.microsoft.com/office/drawing/2014/main" id="{062120AE-795E-8E16-0A9F-A210ADA4C42C}"/>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Session 2 Ã‚Â· Setup &amp; Building Blocks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13452538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46B2A8D-F7C7-80A6-9660-F7486F2EED68}"/>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11:10 Ã¢ 11:15 Ã‚Â· VENKATESH</a:t>
            </a:r>
          </a:p>
        </p:txBody>
      </p:sp>
      <p:sp>
        <p:nvSpPr>
          <p:cNvPr id="3" name="TextBox 2">
            <a:extLst>
              <a:ext uri="{FF2B5EF4-FFF2-40B4-BE49-F238E27FC236}">
                <a16:creationId xmlns:a16="http://schemas.microsoft.com/office/drawing/2014/main" id="{EC0B80A6-483C-6E3C-BC35-ADF1B93D5BC3}"/>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Building blocks for clinical trial dashboard workflows</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7E935E97-D005-8376-7770-1082A4A4FD41}"/>
              </a:ext>
            </a:extLst>
          </p:cNvPr>
          <p:cNvSpPr/>
          <p:nvPr/>
        </p:nvSpPr>
        <p:spPr>
          <a:xfrm>
            <a:off x="584200" y="1651000"/>
            <a:ext cx="11023295"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68BF449E-26C8-C42D-CDBF-C30AC4BD5828}"/>
              </a:ext>
            </a:extLst>
          </p:cNvPr>
          <p:cNvSpPr txBox="1"/>
          <p:nvPr/>
        </p:nvSpPr>
        <p:spPr>
          <a:xfrm>
            <a:off x="889000" y="1930400"/>
            <a:ext cx="10413695" cy="369332"/>
          </a:xfrm>
          <a:prstGeom prst="rect">
            <a:avLst/>
          </a:prstGeom>
          <a:noFill/>
        </p:spPr>
        <p:txBody>
          <a:bodyPr vert="horz" wrap="square" rtlCol="0">
            <a:noAutofit/>
          </a:bodyPr>
          <a:lstStyle/>
          <a:p>
            <a:pPr marL="342900" indent="-342900">
              <a:buFont typeface="+mj-lt"/>
              <a:buChar char="•"/>
            </a:pPr>
            <a:r>
              <a:rPr lang="en-US" sz="1600">
                <a:solidFill>
                  <a:srgbClr val="5B6182"/>
                </a:solidFill>
                <a:latin typeface="IBM Plex Sans" panose="020B0503050203000203" pitchFamily="34" charset="0"/>
              </a:rPr>
              <a:t>`
 Data loading modules - one reactive that resolves either built-in or uploaded ADaM data behind a single interface
 Reusable coding practices - shared filter/format helpers so every table and figure treats population flags and treatment arms identically
 R Shiny architecture (UI, Server, reactive logic) - keep each layer's responsibility narrow: UI never computes, Server never lays out
`</a:t>
            </a:r>
            <a:endParaRPr lang="en-IN" sz="1600">
              <a:solidFill>
                <a:srgbClr val="5B6182"/>
              </a:solidFill>
              <a:latin typeface="IBM Plex Sans" panose="020B0503050203000203" pitchFamily="34" charset="0"/>
            </a:endParaRPr>
          </a:p>
        </p:txBody>
      </p:sp>
      <p:sp>
        <p:nvSpPr>
          <p:cNvPr id="6" name="TextBox 5">
            <a:extLst>
              <a:ext uri="{FF2B5EF4-FFF2-40B4-BE49-F238E27FC236}">
                <a16:creationId xmlns:a16="http://schemas.microsoft.com/office/drawing/2014/main" id="{583873C5-0D23-F914-9EAA-30EB0FE7BC68}"/>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Session 2 Ã‚Â· Setup &amp; Building Blocks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28434923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6574F2E-8137-0FF1-9B24-B215409B7C80}"/>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11:15 Ã¢ 11:20 Ã‚Â· VENKATESH</a:t>
            </a:r>
          </a:p>
        </p:txBody>
      </p:sp>
      <p:sp>
        <p:nvSpPr>
          <p:cNvPr id="3" name="TextBox 2">
            <a:extLst>
              <a:ext uri="{FF2B5EF4-FFF2-40B4-BE49-F238E27FC236}">
                <a16:creationId xmlns:a16="http://schemas.microsoft.com/office/drawing/2014/main" id="{DA199403-8F47-1BE1-C7E9-400E0F745CAC}"/>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Interactivity in graphs in clinical trials</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21A18B3A-D093-7B17-3B54-A7B9309247DB}"/>
              </a:ext>
            </a:extLst>
          </p:cNvPr>
          <p:cNvSpPr/>
          <p:nvPr/>
        </p:nvSpPr>
        <p:spPr>
          <a:xfrm>
            <a:off x="584200" y="1651000"/>
            <a:ext cx="11023295"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9F976940-8001-953B-1896-503C04A0C044}"/>
              </a:ext>
            </a:extLst>
          </p:cNvPr>
          <p:cNvSpPr txBox="1"/>
          <p:nvPr/>
        </p:nvSpPr>
        <p:spPr>
          <a:xfrm>
            <a:off x="889000" y="1930400"/>
            <a:ext cx="10413695" cy="369332"/>
          </a:xfrm>
          <a:prstGeom prst="rect">
            <a:avLst/>
          </a:prstGeom>
          <a:noFill/>
        </p:spPr>
        <p:txBody>
          <a:bodyPr vert="horz" wrap="square" rtlCol="0">
            <a:noAutofit/>
          </a:bodyPr>
          <a:lstStyle/>
          <a:p>
            <a:pPr marL="342900" indent="-342900">
              <a:buFont typeface="+mj-lt"/>
              <a:buChar char="•"/>
            </a:pPr>
            <a:r>
              <a:rPr lang="en-US" sz="1600">
                <a:solidFill>
                  <a:srgbClr val="5B6182"/>
                </a:solidFill>
                <a:latin typeface="IBM Plex Sans" panose="020B0503050203000203" pitchFamily="34" charset="0"/>
              </a:rPr>
              <a:t>`
 Dynamic, linked, and drill-down visual interactivity for clinical review - from the external source developed by VK.
 Dynamic - a chart redraws immediately as filters change, no page reloadLinked - selecting a bar or point in one view filters another view on screenDrill-down - clicking a SOC-level bar reveals its underlying PT-level detail
`</a:t>
            </a:r>
            <a:endParaRPr lang="en-IN" sz="1600">
              <a:solidFill>
                <a:srgbClr val="5B6182"/>
              </a:solidFill>
              <a:latin typeface="IBM Plex Sans" panose="020B0503050203000203" pitchFamily="34" charset="0"/>
            </a:endParaRPr>
          </a:p>
        </p:txBody>
      </p:sp>
      <p:sp>
        <p:nvSpPr>
          <p:cNvPr id="6" name="TextBox 5">
            <a:extLst>
              <a:ext uri="{FF2B5EF4-FFF2-40B4-BE49-F238E27FC236}">
                <a16:creationId xmlns:a16="http://schemas.microsoft.com/office/drawing/2014/main" id="{0B0FAA1C-22E5-5A12-062F-4888E25778EF}"/>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Session 2 Ã‚Â· Setup &amp; Building Blocks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37498580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FDF331-F6A9-B96E-D428-AC17ACE636DA}"/>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REFERENCE Ã‚Â· REACTIVE VOCABULARY</a:t>
            </a:r>
          </a:p>
        </p:txBody>
      </p:sp>
      <p:sp>
        <p:nvSpPr>
          <p:cNvPr id="3" name="TextBox 2">
            <a:extLst>
              <a:ext uri="{FF2B5EF4-FFF2-40B4-BE49-F238E27FC236}">
                <a16:creationId xmlns:a16="http://schemas.microsoft.com/office/drawing/2014/main" id="{05FA134D-1484-3C7A-865A-CE27F42268DC}"/>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req() Ã¢ the quiet guard used everywhere</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D2C5AF29-A323-4101-33ED-E7E15FE97DAA}"/>
              </a:ext>
            </a:extLst>
          </p:cNvPr>
          <p:cNvSpPr/>
          <p:nvPr/>
        </p:nvSpPr>
        <p:spPr>
          <a:xfrm>
            <a:off x="584200" y="1651000"/>
            <a:ext cx="11023295"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366C2CED-CBE6-FA39-4DB6-EAB51AFBDB90}"/>
              </a:ext>
            </a:extLst>
          </p:cNvPr>
          <p:cNvSpPr txBox="1"/>
          <p:nvPr/>
        </p:nvSpPr>
        <p:spPr>
          <a:xfrm>
            <a:off x="889000" y="1930400"/>
            <a:ext cx="10413695" cy="369332"/>
          </a:xfrm>
          <a:prstGeom prst="rect">
            <a:avLst/>
          </a:prstGeom>
          <a:noFill/>
        </p:spPr>
        <p:txBody>
          <a:bodyPr vert="horz" wrap="square" rtlCol="0">
            <a:noAutofit/>
          </a:bodyPr>
          <a:lstStyle/>
          <a:p>
            <a:pPr marL="342900" indent="-342900">
              <a:buFont typeface="+mj-lt"/>
              <a:buChar char="•"/>
            </a:pPr>
            <a:r>
              <a:rPr lang="en-US" sz="1600">
                <a:solidFill>
                  <a:srgbClr val="5B6182"/>
                </a:solidFill>
                <a:latin typeface="IBM Plex Sans" panose="020B0503050203000203" pitchFamily="34" charset="0"/>
              </a:rPr>
              <a:t>`
 req(x) stops a reactive expression silently if x is missing, empty, or FALSE no error banner, the output simply doesn't render yet. It's how table_data() waits for treatment arms to be selected before attempting to build anything, and how datasets() waits for a file upload without crashing on NULL.
`</a:t>
            </a:r>
            <a:endParaRPr lang="en-IN" sz="1600">
              <a:solidFill>
                <a:srgbClr val="5B6182"/>
              </a:solidFill>
              <a:latin typeface="IBM Plex Sans" panose="020B0503050203000203" pitchFamily="34" charset="0"/>
            </a:endParaRPr>
          </a:p>
        </p:txBody>
      </p:sp>
      <p:sp>
        <p:nvSpPr>
          <p:cNvPr id="6" name="TextBox 5">
            <a:extLst>
              <a:ext uri="{FF2B5EF4-FFF2-40B4-BE49-F238E27FC236}">
                <a16:creationId xmlns:a16="http://schemas.microsoft.com/office/drawing/2014/main" id="{14FB5614-B3D0-B20D-1A32-919210A380B5}"/>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Session 2 Ã‚Â· Shiny Vocabulary</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29680991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C15187-811C-360B-D610-036E6C7BE322}"/>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REFERENCE Ã‚Â· REACTIVE VOCABULARY</a:t>
            </a:r>
          </a:p>
        </p:txBody>
      </p:sp>
      <p:sp>
        <p:nvSpPr>
          <p:cNvPr id="3" name="TextBox 2">
            <a:extLst>
              <a:ext uri="{FF2B5EF4-FFF2-40B4-BE49-F238E27FC236}">
                <a16:creationId xmlns:a16="http://schemas.microsoft.com/office/drawing/2014/main" id="{68DBDB84-E328-6C9D-3CDF-CA72D88CC3A3}"/>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isolate() Ã¢ reading a reactive without depending on it</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9605E086-8418-FE06-4582-C9D92D3322E0}"/>
              </a:ext>
            </a:extLst>
          </p:cNvPr>
          <p:cNvSpPr/>
          <p:nvPr/>
        </p:nvSpPr>
        <p:spPr>
          <a:xfrm>
            <a:off x="584200" y="1651000"/>
            <a:ext cx="11023295"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F09F707B-9655-6146-0E02-431F8728F9F7}"/>
              </a:ext>
            </a:extLst>
          </p:cNvPr>
          <p:cNvSpPr txBox="1"/>
          <p:nvPr/>
        </p:nvSpPr>
        <p:spPr>
          <a:xfrm>
            <a:off x="889000" y="1930400"/>
            <a:ext cx="10413695" cy="369332"/>
          </a:xfrm>
          <a:prstGeom prst="rect">
            <a:avLst/>
          </a:prstGeom>
          <a:noFill/>
        </p:spPr>
        <p:txBody>
          <a:bodyPr vert="horz" wrap="square" rtlCol="0">
            <a:noAutofit/>
          </a:bodyPr>
          <a:lstStyle/>
          <a:p>
            <a:pPr marL="342900" indent="-342900">
              <a:buFont typeface="+mj-lt"/>
              <a:buChar char="•"/>
            </a:pPr>
            <a:r>
              <a:rPr lang="en-US" sz="1600">
                <a:solidFill>
                  <a:srgbClr val="5B6182"/>
                </a:solidFill>
                <a:latin typeface="IBM Plex Sans" panose="020B0503050203000203" pitchFamily="34" charset="0"/>
              </a:rPr>
              <a:t>`
 isolate(x()) reads a reactive's current value without creating a dependency on it useful inside an observeEvent() when you want a button click to trigger the update, not every keystroke in an accompanying text field. Not used directly in today's app, but essential once a chat-style interface (Session 5) needs to read the current filter state only at send-time.
`</a:t>
            </a:r>
            <a:endParaRPr lang="en-IN" sz="1600">
              <a:solidFill>
                <a:srgbClr val="5B6182"/>
              </a:solidFill>
              <a:latin typeface="IBM Plex Sans" panose="020B0503050203000203" pitchFamily="34" charset="0"/>
            </a:endParaRPr>
          </a:p>
        </p:txBody>
      </p:sp>
      <p:sp>
        <p:nvSpPr>
          <p:cNvPr id="6" name="TextBox 5">
            <a:extLst>
              <a:ext uri="{FF2B5EF4-FFF2-40B4-BE49-F238E27FC236}">
                <a16:creationId xmlns:a16="http://schemas.microsoft.com/office/drawing/2014/main" id="{7A8D2CA9-8DB3-C55E-D382-2DD1A70B8464}"/>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Session 2 Ã‚Â· Shiny Vocabulary</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34191329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109DBB-E6D7-399D-2758-8D2623D76447}"/>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REFERENCE Ã‚Â· REACTIVE VOCABULARY</a:t>
            </a:r>
          </a:p>
        </p:txBody>
      </p:sp>
      <p:sp>
        <p:nvSpPr>
          <p:cNvPr id="3" name="TextBox 2">
            <a:extLst>
              <a:ext uri="{FF2B5EF4-FFF2-40B4-BE49-F238E27FC236}">
                <a16:creationId xmlns:a16="http://schemas.microsoft.com/office/drawing/2014/main" id="{53F1DF68-FA6C-25C1-E5FC-7D073605185C}"/>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observeEvent() vs. reactive() Ã¢ side effect vs. value</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AD30FA48-93FB-FC37-D74B-045CE1C17C83}"/>
              </a:ext>
            </a:extLst>
          </p:cNvPr>
          <p:cNvSpPr/>
          <p:nvPr/>
        </p:nvSpPr>
        <p:spPr>
          <a:xfrm>
            <a:off x="584200" y="1651000"/>
            <a:ext cx="11023295"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99730057-CEA6-D711-34C2-4F95B3E5C58B}"/>
              </a:ext>
            </a:extLst>
          </p:cNvPr>
          <p:cNvSpPr txBox="1"/>
          <p:nvPr/>
        </p:nvSpPr>
        <p:spPr>
          <a:xfrm>
            <a:off x="889000" y="1930400"/>
            <a:ext cx="10413695" cy="369332"/>
          </a:xfrm>
          <a:prstGeom prst="rect">
            <a:avLst/>
          </a:prstGeom>
          <a:noFill/>
        </p:spPr>
        <p:txBody>
          <a:bodyPr vert="horz" wrap="square" rtlCol="0">
            <a:noAutofit/>
          </a:bodyPr>
          <a:lstStyle/>
          <a:p>
            <a:pPr marL="342900" indent="-342900">
              <a:buFont typeface="+mj-lt"/>
              <a:buChar char="•"/>
            </a:pPr>
            <a:r>
              <a:rPr lang="en-US" sz="1600">
                <a:solidFill>
                  <a:srgbClr val="5B6182"/>
                </a:solidFill>
                <a:latin typeface="IBM Plex Sans" panose="020B0503050203000203" pitchFamily="34" charset="0"/>
              </a:rPr>
              <a:t>`
 A reactive() is called like a function and returns a value table_data() is read by multiple outputs. An observeEvent() runs for its side effect and returns nothing meaningful used for things like showNotification() or writing to a log. Mixing the two up is the most common source of confusing bugs for teams new to Shiny.
`</a:t>
            </a:r>
            <a:endParaRPr lang="en-IN" sz="1600">
              <a:solidFill>
                <a:srgbClr val="5B6182"/>
              </a:solidFill>
              <a:latin typeface="IBM Plex Sans" panose="020B0503050203000203" pitchFamily="34" charset="0"/>
            </a:endParaRPr>
          </a:p>
        </p:txBody>
      </p:sp>
      <p:sp>
        <p:nvSpPr>
          <p:cNvPr id="6" name="TextBox 5">
            <a:extLst>
              <a:ext uri="{FF2B5EF4-FFF2-40B4-BE49-F238E27FC236}">
                <a16:creationId xmlns:a16="http://schemas.microsoft.com/office/drawing/2014/main" id="{0CC11F3A-8681-A53F-2387-4D4D186EEB27}"/>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Session 2 Ã‚Â· Shiny Vocabulary</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22942009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F158CB-F486-93B3-72FD-E02C3C7327D7}"/>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REFERENCE Ã‚Â· REACTIVE VOCABULARY</a:t>
            </a:r>
          </a:p>
        </p:txBody>
      </p:sp>
      <p:sp>
        <p:nvSpPr>
          <p:cNvPr id="3" name="TextBox 2">
            <a:extLst>
              <a:ext uri="{FF2B5EF4-FFF2-40B4-BE49-F238E27FC236}">
                <a16:creationId xmlns:a16="http://schemas.microsoft.com/office/drawing/2014/main" id="{B7F4519E-3138-F3D1-B429-28BE762AEC7E}"/>
              </a:ext>
            </a:extLst>
          </p:cNvPr>
          <p:cNvSpPr txBox="1"/>
          <p:nvPr/>
        </p:nvSpPr>
        <p:spPr>
          <a:xfrm>
            <a:off x="584200" y="609600"/>
            <a:ext cx="14605000" cy="492443"/>
          </a:xfrm>
          <a:prstGeom prst="rect">
            <a:avLst/>
          </a:prstGeom>
          <a:noFill/>
        </p:spPr>
        <p:txBody>
          <a:bodyPr vert="horz" wrap="square" rtlCol="0">
            <a:spAutoFit/>
          </a:bodyPr>
          <a:lstStyle/>
          <a:p>
            <a:r>
              <a:rPr lang="en-IN" sz="2600" b="1">
                <a:solidFill>
                  <a:srgbClr val="1B2340"/>
                </a:solidFill>
                <a:latin typeface="IBM Plex Sans" panose="020B0503050203000203" pitchFamily="34" charset="0"/>
              </a:rPr>
              <a:t>renderUI() / uiOutput() Ã¢ server-generated UI</a:t>
            </a:r>
          </a:p>
        </p:txBody>
      </p:sp>
      <p:sp>
        <p:nvSpPr>
          <p:cNvPr id="4" name="Rectangle: Rounded Corners 3">
            <a:extLst>
              <a:ext uri="{FF2B5EF4-FFF2-40B4-BE49-F238E27FC236}">
                <a16:creationId xmlns:a16="http://schemas.microsoft.com/office/drawing/2014/main" id="{D8665FBC-4446-4620-D482-A16AFBCC12B0}"/>
              </a:ext>
            </a:extLst>
          </p:cNvPr>
          <p:cNvSpPr/>
          <p:nvPr/>
        </p:nvSpPr>
        <p:spPr>
          <a:xfrm>
            <a:off x="584200" y="1651000"/>
            <a:ext cx="11023295"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A19565C6-29F6-91CF-4DF0-4FE26F38F42F}"/>
              </a:ext>
            </a:extLst>
          </p:cNvPr>
          <p:cNvSpPr txBox="1"/>
          <p:nvPr/>
        </p:nvSpPr>
        <p:spPr>
          <a:xfrm>
            <a:off x="889000" y="1930400"/>
            <a:ext cx="10413695" cy="369332"/>
          </a:xfrm>
          <a:prstGeom prst="rect">
            <a:avLst/>
          </a:prstGeom>
          <a:noFill/>
        </p:spPr>
        <p:txBody>
          <a:bodyPr vert="horz" wrap="square" rtlCol="0">
            <a:noAutofit/>
          </a:bodyPr>
          <a:lstStyle/>
          <a:p>
            <a:pPr marL="342900" indent="-342900">
              <a:buFont typeface="+mj-lt"/>
              <a:buChar char="•"/>
            </a:pPr>
            <a:r>
              <a:rPr lang="en-US" sz="1600">
                <a:solidFill>
                  <a:srgbClr val="5B6182"/>
                </a:solidFill>
                <a:latin typeface="IBM Plex Sans" panose="020B0503050203000203" pitchFamily="34" charset="0"/>
              </a:rPr>
              <a:t>`
 Some UI can't be written once in the UI function because its choices depend on data that isn't known until runtime which population flags exist, which treatment arms are present. uiOutput("tbl_pop_flag_ui") in the UI pairs with renderUI({...}) in the server to generate that control dynamically, every time the underlying dataset changes.
`</a:t>
            </a:r>
            <a:endParaRPr lang="en-IN" sz="1600">
              <a:solidFill>
                <a:srgbClr val="5B6182"/>
              </a:solidFill>
              <a:latin typeface="IBM Plex Sans" panose="020B0503050203000203" pitchFamily="34" charset="0"/>
            </a:endParaRPr>
          </a:p>
        </p:txBody>
      </p:sp>
      <p:sp>
        <p:nvSpPr>
          <p:cNvPr id="6" name="TextBox 5">
            <a:extLst>
              <a:ext uri="{FF2B5EF4-FFF2-40B4-BE49-F238E27FC236}">
                <a16:creationId xmlns:a16="http://schemas.microsoft.com/office/drawing/2014/main" id="{611747C3-AFDE-818A-E654-E70CB14D028B}"/>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Session 2 Ã‚Â· Shiny Vocabulary</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8598837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4439C6-DB70-DF5F-268C-723782DEECC6}"/>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REFERENCE Ã‚Â· REACTIVE VOCABULARY</a:t>
            </a:r>
          </a:p>
        </p:txBody>
      </p:sp>
      <p:sp>
        <p:nvSpPr>
          <p:cNvPr id="3" name="TextBox 2">
            <a:extLst>
              <a:ext uri="{FF2B5EF4-FFF2-40B4-BE49-F238E27FC236}">
                <a16:creationId xmlns:a16="http://schemas.microsoft.com/office/drawing/2014/main" id="{130DBCA9-918A-96E9-031B-62D7FFFACDD3}"/>
              </a:ext>
            </a:extLst>
          </p:cNvPr>
          <p:cNvSpPr txBox="1"/>
          <p:nvPr/>
        </p:nvSpPr>
        <p:spPr>
          <a:xfrm>
            <a:off x="584200" y="609600"/>
            <a:ext cx="14605000" cy="492443"/>
          </a:xfrm>
          <a:prstGeom prst="rect">
            <a:avLst/>
          </a:prstGeom>
          <a:noFill/>
        </p:spPr>
        <p:txBody>
          <a:bodyPr vert="horz" wrap="square" rtlCol="0">
            <a:spAutoFit/>
          </a:bodyPr>
          <a:lstStyle/>
          <a:p>
            <a:r>
              <a:rPr lang="en-IN" sz="2600" b="1">
                <a:solidFill>
                  <a:srgbClr val="1B2340"/>
                </a:solidFill>
                <a:latin typeface="IBM Plex Sans" panose="020B0503050203000203" pitchFamily="34" charset="0"/>
              </a:rPr>
              <a:t>The %||% null-coalescing operator</a:t>
            </a:r>
          </a:p>
        </p:txBody>
      </p:sp>
      <p:sp>
        <p:nvSpPr>
          <p:cNvPr id="4" name="Rectangle: Rounded Corners 3">
            <a:extLst>
              <a:ext uri="{FF2B5EF4-FFF2-40B4-BE49-F238E27FC236}">
                <a16:creationId xmlns:a16="http://schemas.microsoft.com/office/drawing/2014/main" id="{0FF3D4FD-3995-6A75-E858-15763E3E4033}"/>
              </a:ext>
            </a:extLst>
          </p:cNvPr>
          <p:cNvSpPr/>
          <p:nvPr/>
        </p:nvSpPr>
        <p:spPr>
          <a:xfrm>
            <a:off x="584200" y="1651000"/>
            <a:ext cx="11023295"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B9CB71E3-2106-E0CB-DB61-D90BD7FB41E9}"/>
              </a:ext>
            </a:extLst>
          </p:cNvPr>
          <p:cNvSpPr txBox="1"/>
          <p:nvPr/>
        </p:nvSpPr>
        <p:spPr>
          <a:xfrm>
            <a:off x="889000" y="1930400"/>
            <a:ext cx="10413695" cy="369332"/>
          </a:xfrm>
          <a:prstGeom prst="rect">
            <a:avLst/>
          </a:prstGeom>
          <a:noFill/>
        </p:spPr>
        <p:txBody>
          <a:bodyPr vert="horz" wrap="square" rtlCol="0">
            <a:noAutofit/>
          </a:bodyPr>
          <a:lstStyle/>
          <a:p>
            <a:pPr marL="342900" indent="-342900">
              <a:buFont typeface="+mj-lt"/>
              <a:buChar char="•"/>
            </a:pPr>
            <a:r>
              <a:rPr lang="en-US" sz="1600">
                <a:solidFill>
                  <a:srgbClr val="5B6182"/>
                </a:solidFill>
                <a:latin typeface="IBM Plex Sans" panose="020B0503050203000203" pitchFamily="34" charset="0"/>
              </a:rPr>
              <a:t>`
 a %||% b returns a if it isn't NULL, otherwise b. Defined at the bottom of app.R and used in table_data() as input$min_pct %||% 0 a one-line defensive default for a control that hasn't rendered on the very first page load yet.
`</a:t>
            </a:r>
            <a:endParaRPr lang="en-IN" sz="1600">
              <a:solidFill>
                <a:srgbClr val="5B6182"/>
              </a:solidFill>
              <a:latin typeface="IBM Plex Sans" panose="020B0503050203000203" pitchFamily="34" charset="0"/>
            </a:endParaRPr>
          </a:p>
        </p:txBody>
      </p:sp>
      <p:sp>
        <p:nvSpPr>
          <p:cNvPr id="6" name="TextBox 5">
            <a:extLst>
              <a:ext uri="{FF2B5EF4-FFF2-40B4-BE49-F238E27FC236}">
                <a16:creationId xmlns:a16="http://schemas.microsoft.com/office/drawing/2014/main" id="{05954419-CF0F-F97E-9C8E-DC5208CF42EF}"/>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Session 2 Ã‚Â· Shiny Vocabulary</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41225199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2C3E7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5BBF81-B380-3D80-9B58-FA0526130171}"/>
              </a:ext>
            </a:extLst>
          </p:cNvPr>
          <p:cNvSpPr txBox="1"/>
          <p:nvPr/>
        </p:nvSpPr>
        <p:spPr>
          <a:xfrm>
            <a:off x="8889695" y="254000"/>
            <a:ext cx="2794000" cy="1938992"/>
          </a:xfrm>
          <a:prstGeom prst="rect">
            <a:avLst/>
          </a:prstGeom>
          <a:noFill/>
        </p:spPr>
        <p:txBody>
          <a:bodyPr vert="horz" wrap="square" rtlCol="0">
            <a:spAutoFit/>
          </a:bodyPr>
          <a:lstStyle/>
          <a:p>
            <a:pPr algn="ctr"/>
            <a:r>
              <a:rPr lang="en-IN" sz="12000" b="1">
                <a:solidFill>
                  <a:srgbClr val="5A69AA"/>
                </a:solidFill>
                <a:latin typeface="IBM Plex Sans" panose="020B0503050203000203" pitchFamily="34" charset="0"/>
              </a:rPr>
              <a:t>03</a:t>
            </a:r>
          </a:p>
        </p:txBody>
      </p:sp>
      <p:sp>
        <p:nvSpPr>
          <p:cNvPr id="3" name="TextBox 2">
            <a:extLst>
              <a:ext uri="{FF2B5EF4-FFF2-40B4-BE49-F238E27FC236}">
                <a16:creationId xmlns:a16="http://schemas.microsoft.com/office/drawing/2014/main" id="{32A61A83-BDB8-2A56-C1CE-2D3492D2AF83}"/>
              </a:ext>
            </a:extLst>
          </p:cNvPr>
          <p:cNvSpPr txBox="1"/>
          <p:nvPr/>
        </p:nvSpPr>
        <p:spPr>
          <a:xfrm>
            <a:off x="584200" y="762000"/>
            <a:ext cx="6350000" cy="292388"/>
          </a:xfrm>
          <a:prstGeom prst="rect">
            <a:avLst/>
          </a:prstGeom>
          <a:noFill/>
        </p:spPr>
        <p:txBody>
          <a:bodyPr vert="horz" wrap="square" rtlCol="0">
            <a:spAutoFit/>
          </a:bodyPr>
          <a:lstStyle/>
          <a:p>
            <a:r>
              <a:rPr lang="en-US" sz="1300" b="1">
                <a:solidFill>
                  <a:srgbClr val="D6EEEC"/>
                </a:solidFill>
                <a:latin typeface="IBM Plex Sans" panose="020B0503050203000203" pitchFamily="34" charset="0"/>
              </a:rPr>
              <a:t>SESSION 3 Ã‚Â· MINI-SHINY WALKTHROUGH</a:t>
            </a:r>
            <a:endParaRPr lang="en-IN" sz="1300" b="1">
              <a:solidFill>
                <a:srgbClr val="D6EEEC"/>
              </a:solidFill>
              <a:latin typeface="IBM Plex Sans" panose="020B0503050203000203" pitchFamily="34" charset="0"/>
            </a:endParaRPr>
          </a:p>
        </p:txBody>
      </p:sp>
      <p:sp>
        <p:nvSpPr>
          <p:cNvPr id="4" name="TextBox 3">
            <a:extLst>
              <a:ext uri="{FF2B5EF4-FFF2-40B4-BE49-F238E27FC236}">
                <a16:creationId xmlns:a16="http://schemas.microsoft.com/office/drawing/2014/main" id="{77CD2095-D397-0D39-5402-6D180A929D8C}"/>
              </a:ext>
            </a:extLst>
          </p:cNvPr>
          <p:cNvSpPr txBox="1"/>
          <p:nvPr/>
        </p:nvSpPr>
        <p:spPr>
          <a:xfrm>
            <a:off x="584200" y="1397000"/>
            <a:ext cx="12065000" cy="615553"/>
          </a:xfrm>
          <a:prstGeom prst="rect">
            <a:avLst/>
          </a:prstGeom>
          <a:noFill/>
        </p:spPr>
        <p:txBody>
          <a:bodyPr vert="horz" wrap="square" rtlCol="0">
            <a:spAutoFit/>
          </a:bodyPr>
          <a:lstStyle/>
          <a:p>
            <a:r>
              <a:rPr lang="en-IN" sz="3400" b="1">
                <a:solidFill>
                  <a:srgbClr val="FFFFFF"/>
                </a:solidFill>
                <a:latin typeface="IBM Plex Sans" panose="020B0503050203000203" pitchFamily="34" charset="0"/>
              </a:rPr>
              <a:t>Mini-Shiny Dashboard Walkthrough</a:t>
            </a:r>
          </a:p>
        </p:txBody>
      </p:sp>
      <p:sp>
        <p:nvSpPr>
          <p:cNvPr id="5" name="TextBox 4">
            <a:extLst>
              <a:ext uri="{FF2B5EF4-FFF2-40B4-BE49-F238E27FC236}">
                <a16:creationId xmlns:a16="http://schemas.microsoft.com/office/drawing/2014/main" id="{CDE7BB57-6378-D6DC-7D18-D2194FE12B7D}"/>
              </a:ext>
            </a:extLst>
          </p:cNvPr>
          <p:cNvSpPr txBox="1"/>
          <p:nvPr/>
        </p:nvSpPr>
        <p:spPr>
          <a:xfrm>
            <a:off x="584200" y="3556000"/>
            <a:ext cx="10795000" cy="584775"/>
          </a:xfrm>
          <a:prstGeom prst="rect">
            <a:avLst/>
          </a:prstGeom>
          <a:noFill/>
        </p:spPr>
        <p:txBody>
          <a:bodyPr vert="horz" wrap="square" rtlCol="0">
            <a:spAutoFit/>
          </a:bodyPr>
          <a:lstStyle/>
          <a:p>
            <a:r>
              <a:rPr lang="en-US" sz="1600">
                <a:solidFill>
                  <a:srgbClr val="DCE3F5"/>
                </a:solidFill>
                <a:latin typeface="IBM Plex Sans" panose="020B0503050203000203" pitchFamily="34" charset="0"/>
              </a:rPr>
              <a:t>A hands-on walkthrough for creating a mini-Shiny dashboard based on a clinical trial scenario - the bridge into today's live demo.</a:t>
            </a:r>
            <a:endParaRPr lang="en-IN" sz="1600">
              <a:solidFill>
                <a:srgbClr val="DCE3F5"/>
              </a:solidFill>
              <a:latin typeface="IBM Plex Sans" panose="020B0503050203000203" pitchFamily="34" charset="0"/>
            </a:endParaRPr>
          </a:p>
        </p:txBody>
      </p:sp>
      <p:sp>
        <p:nvSpPr>
          <p:cNvPr id="6" name="TextBox 5">
            <a:extLst>
              <a:ext uri="{FF2B5EF4-FFF2-40B4-BE49-F238E27FC236}">
                <a16:creationId xmlns:a16="http://schemas.microsoft.com/office/drawing/2014/main" id="{C2E30DD0-18CE-0504-776A-6198DD7C1114}"/>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Session 3 Ã‚Â· Mini-Shiny Walkthrough</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38563313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3C1F2D-8499-CA6D-1FDE-8BA39021AC51}"/>
              </a:ext>
            </a:extLst>
          </p:cNvPr>
          <p:cNvSpPr txBox="1"/>
          <p:nvPr/>
        </p:nvSpPr>
        <p:spPr>
          <a:xfrm>
            <a:off x="584200" y="330200"/>
            <a:ext cx="11430000" cy="292388"/>
          </a:xfrm>
          <a:prstGeom prst="rect">
            <a:avLst/>
          </a:prstGeom>
          <a:noFill/>
        </p:spPr>
        <p:txBody>
          <a:bodyPr vert="horz" wrap="square" rtlCol="0">
            <a:spAutoFit/>
          </a:bodyPr>
          <a:lstStyle/>
          <a:p>
            <a:r>
              <a:rPr lang="en-US" sz="1300" b="1">
                <a:solidFill>
                  <a:srgbClr val="0F7A7A"/>
                </a:solidFill>
                <a:latin typeface="IBM Plex Sans" panose="020B0503050203000203" pitchFamily="34" charset="0"/>
              </a:rPr>
              <a:t>11:35 Ã¢ 12:15 Ã‚Â· SPEAKER, MAHESH</a:t>
            </a:r>
            <a:endParaRPr lang="en-IN" sz="1300" b="1">
              <a:solidFill>
                <a:srgbClr val="0F7A7A"/>
              </a:solidFill>
              <a:latin typeface="IBM Plex Sans" panose="020B0503050203000203" pitchFamily="34" charset="0"/>
            </a:endParaRPr>
          </a:p>
        </p:txBody>
      </p:sp>
      <p:sp>
        <p:nvSpPr>
          <p:cNvPr id="3" name="TextBox 2">
            <a:extLst>
              <a:ext uri="{FF2B5EF4-FFF2-40B4-BE49-F238E27FC236}">
                <a16:creationId xmlns:a16="http://schemas.microsoft.com/office/drawing/2014/main" id="{852D3A21-973E-D0C7-35CA-7C95E822DD0C}"/>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Problem statement and design decisions</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E8CE980D-7322-987D-8486-E2F37E597E4B}"/>
              </a:ext>
            </a:extLst>
          </p:cNvPr>
          <p:cNvSpPr/>
          <p:nvPr/>
        </p:nvSpPr>
        <p:spPr>
          <a:xfrm>
            <a:off x="584200" y="1651000"/>
            <a:ext cx="5359248"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62650361-6500-37D9-E12D-A80183D777D4}"/>
              </a:ext>
            </a:extLst>
          </p:cNvPr>
          <p:cNvSpPr txBox="1"/>
          <p:nvPr/>
        </p:nvSpPr>
        <p:spPr>
          <a:xfrm>
            <a:off x="863600" y="1879600"/>
            <a:ext cx="4800448" cy="353943"/>
          </a:xfrm>
          <a:prstGeom prst="rect">
            <a:avLst/>
          </a:prstGeom>
          <a:noFill/>
        </p:spPr>
        <p:txBody>
          <a:bodyPr vert="horz" wrap="square" rtlCol="0">
            <a:spAutoFit/>
          </a:bodyPr>
          <a:lstStyle/>
          <a:p>
            <a:r>
              <a:rPr lang="en-IN" sz="1700" b="1">
                <a:solidFill>
                  <a:srgbClr val="1B2340"/>
                </a:solidFill>
                <a:latin typeface="IBM Plex Sans" panose="020B0503050203000203" pitchFamily="34" charset="0"/>
              </a:rPr>
              <a:t>The scenario</a:t>
            </a:r>
          </a:p>
        </p:txBody>
      </p:sp>
      <p:sp>
        <p:nvSpPr>
          <p:cNvPr id="6" name="TextBox 5">
            <a:extLst>
              <a:ext uri="{FF2B5EF4-FFF2-40B4-BE49-F238E27FC236}">
                <a16:creationId xmlns:a16="http://schemas.microsoft.com/office/drawing/2014/main" id="{736CE043-7262-DB94-470A-26B3CF835A3B}"/>
              </a:ext>
            </a:extLst>
          </p:cNvPr>
          <p:cNvSpPr txBox="1"/>
          <p:nvPr/>
        </p:nvSpPr>
        <p:spPr>
          <a:xfrm>
            <a:off x="863600" y="2311400"/>
            <a:ext cx="4800448" cy="369332"/>
          </a:xfrm>
          <a:prstGeom prst="rect">
            <a:avLst/>
          </a:prstGeom>
          <a:noFill/>
        </p:spPr>
        <p:txBody>
          <a:bodyPr vert="horz" wrap="square" rtlCol="0">
            <a:noAutofit/>
          </a:bodyPr>
          <a:lstStyle/>
          <a:p>
            <a:pPr marL="342900" indent="-342900">
              <a:buFont typeface="+mj-lt"/>
              <a:buChar char="•"/>
            </a:pPr>
            <a:r>
              <a:rPr lang="en-US" sz="1500">
                <a:solidFill>
                  <a:srgbClr val="5B6182"/>
                </a:solidFill>
                <a:latin typeface="IBM Plex Sans" panose="020B0503050203000203" pitchFamily="34" charset="0"/>
              </a:rPr>
              <a:t>A study team needs demographics, disposition, and AE summaries without filing a new programming ticket for every cut
Requirement: one app, multiple TFL shells, consistent filtering across all of them
Constraint: must work against real ADaM structures (ADSL, ADAE) so it generalizes beyond the demo</a:t>
            </a:r>
            <a:endParaRPr lang="en-IN" sz="1500">
              <a:solidFill>
                <a:srgbClr val="5B6182"/>
              </a:solidFill>
              <a:latin typeface="IBM Plex Sans" panose="020B0503050203000203" pitchFamily="34" charset="0"/>
            </a:endParaRPr>
          </a:p>
        </p:txBody>
      </p:sp>
      <p:sp>
        <p:nvSpPr>
          <p:cNvPr id="7" name="Rectangle: Rounded Corners 6">
            <a:extLst>
              <a:ext uri="{FF2B5EF4-FFF2-40B4-BE49-F238E27FC236}">
                <a16:creationId xmlns:a16="http://schemas.microsoft.com/office/drawing/2014/main" id="{3A96A707-014B-7E01-C210-0CDC06E6A8B7}"/>
              </a:ext>
            </a:extLst>
          </p:cNvPr>
          <p:cNvSpPr/>
          <p:nvPr/>
        </p:nvSpPr>
        <p:spPr>
          <a:xfrm>
            <a:off x="6248248" y="1651000"/>
            <a:ext cx="5359247"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23379205-6D6D-66A1-C789-29E50CCC85D9}"/>
              </a:ext>
            </a:extLst>
          </p:cNvPr>
          <p:cNvSpPr txBox="1"/>
          <p:nvPr/>
        </p:nvSpPr>
        <p:spPr>
          <a:xfrm>
            <a:off x="6527647" y="1879600"/>
            <a:ext cx="4800448" cy="353943"/>
          </a:xfrm>
          <a:prstGeom prst="rect">
            <a:avLst/>
          </a:prstGeom>
          <a:noFill/>
        </p:spPr>
        <p:txBody>
          <a:bodyPr vert="horz" wrap="square" rtlCol="0">
            <a:spAutoFit/>
          </a:bodyPr>
          <a:lstStyle/>
          <a:p>
            <a:r>
              <a:rPr lang="en-IN" sz="1700" b="1">
                <a:solidFill>
                  <a:srgbClr val="1B2340"/>
                </a:solidFill>
                <a:latin typeface="IBM Plex Sans" panose="020B0503050203000203" pitchFamily="34" charset="0"/>
              </a:rPr>
              <a:t>Design decisions</a:t>
            </a:r>
          </a:p>
        </p:txBody>
      </p:sp>
      <p:sp>
        <p:nvSpPr>
          <p:cNvPr id="9" name="TextBox 8">
            <a:extLst>
              <a:ext uri="{FF2B5EF4-FFF2-40B4-BE49-F238E27FC236}">
                <a16:creationId xmlns:a16="http://schemas.microsoft.com/office/drawing/2014/main" id="{4EC98AA8-C3E8-9003-C657-548D92F15A94}"/>
              </a:ext>
            </a:extLst>
          </p:cNvPr>
          <p:cNvSpPr txBox="1"/>
          <p:nvPr/>
        </p:nvSpPr>
        <p:spPr>
          <a:xfrm>
            <a:off x="6527647" y="2311400"/>
            <a:ext cx="4800448" cy="369332"/>
          </a:xfrm>
          <a:prstGeom prst="rect">
            <a:avLst/>
          </a:prstGeom>
          <a:noFill/>
        </p:spPr>
        <p:txBody>
          <a:bodyPr vert="horz" wrap="square" rtlCol="0">
            <a:noAutofit/>
          </a:bodyPr>
          <a:lstStyle/>
          <a:p>
            <a:pPr marL="342900" indent="-342900">
              <a:buFont typeface="+mj-lt"/>
              <a:buChar char="•"/>
            </a:pPr>
            <a:r>
              <a:rPr lang="en-US" sz="1500">
                <a:solidFill>
                  <a:srgbClr val="5B6182"/>
                </a:solidFill>
                <a:latin typeface="IBM Plex Sans" panose="020B0503050203000203" pitchFamily="34" charset="0"/>
              </a:rPr>
              <a:t>One shared reactive data pipeline feeds every table and figure
Population flag and treatment arms are selected per-tab, not globally, so Tables and Figures stay independent
Every output owns its own export handler, but reuses the same underlying reactive</a:t>
            </a:r>
            <a:endParaRPr lang="en-IN" sz="1500">
              <a:solidFill>
                <a:srgbClr val="5B6182"/>
              </a:solidFill>
              <a:latin typeface="IBM Plex Sans" panose="020B0503050203000203" pitchFamily="34" charset="0"/>
            </a:endParaRPr>
          </a:p>
        </p:txBody>
      </p:sp>
      <p:sp>
        <p:nvSpPr>
          <p:cNvPr id="10" name="TextBox 9">
            <a:extLst>
              <a:ext uri="{FF2B5EF4-FFF2-40B4-BE49-F238E27FC236}">
                <a16:creationId xmlns:a16="http://schemas.microsoft.com/office/drawing/2014/main" id="{DB5DC82E-EC68-E39B-F103-670BC3E0F733}"/>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Session 3 Ã‚Â· Mini-Shiny Walkthrough</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42016366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6DB825-9914-D8DA-B115-662C34B08650}"/>
              </a:ext>
            </a:extLst>
          </p:cNvPr>
          <p:cNvSpPr txBox="1"/>
          <p:nvPr/>
        </p:nvSpPr>
        <p:spPr>
          <a:xfrm>
            <a:off x="584200" y="330200"/>
            <a:ext cx="11430000" cy="292388"/>
          </a:xfrm>
          <a:prstGeom prst="rect">
            <a:avLst/>
          </a:prstGeom>
          <a:noFill/>
        </p:spPr>
        <p:txBody>
          <a:bodyPr vert="horz" wrap="square" rtlCol="0">
            <a:spAutoFit/>
          </a:bodyPr>
          <a:lstStyle/>
          <a:p>
            <a:r>
              <a:rPr lang="en-US" sz="1300" b="1">
                <a:solidFill>
                  <a:srgbClr val="0F7A7A"/>
                </a:solidFill>
                <a:latin typeface="IBM Plex Sans" panose="020B0503050203000203" pitchFamily="34" charset="0"/>
              </a:rPr>
              <a:t>11:35 Ã¢ 12:15 Ã‚Â· SPEAKER, MAHESH</a:t>
            </a:r>
            <a:endParaRPr lang="en-IN" sz="1300" b="1">
              <a:solidFill>
                <a:srgbClr val="0F7A7A"/>
              </a:solidFill>
              <a:latin typeface="IBM Plex Sans" panose="020B0503050203000203" pitchFamily="34" charset="0"/>
            </a:endParaRPr>
          </a:p>
        </p:txBody>
      </p:sp>
      <p:sp>
        <p:nvSpPr>
          <p:cNvPr id="3" name="TextBox 2">
            <a:extLst>
              <a:ext uri="{FF2B5EF4-FFF2-40B4-BE49-F238E27FC236}">
                <a16:creationId xmlns:a16="http://schemas.microsoft.com/office/drawing/2014/main" id="{6C730028-97E3-5B1B-998E-96E470EB2E03}"/>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Table vs. figure generation; typical AE reporting workflow</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16CD2265-3341-6DAD-A094-C0339A414D61}"/>
              </a:ext>
            </a:extLst>
          </p:cNvPr>
          <p:cNvSpPr/>
          <p:nvPr/>
        </p:nvSpPr>
        <p:spPr>
          <a:xfrm>
            <a:off x="584200" y="1651000"/>
            <a:ext cx="5359248"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21DD1F82-3C67-B52C-41F2-458EF12EECDD}"/>
              </a:ext>
            </a:extLst>
          </p:cNvPr>
          <p:cNvSpPr txBox="1"/>
          <p:nvPr/>
        </p:nvSpPr>
        <p:spPr>
          <a:xfrm>
            <a:off x="863600" y="1879600"/>
            <a:ext cx="4800448" cy="353943"/>
          </a:xfrm>
          <a:prstGeom prst="rect">
            <a:avLst/>
          </a:prstGeom>
          <a:noFill/>
        </p:spPr>
        <p:txBody>
          <a:bodyPr vert="horz" wrap="square" rtlCol="0">
            <a:spAutoFit/>
          </a:bodyPr>
          <a:lstStyle/>
          <a:p>
            <a:r>
              <a:rPr lang="en-IN" sz="1700" b="1">
                <a:solidFill>
                  <a:srgbClr val="1B2340"/>
                </a:solidFill>
                <a:latin typeface="IBM Plex Sans" panose="020B0503050203000203" pitchFamily="34" charset="0"/>
              </a:rPr>
              <a:t>Table generation</a:t>
            </a:r>
          </a:p>
        </p:txBody>
      </p:sp>
      <p:sp>
        <p:nvSpPr>
          <p:cNvPr id="6" name="TextBox 5">
            <a:extLst>
              <a:ext uri="{FF2B5EF4-FFF2-40B4-BE49-F238E27FC236}">
                <a16:creationId xmlns:a16="http://schemas.microsoft.com/office/drawing/2014/main" id="{22FA99C8-2054-DC7A-9EBF-9D0580DD4957}"/>
              </a:ext>
            </a:extLst>
          </p:cNvPr>
          <p:cNvSpPr txBox="1"/>
          <p:nvPr/>
        </p:nvSpPr>
        <p:spPr>
          <a:xfrm>
            <a:off x="863600" y="2311400"/>
            <a:ext cx="4800448" cy="369332"/>
          </a:xfrm>
          <a:prstGeom prst="rect">
            <a:avLst/>
          </a:prstGeom>
          <a:noFill/>
        </p:spPr>
        <p:txBody>
          <a:bodyPr vert="horz" wrap="square" rtlCol="0">
            <a:noAutofit/>
          </a:bodyPr>
          <a:lstStyle/>
          <a:p>
            <a:pPr marL="342900" indent="-342900">
              <a:buFont typeface="+mj-lt"/>
              <a:buChar char="•"/>
            </a:pPr>
            <a:r>
              <a:rPr lang="en-US" sz="1500">
                <a:solidFill>
                  <a:srgbClr val="5B6182"/>
                </a:solidFill>
                <a:latin typeface="IBM Plex Sans" panose="020B0503050203000203" pitchFamily="34" charset="0"/>
              </a:rPr>
              <a:t>Aggregate counts and percentages per treatment arm, formatted for direct clinical reading
Structured with header rows, indentation (SOC -&gt; PT), and a source note
Exportable as-is to HTML/Word for a TLF shell</a:t>
            </a:r>
            <a:endParaRPr lang="en-IN" sz="1500">
              <a:solidFill>
                <a:srgbClr val="5B6182"/>
              </a:solidFill>
              <a:latin typeface="IBM Plex Sans" panose="020B0503050203000203" pitchFamily="34" charset="0"/>
            </a:endParaRPr>
          </a:p>
        </p:txBody>
      </p:sp>
      <p:sp>
        <p:nvSpPr>
          <p:cNvPr id="7" name="Rectangle: Rounded Corners 6">
            <a:extLst>
              <a:ext uri="{FF2B5EF4-FFF2-40B4-BE49-F238E27FC236}">
                <a16:creationId xmlns:a16="http://schemas.microsoft.com/office/drawing/2014/main" id="{FFF84B12-533A-2C35-223E-CCAA7AE1E784}"/>
              </a:ext>
            </a:extLst>
          </p:cNvPr>
          <p:cNvSpPr/>
          <p:nvPr/>
        </p:nvSpPr>
        <p:spPr>
          <a:xfrm>
            <a:off x="6248248" y="1651000"/>
            <a:ext cx="5359247"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D555B103-4D1E-631F-BAA4-5300A2C124FF}"/>
              </a:ext>
            </a:extLst>
          </p:cNvPr>
          <p:cNvSpPr txBox="1"/>
          <p:nvPr/>
        </p:nvSpPr>
        <p:spPr>
          <a:xfrm>
            <a:off x="6527647" y="1879600"/>
            <a:ext cx="4800448" cy="353943"/>
          </a:xfrm>
          <a:prstGeom prst="rect">
            <a:avLst/>
          </a:prstGeom>
          <a:noFill/>
        </p:spPr>
        <p:txBody>
          <a:bodyPr vert="horz" wrap="square" rtlCol="0">
            <a:spAutoFit/>
          </a:bodyPr>
          <a:lstStyle/>
          <a:p>
            <a:r>
              <a:rPr lang="en-IN" sz="1700" b="1">
                <a:solidFill>
                  <a:srgbClr val="1B2340"/>
                </a:solidFill>
                <a:latin typeface="IBM Plex Sans" panose="020B0503050203000203" pitchFamily="34" charset="0"/>
              </a:rPr>
              <a:t>Typical AE workflow</a:t>
            </a:r>
          </a:p>
        </p:txBody>
      </p:sp>
      <p:sp>
        <p:nvSpPr>
          <p:cNvPr id="9" name="TextBox 8">
            <a:extLst>
              <a:ext uri="{FF2B5EF4-FFF2-40B4-BE49-F238E27FC236}">
                <a16:creationId xmlns:a16="http://schemas.microsoft.com/office/drawing/2014/main" id="{72F91CE8-BBF0-3127-40EB-10BF55E029E8}"/>
              </a:ext>
            </a:extLst>
          </p:cNvPr>
          <p:cNvSpPr txBox="1"/>
          <p:nvPr/>
        </p:nvSpPr>
        <p:spPr>
          <a:xfrm>
            <a:off x="6527647" y="2311400"/>
            <a:ext cx="4800448" cy="369332"/>
          </a:xfrm>
          <a:prstGeom prst="rect">
            <a:avLst/>
          </a:prstGeom>
          <a:noFill/>
        </p:spPr>
        <p:txBody>
          <a:bodyPr vert="horz" wrap="square" rtlCol="0">
            <a:noAutofit/>
          </a:bodyPr>
          <a:lstStyle/>
          <a:p>
            <a:pPr marL="342900" indent="-342900">
              <a:buFont typeface="+mj-lt"/>
              <a:buChar char="•"/>
            </a:pPr>
            <a:r>
              <a:rPr lang="en-US" sz="1500">
                <a:solidFill>
                  <a:srgbClr val="5B6182"/>
                </a:solidFill>
                <a:latin typeface="IBM Plex Sans" panose="020B0503050203000203" pitchFamily="34" charset="0"/>
              </a:rPr>
              <a:t>Filter to the Safety Analysis Set (SAFFL == 'Y') and treatment-emergent events (TRTEMFL == 'Y')
Summarize at Overview, then SOC/PT, then Severity level
Visualize top incidence terms as a ranked bar chart for fast signal scanning</a:t>
            </a:r>
            <a:endParaRPr lang="en-IN" sz="1500">
              <a:solidFill>
                <a:srgbClr val="5B6182"/>
              </a:solidFill>
              <a:latin typeface="IBM Plex Sans" panose="020B0503050203000203" pitchFamily="34" charset="0"/>
            </a:endParaRPr>
          </a:p>
        </p:txBody>
      </p:sp>
      <p:sp>
        <p:nvSpPr>
          <p:cNvPr id="10" name="TextBox 9">
            <a:extLst>
              <a:ext uri="{FF2B5EF4-FFF2-40B4-BE49-F238E27FC236}">
                <a16:creationId xmlns:a16="http://schemas.microsoft.com/office/drawing/2014/main" id="{047644CA-04D5-D17F-942E-EED7B6AB9F44}"/>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Session 3 Ã‚Â· Mini-Shiny Walkthrough</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21959924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2C3E7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61826A2-8B8E-AF82-4FD3-7A389CA15DB4}"/>
              </a:ext>
            </a:extLst>
          </p:cNvPr>
          <p:cNvSpPr txBox="1"/>
          <p:nvPr/>
        </p:nvSpPr>
        <p:spPr>
          <a:xfrm>
            <a:off x="8889695" y="254000"/>
            <a:ext cx="2794000" cy="1938992"/>
          </a:xfrm>
          <a:prstGeom prst="rect">
            <a:avLst/>
          </a:prstGeom>
          <a:noFill/>
        </p:spPr>
        <p:txBody>
          <a:bodyPr vert="horz" wrap="square" rtlCol="0">
            <a:spAutoFit/>
          </a:bodyPr>
          <a:lstStyle/>
          <a:p>
            <a:pPr algn="ctr"/>
            <a:r>
              <a:rPr lang="en-IN" sz="12000" b="1">
                <a:solidFill>
                  <a:srgbClr val="5A69AA"/>
                </a:solidFill>
                <a:latin typeface="IBM Plex Sans" panose="020B0503050203000203" pitchFamily="34" charset="0"/>
              </a:rPr>
              <a:t>04</a:t>
            </a:r>
          </a:p>
        </p:txBody>
      </p:sp>
      <p:sp>
        <p:nvSpPr>
          <p:cNvPr id="3" name="TextBox 2">
            <a:extLst>
              <a:ext uri="{FF2B5EF4-FFF2-40B4-BE49-F238E27FC236}">
                <a16:creationId xmlns:a16="http://schemas.microsoft.com/office/drawing/2014/main" id="{5173D13B-7DDD-AAE1-2327-CFC365FD0777}"/>
              </a:ext>
            </a:extLst>
          </p:cNvPr>
          <p:cNvSpPr txBox="1"/>
          <p:nvPr/>
        </p:nvSpPr>
        <p:spPr>
          <a:xfrm>
            <a:off x="584200" y="762000"/>
            <a:ext cx="6350000" cy="292388"/>
          </a:xfrm>
          <a:prstGeom prst="rect">
            <a:avLst/>
          </a:prstGeom>
          <a:noFill/>
        </p:spPr>
        <p:txBody>
          <a:bodyPr vert="horz" wrap="square" rtlCol="0">
            <a:spAutoFit/>
          </a:bodyPr>
          <a:lstStyle/>
          <a:p>
            <a:r>
              <a:rPr lang="en-IN" sz="1300" b="1">
                <a:solidFill>
                  <a:srgbClr val="D6EEEC"/>
                </a:solidFill>
                <a:latin typeface="IBM Plex Sans" panose="020B0503050203000203" pitchFamily="34" charset="0"/>
              </a:rPr>
              <a:t>DEMO APP Ã‚Â· ARCHITECTURE</a:t>
            </a:r>
          </a:p>
        </p:txBody>
      </p:sp>
      <p:sp>
        <p:nvSpPr>
          <p:cNvPr id="4" name="TextBox 3">
            <a:extLst>
              <a:ext uri="{FF2B5EF4-FFF2-40B4-BE49-F238E27FC236}">
                <a16:creationId xmlns:a16="http://schemas.microsoft.com/office/drawing/2014/main" id="{9B62EAF8-4E0F-6757-74F1-248DF5D868B4}"/>
              </a:ext>
            </a:extLst>
          </p:cNvPr>
          <p:cNvSpPr txBox="1"/>
          <p:nvPr/>
        </p:nvSpPr>
        <p:spPr>
          <a:xfrm>
            <a:off x="584200" y="1397000"/>
            <a:ext cx="12065000" cy="615553"/>
          </a:xfrm>
          <a:prstGeom prst="rect">
            <a:avLst/>
          </a:prstGeom>
          <a:noFill/>
        </p:spPr>
        <p:txBody>
          <a:bodyPr vert="horz" wrap="square" rtlCol="0">
            <a:spAutoFit/>
          </a:bodyPr>
          <a:lstStyle/>
          <a:p>
            <a:r>
              <a:rPr lang="en-US" sz="3400" b="1">
                <a:solidFill>
                  <a:srgbClr val="FFFFFF"/>
                </a:solidFill>
                <a:latin typeface="IBM Plex Sans" panose="020B0503050203000203" pitchFamily="34" charset="0"/>
              </a:rPr>
              <a:t>Now Let's Open the App: A Mini TFL Builder</a:t>
            </a:r>
            <a:endParaRPr lang="en-IN" sz="3400" b="1">
              <a:solidFill>
                <a:srgbClr val="FFFFFF"/>
              </a:solidFill>
              <a:latin typeface="IBM Plex Sans" panose="020B0503050203000203" pitchFamily="34" charset="0"/>
            </a:endParaRPr>
          </a:p>
        </p:txBody>
      </p:sp>
      <p:sp>
        <p:nvSpPr>
          <p:cNvPr id="5" name="TextBox 4">
            <a:extLst>
              <a:ext uri="{FF2B5EF4-FFF2-40B4-BE49-F238E27FC236}">
                <a16:creationId xmlns:a16="http://schemas.microsoft.com/office/drawing/2014/main" id="{B0CF064C-AC4A-39D0-52E4-A82E5A8C4A54}"/>
              </a:ext>
            </a:extLst>
          </p:cNvPr>
          <p:cNvSpPr txBox="1"/>
          <p:nvPr/>
        </p:nvSpPr>
        <p:spPr>
          <a:xfrm>
            <a:off x="584200" y="3556000"/>
            <a:ext cx="10795000" cy="338554"/>
          </a:xfrm>
          <a:prstGeom prst="rect">
            <a:avLst/>
          </a:prstGeom>
          <a:noFill/>
        </p:spPr>
        <p:txBody>
          <a:bodyPr vert="horz" wrap="square" rtlCol="0">
            <a:spAutoFit/>
          </a:bodyPr>
          <a:lstStyle/>
          <a:p>
            <a:r>
              <a:rPr lang="en-US" sz="1600">
                <a:solidFill>
                  <a:srgbClr val="DCE3F5"/>
                </a:solidFill>
                <a:latin typeface="IBM Plex Sans" panose="020B0503050203000203" pitchFamily="34" charset="0"/>
              </a:rPr>
              <a:t>Built entirely in R Shiny on pharmaverseadam ADaM data. Everything from Session 2's concepts, applied.</a:t>
            </a:r>
            <a:endParaRPr lang="en-IN" sz="1600">
              <a:solidFill>
                <a:srgbClr val="DCE3F5"/>
              </a:solidFill>
              <a:latin typeface="IBM Plex Sans" panose="020B0503050203000203" pitchFamily="34" charset="0"/>
            </a:endParaRPr>
          </a:p>
        </p:txBody>
      </p:sp>
      <p:sp>
        <p:nvSpPr>
          <p:cNvPr id="6" name="TextBox 5">
            <a:extLst>
              <a:ext uri="{FF2B5EF4-FFF2-40B4-BE49-F238E27FC236}">
                <a16:creationId xmlns:a16="http://schemas.microsoft.com/office/drawing/2014/main" id="{8F12EA67-EACC-8B4C-18D3-F5321D864011}"/>
              </a:ext>
            </a:extLst>
          </p:cNvPr>
          <p:cNvSpPr txBox="1"/>
          <p:nvPr/>
        </p:nvSpPr>
        <p:spPr>
          <a:xfrm>
            <a:off x="304800" y="6553200"/>
            <a:ext cx="6350000" cy="276999"/>
          </a:xfrm>
          <a:prstGeom prst="rect">
            <a:avLst/>
          </a:prstGeom>
          <a:noFill/>
        </p:spPr>
        <p:txBody>
          <a:bodyPr vert="horz" wrap="square" rtlCol="0">
            <a:spAutoFit/>
          </a:bodyPr>
          <a:lstStyle/>
          <a:p>
            <a:r>
              <a:rPr lang="en-IN" sz="1200" i="1">
                <a:solidFill>
                  <a:srgbClr val="5B6182"/>
                </a:solidFill>
                <a:latin typeface="IBM Plex Sans" panose="020B0503050203000203" pitchFamily="34" charset="0"/>
              </a:rPr>
              <a:t>Demo App Ã‚Â· Architecture</a:t>
            </a:r>
          </a:p>
        </p:txBody>
      </p:sp>
    </p:spTree>
    <p:extLst>
      <p:ext uri="{BB962C8B-B14F-4D97-AF65-F5344CB8AC3E}">
        <p14:creationId xmlns:p14="http://schemas.microsoft.com/office/powerpoint/2010/main" val="10834201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45D3DC4-9268-81CB-B9E0-39D25698E20C}"/>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DEMO APP Ã‚Â· ARCHITECTURE</a:t>
            </a:r>
          </a:p>
        </p:txBody>
      </p:sp>
      <p:sp>
        <p:nvSpPr>
          <p:cNvPr id="3" name="TextBox 2">
            <a:extLst>
              <a:ext uri="{FF2B5EF4-FFF2-40B4-BE49-F238E27FC236}">
                <a16:creationId xmlns:a16="http://schemas.microsoft.com/office/drawing/2014/main" id="{0CCC93F8-5746-85C4-C168-A196E09F855A}"/>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Three tabs, one reactive data spine</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7B10D52C-96A4-1871-DE6C-3980F0D56391}"/>
              </a:ext>
            </a:extLst>
          </p:cNvPr>
          <p:cNvSpPr/>
          <p:nvPr/>
        </p:nvSpPr>
        <p:spPr>
          <a:xfrm>
            <a:off x="584200" y="2921000"/>
            <a:ext cx="2279574" cy="1778000"/>
          </a:xfrm>
          <a:prstGeom prst="roundRect">
            <a:avLst/>
          </a:prstGeom>
          <a:solidFill>
            <a:srgbClr val="DCE3F5"/>
          </a:solidFill>
          <a:ln w="12700">
            <a:solidFill>
              <a:srgbClr val="2C3E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F9129D75-9E66-B2E0-021A-68BFF3B4A3BE}"/>
              </a:ext>
            </a:extLst>
          </p:cNvPr>
          <p:cNvSpPr txBox="1"/>
          <p:nvPr/>
        </p:nvSpPr>
        <p:spPr>
          <a:xfrm>
            <a:off x="711200" y="3124200"/>
            <a:ext cx="2025574" cy="323165"/>
          </a:xfrm>
          <a:prstGeom prst="rect">
            <a:avLst/>
          </a:prstGeom>
          <a:noFill/>
        </p:spPr>
        <p:txBody>
          <a:bodyPr vert="horz" wrap="square" rtlCol="0">
            <a:spAutoFit/>
          </a:bodyPr>
          <a:lstStyle/>
          <a:p>
            <a:pPr algn="ctr"/>
            <a:r>
              <a:rPr lang="en-IN" sz="1500" b="1">
                <a:solidFill>
                  <a:srgbClr val="1B2340"/>
                </a:solidFill>
                <a:latin typeface="IBM Plex Sans" panose="020B0503050203000203" pitchFamily="34" charset="0"/>
              </a:rPr>
              <a:t>Sidebar</a:t>
            </a:r>
          </a:p>
        </p:txBody>
      </p:sp>
      <p:sp>
        <p:nvSpPr>
          <p:cNvPr id="6" name="TextBox 5">
            <a:extLst>
              <a:ext uri="{FF2B5EF4-FFF2-40B4-BE49-F238E27FC236}">
                <a16:creationId xmlns:a16="http://schemas.microsoft.com/office/drawing/2014/main" id="{776B1468-A869-4EEC-F4BF-C702A22408DC}"/>
              </a:ext>
            </a:extLst>
          </p:cNvPr>
          <p:cNvSpPr txBox="1"/>
          <p:nvPr/>
        </p:nvSpPr>
        <p:spPr>
          <a:xfrm>
            <a:off x="711200" y="3556000"/>
            <a:ext cx="2025574" cy="430887"/>
          </a:xfrm>
          <a:prstGeom prst="rect">
            <a:avLst/>
          </a:prstGeom>
          <a:noFill/>
        </p:spPr>
        <p:txBody>
          <a:bodyPr vert="horz" wrap="square" rtlCol="0">
            <a:spAutoFit/>
          </a:bodyPr>
          <a:lstStyle/>
          <a:p>
            <a:pPr algn="ctr"/>
            <a:r>
              <a:rPr lang="en-US" sz="1100">
                <a:solidFill>
                  <a:srgbClr val="5B6182"/>
                </a:solidFill>
                <a:latin typeface="IBM Plex Sans" panose="020B0503050203000203" pitchFamily="34" charset="0"/>
              </a:rPr>
              <a:t>Data source Ã‚Â· upload or built-in ADaM</a:t>
            </a:r>
            <a:endParaRPr lang="en-IN" sz="1100">
              <a:solidFill>
                <a:srgbClr val="5B6182"/>
              </a:solidFill>
              <a:latin typeface="IBM Plex Sans" panose="020B0503050203000203" pitchFamily="34" charset="0"/>
            </a:endParaRPr>
          </a:p>
        </p:txBody>
      </p:sp>
      <p:sp>
        <p:nvSpPr>
          <p:cNvPr id="7" name="TextBox 6">
            <a:extLst>
              <a:ext uri="{FF2B5EF4-FFF2-40B4-BE49-F238E27FC236}">
                <a16:creationId xmlns:a16="http://schemas.microsoft.com/office/drawing/2014/main" id="{F634A8F6-5A45-0BE0-4872-6433589C9B47}"/>
              </a:ext>
            </a:extLst>
          </p:cNvPr>
          <p:cNvSpPr txBox="1"/>
          <p:nvPr/>
        </p:nvSpPr>
        <p:spPr>
          <a:xfrm>
            <a:off x="2863774" y="3606800"/>
            <a:ext cx="635000" cy="430887"/>
          </a:xfrm>
          <a:prstGeom prst="rect">
            <a:avLst/>
          </a:prstGeom>
          <a:noFill/>
        </p:spPr>
        <p:txBody>
          <a:bodyPr vert="horz" wrap="square" rtlCol="0">
            <a:spAutoFit/>
          </a:bodyPr>
          <a:lstStyle/>
          <a:p>
            <a:pPr algn="ctr"/>
            <a:r>
              <a:rPr lang="en-IN" sz="2200" b="1">
                <a:solidFill>
                  <a:srgbClr val="5B6182"/>
                </a:solidFill>
                <a:latin typeface="IBM Plex Sans" panose="020B0503050203000203" pitchFamily="34" charset="0"/>
              </a:rPr>
              <a:t>-&gt;</a:t>
            </a:r>
          </a:p>
        </p:txBody>
      </p:sp>
      <p:sp>
        <p:nvSpPr>
          <p:cNvPr id="8" name="Rectangle: Rounded Corners 7">
            <a:extLst>
              <a:ext uri="{FF2B5EF4-FFF2-40B4-BE49-F238E27FC236}">
                <a16:creationId xmlns:a16="http://schemas.microsoft.com/office/drawing/2014/main" id="{AB58200A-86DD-32BD-1914-1369C6E99602}"/>
              </a:ext>
            </a:extLst>
          </p:cNvPr>
          <p:cNvSpPr/>
          <p:nvPr/>
        </p:nvSpPr>
        <p:spPr>
          <a:xfrm>
            <a:off x="3498774" y="2921000"/>
            <a:ext cx="2279573" cy="1778000"/>
          </a:xfrm>
          <a:prstGeom prst="roundRect">
            <a:avLst/>
          </a:prstGeom>
          <a:solidFill>
            <a:srgbClr val="DCE3F5"/>
          </a:solidFill>
          <a:ln w="12700">
            <a:solidFill>
              <a:srgbClr val="2C3E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ECF4A5C9-0BDE-ED50-768F-BFF14F80F9E2}"/>
              </a:ext>
            </a:extLst>
          </p:cNvPr>
          <p:cNvSpPr txBox="1"/>
          <p:nvPr/>
        </p:nvSpPr>
        <p:spPr>
          <a:xfrm>
            <a:off x="3625774" y="3124200"/>
            <a:ext cx="2025574" cy="323165"/>
          </a:xfrm>
          <a:prstGeom prst="rect">
            <a:avLst/>
          </a:prstGeom>
          <a:noFill/>
        </p:spPr>
        <p:txBody>
          <a:bodyPr vert="horz" wrap="square" rtlCol="0">
            <a:spAutoFit/>
          </a:bodyPr>
          <a:lstStyle/>
          <a:p>
            <a:pPr algn="ctr"/>
            <a:r>
              <a:rPr lang="en-IN" sz="1500" b="1">
                <a:solidFill>
                  <a:srgbClr val="1B2340"/>
                </a:solidFill>
                <a:latin typeface="IBM Plex Sans" panose="020B0503050203000203" pitchFamily="34" charset="0"/>
              </a:rPr>
              <a:t>datasets()</a:t>
            </a:r>
          </a:p>
        </p:txBody>
      </p:sp>
      <p:sp>
        <p:nvSpPr>
          <p:cNvPr id="10" name="TextBox 9">
            <a:extLst>
              <a:ext uri="{FF2B5EF4-FFF2-40B4-BE49-F238E27FC236}">
                <a16:creationId xmlns:a16="http://schemas.microsoft.com/office/drawing/2014/main" id="{2ECBAF66-C4D0-9D61-950A-86570197C2BD}"/>
              </a:ext>
            </a:extLst>
          </p:cNvPr>
          <p:cNvSpPr txBox="1"/>
          <p:nvPr/>
        </p:nvSpPr>
        <p:spPr>
          <a:xfrm>
            <a:off x="3625774" y="3556000"/>
            <a:ext cx="2025574" cy="430887"/>
          </a:xfrm>
          <a:prstGeom prst="rect">
            <a:avLst/>
          </a:prstGeom>
          <a:noFill/>
        </p:spPr>
        <p:txBody>
          <a:bodyPr vert="horz" wrap="square" rtlCol="0">
            <a:spAutoFit/>
          </a:bodyPr>
          <a:lstStyle/>
          <a:p>
            <a:pPr algn="ctr"/>
            <a:r>
              <a:rPr lang="en-US" sz="1100">
                <a:solidFill>
                  <a:srgbClr val="5B6182"/>
                </a:solidFill>
                <a:latin typeface="IBM Plex Sans" panose="020B0503050203000203" pitchFamily="34" charset="0"/>
              </a:rPr>
              <a:t>reactive: ADSL / ADAE / ADLB / ADVS</a:t>
            </a:r>
            <a:endParaRPr lang="en-IN" sz="1100">
              <a:solidFill>
                <a:srgbClr val="5B6182"/>
              </a:solidFill>
              <a:latin typeface="IBM Plex Sans" panose="020B0503050203000203" pitchFamily="34" charset="0"/>
            </a:endParaRPr>
          </a:p>
        </p:txBody>
      </p:sp>
      <p:sp>
        <p:nvSpPr>
          <p:cNvPr id="11" name="TextBox 10">
            <a:extLst>
              <a:ext uri="{FF2B5EF4-FFF2-40B4-BE49-F238E27FC236}">
                <a16:creationId xmlns:a16="http://schemas.microsoft.com/office/drawing/2014/main" id="{435D4493-4B38-4F07-A8F6-1CFF61C777D1}"/>
              </a:ext>
            </a:extLst>
          </p:cNvPr>
          <p:cNvSpPr txBox="1"/>
          <p:nvPr/>
        </p:nvSpPr>
        <p:spPr>
          <a:xfrm>
            <a:off x="5778348" y="3606800"/>
            <a:ext cx="635000" cy="430887"/>
          </a:xfrm>
          <a:prstGeom prst="rect">
            <a:avLst/>
          </a:prstGeom>
          <a:noFill/>
        </p:spPr>
        <p:txBody>
          <a:bodyPr vert="horz" wrap="square" rtlCol="0">
            <a:spAutoFit/>
          </a:bodyPr>
          <a:lstStyle/>
          <a:p>
            <a:pPr algn="ctr"/>
            <a:r>
              <a:rPr lang="en-IN" sz="2200" b="1">
                <a:solidFill>
                  <a:srgbClr val="5B6182"/>
                </a:solidFill>
                <a:latin typeface="IBM Plex Sans" panose="020B0503050203000203" pitchFamily="34" charset="0"/>
              </a:rPr>
              <a:t>-&gt;</a:t>
            </a:r>
          </a:p>
        </p:txBody>
      </p:sp>
      <p:sp>
        <p:nvSpPr>
          <p:cNvPr id="12" name="Rectangle: Rounded Corners 11">
            <a:extLst>
              <a:ext uri="{FF2B5EF4-FFF2-40B4-BE49-F238E27FC236}">
                <a16:creationId xmlns:a16="http://schemas.microsoft.com/office/drawing/2014/main" id="{656123FF-409A-EBE0-2891-28B562600257}"/>
              </a:ext>
            </a:extLst>
          </p:cNvPr>
          <p:cNvSpPr/>
          <p:nvPr/>
        </p:nvSpPr>
        <p:spPr>
          <a:xfrm>
            <a:off x="6413348" y="2921000"/>
            <a:ext cx="2279573" cy="1778000"/>
          </a:xfrm>
          <a:prstGeom prst="roundRect">
            <a:avLst/>
          </a:prstGeom>
          <a:solidFill>
            <a:srgbClr val="DCE3F5"/>
          </a:solidFill>
          <a:ln w="12700">
            <a:solidFill>
              <a:srgbClr val="2C3E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16C0DAFC-C88A-7586-C865-50886D710FCC}"/>
              </a:ext>
            </a:extLst>
          </p:cNvPr>
          <p:cNvSpPr txBox="1"/>
          <p:nvPr/>
        </p:nvSpPr>
        <p:spPr>
          <a:xfrm>
            <a:off x="6540347" y="3124200"/>
            <a:ext cx="2025574" cy="323165"/>
          </a:xfrm>
          <a:prstGeom prst="rect">
            <a:avLst/>
          </a:prstGeom>
          <a:noFill/>
        </p:spPr>
        <p:txBody>
          <a:bodyPr vert="horz" wrap="square" rtlCol="0">
            <a:spAutoFit/>
          </a:bodyPr>
          <a:lstStyle/>
          <a:p>
            <a:pPr algn="ctr"/>
            <a:r>
              <a:rPr lang="en-IN" sz="1500" b="1">
                <a:solidFill>
                  <a:srgbClr val="1B2340"/>
                </a:solidFill>
                <a:latin typeface="IBM Plex Sans" panose="020B0503050203000203" pitchFamily="34" charset="0"/>
              </a:rPr>
              <a:t>View Data</a:t>
            </a:r>
          </a:p>
        </p:txBody>
      </p:sp>
      <p:sp>
        <p:nvSpPr>
          <p:cNvPr id="14" name="TextBox 13">
            <a:extLst>
              <a:ext uri="{FF2B5EF4-FFF2-40B4-BE49-F238E27FC236}">
                <a16:creationId xmlns:a16="http://schemas.microsoft.com/office/drawing/2014/main" id="{A65B49D9-4805-FFDC-8B59-AAE5486B865A}"/>
              </a:ext>
            </a:extLst>
          </p:cNvPr>
          <p:cNvSpPr txBox="1"/>
          <p:nvPr/>
        </p:nvSpPr>
        <p:spPr>
          <a:xfrm>
            <a:off x="6540347" y="3556000"/>
            <a:ext cx="2025574" cy="261610"/>
          </a:xfrm>
          <a:prstGeom prst="rect">
            <a:avLst/>
          </a:prstGeom>
          <a:noFill/>
        </p:spPr>
        <p:txBody>
          <a:bodyPr vert="horz" wrap="square" rtlCol="0">
            <a:spAutoFit/>
          </a:bodyPr>
          <a:lstStyle/>
          <a:p>
            <a:pPr algn="ctr"/>
            <a:r>
              <a:rPr lang="en-IN" sz="1100">
                <a:solidFill>
                  <a:srgbClr val="5B6182"/>
                </a:solidFill>
                <a:latin typeface="IBM Plex Sans" panose="020B0503050203000203" pitchFamily="34" charset="0"/>
              </a:rPr>
              <a:t>DT preview + summary</a:t>
            </a:r>
          </a:p>
        </p:txBody>
      </p:sp>
      <p:sp>
        <p:nvSpPr>
          <p:cNvPr id="15" name="TextBox 14">
            <a:extLst>
              <a:ext uri="{FF2B5EF4-FFF2-40B4-BE49-F238E27FC236}">
                <a16:creationId xmlns:a16="http://schemas.microsoft.com/office/drawing/2014/main" id="{D8CCB564-0D9E-2FAF-5E39-31835032AC1D}"/>
              </a:ext>
            </a:extLst>
          </p:cNvPr>
          <p:cNvSpPr txBox="1"/>
          <p:nvPr/>
        </p:nvSpPr>
        <p:spPr>
          <a:xfrm>
            <a:off x="8692921" y="3606800"/>
            <a:ext cx="635000" cy="430887"/>
          </a:xfrm>
          <a:prstGeom prst="rect">
            <a:avLst/>
          </a:prstGeom>
          <a:noFill/>
        </p:spPr>
        <p:txBody>
          <a:bodyPr vert="horz" wrap="square" rtlCol="0">
            <a:spAutoFit/>
          </a:bodyPr>
          <a:lstStyle/>
          <a:p>
            <a:pPr algn="ctr"/>
            <a:r>
              <a:rPr lang="en-IN" sz="2200" b="1">
                <a:solidFill>
                  <a:srgbClr val="5B6182"/>
                </a:solidFill>
                <a:latin typeface="IBM Plex Sans" panose="020B0503050203000203" pitchFamily="34" charset="0"/>
              </a:rPr>
              <a:t>-&gt;</a:t>
            </a:r>
          </a:p>
        </p:txBody>
      </p:sp>
      <p:sp>
        <p:nvSpPr>
          <p:cNvPr id="16" name="Rectangle: Rounded Corners 15">
            <a:extLst>
              <a:ext uri="{FF2B5EF4-FFF2-40B4-BE49-F238E27FC236}">
                <a16:creationId xmlns:a16="http://schemas.microsoft.com/office/drawing/2014/main" id="{E2B938E2-097F-8AC4-9D7A-BAAD823B0FA1}"/>
              </a:ext>
            </a:extLst>
          </p:cNvPr>
          <p:cNvSpPr/>
          <p:nvPr/>
        </p:nvSpPr>
        <p:spPr>
          <a:xfrm>
            <a:off x="9327921" y="2921000"/>
            <a:ext cx="2279574" cy="1778000"/>
          </a:xfrm>
          <a:prstGeom prst="roundRect">
            <a:avLst/>
          </a:prstGeom>
          <a:solidFill>
            <a:srgbClr val="DCE3F5"/>
          </a:solidFill>
          <a:ln w="12700">
            <a:solidFill>
              <a:srgbClr val="2C3E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C147B793-452B-5E41-2989-50917ED83041}"/>
              </a:ext>
            </a:extLst>
          </p:cNvPr>
          <p:cNvSpPr txBox="1"/>
          <p:nvPr/>
        </p:nvSpPr>
        <p:spPr>
          <a:xfrm>
            <a:off x="9454921" y="3124200"/>
            <a:ext cx="2025574" cy="323165"/>
          </a:xfrm>
          <a:prstGeom prst="rect">
            <a:avLst/>
          </a:prstGeom>
          <a:noFill/>
        </p:spPr>
        <p:txBody>
          <a:bodyPr vert="horz" wrap="square" rtlCol="0">
            <a:spAutoFit/>
          </a:bodyPr>
          <a:lstStyle/>
          <a:p>
            <a:pPr algn="ctr"/>
            <a:r>
              <a:rPr lang="en-IN" sz="1500" b="1">
                <a:solidFill>
                  <a:srgbClr val="1B2340"/>
                </a:solidFill>
                <a:latin typeface="IBM Plex Sans" panose="020B0503050203000203" pitchFamily="34" charset="0"/>
              </a:rPr>
              <a:t>Tables tab</a:t>
            </a:r>
          </a:p>
        </p:txBody>
      </p:sp>
      <p:sp>
        <p:nvSpPr>
          <p:cNvPr id="18" name="TextBox 17">
            <a:extLst>
              <a:ext uri="{FF2B5EF4-FFF2-40B4-BE49-F238E27FC236}">
                <a16:creationId xmlns:a16="http://schemas.microsoft.com/office/drawing/2014/main" id="{E64186C7-6604-E250-B627-1EBD61520309}"/>
              </a:ext>
            </a:extLst>
          </p:cNvPr>
          <p:cNvSpPr txBox="1"/>
          <p:nvPr/>
        </p:nvSpPr>
        <p:spPr>
          <a:xfrm>
            <a:off x="9454921" y="3556000"/>
            <a:ext cx="2025574" cy="430887"/>
          </a:xfrm>
          <a:prstGeom prst="rect">
            <a:avLst/>
          </a:prstGeom>
          <a:noFill/>
        </p:spPr>
        <p:txBody>
          <a:bodyPr vert="horz" wrap="square" rtlCol="0">
            <a:spAutoFit/>
          </a:bodyPr>
          <a:lstStyle/>
          <a:p>
            <a:pPr algn="ctr"/>
            <a:r>
              <a:rPr lang="en-IN" sz="1100">
                <a:solidFill>
                  <a:srgbClr val="5B6182"/>
                </a:solidFill>
                <a:latin typeface="IBM Plex Sans" panose="020B0503050203000203" pitchFamily="34" charset="0"/>
              </a:rPr>
              <a:t>gt Ã‚Â· demog, disposition, AE...</a:t>
            </a:r>
          </a:p>
        </p:txBody>
      </p:sp>
      <p:sp>
        <p:nvSpPr>
          <p:cNvPr id="19" name="TextBox 18">
            <a:extLst>
              <a:ext uri="{FF2B5EF4-FFF2-40B4-BE49-F238E27FC236}">
                <a16:creationId xmlns:a16="http://schemas.microsoft.com/office/drawing/2014/main" id="{CB36F522-1971-9591-8BA9-49C75A314F55}"/>
              </a:ext>
            </a:extLst>
          </p:cNvPr>
          <p:cNvSpPr txBox="1"/>
          <p:nvPr/>
        </p:nvSpPr>
        <p:spPr>
          <a:xfrm>
            <a:off x="304800" y="6553200"/>
            <a:ext cx="6350000" cy="276999"/>
          </a:xfrm>
          <a:prstGeom prst="rect">
            <a:avLst/>
          </a:prstGeom>
          <a:noFill/>
        </p:spPr>
        <p:txBody>
          <a:bodyPr vert="horz" wrap="square" rtlCol="0">
            <a:spAutoFit/>
          </a:bodyPr>
          <a:lstStyle/>
          <a:p>
            <a:r>
              <a:rPr lang="en-IN" sz="1200" i="1">
                <a:solidFill>
                  <a:srgbClr val="5B6182"/>
                </a:solidFill>
                <a:latin typeface="IBM Plex Sans" panose="020B0503050203000203" pitchFamily="34" charset="0"/>
              </a:rPr>
              <a:t>Demo App Ã‚Â· Architecture</a:t>
            </a:r>
          </a:p>
        </p:txBody>
      </p:sp>
    </p:spTree>
    <p:extLst>
      <p:ext uri="{BB962C8B-B14F-4D97-AF65-F5344CB8AC3E}">
        <p14:creationId xmlns:p14="http://schemas.microsoft.com/office/powerpoint/2010/main" val="29155153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8C7109-CB33-E75B-30A4-CFB2E488A65C}"/>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DEMO APP Ã‚Â· ARCHITECTURE</a:t>
            </a:r>
          </a:p>
        </p:txBody>
      </p:sp>
      <p:sp>
        <p:nvSpPr>
          <p:cNvPr id="3" name="TextBox 2">
            <a:extLst>
              <a:ext uri="{FF2B5EF4-FFF2-40B4-BE49-F238E27FC236}">
                <a16:creationId xmlns:a16="http://schemas.microsoft.com/office/drawing/2014/main" id="{EA9312E9-9EAD-A350-BD05-DD90B4D80633}"/>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What ships in the demo</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989B7040-7BBD-AF48-C8A7-EF8F8E5C6495}"/>
              </a:ext>
            </a:extLst>
          </p:cNvPr>
          <p:cNvSpPr/>
          <p:nvPr/>
        </p:nvSpPr>
        <p:spPr>
          <a:xfrm>
            <a:off x="584200" y="1905000"/>
            <a:ext cx="3505098" cy="4191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AFE808E1-AA16-33A7-AF8C-05DE73BC821B}"/>
              </a:ext>
            </a:extLst>
          </p:cNvPr>
          <p:cNvSpPr/>
          <p:nvPr/>
        </p:nvSpPr>
        <p:spPr>
          <a:xfrm>
            <a:off x="584200" y="1905000"/>
            <a:ext cx="3505098" cy="76200"/>
          </a:xfrm>
          <a:prstGeom prst="rect">
            <a:avLst/>
          </a:prstGeom>
          <a:solidFill>
            <a:srgbClr val="0F7A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BB204FE2-9982-7B0A-C13C-DB60B42A3D3F}"/>
              </a:ext>
            </a:extLst>
          </p:cNvPr>
          <p:cNvSpPr txBox="1"/>
          <p:nvPr/>
        </p:nvSpPr>
        <p:spPr>
          <a:xfrm>
            <a:off x="787400" y="2133600"/>
            <a:ext cx="3098698" cy="323165"/>
          </a:xfrm>
          <a:prstGeom prst="rect">
            <a:avLst/>
          </a:prstGeom>
          <a:noFill/>
        </p:spPr>
        <p:txBody>
          <a:bodyPr vert="horz" wrap="square" rtlCol="0">
            <a:spAutoFit/>
          </a:bodyPr>
          <a:lstStyle/>
          <a:p>
            <a:r>
              <a:rPr lang="en-IN" sz="1500" b="1">
                <a:solidFill>
                  <a:srgbClr val="1B2340"/>
                </a:solidFill>
                <a:latin typeface="IBM Plex Sans" panose="020B0503050203000203" pitchFamily="34" charset="0"/>
              </a:rPr>
              <a:t>5 Tables</a:t>
            </a:r>
          </a:p>
        </p:txBody>
      </p:sp>
      <p:sp>
        <p:nvSpPr>
          <p:cNvPr id="7" name="TextBox 6">
            <a:extLst>
              <a:ext uri="{FF2B5EF4-FFF2-40B4-BE49-F238E27FC236}">
                <a16:creationId xmlns:a16="http://schemas.microsoft.com/office/drawing/2014/main" id="{E2377928-BA6C-1217-5260-9DBF6FCCBBC2}"/>
              </a:ext>
            </a:extLst>
          </p:cNvPr>
          <p:cNvSpPr txBox="1"/>
          <p:nvPr/>
        </p:nvSpPr>
        <p:spPr>
          <a:xfrm>
            <a:off x="787400" y="2743200"/>
            <a:ext cx="3098698" cy="369332"/>
          </a:xfrm>
          <a:prstGeom prst="rect">
            <a:avLst/>
          </a:prstGeom>
          <a:noFill/>
        </p:spPr>
        <p:txBody>
          <a:bodyPr vert="horz" wrap="square" rtlCol="0">
            <a:noAutofit/>
          </a:bodyPr>
          <a:lstStyle/>
          <a:p>
            <a:pPr marL="342900" indent="-342900">
              <a:buFont typeface="+mj-lt"/>
              <a:buChar char="•"/>
            </a:pPr>
            <a:r>
              <a:rPr lang="en-US" sz="1300">
                <a:solidFill>
                  <a:srgbClr val="5B6182"/>
                </a:solidFill>
                <a:latin typeface="IBM Plex Sans" panose="020B0503050203000203" pitchFamily="34" charset="0"/>
              </a:rPr>
              <a:t>Demographics (14.1.1), Disposition (14.1.2), AE Overview (14.3.1), AE by SOC/PT (14.3.2), AE by Max Severity (14.3.3).</a:t>
            </a:r>
            <a:endParaRPr lang="en-IN" sz="1300">
              <a:solidFill>
                <a:srgbClr val="5B6182"/>
              </a:solidFill>
              <a:latin typeface="IBM Plex Sans" panose="020B0503050203000203" pitchFamily="34" charset="0"/>
            </a:endParaRPr>
          </a:p>
        </p:txBody>
      </p:sp>
      <p:sp>
        <p:nvSpPr>
          <p:cNvPr id="8" name="Rectangle: Rounded Corners 7">
            <a:extLst>
              <a:ext uri="{FF2B5EF4-FFF2-40B4-BE49-F238E27FC236}">
                <a16:creationId xmlns:a16="http://schemas.microsoft.com/office/drawing/2014/main" id="{C5427886-0955-9AA2-AE1C-C5DC0E9392EE}"/>
              </a:ext>
            </a:extLst>
          </p:cNvPr>
          <p:cNvSpPr/>
          <p:nvPr/>
        </p:nvSpPr>
        <p:spPr>
          <a:xfrm>
            <a:off x="4343298" y="1905000"/>
            <a:ext cx="3505099" cy="4191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6345360D-27DD-16E1-8F7C-91595EC247B5}"/>
              </a:ext>
            </a:extLst>
          </p:cNvPr>
          <p:cNvSpPr/>
          <p:nvPr/>
        </p:nvSpPr>
        <p:spPr>
          <a:xfrm>
            <a:off x="4343298" y="1905000"/>
            <a:ext cx="3505099" cy="76200"/>
          </a:xfrm>
          <a:prstGeom prst="rect">
            <a:avLst/>
          </a:prstGeom>
          <a:solidFill>
            <a:srgbClr val="0F7A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9F9A563B-6486-A78E-F742-BBEE2106FED3}"/>
              </a:ext>
            </a:extLst>
          </p:cNvPr>
          <p:cNvSpPr txBox="1"/>
          <p:nvPr/>
        </p:nvSpPr>
        <p:spPr>
          <a:xfrm>
            <a:off x="4546498" y="2133600"/>
            <a:ext cx="3098698" cy="323165"/>
          </a:xfrm>
          <a:prstGeom prst="rect">
            <a:avLst/>
          </a:prstGeom>
          <a:noFill/>
        </p:spPr>
        <p:txBody>
          <a:bodyPr vert="horz" wrap="square" rtlCol="0">
            <a:spAutoFit/>
          </a:bodyPr>
          <a:lstStyle/>
          <a:p>
            <a:r>
              <a:rPr lang="en-IN" sz="1500" b="1">
                <a:solidFill>
                  <a:srgbClr val="1B2340"/>
                </a:solidFill>
                <a:latin typeface="IBM Plex Sans" panose="020B0503050203000203" pitchFamily="34" charset="0"/>
              </a:rPr>
              <a:t>3 Figures</a:t>
            </a:r>
          </a:p>
        </p:txBody>
      </p:sp>
      <p:sp>
        <p:nvSpPr>
          <p:cNvPr id="11" name="TextBox 10">
            <a:extLst>
              <a:ext uri="{FF2B5EF4-FFF2-40B4-BE49-F238E27FC236}">
                <a16:creationId xmlns:a16="http://schemas.microsoft.com/office/drawing/2014/main" id="{B072CDC2-554B-0DBB-4473-17DB8E80847C}"/>
              </a:ext>
            </a:extLst>
          </p:cNvPr>
          <p:cNvSpPr txBox="1"/>
          <p:nvPr/>
        </p:nvSpPr>
        <p:spPr>
          <a:xfrm>
            <a:off x="4546498" y="2743200"/>
            <a:ext cx="3098698" cy="369332"/>
          </a:xfrm>
          <a:prstGeom prst="rect">
            <a:avLst/>
          </a:prstGeom>
          <a:noFill/>
        </p:spPr>
        <p:txBody>
          <a:bodyPr vert="horz" wrap="square" rtlCol="0">
            <a:noAutofit/>
          </a:bodyPr>
          <a:lstStyle/>
          <a:p>
            <a:pPr marL="342900" indent="-342900">
              <a:buFont typeface="+mj-lt"/>
              <a:buChar char="•"/>
            </a:pPr>
            <a:r>
              <a:rPr lang="en-US" sz="1300">
                <a:solidFill>
                  <a:srgbClr val="5B6182"/>
                </a:solidFill>
                <a:latin typeface="IBM Plex Sans" panose="020B0503050203000203" pitchFamily="34" charset="0"/>
              </a:rPr>
              <a:t>Boxplot by Treatment (14.2.1), Histogram (14.2.2), AE Incidence Bar Chart (14.3.1).</a:t>
            </a:r>
            <a:endParaRPr lang="en-IN" sz="1300">
              <a:solidFill>
                <a:srgbClr val="5B6182"/>
              </a:solidFill>
              <a:latin typeface="IBM Plex Sans" panose="020B0503050203000203" pitchFamily="34" charset="0"/>
            </a:endParaRPr>
          </a:p>
        </p:txBody>
      </p:sp>
      <p:sp>
        <p:nvSpPr>
          <p:cNvPr id="12" name="Rectangle: Rounded Corners 11">
            <a:extLst>
              <a:ext uri="{FF2B5EF4-FFF2-40B4-BE49-F238E27FC236}">
                <a16:creationId xmlns:a16="http://schemas.microsoft.com/office/drawing/2014/main" id="{488D6F2C-A104-9E49-AF1B-340747A33727}"/>
              </a:ext>
            </a:extLst>
          </p:cNvPr>
          <p:cNvSpPr/>
          <p:nvPr/>
        </p:nvSpPr>
        <p:spPr>
          <a:xfrm>
            <a:off x="8102397" y="1905000"/>
            <a:ext cx="3505098" cy="4191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62429D16-3187-F561-1869-7F01C25B2D91}"/>
              </a:ext>
            </a:extLst>
          </p:cNvPr>
          <p:cNvSpPr/>
          <p:nvPr/>
        </p:nvSpPr>
        <p:spPr>
          <a:xfrm>
            <a:off x="8102397" y="1905000"/>
            <a:ext cx="3505098" cy="76200"/>
          </a:xfrm>
          <a:prstGeom prst="rect">
            <a:avLst/>
          </a:prstGeom>
          <a:solidFill>
            <a:srgbClr val="0F7A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3B1EB9BD-E718-68F5-F4E8-D544EF0B62AA}"/>
              </a:ext>
            </a:extLst>
          </p:cNvPr>
          <p:cNvSpPr txBox="1"/>
          <p:nvPr/>
        </p:nvSpPr>
        <p:spPr>
          <a:xfrm>
            <a:off x="8305597" y="2133600"/>
            <a:ext cx="3098698" cy="323165"/>
          </a:xfrm>
          <a:prstGeom prst="rect">
            <a:avLst/>
          </a:prstGeom>
          <a:noFill/>
        </p:spPr>
        <p:txBody>
          <a:bodyPr vert="horz" wrap="square" rtlCol="0">
            <a:spAutoFit/>
          </a:bodyPr>
          <a:lstStyle/>
          <a:p>
            <a:r>
              <a:rPr lang="en-IN" sz="1500" b="1">
                <a:solidFill>
                  <a:srgbClr val="1B2340"/>
                </a:solidFill>
                <a:latin typeface="IBM Plex Sans" panose="020B0503050203000203" pitchFamily="34" charset="0"/>
              </a:rPr>
              <a:t>3 Export formats</a:t>
            </a:r>
          </a:p>
        </p:txBody>
      </p:sp>
      <p:sp>
        <p:nvSpPr>
          <p:cNvPr id="15" name="TextBox 14">
            <a:extLst>
              <a:ext uri="{FF2B5EF4-FFF2-40B4-BE49-F238E27FC236}">
                <a16:creationId xmlns:a16="http://schemas.microsoft.com/office/drawing/2014/main" id="{38448E33-2C78-0BEA-D013-6DBAD9761367}"/>
              </a:ext>
            </a:extLst>
          </p:cNvPr>
          <p:cNvSpPr txBox="1"/>
          <p:nvPr/>
        </p:nvSpPr>
        <p:spPr>
          <a:xfrm>
            <a:off x="8305597" y="2743200"/>
            <a:ext cx="3098698" cy="369332"/>
          </a:xfrm>
          <a:prstGeom prst="rect">
            <a:avLst/>
          </a:prstGeom>
          <a:noFill/>
        </p:spPr>
        <p:txBody>
          <a:bodyPr vert="horz" wrap="square" rtlCol="0">
            <a:noAutofit/>
          </a:bodyPr>
          <a:lstStyle/>
          <a:p>
            <a:pPr marL="342900" indent="-342900">
              <a:buFont typeface="+mj-lt"/>
              <a:buChar char="•"/>
            </a:pPr>
            <a:r>
              <a:rPr lang="en-US" sz="1300">
                <a:solidFill>
                  <a:srgbClr val="5B6182"/>
                </a:solidFill>
                <a:latin typeface="IBM Plex Sans" panose="020B0503050203000203" pitchFamily="34" charset="0"/>
              </a:rPr>
              <a:t>HTML and CSV for tables, plus Word (.docx) via flextable/officer; PNG and SVG for figures.</a:t>
            </a:r>
            <a:endParaRPr lang="en-IN" sz="1300">
              <a:solidFill>
                <a:srgbClr val="5B6182"/>
              </a:solidFill>
              <a:latin typeface="IBM Plex Sans" panose="020B0503050203000203" pitchFamily="34" charset="0"/>
            </a:endParaRPr>
          </a:p>
        </p:txBody>
      </p:sp>
      <p:sp>
        <p:nvSpPr>
          <p:cNvPr id="16" name="TextBox 15">
            <a:extLst>
              <a:ext uri="{FF2B5EF4-FFF2-40B4-BE49-F238E27FC236}">
                <a16:creationId xmlns:a16="http://schemas.microsoft.com/office/drawing/2014/main" id="{D0AD7C98-4878-7AF3-BFC6-9FCCD73B946C}"/>
              </a:ext>
            </a:extLst>
          </p:cNvPr>
          <p:cNvSpPr txBox="1"/>
          <p:nvPr/>
        </p:nvSpPr>
        <p:spPr>
          <a:xfrm>
            <a:off x="304800" y="6553200"/>
            <a:ext cx="6350000" cy="276999"/>
          </a:xfrm>
          <a:prstGeom prst="rect">
            <a:avLst/>
          </a:prstGeom>
          <a:noFill/>
        </p:spPr>
        <p:txBody>
          <a:bodyPr vert="horz" wrap="square" rtlCol="0">
            <a:spAutoFit/>
          </a:bodyPr>
          <a:lstStyle/>
          <a:p>
            <a:r>
              <a:rPr lang="en-IN" sz="1200" i="1">
                <a:solidFill>
                  <a:srgbClr val="5B6182"/>
                </a:solidFill>
                <a:latin typeface="IBM Plex Sans" panose="020B0503050203000203" pitchFamily="34" charset="0"/>
              </a:rPr>
              <a:t>Demo App Ã‚Â· Architecture</a:t>
            </a:r>
          </a:p>
        </p:txBody>
      </p:sp>
    </p:spTree>
    <p:extLst>
      <p:ext uri="{BB962C8B-B14F-4D97-AF65-F5344CB8AC3E}">
        <p14:creationId xmlns:p14="http://schemas.microsoft.com/office/powerpoint/2010/main" val="7672482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F27E5C-A638-8897-2E6C-95315A8FE14E}"/>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CODE Ã‚Â· CONSTANTS</a:t>
            </a:r>
          </a:p>
        </p:txBody>
      </p:sp>
      <p:sp>
        <p:nvSpPr>
          <p:cNvPr id="3" name="TextBox 2">
            <a:extLst>
              <a:ext uri="{FF2B5EF4-FFF2-40B4-BE49-F238E27FC236}">
                <a16:creationId xmlns:a16="http://schemas.microsoft.com/office/drawing/2014/main" id="{028EB649-D36F-DCD1-E47F-A063446ABC73}"/>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Brand palette and treatment colors</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871DFA41-AB26-CC70-A710-C3518B378708}"/>
              </a:ext>
            </a:extLst>
          </p:cNvPr>
          <p:cNvSpPr/>
          <p:nvPr/>
        </p:nvSpPr>
        <p:spPr>
          <a:xfrm>
            <a:off x="584200" y="1651000"/>
            <a:ext cx="5359248" cy="4699000"/>
          </a:xfrm>
          <a:prstGeom prst="roundRect">
            <a:avLst/>
          </a:prstGeom>
          <a:solidFill>
            <a:srgbClr val="161C3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7F8B1C0F-F99F-1E8F-0046-2A997E5B8C16}"/>
              </a:ext>
            </a:extLst>
          </p:cNvPr>
          <p:cNvSpPr txBox="1"/>
          <p:nvPr/>
        </p:nvSpPr>
        <p:spPr>
          <a:xfrm>
            <a:off x="787400" y="1854200"/>
            <a:ext cx="4952848" cy="1015663"/>
          </a:xfrm>
          <a:prstGeom prst="rect">
            <a:avLst/>
          </a:prstGeom>
          <a:noFill/>
        </p:spPr>
        <p:txBody>
          <a:bodyPr vert="horz" wrap="square" rtlCol="0">
            <a:spAutoFit/>
          </a:bodyPr>
          <a:lstStyle/>
          <a:p>
            <a:r>
              <a:rPr lang="en-IN" sz="1200">
                <a:solidFill>
                  <a:srgbClr val="DCE1F5"/>
                </a:solidFill>
                <a:latin typeface="Consolas" panose="020B0609020204030204" pitchFamily="49" charset="0"/>
              </a:rPr>
              <a:t>`BRAND_BLUE &lt;- "#2C3E7A"
TRT_PALETTE &lt;- c("#546E7A","#1565C0",
 "#B71C1C","#2E7D32","#6A1B9A",
 "#E65100","#00695C","#4527A0",
 "#37474F","#880E4F")`</a:t>
            </a:r>
          </a:p>
        </p:txBody>
      </p:sp>
      <p:sp>
        <p:nvSpPr>
          <p:cNvPr id="6" name="TextBox 5">
            <a:extLst>
              <a:ext uri="{FF2B5EF4-FFF2-40B4-BE49-F238E27FC236}">
                <a16:creationId xmlns:a16="http://schemas.microsoft.com/office/drawing/2014/main" id="{16012577-8767-4298-C0A6-B55B254B399B}"/>
              </a:ext>
            </a:extLst>
          </p:cNvPr>
          <p:cNvSpPr txBox="1"/>
          <p:nvPr/>
        </p:nvSpPr>
        <p:spPr>
          <a:xfrm>
            <a:off x="6248248" y="1752600"/>
            <a:ext cx="5359248" cy="369332"/>
          </a:xfrm>
          <a:prstGeom prst="rect">
            <a:avLst/>
          </a:prstGeom>
          <a:noFill/>
        </p:spPr>
        <p:txBody>
          <a:bodyPr vert="horz" wrap="square" rtlCol="0">
            <a:noAutofit/>
          </a:bodyPr>
          <a:lstStyle/>
          <a:p>
            <a:pPr marL="342900" indent="-342900">
              <a:buFont typeface="+mj-lt"/>
              <a:buChar char="•"/>
            </a:pPr>
            <a:r>
              <a:rPr lang="en-US" sz="1400">
                <a:solidFill>
                  <a:srgbClr val="5B6182"/>
                </a:solidFill>
                <a:latin typeface="IBM Plex Sans" panose="020B0503050203000203" pitchFamily="34" charset="0"/>
              </a:rPr>
              <a:t>Defined once, at the top of the file, and referenced everywhere - the gt header, the sidebar title, and every ggplot2 figure
10 distinguishable colors support up to 10 treatment arms before any repeats
Centralizing the palette means a rebrand is a one-line change, not a find-and-replace across every chart function</a:t>
            </a:r>
            <a:endParaRPr lang="en-IN" sz="1400">
              <a:solidFill>
                <a:srgbClr val="5B6182"/>
              </a:solidFill>
              <a:latin typeface="IBM Plex Sans" panose="020B0503050203000203" pitchFamily="34" charset="0"/>
            </a:endParaRPr>
          </a:p>
        </p:txBody>
      </p:sp>
      <p:sp>
        <p:nvSpPr>
          <p:cNvPr id="7" name="TextBox 6">
            <a:extLst>
              <a:ext uri="{FF2B5EF4-FFF2-40B4-BE49-F238E27FC236}">
                <a16:creationId xmlns:a16="http://schemas.microsoft.com/office/drawing/2014/main" id="{5DFCE11D-183F-743B-AB70-E9995432EE0B}"/>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Code Walkthrough Ã‚Â· Foundations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20715490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31AB45-0CF2-E520-87FB-D43A74E80B14}"/>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CODE Ã‚Â· CONSTANTS</a:t>
            </a:r>
          </a:p>
        </p:txBody>
      </p:sp>
      <p:sp>
        <p:nvSpPr>
          <p:cNvPr id="3" name="TextBox 2">
            <a:extLst>
              <a:ext uri="{FF2B5EF4-FFF2-40B4-BE49-F238E27FC236}">
                <a16:creationId xmlns:a16="http://schemas.microsoft.com/office/drawing/2014/main" id="{2520314F-9C11-A776-93D9-1C157BC7EF4E}"/>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Table &amp; figure menus, and their titles</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253D7131-45CE-0C89-FE98-E315BA78B3C7}"/>
              </a:ext>
            </a:extLst>
          </p:cNvPr>
          <p:cNvSpPr/>
          <p:nvPr/>
        </p:nvSpPr>
        <p:spPr>
          <a:xfrm>
            <a:off x="584200" y="1651000"/>
            <a:ext cx="5359248" cy="4699000"/>
          </a:xfrm>
          <a:prstGeom prst="roundRect">
            <a:avLst/>
          </a:prstGeom>
          <a:solidFill>
            <a:srgbClr val="161C3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ABCEE35A-99A4-7663-E43C-8A51689396B6}"/>
              </a:ext>
            </a:extLst>
          </p:cNvPr>
          <p:cNvSpPr txBox="1"/>
          <p:nvPr/>
        </p:nvSpPr>
        <p:spPr>
          <a:xfrm>
            <a:off x="787400" y="1854200"/>
            <a:ext cx="4952848" cy="1384995"/>
          </a:xfrm>
          <a:prstGeom prst="rect">
            <a:avLst/>
          </a:prstGeom>
          <a:noFill/>
        </p:spPr>
        <p:txBody>
          <a:bodyPr vert="horz" wrap="square" rtlCol="0">
            <a:spAutoFit/>
          </a:bodyPr>
          <a:lstStyle/>
          <a:p>
            <a:r>
              <a:rPr lang="en-IN" sz="1200">
                <a:solidFill>
                  <a:srgbClr val="DCE1F5"/>
                </a:solidFill>
                <a:latin typeface="Consolas" panose="020B0609020204030204" pitchFamily="49" charset="0"/>
              </a:rPr>
              <a:t>`TABLE_CHOICES &lt;- c(
 "Demographics (T14.1.1)" = "demog",
 "Disposition (T14.1.2)" = "dispos",
 "AE Overview (T14.3.1)" = "ae_overview",
 "AE by SOC / PT (T14.3.2)" = "ae_socpt",
 "AE by Max Severity (T14.3.3)" = "ae_sev"
)`</a:t>
            </a:r>
          </a:p>
        </p:txBody>
      </p:sp>
      <p:sp>
        <p:nvSpPr>
          <p:cNvPr id="6" name="TextBox 5">
            <a:extLst>
              <a:ext uri="{FF2B5EF4-FFF2-40B4-BE49-F238E27FC236}">
                <a16:creationId xmlns:a16="http://schemas.microsoft.com/office/drawing/2014/main" id="{64A954C6-F17B-C9BE-055E-F50B4393B0A4}"/>
              </a:ext>
            </a:extLst>
          </p:cNvPr>
          <p:cNvSpPr txBox="1"/>
          <p:nvPr/>
        </p:nvSpPr>
        <p:spPr>
          <a:xfrm>
            <a:off x="6248248" y="1752600"/>
            <a:ext cx="5359248" cy="369332"/>
          </a:xfrm>
          <a:prstGeom prst="rect">
            <a:avLst/>
          </a:prstGeom>
          <a:noFill/>
        </p:spPr>
        <p:txBody>
          <a:bodyPr vert="horz" wrap="square" rtlCol="0">
            <a:noAutofit/>
          </a:bodyPr>
          <a:lstStyle/>
          <a:p>
            <a:pPr marL="342900" indent="-342900">
              <a:buFont typeface="+mj-lt"/>
              <a:buChar char="•"/>
            </a:pPr>
            <a:r>
              <a:rPr lang="en-US" sz="1400">
                <a:solidFill>
                  <a:srgbClr val="5B6182"/>
                </a:solidFill>
                <a:latin typeface="IBM Plex Sans" panose="020B0503050203000203" pitchFamily="34" charset="0"/>
              </a:rPr>
              <a:t>The named vector is the dropdown label on the left, internal key on the right
TABLE_TITLES maps the same keys to full TLF titles used in headers and exports
Adding a 6th table means: one new entry here, one new build_*() function, one switch() case nothing else changes</a:t>
            </a:r>
            <a:endParaRPr lang="en-IN" sz="1400">
              <a:solidFill>
                <a:srgbClr val="5B6182"/>
              </a:solidFill>
              <a:latin typeface="IBM Plex Sans" panose="020B0503050203000203" pitchFamily="34" charset="0"/>
            </a:endParaRPr>
          </a:p>
        </p:txBody>
      </p:sp>
      <p:sp>
        <p:nvSpPr>
          <p:cNvPr id="7" name="TextBox 6">
            <a:extLst>
              <a:ext uri="{FF2B5EF4-FFF2-40B4-BE49-F238E27FC236}">
                <a16:creationId xmlns:a16="http://schemas.microsoft.com/office/drawing/2014/main" id="{024B4A1F-4C16-90E6-441B-6F1A8C68F09A}"/>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Code Walkthrough Ã‚Â· Foundations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18115132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19B2CC-2B7D-87A9-283D-B50A80DC32CA}"/>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CODE Ã‚Â· FORMATTERS</a:t>
            </a:r>
          </a:p>
        </p:txBody>
      </p:sp>
      <p:sp>
        <p:nvSpPr>
          <p:cNvPr id="3" name="TextBox 2">
            <a:extLst>
              <a:ext uri="{FF2B5EF4-FFF2-40B4-BE49-F238E27FC236}">
                <a16:creationId xmlns:a16="http://schemas.microsoft.com/office/drawing/2014/main" id="{25907687-7C91-7E28-A7B5-0855B6F12A29}"/>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Small formatting helpers, used everywhere</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33C0ADD0-1404-449D-8498-7B2F01B661AA}"/>
              </a:ext>
            </a:extLst>
          </p:cNvPr>
          <p:cNvSpPr/>
          <p:nvPr/>
        </p:nvSpPr>
        <p:spPr>
          <a:xfrm>
            <a:off x="584200" y="1651000"/>
            <a:ext cx="5359248"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61DEFE76-473D-6355-DCF7-A93F9C9460AF}"/>
              </a:ext>
            </a:extLst>
          </p:cNvPr>
          <p:cNvSpPr txBox="1"/>
          <p:nvPr/>
        </p:nvSpPr>
        <p:spPr>
          <a:xfrm>
            <a:off x="863600" y="1879600"/>
            <a:ext cx="4800448" cy="353943"/>
          </a:xfrm>
          <a:prstGeom prst="rect">
            <a:avLst/>
          </a:prstGeom>
          <a:noFill/>
        </p:spPr>
        <p:txBody>
          <a:bodyPr vert="horz" wrap="square" rtlCol="0">
            <a:spAutoFit/>
          </a:bodyPr>
          <a:lstStyle/>
          <a:p>
            <a:r>
              <a:rPr lang="en-IN" sz="1700" b="1">
                <a:solidFill>
                  <a:srgbClr val="1B2340"/>
                </a:solidFill>
                <a:latin typeface="IBM Plex Sans" panose="020B0503050203000203" pitchFamily="34" charset="0"/>
              </a:rPr>
              <a:t>The three formatters</a:t>
            </a:r>
          </a:p>
        </p:txBody>
      </p:sp>
      <p:sp>
        <p:nvSpPr>
          <p:cNvPr id="6" name="TextBox 5">
            <a:extLst>
              <a:ext uri="{FF2B5EF4-FFF2-40B4-BE49-F238E27FC236}">
                <a16:creationId xmlns:a16="http://schemas.microsoft.com/office/drawing/2014/main" id="{A0FA8224-43D2-A858-7585-196C6905ACEB}"/>
              </a:ext>
            </a:extLst>
          </p:cNvPr>
          <p:cNvSpPr txBox="1"/>
          <p:nvPr/>
        </p:nvSpPr>
        <p:spPr>
          <a:xfrm>
            <a:off x="863600" y="2311400"/>
            <a:ext cx="4800448" cy="369332"/>
          </a:xfrm>
          <a:prstGeom prst="rect">
            <a:avLst/>
          </a:prstGeom>
          <a:noFill/>
        </p:spPr>
        <p:txBody>
          <a:bodyPr vert="horz" wrap="square" rtlCol="0">
            <a:noAutofit/>
          </a:bodyPr>
          <a:lstStyle/>
          <a:p>
            <a:pPr marL="342900" indent="-342900">
              <a:buFont typeface="+mj-lt"/>
              <a:buChar char="•"/>
            </a:pPr>
            <a:r>
              <a:rPr lang="da-DK" sz="1500">
                <a:solidFill>
                  <a:srgbClr val="5B6182"/>
                </a:solidFill>
                <a:latin typeface="IBM Plex Sans" panose="020B0503050203000203" pitchFamily="34" charset="0"/>
              </a:rPr>
              <a:t>fmt_n_pct(n, N) -&gt; "12 (34.3%)"
fmt_mean_sd(x) -&gt; "45.2 (12.1)"
fmt_med_rng(x) -&gt; "44.0 [21.0, 78.0]"</a:t>
            </a:r>
            <a:endParaRPr lang="en-IN" sz="1500">
              <a:solidFill>
                <a:srgbClr val="5B6182"/>
              </a:solidFill>
              <a:latin typeface="IBM Plex Sans" panose="020B0503050203000203" pitchFamily="34" charset="0"/>
            </a:endParaRPr>
          </a:p>
        </p:txBody>
      </p:sp>
      <p:sp>
        <p:nvSpPr>
          <p:cNvPr id="7" name="Rectangle: Rounded Corners 6">
            <a:extLst>
              <a:ext uri="{FF2B5EF4-FFF2-40B4-BE49-F238E27FC236}">
                <a16:creationId xmlns:a16="http://schemas.microsoft.com/office/drawing/2014/main" id="{2B2BC803-0C62-A417-058B-FF7070A87581}"/>
              </a:ext>
            </a:extLst>
          </p:cNvPr>
          <p:cNvSpPr/>
          <p:nvPr/>
        </p:nvSpPr>
        <p:spPr>
          <a:xfrm>
            <a:off x="6248248" y="1651000"/>
            <a:ext cx="5359247"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C8FEEC13-AB48-53CE-AE4D-79BAA21BCAF7}"/>
              </a:ext>
            </a:extLst>
          </p:cNvPr>
          <p:cNvSpPr txBox="1"/>
          <p:nvPr/>
        </p:nvSpPr>
        <p:spPr>
          <a:xfrm>
            <a:off x="6527647" y="1879600"/>
            <a:ext cx="4800448" cy="353943"/>
          </a:xfrm>
          <a:prstGeom prst="rect">
            <a:avLst/>
          </a:prstGeom>
          <a:noFill/>
        </p:spPr>
        <p:txBody>
          <a:bodyPr vert="horz" wrap="square" rtlCol="0">
            <a:spAutoFit/>
          </a:bodyPr>
          <a:lstStyle/>
          <a:p>
            <a:r>
              <a:rPr lang="en-IN" sz="1700" b="1">
                <a:solidFill>
                  <a:srgbClr val="1B2340"/>
                </a:solidFill>
                <a:latin typeface="IBM Plex Sans" panose="020B0503050203000203" pitchFamily="34" charset="0"/>
              </a:rPr>
              <a:t>Why it matters</a:t>
            </a:r>
          </a:p>
        </p:txBody>
      </p:sp>
      <p:sp>
        <p:nvSpPr>
          <p:cNvPr id="9" name="TextBox 8">
            <a:extLst>
              <a:ext uri="{FF2B5EF4-FFF2-40B4-BE49-F238E27FC236}">
                <a16:creationId xmlns:a16="http://schemas.microsoft.com/office/drawing/2014/main" id="{3430525C-EBCA-AF0D-0EEB-92E0029D286D}"/>
              </a:ext>
            </a:extLst>
          </p:cNvPr>
          <p:cNvSpPr txBox="1"/>
          <p:nvPr/>
        </p:nvSpPr>
        <p:spPr>
          <a:xfrm>
            <a:off x="6527647" y="2311400"/>
            <a:ext cx="4800448" cy="369332"/>
          </a:xfrm>
          <a:prstGeom prst="rect">
            <a:avLst/>
          </a:prstGeom>
          <a:noFill/>
        </p:spPr>
        <p:txBody>
          <a:bodyPr vert="horz" wrap="square" rtlCol="0">
            <a:noAutofit/>
          </a:bodyPr>
          <a:lstStyle/>
          <a:p>
            <a:pPr marL="342900" indent="-342900">
              <a:buFont typeface="+mj-lt"/>
              <a:buChar char="•"/>
            </a:pPr>
            <a:r>
              <a:rPr lang="en-US" sz="1500">
                <a:solidFill>
                  <a:srgbClr val="5B6182"/>
                </a:solidFill>
                <a:latin typeface="IBM Plex Sans" panose="020B0503050203000203" pitchFamily="34" charset="0"/>
              </a:rPr>
              <a:t>Every table in the app calls these formatting is consistent by construction, not by convention
A single decimal-place change (e.g. regulatory requirement update) touches 3 lines total
Each formatter is a pure function: same input always produces the same string, easy to unit test</a:t>
            </a:r>
            <a:endParaRPr lang="en-IN" sz="1500">
              <a:solidFill>
                <a:srgbClr val="5B6182"/>
              </a:solidFill>
              <a:latin typeface="IBM Plex Sans" panose="020B0503050203000203" pitchFamily="34" charset="0"/>
            </a:endParaRPr>
          </a:p>
        </p:txBody>
      </p:sp>
      <p:sp>
        <p:nvSpPr>
          <p:cNvPr id="10" name="TextBox 9">
            <a:extLst>
              <a:ext uri="{FF2B5EF4-FFF2-40B4-BE49-F238E27FC236}">
                <a16:creationId xmlns:a16="http://schemas.microsoft.com/office/drawing/2014/main" id="{51820DA1-5AF2-41EC-F600-C1333C0BFB03}"/>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Code Walkthrough Ã‚Â· Foundations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36739796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D70B94-639C-8B4D-91D8-845021652535}"/>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CODE Ã‚Â· PACKAGE SPOTLIGHT</a:t>
            </a:r>
          </a:p>
        </p:txBody>
      </p:sp>
      <p:sp>
        <p:nvSpPr>
          <p:cNvPr id="3" name="TextBox 2">
            <a:extLst>
              <a:ext uri="{FF2B5EF4-FFF2-40B4-BE49-F238E27FC236}">
                <a16:creationId xmlns:a16="http://schemas.microsoft.com/office/drawing/2014/main" id="{06CFF23B-7CC5-4CE8-5F6A-B1DCB760A2C9}"/>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shiny + bslib Ã¢ the app's skeleton</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64BFBA09-E1A0-FB8D-C932-664F6AECB178}"/>
              </a:ext>
            </a:extLst>
          </p:cNvPr>
          <p:cNvSpPr/>
          <p:nvPr/>
        </p:nvSpPr>
        <p:spPr>
          <a:xfrm>
            <a:off x="584200" y="1905000"/>
            <a:ext cx="3505098" cy="4191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D58F758B-28DF-959A-1B76-3818D4A3BDC6}"/>
              </a:ext>
            </a:extLst>
          </p:cNvPr>
          <p:cNvSpPr/>
          <p:nvPr/>
        </p:nvSpPr>
        <p:spPr>
          <a:xfrm>
            <a:off x="584200" y="1905000"/>
            <a:ext cx="3505098" cy="76200"/>
          </a:xfrm>
          <a:prstGeom prst="rect">
            <a:avLst/>
          </a:prstGeom>
          <a:solidFill>
            <a:srgbClr val="0F7A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11C180C8-7FC7-6648-5E07-7316200C5C6A}"/>
              </a:ext>
            </a:extLst>
          </p:cNvPr>
          <p:cNvSpPr txBox="1"/>
          <p:nvPr/>
        </p:nvSpPr>
        <p:spPr>
          <a:xfrm>
            <a:off x="787400" y="2133600"/>
            <a:ext cx="3098698" cy="323165"/>
          </a:xfrm>
          <a:prstGeom prst="rect">
            <a:avLst/>
          </a:prstGeom>
          <a:noFill/>
        </p:spPr>
        <p:txBody>
          <a:bodyPr vert="horz" wrap="square" rtlCol="0">
            <a:spAutoFit/>
          </a:bodyPr>
          <a:lstStyle/>
          <a:p>
            <a:r>
              <a:rPr lang="en-IN" sz="1500" b="1">
                <a:solidFill>
                  <a:srgbClr val="1B2340"/>
                </a:solidFill>
                <a:latin typeface="IBM Plex Sans" panose="020B0503050203000203" pitchFamily="34" charset="0"/>
              </a:rPr>
              <a:t>shiny</a:t>
            </a:r>
          </a:p>
        </p:txBody>
      </p:sp>
      <p:sp>
        <p:nvSpPr>
          <p:cNvPr id="7" name="TextBox 6">
            <a:extLst>
              <a:ext uri="{FF2B5EF4-FFF2-40B4-BE49-F238E27FC236}">
                <a16:creationId xmlns:a16="http://schemas.microsoft.com/office/drawing/2014/main" id="{8C1BF255-F7F9-0FE8-A295-D55BCB4186E0}"/>
              </a:ext>
            </a:extLst>
          </p:cNvPr>
          <p:cNvSpPr txBox="1"/>
          <p:nvPr/>
        </p:nvSpPr>
        <p:spPr>
          <a:xfrm>
            <a:off x="787400" y="2743200"/>
            <a:ext cx="3098698" cy="369332"/>
          </a:xfrm>
          <a:prstGeom prst="rect">
            <a:avLst/>
          </a:prstGeom>
          <a:noFill/>
        </p:spPr>
        <p:txBody>
          <a:bodyPr vert="horz" wrap="square" rtlCol="0">
            <a:noAutofit/>
          </a:bodyPr>
          <a:lstStyle/>
          <a:p>
            <a:pPr marL="342900" indent="-342900">
              <a:buFont typeface="+mj-lt"/>
              <a:buChar char="•"/>
            </a:pPr>
            <a:r>
              <a:rPr lang="en-US" sz="1300">
                <a:solidFill>
                  <a:srgbClr val="5B6182"/>
                </a:solidFill>
                <a:latin typeface="IBM Plex Sans" panose="020B0503050203000203" pitchFamily="34" charset="0"/>
              </a:rPr>
              <a:t>Core reactivity engine, input/output bindings, downloadHandler(). Everything else in this app is decoration on top of shiny's dependency graph.</a:t>
            </a:r>
            <a:endParaRPr lang="en-IN" sz="1300">
              <a:solidFill>
                <a:srgbClr val="5B6182"/>
              </a:solidFill>
              <a:latin typeface="IBM Plex Sans" panose="020B0503050203000203" pitchFamily="34" charset="0"/>
            </a:endParaRPr>
          </a:p>
        </p:txBody>
      </p:sp>
      <p:sp>
        <p:nvSpPr>
          <p:cNvPr id="8" name="Rectangle: Rounded Corners 7">
            <a:extLst>
              <a:ext uri="{FF2B5EF4-FFF2-40B4-BE49-F238E27FC236}">
                <a16:creationId xmlns:a16="http://schemas.microsoft.com/office/drawing/2014/main" id="{AE45644F-495E-4F2C-7CF5-328B56B2AB31}"/>
              </a:ext>
            </a:extLst>
          </p:cNvPr>
          <p:cNvSpPr/>
          <p:nvPr/>
        </p:nvSpPr>
        <p:spPr>
          <a:xfrm>
            <a:off x="4343298" y="1905000"/>
            <a:ext cx="3505099" cy="4191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718CE7AE-240A-220F-E2A2-9FF004C36E93}"/>
              </a:ext>
            </a:extLst>
          </p:cNvPr>
          <p:cNvSpPr/>
          <p:nvPr/>
        </p:nvSpPr>
        <p:spPr>
          <a:xfrm>
            <a:off x="4343298" y="1905000"/>
            <a:ext cx="3505099" cy="76200"/>
          </a:xfrm>
          <a:prstGeom prst="rect">
            <a:avLst/>
          </a:prstGeom>
          <a:solidFill>
            <a:srgbClr val="0F7A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2246E368-7C6C-13B7-0E6A-544790F82308}"/>
              </a:ext>
            </a:extLst>
          </p:cNvPr>
          <p:cNvSpPr txBox="1"/>
          <p:nvPr/>
        </p:nvSpPr>
        <p:spPr>
          <a:xfrm>
            <a:off x="4546498" y="2133600"/>
            <a:ext cx="3098698" cy="323165"/>
          </a:xfrm>
          <a:prstGeom prst="rect">
            <a:avLst/>
          </a:prstGeom>
          <a:noFill/>
        </p:spPr>
        <p:txBody>
          <a:bodyPr vert="horz" wrap="square" rtlCol="0">
            <a:spAutoFit/>
          </a:bodyPr>
          <a:lstStyle/>
          <a:p>
            <a:r>
              <a:rPr lang="en-IN" sz="1500" b="1">
                <a:solidFill>
                  <a:srgbClr val="1B2340"/>
                </a:solidFill>
                <a:latin typeface="IBM Plex Sans" panose="020B0503050203000203" pitchFamily="34" charset="0"/>
              </a:rPr>
              <a:t>bslib</a:t>
            </a:r>
          </a:p>
        </p:txBody>
      </p:sp>
      <p:sp>
        <p:nvSpPr>
          <p:cNvPr id="11" name="TextBox 10">
            <a:extLst>
              <a:ext uri="{FF2B5EF4-FFF2-40B4-BE49-F238E27FC236}">
                <a16:creationId xmlns:a16="http://schemas.microsoft.com/office/drawing/2014/main" id="{129EED1F-7FFF-A7E9-A32A-FFBAD77BB0B2}"/>
              </a:ext>
            </a:extLst>
          </p:cNvPr>
          <p:cNvSpPr txBox="1"/>
          <p:nvPr/>
        </p:nvSpPr>
        <p:spPr>
          <a:xfrm>
            <a:off x="4546498" y="2743200"/>
            <a:ext cx="3098698" cy="369332"/>
          </a:xfrm>
          <a:prstGeom prst="rect">
            <a:avLst/>
          </a:prstGeom>
          <a:noFill/>
        </p:spPr>
        <p:txBody>
          <a:bodyPr vert="horz" wrap="square" rtlCol="0">
            <a:noAutofit/>
          </a:bodyPr>
          <a:lstStyle/>
          <a:p>
            <a:pPr marL="342900" indent="-342900">
              <a:buFont typeface="+mj-lt"/>
              <a:buChar char="•"/>
            </a:pPr>
            <a:r>
              <a:rPr lang="en-US" sz="1300">
                <a:solidFill>
                  <a:srgbClr val="5B6182"/>
                </a:solidFill>
                <a:latin typeface="IBM Plex Sans" panose="020B0503050203000203" pitchFamily="34" charset="0"/>
              </a:rPr>
              <a:t>Bootstrap 5 theming and modern layout primitives page_sidebar(), navset_tab(), card(), layout_columns() used throughout the UI.</a:t>
            </a:r>
            <a:endParaRPr lang="en-IN" sz="1300">
              <a:solidFill>
                <a:srgbClr val="5B6182"/>
              </a:solidFill>
              <a:latin typeface="IBM Plex Sans" panose="020B0503050203000203" pitchFamily="34" charset="0"/>
            </a:endParaRPr>
          </a:p>
        </p:txBody>
      </p:sp>
      <p:sp>
        <p:nvSpPr>
          <p:cNvPr id="12" name="Rectangle: Rounded Corners 11">
            <a:extLst>
              <a:ext uri="{FF2B5EF4-FFF2-40B4-BE49-F238E27FC236}">
                <a16:creationId xmlns:a16="http://schemas.microsoft.com/office/drawing/2014/main" id="{1C4DA2FE-68CF-6148-D26C-9ABF98ED1B3A}"/>
              </a:ext>
            </a:extLst>
          </p:cNvPr>
          <p:cNvSpPr/>
          <p:nvPr/>
        </p:nvSpPr>
        <p:spPr>
          <a:xfrm>
            <a:off x="8102397" y="1905000"/>
            <a:ext cx="3505098" cy="4191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C7E0C5BF-10DD-CCCB-44D0-81AC7C9ACE63}"/>
              </a:ext>
            </a:extLst>
          </p:cNvPr>
          <p:cNvSpPr/>
          <p:nvPr/>
        </p:nvSpPr>
        <p:spPr>
          <a:xfrm>
            <a:off x="8102397" y="1905000"/>
            <a:ext cx="3505098" cy="76200"/>
          </a:xfrm>
          <a:prstGeom prst="rect">
            <a:avLst/>
          </a:prstGeom>
          <a:solidFill>
            <a:srgbClr val="0F7A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FE6DD627-ED0B-5CA9-2B3B-2DBC40E9EDE8}"/>
              </a:ext>
            </a:extLst>
          </p:cNvPr>
          <p:cNvSpPr txBox="1"/>
          <p:nvPr/>
        </p:nvSpPr>
        <p:spPr>
          <a:xfrm>
            <a:off x="8305597" y="2133600"/>
            <a:ext cx="3098698" cy="323165"/>
          </a:xfrm>
          <a:prstGeom prst="rect">
            <a:avLst/>
          </a:prstGeom>
          <a:noFill/>
        </p:spPr>
        <p:txBody>
          <a:bodyPr vert="horz" wrap="square" rtlCol="0">
            <a:spAutoFit/>
          </a:bodyPr>
          <a:lstStyle/>
          <a:p>
            <a:r>
              <a:rPr lang="en-IN" sz="1500" b="1">
                <a:solidFill>
                  <a:srgbClr val="1B2340"/>
                </a:solidFill>
                <a:latin typeface="IBM Plex Sans" panose="020B0503050203000203" pitchFamily="34" charset="0"/>
              </a:rPr>
              <a:t>shinyWidgets</a:t>
            </a:r>
          </a:p>
        </p:txBody>
      </p:sp>
      <p:sp>
        <p:nvSpPr>
          <p:cNvPr id="15" name="TextBox 14">
            <a:extLst>
              <a:ext uri="{FF2B5EF4-FFF2-40B4-BE49-F238E27FC236}">
                <a16:creationId xmlns:a16="http://schemas.microsoft.com/office/drawing/2014/main" id="{90E5E1E1-D2CC-68F7-B9B4-ABB7E9A23330}"/>
              </a:ext>
            </a:extLst>
          </p:cNvPr>
          <p:cNvSpPr txBox="1"/>
          <p:nvPr/>
        </p:nvSpPr>
        <p:spPr>
          <a:xfrm>
            <a:off x="8305597" y="2743200"/>
            <a:ext cx="3098698" cy="369332"/>
          </a:xfrm>
          <a:prstGeom prst="rect">
            <a:avLst/>
          </a:prstGeom>
          <a:noFill/>
        </p:spPr>
        <p:txBody>
          <a:bodyPr vert="horz" wrap="square" rtlCol="0">
            <a:noAutofit/>
          </a:bodyPr>
          <a:lstStyle/>
          <a:p>
            <a:pPr marL="342900" indent="-342900">
              <a:buFont typeface="+mj-lt"/>
              <a:buChar char="•"/>
            </a:pPr>
            <a:r>
              <a:rPr lang="en-US" sz="1300">
                <a:solidFill>
                  <a:srgbClr val="5B6182"/>
                </a:solidFill>
                <a:latin typeface="IBM Plex Sans" panose="020B0503050203000203" pitchFamily="34" charset="0"/>
              </a:rPr>
              <a:t>Fills gaps in base shiny's input set switchInput() gives the Show Total toggle a cleaner look than a checkbox.</a:t>
            </a:r>
            <a:endParaRPr lang="en-IN" sz="1300">
              <a:solidFill>
                <a:srgbClr val="5B6182"/>
              </a:solidFill>
              <a:latin typeface="IBM Plex Sans" panose="020B0503050203000203" pitchFamily="34" charset="0"/>
            </a:endParaRPr>
          </a:p>
        </p:txBody>
      </p:sp>
      <p:sp>
        <p:nvSpPr>
          <p:cNvPr id="16" name="TextBox 15">
            <a:extLst>
              <a:ext uri="{FF2B5EF4-FFF2-40B4-BE49-F238E27FC236}">
                <a16:creationId xmlns:a16="http://schemas.microsoft.com/office/drawing/2014/main" id="{0CD65590-7F85-D6A7-4680-6331C4AAD0CB}"/>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Code Walkthrough Ã‚Â· Foundations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6121253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7AF654-B682-9132-64BA-16AB466D8A77}"/>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CODE Ã‚Â· PACKAGE SPOTLIGHT</a:t>
            </a:r>
          </a:p>
        </p:txBody>
      </p:sp>
      <p:sp>
        <p:nvSpPr>
          <p:cNvPr id="3" name="TextBox 2">
            <a:extLst>
              <a:ext uri="{FF2B5EF4-FFF2-40B4-BE49-F238E27FC236}">
                <a16:creationId xmlns:a16="http://schemas.microsoft.com/office/drawing/2014/main" id="{CBBDE674-63B4-90AA-93B2-510EB44F2802}"/>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dplyr + tidyr + purrr Ã¢ the data-shaping trio</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39AFD025-A162-D9A9-D119-F5252058E768}"/>
              </a:ext>
            </a:extLst>
          </p:cNvPr>
          <p:cNvSpPr/>
          <p:nvPr/>
        </p:nvSpPr>
        <p:spPr>
          <a:xfrm>
            <a:off x="584200" y="1905000"/>
            <a:ext cx="3505098" cy="4191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240EF1AB-5E5C-6B8C-DFCF-2067405C3833}"/>
              </a:ext>
            </a:extLst>
          </p:cNvPr>
          <p:cNvSpPr/>
          <p:nvPr/>
        </p:nvSpPr>
        <p:spPr>
          <a:xfrm>
            <a:off x="584200" y="1905000"/>
            <a:ext cx="3505098" cy="76200"/>
          </a:xfrm>
          <a:prstGeom prst="rect">
            <a:avLst/>
          </a:prstGeom>
          <a:solidFill>
            <a:srgbClr val="0F7A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76DCCC01-5293-CB1C-A06B-2D68B25F9B86}"/>
              </a:ext>
            </a:extLst>
          </p:cNvPr>
          <p:cNvSpPr txBox="1"/>
          <p:nvPr/>
        </p:nvSpPr>
        <p:spPr>
          <a:xfrm>
            <a:off x="787400" y="2133600"/>
            <a:ext cx="3098698" cy="323165"/>
          </a:xfrm>
          <a:prstGeom prst="rect">
            <a:avLst/>
          </a:prstGeom>
          <a:noFill/>
        </p:spPr>
        <p:txBody>
          <a:bodyPr vert="horz" wrap="square" rtlCol="0">
            <a:spAutoFit/>
          </a:bodyPr>
          <a:lstStyle/>
          <a:p>
            <a:r>
              <a:rPr lang="en-IN" sz="1500" b="1">
                <a:solidFill>
                  <a:srgbClr val="1B2340"/>
                </a:solidFill>
                <a:latin typeface="IBM Plex Sans" panose="020B0503050203000203" pitchFamily="34" charset="0"/>
              </a:rPr>
              <a:t>dplyr</a:t>
            </a:r>
          </a:p>
        </p:txBody>
      </p:sp>
      <p:sp>
        <p:nvSpPr>
          <p:cNvPr id="7" name="TextBox 6">
            <a:extLst>
              <a:ext uri="{FF2B5EF4-FFF2-40B4-BE49-F238E27FC236}">
                <a16:creationId xmlns:a16="http://schemas.microsoft.com/office/drawing/2014/main" id="{A4238A64-C0C5-F587-B119-CC72E1EED52E}"/>
              </a:ext>
            </a:extLst>
          </p:cNvPr>
          <p:cNvSpPr txBox="1"/>
          <p:nvPr/>
        </p:nvSpPr>
        <p:spPr>
          <a:xfrm>
            <a:off x="787400" y="2743200"/>
            <a:ext cx="3098698" cy="369332"/>
          </a:xfrm>
          <a:prstGeom prst="rect">
            <a:avLst/>
          </a:prstGeom>
          <a:noFill/>
        </p:spPr>
        <p:txBody>
          <a:bodyPr vert="horz" wrap="square" rtlCol="0">
            <a:noAutofit/>
          </a:bodyPr>
          <a:lstStyle/>
          <a:p>
            <a:pPr marL="342900" indent="-342900">
              <a:buFont typeface="+mj-lt"/>
              <a:buChar char="•"/>
            </a:pPr>
            <a:r>
              <a:rPr lang="en-US" sz="1300">
                <a:solidFill>
                  <a:srgbClr val="5B6182"/>
                </a:solidFill>
                <a:latin typeface="IBM Plex Sans" panose="020B0503050203000203" pitchFamily="34" charset="0"/>
              </a:rPr>
              <a:t>filter(), mutate(), count(), group_by(), summarise() every aggregation in every build_*() function is dplyr verbs chained with |&gt;.</a:t>
            </a:r>
            <a:endParaRPr lang="en-IN" sz="1300">
              <a:solidFill>
                <a:srgbClr val="5B6182"/>
              </a:solidFill>
              <a:latin typeface="IBM Plex Sans" panose="020B0503050203000203" pitchFamily="34" charset="0"/>
            </a:endParaRPr>
          </a:p>
        </p:txBody>
      </p:sp>
      <p:sp>
        <p:nvSpPr>
          <p:cNvPr id="8" name="Rectangle: Rounded Corners 7">
            <a:extLst>
              <a:ext uri="{FF2B5EF4-FFF2-40B4-BE49-F238E27FC236}">
                <a16:creationId xmlns:a16="http://schemas.microsoft.com/office/drawing/2014/main" id="{BA4B230E-9D3A-9EB4-398E-4BEA276ACC27}"/>
              </a:ext>
            </a:extLst>
          </p:cNvPr>
          <p:cNvSpPr/>
          <p:nvPr/>
        </p:nvSpPr>
        <p:spPr>
          <a:xfrm>
            <a:off x="4343298" y="1905000"/>
            <a:ext cx="3505099" cy="4191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19EF0120-516E-4773-4FE0-98E1DB370397}"/>
              </a:ext>
            </a:extLst>
          </p:cNvPr>
          <p:cNvSpPr/>
          <p:nvPr/>
        </p:nvSpPr>
        <p:spPr>
          <a:xfrm>
            <a:off x="4343298" y="1905000"/>
            <a:ext cx="3505099" cy="76200"/>
          </a:xfrm>
          <a:prstGeom prst="rect">
            <a:avLst/>
          </a:prstGeom>
          <a:solidFill>
            <a:srgbClr val="0F7A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26970CEC-B95D-DAED-403C-93D278D23E06}"/>
              </a:ext>
            </a:extLst>
          </p:cNvPr>
          <p:cNvSpPr txBox="1"/>
          <p:nvPr/>
        </p:nvSpPr>
        <p:spPr>
          <a:xfrm>
            <a:off x="4546498" y="2133600"/>
            <a:ext cx="3098698" cy="323165"/>
          </a:xfrm>
          <a:prstGeom prst="rect">
            <a:avLst/>
          </a:prstGeom>
          <a:noFill/>
        </p:spPr>
        <p:txBody>
          <a:bodyPr vert="horz" wrap="square" rtlCol="0">
            <a:spAutoFit/>
          </a:bodyPr>
          <a:lstStyle/>
          <a:p>
            <a:r>
              <a:rPr lang="en-IN" sz="1500" b="1">
                <a:solidFill>
                  <a:srgbClr val="1B2340"/>
                </a:solidFill>
                <a:latin typeface="IBM Plex Sans" panose="020B0503050203000203" pitchFamily="34" charset="0"/>
              </a:rPr>
              <a:t>tidyr</a:t>
            </a:r>
          </a:p>
        </p:txBody>
      </p:sp>
      <p:sp>
        <p:nvSpPr>
          <p:cNvPr id="11" name="TextBox 10">
            <a:extLst>
              <a:ext uri="{FF2B5EF4-FFF2-40B4-BE49-F238E27FC236}">
                <a16:creationId xmlns:a16="http://schemas.microsoft.com/office/drawing/2014/main" id="{5C73658A-D0BC-F5A2-E893-B8DA1EA2D336}"/>
              </a:ext>
            </a:extLst>
          </p:cNvPr>
          <p:cNvSpPr txBox="1"/>
          <p:nvPr/>
        </p:nvSpPr>
        <p:spPr>
          <a:xfrm>
            <a:off x="4546498" y="2743200"/>
            <a:ext cx="3098698" cy="369332"/>
          </a:xfrm>
          <a:prstGeom prst="rect">
            <a:avLst/>
          </a:prstGeom>
          <a:noFill/>
        </p:spPr>
        <p:txBody>
          <a:bodyPr vert="horz" wrap="square" rtlCol="0">
            <a:noAutofit/>
          </a:bodyPr>
          <a:lstStyle/>
          <a:p>
            <a:pPr marL="342900" indent="-342900">
              <a:buFont typeface="+mj-lt"/>
              <a:buChar char="•"/>
            </a:pPr>
            <a:r>
              <a:rPr lang="en-US" sz="1300">
                <a:solidFill>
                  <a:srgbClr val="5B6182"/>
                </a:solidFill>
                <a:latin typeface="IBM Plex Sans" panose="020B0503050203000203" pitchFamily="34" charset="0"/>
              </a:rPr>
              <a:t>pivot_wider() and pivot_longer() turn long counted data into the wide, one-column-per-arm shape a clinical table needs.</a:t>
            </a:r>
            <a:endParaRPr lang="en-IN" sz="1300">
              <a:solidFill>
                <a:srgbClr val="5B6182"/>
              </a:solidFill>
              <a:latin typeface="IBM Plex Sans" panose="020B0503050203000203" pitchFamily="34" charset="0"/>
            </a:endParaRPr>
          </a:p>
        </p:txBody>
      </p:sp>
      <p:sp>
        <p:nvSpPr>
          <p:cNvPr id="12" name="Rectangle: Rounded Corners 11">
            <a:extLst>
              <a:ext uri="{FF2B5EF4-FFF2-40B4-BE49-F238E27FC236}">
                <a16:creationId xmlns:a16="http://schemas.microsoft.com/office/drawing/2014/main" id="{034B96B8-41C7-F62D-DB90-CF83F6BA70B7}"/>
              </a:ext>
            </a:extLst>
          </p:cNvPr>
          <p:cNvSpPr/>
          <p:nvPr/>
        </p:nvSpPr>
        <p:spPr>
          <a:xfrm>
            <a:off x="8102397" y="1905000"/>
            <a:ext cx="3505098" cy="4191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29D5866C-8A72-2647-4A36-249E755B96B7}"/>
              </a:ext>
            </a:extLst>
          </p:cNvPr>
          <p:cNvSpPr/>
          <p:nvPr/>
        </p:nvSpPr>
        <p:spPr>
          <a:xfrm>
            <a:off x="8102397" y="1905000"/>
            <a:ext cx="3505098" cy="76200"/>
          </a:xfrm>
          <a:prstGeom prst="rect">
            <a:avLst/>
          </a:prstGeom>
          <a:solidFill>
            <a:srgbClr val="0F7A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697EE8DB-0A22-A940-9BBE-5F16DB404CA1}"/>
              </a:ext>
            </a:extLst>
          </p:cNvPr>
          <p:cNvSpPr txBox="1"/>
          <p:nvPr/>
        </p:nvSpPr>
        <p:spPr>
          <a:xfrm>
            <a:off x="8305597" y="2133600"/>
            <a:ext cx="3098698" cy="323165"/>
          </a:xfrm>
          <a:prstGeom prst="rect">
            <a:avLst/>
          </a:prstGeom>
          <a:noFill/>
        </p:spPr>
        <p:txBody>
          <a:bodyPr vert="horz" wrap="square" rtlCol="0">
            <a:spAutoFit/>
          </a:bodyPr>
          <a:lstStyle/>
          <a:p>
            <a:r>
              <a:rPr lang="en-IN" sz="1500" b="1">
                <a:solidFill>
                  <a:srgbClr val="1B2340"/>
                </a:solidFill>
                <a:latin typeface="IBM Plex Sans" panose="020B0503050203000203" pitchFamily="34" charset="0"/>
              </a:rPr>
              <a:t>purrr</a:t>
            </a:r>
          </a:p>
        </p:txBody>
      </p:sp>
      <p:sp>
        <p:nvSpPr>
          <p:cNvPr id="15" name="TextBox 14">
            <a:extLst>
              <a:ext uri="{FF2B5EF4-FFF2-40B4-BE49-F238E27FC236}">
                <a16:creationId xmlns:a16="http://schemas.microsoft.com/office/drawing/2014/main" id="{8D8E357F-E06B-CC32-5887-FBED0C63E497}"/>
              </a:ext>
            </a:extLst>
          </p:cNvPr>
          <p:cNvSpPr txBox="1"/>
          <p:nvPr/>
        </p:nvSpPr>
        <p:spPr>
          <a:xfrm>
            <a:off x="8305597" y="2743200"/>
            <a:ext cx="3098698" cy="369332"/>
          </a:xfrm>
          <a:prstGeom prst="rect">
            <a:avLst/>
          </a:prstGeom>
          <a:noFill/>
        </p:spPr>
        <p:txBody>
          <a:bodyPr vert="horz" wrap="square" rtlCol="0">
            <a:noAutofit/>
          </a:bodyPr>
          <a:lstStyle/>
          <a:p>
            <a:pPr marL="342900" indent="-342900">
              <a:buFont typeface="+mj-lt"/>
              <a:buChar char="•"/>
            </a:pPr>
            <a:r>
              <a:rPr lang="en-US" sz="1300">
                <a:solidFill>
                  <a:srgbClr val="5B6182"/>
                </a:solidFill>
                <a:latin typeface="IBM Plex Sans" panose="020B0503050203000203" pitchFamily="34" charset="0"/>
              </a:rPr>
              <a:t>map_dfr() drives the SOC/PT nesting in build_ae_socpt() and the row-by-row TEAE category logic in build_ae_overview().</a:t>
            </a:r>
            <a:endParaRPr lang="en-IN" sz="1300">
              <a:solidFill>
                <a:srgbClr val="5B6182"/>
              </a:solidFill>
              <a:latin typeface="IBM Plex Sans" panose="020B0503050203000203" pitchFamily="34" charset="0"/>
            </a:endParaRPr>
          </a:p>
        </p:txBody>
      </p:sp>
      <p:sp>
        <p:nvSpPr>
          <p:cNvPr id="16" name="TextBox 15">
            <a:extLst>
              <a:ext uri="{FF2B5EF4-FFF2-40B4-BE49-F238E27FC236}">
                <a16:creationId xmlns:a16="http://schemas.microsoft.com/office/drawing/2014/main" id="{012E33F6-7224-8E68-B808-20AAC0656E8E}"/>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Code Walkthrough Ã‚Â· Foundations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14266863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5A7747-8EE2-17B2-61ED-0A94DB80BFA9}"/>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CODE Ã‚Â· PACKAGE SPOTLIGHT</a:t>
            </a:r>
          </a:p>
        </p:txBody>
      </p:sp>
      <p:sp>
        <p:nvSpPr>
          <p:cNvPr id="3" name="TextBox 2">
            <a:extLst>
              <a:ext uri="{FF2B5EF4-FFF2-40B4-BE49-F238E27FC236}">
                <a16:creationId xmlns:a16="http://schemas.microsoft.com/office/drawing/2014/main" id="{492C2A9F-0E41-39C8-EC6C-EC1E4280F97B}"/>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gt + DT Ã¢ two table packages, two jobs</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4A57CD95-C3AE-E9F9-659E-5310F10EEDEC}"/>
              </a:ext>
            </a:extLst>
          </p:cNvPr>
          <p:cNvSpPr/>
          <p:nvPr/>
        </p:nvSpPr>
        <p:spPr>
          <a:xfrm>
            <a:off x="584200" y="1905000"/>
            <a:ext cx="3505098" cy="4191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45E6D9F3-C406-3888-9E5B-83283289149D}"/>
              </a:ext>
            </a:extLst>
          </p:cNvPr>
          <p:cNvSpPr/>
          <p:nvPr/>
        </p:nvSpPr>
        <p:spPr>
          <a:xfrm>
            <a:off x="584200" y="1905000"/>
            <a:ext cx="3505098" cy="76200"/>
          </a:xfrm>
          <a:prstGeom prst="rect">
            <a:avLst/>
          </a:prstGeom>
          <a:solidFill>
            <a:srgbClr val="0F7A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32A7A9D7-06FC-6C04-6597-2CF7D4EA4F53}"/>
              </a:ext>
            </a:extLst>
          </p:cNvPr>
          <p:cNvSpPr txBox="1"/>
          <p:nvPr/>
        </p:nvSpPr>
        <p:spPr>
          <a:xfrm>
            <a:off x="787400" y="2133600"/>
            <a:ext cx="3098698" cy="323165"/>
          </a:xfrm>
          <a:prstGeom prst="rect">
            <a:avLst/>
          </a:prstGeom>
          <a:noFill/>
        </p:spPr>
        <p:txBody>
          <a:bodyPr vert="horz" wrap="square" rtlCol="0">
            <a:spAutoFit/>
          </a:bodyPr>
          <a:lstStyle/>
          <a:p>
            <a:r>
              <a:rPr lang="en-IN" sz="1500" b="1">
                <a:solidFill>
                  <a:srgbClr val="1B2340"/>
                </a:solidFill>
                <a:latin typeface="IBM Plex Sans" panose="020B0503050203000203" pitchFamily="34" charset="0"/>
              </a:rPr>
              <a:t>gt</a:t>
            </a:r>
          </a:p>
        </p:txBody>
      </p:sp>
      <p:sp>
        <p:nvSpPr>
          <p:cNvPr id="7" name="TextBox 6">
            <a:extLst>
              <a:ext uri="{FF2B5EF4-FFF2-40B4-BE49-F238E27FC236}">
                <a16:creationId xmlns:a16="http://schemas.microsoft.com/office/drawing/2014/main" id="{2845615C-BB0A-70F6-C4FD-02BA3456E9F3}"/>
              </a:ext>
            </a:extLst>
          </p:cNvPr>
          <p:cNvSpPr txBox="1"/>
          <p:nvPr/>
        </p:nvSpPr>
        <p:spPr>
          <a:xfrm>
            <a:off x="787400" y="2743200"/>
            <a:ext cx="3098698" cy="369332"/>
          </a:xfrm>
          <a:prstGeom prst="rect">
            <a:avLst/>
          </a:prstGeom>
          <a:noFill/>
        </p:spPr>
        <p:txBody>
          <a:bodyPr vert="horz" wrap="square" rtlCol="0">
            <a:noAutofit/>
          </a:bodyPr>
          <a:lstStyle/>
          <a:p>
            <a:pPr marL="342900" indent="-342900">
              <a:buFont typeface="+mj-lt"/>
              <a:buChar char="•"/>
            </a:pPr>
            <a:r>
              <a:rPr lang="en-US" sz="1300">
                <a:solidFill>
                  <a:srgbClr val="5B6182"/>
                </a:solidFill>
                <a:latin typeface="IBM Plex Sans" panose="020B0503050203000203" pitchFamily="34" charset="0"/>
              </a:rPr>
              <a:t>Publication-quality, styled clinical tables headers, spanners, conditional cell styling, source notes. This is what every Tables-tab output uses.</a:t>
            </a:r>
            <a:endParaRPr lang="en-IN" sz="1300">
              <a:solidFill>
                <a:srgbClr val="5B6182"/>
              </a:solidFill>
              <a:latin typeface="IBM Plex Sans" panose="020B0503050203000203" pitchFamily="34" charset="0"/>
            </a:endParaRPr>
          </a:p>
        </p:txBody>
      </p:sp>
      <p:sp>
        <p:nvSpPr>
          <p:cNvPr id="8" name="Rectangle: Rounded Corners 7">
            <a:extLst>
              <a:ext uri="{FF2B5EF4-FFF2-40B4-BE49-F238E27FC236}">
                <a16:creationId xmlns:a16="http://schemas.microsoft.com/office/drawing/2014/main" id="{C3294624-A1F6-0C40-C785-EF40C5E734AC}"/>
              </a:ext>
            </a:extLst>
          </p:cNvPr>
          <p:cNvSpPr/>
          <p:nvPr/>
        </p:nvSpPr>
        <p:spPr>
          <a:xfrm>
            <a:off x="4343298" y="1905000"/>
            <a:ext cx="3505099" cy="4191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B2E36C60-3CBC-5101-C55A-6B604136DD1E}"/>
              </a:ext>
            </a:extLst>
          </p:cNvPr>
          <p:cNvSpPr/>
          <p:nvPr/>
        </p:nvSpPr>
        <p:spPr>
          <a:xfrm>
            <a:off x="4343298" y="1905000"/>
            <a:ext cx="3505099" cy="76200"/>
          </a:xfrm>
          <a:prstGeom prst="rect">
            <a:avLst/>
          </a:prstGeom>
          <a:solidFill>
            <a:srgbClr val="0F7A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5C71673B-BAA3-76E7-6E9E-1F5D9B38E5D6}"/>
              </a:ext>
            </a:extLst>
          </p:cNvPr>
          <p:cNvSpPr txBox="1"/>
          <p:nvPr/>
        </p:nvSpPr>
        <p:spPr>
          <a:xfrm>
            <a:off x="4546498" y="2133600"/>
            <a:ext cx="3098698" cy="323165"/>
          </a:xfrm>
          <a:prstGeom prst="rect">
            <a:avLst/>
          </a:prstGeom>
          <a:noFill/>
        </p:spPr>
        <p:txBody>
          <a:bodyPr vert="horz" wrap="square" rtlCol="0">
            <a:spAutoFit/>
          </a:bodyPr>
          <a:lstStyle/>
          <a:p>
            <a:r>
              <a:rPr lang="en-IN" sz="1500" b="1">
                <a:solidFill>
                  <a:srgbClr val="1B2340"/>
                </a:solidFill>
                <a:latin typeface="IBM Plex Sans" panose="020B0503050203000203" pitchFamily="34" charset="0"/>
              </a:rPr>
              <a:t>DT</a:t>
            </a:r>
          </a:p>
        </p:txBody>
      </p:sp>
      <p:sp>
        <p:nvSpPr>
          <p:cNvPr id="11" name="TextBox 10">
            <a:extLst>
              <a:ext uri="{FF2B5EF4-FFF2-40B4-BE49-F238E27FC236}">
                <a16:creationId xmlns:a16="http://schemas.microsoft.com/office/drawing/2014/main" id="{4B21F8D8-81FA-A87F-BD96-F3F609E67690}"/>
              </a:ext>
            </a:extLst>
          </p:cNvPr>
          <p:cNvSpPr txBox="1"/>
          <p:nvPr/>
        </p:nvSpPr>
        <p:spPr>
          <a:xfrm>
            <a:off x="4546498" y="2743200"/>
            <a:ext cx="3098698" cy="369332"/>
          </a:xfrm>
          <a:prstGeom prst="rect">
            <a:avLst/>
          </a:prstGeom>
          <a:noFill/>
        </p:spPr>
        <p:txBody>
          <a:bodyPr vert="horz" wrap="square" rtlCol="0">
            <a:noAutofit/>
          </a:bodyPr>
          <a:lstStyle/>
          <a:p>
            <a:pPr marL="342900" indent="-342900">
              <a:buFont typeface="+mj-lt"/>
              <a:buChar char="•"/>
            </a:pPr>
            <a:r>
              <a:rPr lang="en-US" sz="1300">
                <a:solidFill>
                  <a:srgbClr val="5B6182"/>
                </a:solidFill>
                <a:latin typeface="IBM Plex Sans" panose="020B0503050203000203" pitchFamily="34" charset="0"/>
              </a:rPr>
              <a:t>Interactive, sortable, filterable data grids used only in the View Data tab, where the goal is raw exploration, not a formatted TLF.</a:t>
            </a:r>
            <a:endParaRPr lang="en-IN" sz="1300">
              <a:solidFill>
                <a:srgbClr val="5B6182"/>
              </a:solidFill>
              <a:latin typeface="IBM Plex Sans" panose="020B0503050203000203" pitchFamily="34" charset="0"/>
            </a:endParaRPr>
          </a:p>
        </p:txBody>
      </p:sp>
      <p:sp>
        <p:nvSpPr>
          <p:cNvPr id="12" name="Rectangle: Rounded Corners 11">
            <a:extLst>
              <a:ext uri="{FF2B5EF4-FFF2-40B4-BE49-F238E27FC236}">
                <a16:creationId xmlns:a16="http://schemas.microsoft.com/office/drawing/2014/main" id="{2A2E5B1F-4247-54C8-6685-9774F2ADCE40}"/>
              </a:ext>
            </a:extLst>
          </p:cNvPr>
          <p:cNvSpPr/>
          <p:nvPr/>
        </p:nvSpPr>
        <p:spPr>
          <a:xfrm>
            <a:off x="8102397" y="1905000"/>
            <a:ext cx="3505098" cy="4191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8353E798-B670-E292-4852-8DF376F5B698}"/>
              </a:ext>
            </a:extLst>
          </p:cNvPr>
          <p:cNvSpPr/>
          <p:nvPr/>
        </p:nvSpPr>
        <p:spPr>
          <a:xfrm>
            <a:off x="8102397" y="1905000"/>
            <a:ext cx="3505098" cy="76200"/>
          </a:xfrm>
          <a:prstGeom prst="rect">
            <a:avLst/>
          </a:prstGeom>
          <a:solidFill>
            <a:srgbClr val="0F7A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FDE8B75C-C7A7-68B1-9D17-759061FBE59D}"/>
              </a:ext>
            </a:extLst>
          </p:cNvPr>
          <p:cNvSpPr txBox="1"/>
          <p:nvPr/>
        </p:nvSpPr>
        <p:spPr>
          <a:xfrm>
            <a:off x="8305597" y="2133600"/>
            <a:ext cx="3098698" cy="323165"/>
          </a:xfrm>
          <a:prstGeom prst="rect">
            <a:avLst/>
          </a:prstGeom>
          <a:noFill/>
        </p:spPr>
        <p:txBody>
          <a:bodyPr vert="horz" wrap="square" rtlCol="0">
            <a:spAutoFit/>
          </a:bodyPr>
          <a:lstStyle/>
          <a:p>
            <a:r>
              <a:rPr lang="en-IN" sz="1500" b="1">
                <a:solidFill>
                  <a:srgbClr val="1B2340"/>
                </a:solidFill>
                <a:latin typeface="IBM Plex Sans" panose="020B0503050203000203" pitchFamily="34" charset="0"/>
              </a:rPr>
              <a:t>Why both</a:t>
            </a:r>
          </a:p>
        </p:txBody>
      </p:sp>
      <p:sp>
        <p:nvSpPr>
          <p:cNvPr id="15" name="TextBox 14">
            <a:extLst>
              <a:ext uri="{FF2B5EF4-FFF2-40B4-BE49-F238E27FC236}">
                <a16:creationId xmlns:a16="http://schemas.microsoft.com/office/drawing/2014/main" id="{32885BBB-2D70-4F4C-4523-90DD0BAD4FB1}"/>
              </a:ext>
            </a:extLst>
          </p:cNvPr>
          <p:cNvSpPr txBox="1"/>
          <p:nvPr/>
        </p:nvSpPr>
        <p:spPr>
          <a:xfrm>
            <a:off x="8305597" y="2743200"/>
            <a:ext cx="3098698" cy="369332"/>
          </a:xfrm>
          <a:prstGeom prst="rect">
            <a:avLst/>
          </a:prstGeom>
          <a:noFill/>
        </p:spPr>
        <p:txBody>
          <a:bodyPr vert="horz" wrap="square" rtlCol="0">
            <a:noAutofit/>
          </a:bodyPr>
          <a:lstStyle/>
          <a:p>
            <a:pPr marL="342900" indent="-342900">
              <a:buFont typeface="+mj-lt"/>
              <a:buChar char="•"/>
            </a:pPr>
            <a:r>
              <a:rPr lang="en-US" sz="1300">
                <a:solidFill>
                  <a:srgbClr val="5B6182"/>
                </a:solidFill>
                <a:latin typeface="IBM Plex Sans" panose="020B0503050203000203" pitchFamily="34" charset="0"/>
              </a:rPr>
              <a:t>gt for the deliverable, DT for the working view using one package for both would compromise either the polish or the interactivity.</a:t>
            </a:r>
            <a:endParaRPr lang="en-IN" sz="1300">
              <a:solidFill>
                <a:srgbClr val="5B6182"/>
              </a:solidFill>
              <a:latin typeface="IBM Plex Sans" panose="020B0503050203000203" pitchFamily="34" charset="0"/>
            </a:endParaRPr>
          </a:p>
        </p:txBody>
      </p:sp>
      <p:sp>
        <p:nvSpPr>
          <p:cNvPr id="16" name="TextBox 15">
            <a:extLst>
              <a:ext uri="{FF2B5EF4-FFF2-40B4-BE49-F238E27FC236}">
                <a16:creationId xmlns:a16="http://schemas.microsoft.com/office/drawing/2014/main" id="{1E442FC3-97FA-93A9-EAEC-B49B4AAAE6E5}"/>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Code Walkthrough Ã‚Â· Foundations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21454742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9E50D1-E7C5-F250-BFF0-C1002D5C7615}"/>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CODE Ã‚Â· PACKAGE SPOTLIGHT</a:t>
            </a:r>
          </a:p>
        </p:txBody>
      </p:sp>
      <p:sp>
        <p:nvSpPr>
          <p:cNvPr id="3" name="TextBox 2">
            <a:extLst>
              <a:ext uri="{FF2B5EF4-FFF2-40B4-BE49-F238E27FC236}">
                <a16:creationId xmlns:a16="http://schemas.microsoft.com/office/drawing/2014/main" id="{C4EA324C-BCC8-8AC2-0DA9-CE97BD872685}"/>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ggplot2 Ã¢ every figure, one grammar</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37024724-E04C-57EE-6E20-42F98B2C5604}"/>
              </a:ext>
            </a:extLst>
          </p:cNvPr>
          <p:cNvSpPr/>
          <p:nvPr/>
        </p:nvSpPr>
        <p:spPr>
          <a:xfrm>
            <a:off x="584200" y="1905000"/>
            <a:ext cx="3505098" cy="4191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7098F1E7-533F-EEB7-DD0D-03B6203BB7C9}"/>
              </a:ext>
            </a:extLst>
          </p:cNvPr>
          <p:cNvSpPr/>
          <p:nvPr/>
        </p:nvSpPr>
        <p:spPr>
          <a:xfrm>
            <a:off x="584200" y="1905000"/>
            <a:ext cx="3505098" cy="76200"/>
          </a:xfrm>
          <a:prstGeom prst="rect">
            <a:avLst/>
          </a:prstGeom>
          <a:solidFill>
            <a:srgbClr val="0F7A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DA38568C-67D9-1EB6-EF98-9DEDF8DBCAB2}"/>
              </a:ext>
            </a:extLst>
          </p:cNvPr>
          <p:cNvSpPr txBox="1"/>
          <p:nvPr/>
        </p:nvSpPr>
        <p:spPr>
          <a:xfrm>
            <a:off x="787400" y="2133600"/>
            <a:ext cx="3098698" cy="323165"/>
          </a:xfrm>
          <a:prstGeom prst="rect">
            <a:avLst/>
          </a:prstGeom>
          <a:noFill/>
        </p:spPr>
        <p:txBody>
          <a:bodyPr vert="horz" wrap="square" rtlCol="0">
            <a:spAutoFit/>
          </a:bodyPr>
          <a:lstStyle/>
          <a:p>
            <a:r>
              <a:rPr lang="en-IN" sz="1500" b="1">
                <a:solidFill>
                  <a:srgbClr val="1B2340"/>
                </a:solidFill>
                <a:latin typeface="IBM Plex Sans" panose="020B0503050203000203" pitchFamily="34" charset="0"/>
              </a:rPr>
              <a:t>Layered grammar</a:t>
            </a:r>
          </a:p>
        </p:txBody>
      </p:sp>
      <p:sp>
        <p:nvSpPr>
          <p:cNvPr id="7" name="TextBox 6">
            <a:extLst>
              <a:ext uri="{FF2B5EF4-FFF2-40B4-BE49-F238E27FC236}">
                <a16:creationId xmlns:a16="http://schemas.microsoft.com/office/drawing/2014/main" id="{F3ACBA8B-0381-E237-BD0D-2D5D139C8405}"/>
              </a:ext>
            </a:extLst>
          </p:cNvPr>
          <p:cNvSpPr txBox="1"/>
          <p:nvPr/>
        </p:nvSpPr>
        <p:spPr>
          <a:xfrm>
            <a:off x="787400" y="2743200"/>
            <a:ext cx="3098698" cy="369332"/>
          </a:xfrm>
          <a:prstGeom prst="rect">
            <a:avLst/>
          </a:prstGeom>
          <a:noFill/>
        </p:spPr>
        <p:txBody>
          <a:bodyPr vert="horz" wrap="square" rtlCol="0">
            <a:noAutofit/>
          </a:bodyPr>
          <a:lstStyle/>
          <a:p>
            <a:pPr marL="342900" indent="-342900">
              <a:buFont typeface="+mj-lt"/>
              <a:buChar char="•"/>
            </a:pPr>
            <a:r>
              <a:rPr lang="en-US" sz="1300">
                <a:solidFill>
                  <a:srgbClr val="5B6182"/>
                </a:solidFill>
                <a:latin typeface="IBM Plex Sans" panose="020B0503050203000203" pitchFamily="34" charset="0"/>
              </a:rPr>
              <a:t>geom_boxplot(), geom_histogram(), geom_col() each figure builder composes geoms onto one ggplot() call, the same mental model every time.</a:t>
            </a:r>
            <a:endParaRPr lang="en-IN" sz="1300">
              <a:solidFill>
                <a:srgbClr val="5B6182"/>
              </a:solidFill>
              <a:latin typeface="IBM Plex Sans" panose="020B0503050203000203" pitchFamily="34" charset="0"/>
            </a:endParaRPr>
          </a:p>
        </p:txBody>
      </p:sp>
      <p:sp>
        <p:nvSpPr>
          <p:cNvPr id="8" name="Rectangle: Rounded Corners 7">
            <a:extLst>
              <a:ext uri="{FF2B5EF4-FFF2-40B4-BE49-F238E27FC236}">
                <a16:creationId xmlns:a16="http://schemas.microsoft.com/office/drawing/2014/main" id="{4DF558FE-5B94-4DCA-5322-497D50597DF9}"/>
              </a:ext>
            </a:extLst>
          </p:cNvPr>
          <p:cNvSpPr/>
          <p:nvPr/>
        </p:nvSpPr>
        <p:spPr>
          <a:xfrm>
            <a:off x="4343298" y="1905000"/>
            <a:ext cx="3505099" cy="4191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5E025B62-1A6D-F519-EEED-83604D6CC5CF}"/>
              </a:ext>
            </a:extLst>
          </p:cNvPr>
          <p:cNvSpPr/>
          <p:nvPr/>
        </p:nvSpPr>
        <p:spPr>
          <a:xfrm>
            <a:off x="4343298" y="1905000"/>
            <a:ext cx="3505099" cy="76200"/>
          </a:xfrm>
          <a:prstGeom prst="rect">
            <a:avLst/>
          </a:prstGeom>
          <a:solidFill>
            <a:srgbClr val="0F7A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E6EEE3B3-BE70-A13A-1C9E-6A73CCBD2788}"/>
              </a:ext>
            </a:extLst>
          </p:cNvPr>
          <p:cNvSpPr txBox="1"/>
          <p:nvPr/>
        </p:nvSpPr>
        <p:spPr>
          <a:xfrm>
            <a:off x="4546498" y="2133600"/>
            <a:ext cx="3098698" cy="323165"/>
          </a:xfrm>
          <a:prstGeom prst="rect">
            <a:avLst/>
          </a:prstGeom>
          <a:noFill/>
        </p:spPr>
        <p:txBody>
          <a:bodyPr vert="horz" wrap="square" rtlCol="0">
            <a:spAutoFit/>
          </a:bodyPr>
          <a:lstStyle/>
          <a:p>
            <a:r>
              <a:rPr lang="en-IN" sz="1500" b="1">
                <a:solidFill>
                  <a:srgbClr val="1B2340"/>
                </a:solidFill>
                <a:latin typeface="IBM Plex Sans" panose="020B0503050203000203" pitchFamily="34" charset="0"/>
              </a:rPr>
              <a:t>tfl_theme</a:t>
            </a:r>
          </a:p>
        </p:txBody>
      </p:sp>
      <p:sp>
        <p:nvSpPr>
          <p:cNvPr id="11" name="TextBox 10">
            <a:extLst>
              <a:ext uri="{FF2B5EF4-FFF2-40B4-BE49-F238E27FC236}">
                <a16:creationId xmlns:a16="http://schemas.microsoft.com/office/drawing/2014/main" id="{23EA6E65-E244-746F-9F80-EF27A3708E0E}"/>
              </a:ext>
            </a:extLst>
          </p:cNvPr>
          <p:cNvSpPr txBox="1"/>
          <p:nvPr/>
        </p:nvSpPr>
        <p:spPr>
          <a:xfrm>
            <a:off x="4546498" y="2743200"/>
            <a:ext cx="3098698" cy="369332"/>
          </a:xfrm>
          <a:prstGeom prst="rect">
            <a:avLst/>
          </a:prstGeom>
          <a:noFill/>
        </p:spPr>
        <p:txBody>
          <a:bodyPr vert="horz" wrap="square" rtlCol="0">
            <a:noAutofit/>
          </a:bodyPr>
          <a:lstStyle/>
          <a:p>
            <a:pPr marL="342900" indent="-342900">
              <a:buFont typeface="+mj-lt"/>
              <a:buChar char="•"/>
            </a:pPr>
            <a:r>
              <a:rPr lang="en-US" sz="1300">
                <a:solidFill>
                  <a:srgbClr val="5B6182"/>
                </a:solidFill>
                <a:latin typeface="IBM Plex Sans" panose="020B0503050203000203" pitchFamily="34" charset="0"/>
              </a:rPr>
              <a:t>A single theme object applied to all three figures keeps typography, gridlines, and legend placement consistent app-wide.</a:t>
            </a:r>
            <a:endParaRPr lang="en-IN" sz="1300">
              <a:solidFill>
                <a:srgbClr val="5B6182"/>
              </a:solidFill>
              <a:latin typeface="IBM Plex Sans" panose="020B0503050203000203" pitchFamily="34" charset="0"/>
            </a:endParaRPr>
          </a:p>
        </p:txBody>
      </p:sp>
      <p:sp>
        <p:nvSpPr>
          <p:cNvPr id="12" name="Rectangle: Rounded Corners 11">
            <a:extLst>
              <a:ext uri="{FF2B5EF4-FFF2-40B4-BE49-F238E27FC236}">
                <a16:creationId xmlns:a16="http://schemas.microsoft.com/office/drawing/2014/main" id="{A488CA0C-CA94-5B03-ED33-38F50E3736E1}"/>
              </a:ext>
            </a:extLst>
          </p:cNvPr>
          <p:cNvSpPr/>
          <p:nvPr/>
        </p:nvSpPr>
        <p:spPr>
          <a:xfrm>
            <a:off x="8102397" y="1905000"/>
            <a:ext cx="3505098" cy="4191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6A0912F0-C13F-5D0D-4E5C-826FA0825F95}"/>
              </a:ext>
            </a:extLst>
          </p:cNvPr>
          <p:cNvSpPr/>
          <p:nvPr/>
        </p:nvSpPr>
        <p:spPr>
          <a:xfrm>
            <a:off x="8102397" y="1905000"/>
            <a:ext cx="3505098" cy="76200"/>
          </a:xfrm>
          <a:prstGeom prst="rect">
            <a:avLst/>
          </a:prstGeom>
          <a:solidFill>
            <a:srgbClr val="0F7A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2F4DFACF-C02E-3C92-5FAD-78E3B409C835}"/>
              </a:ext>
            </a:extLst>
          </p:cNvPr>
          <p:cNvSpPr txBox="1"/>
          <p:nvPr/>
        </p:nvSpPr>
        <p:spPr>
          <a:xfrm>
            <a:off x="8305597" y="2133600"/>
            <a:ext cx="3098698" cy="323165"/>
          </a:xfrm>
          <a:prstGeom prst="rect">
            <a:avLst/>
          </a:prstGeom>
          <a:noFill/>
        </p:spPr>
        <p:txBody>
          <a:bodyPr vert="horz" wrap="square" rtlCol="0">
            <a:spAutoFit/>
          </a:bodyPr>
          <a:lstStyle/>
          <a:p>
            <a:r>
              <a:rPr lang="en-IN" sz="1500" b="1">
                <a:solidFill>
                  <a:srgbClr val="1B2340"/>
                </a:solidFill>
                <a:latin typeface="IBM Plex Sans" panose="020B0503050203000203" pitchFamily="34" charset="0"/>
              </a:rPr>
              <a:t>Dual-purpose output</a:t>
            </a:r>
          </a:p>
        </p:txBody>
      </p:sp>
      <p:sp>
        <p:nvSpPr>
          <p:cNvPr id="15" name="TextBox 14">
            <a:extLst>
              <a:ext uri="{FF2B5EF4-FFF2-40B4-BE49-F238E27FC236}">
                <a16:creationId xmlns:a16="http://schemas.microsoft.com/office/drawing/2014/main" id="{A33CE55C-BF2C-11D0-23CD-EE46DB002B49}"/>
              </a:ext>
            </a:extLst>
          </p:cNvPr>
          <p:cNvSpPr txBox="1"/>
          <p:nvPr/>
        </p:nvSpPr>
        <p:spPr>
          <a:xfrm>
            <a:off x="8305597" y="2743200"/>
            <a:ext cx="3098698" cy="369332"/>
          </a:xfrm>
          <a:prstGeom prst="rect">
            <a:avLst/>
          </a:prstGeom>
          <a:noFill/>
        </p:spPr>
        <p:txBody>
          <a:bodyPr vert="horz" wrap="square" rtlCol="0">
            <a:noAutofit/>
          </a:bodyPr>
          <a:lstStyle/>
          <a:p>
            <a:pPr marL="342900" indent="-342900">
              <a:buFont typeface="+mj-lt"/>
              <a:buChar char="•"/>
            </a:pPr>
            <a:r>
              <a:rPr lang="en-US" sz="1300">
                <a:solidFill>
                  <a:srgbClr val="5B6182"/>
                </a:solidFill>
                <a:latin typeface="IBM Plex Sans" panose="020B0503050203000203" pitchFamily="34" charset="0"/>
              </a:rPr>
              <a:t>The same plot object renders on screen via renderPlot() and exports via ggsave() at print resolution no separate export-only code path.</a:t>
            </a:r>
            <a:endParaRPr lang="en-IN" sz="1300">
              <a:solidFill>
                <a:srgbClr val="5B6182"/>
              </a:solidFill>
              <a:latin typeface="IBM Plex Sans" panose="020B0503050203000203" pitchFamily="34" charset="0"/>
            </a:endParaRPr>
          </a:p>
        </p:txBody>
      </p:sp>
      <p:sp>
        <p:nvSpPr>
          <p:cNvPr id="16" name="TextBox 15">
            <a:extLst>
              <a:ext uri="{FF2B5EF4-FFF2-40B4-BE49-F238E27FC236}">
                <a16:creationId xmlns:a16="http://schemas.microsoft.com/office/drawing/2014/main" id="{352AA205-2AAA-3771-3F3C-6425D87919B6}"/>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Code Walkthrough Ã‚Â· Foundations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21443799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ACC7A8-4217-C5A5-6F40-473CA518A387}"/>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CODE Ã‚Â· PACKAGE SPOTLIGHT</a:t>
            </a:r>
          </a:p>
        </p:txBody>
      </p:sp>
      <p:sp>
        <p:nvSpPr>
          <p:cNvPr id="3" name="TextBox 2">
            <a:extLst>
              <a:ext uri="{FF2B5EF4-FFF2-40B4-BE49-F238E27FC236}">
                <a16:creationId xmlns:a16="http://schemas.microsoft.com/office/drawing/2014/main" id="{B3A636F2-8AC5-C8F0-2BA1-B7ACD49D6461}"/>
              </a:ext>
            </a:extLst>
          </p:cNvPr>
          <p:cNvSpPr txBox="1"/>
          <p:nvPr/>
        </p:nvSpPr>
        <p:spPr>
          <a:xfrm>
            <a:off x="584200" y="609600"/>
            <a:ext cx="14605000" cy="492443"/>
          </a:xfrm>
          <a:prstGeom prst="rect">
            <a:avLst/>
          </a:prstGeom>
          <a:noFill/>
        </p:spPr>
        <p:txBody>
          <a:bodyPr vert="horz" wrap="square" rtlCol="0">
            <a:spAutoFit/>
          </a:bodyPr>
          <a:lstStyle/>
          <a:p>
            <a:r>
              <a:rPr lang="en-IN" sz="2600" b="1">
                <a:solidFill>
                  <a:srgbClr val="1B2340"/>
                </a:solidFill>
                <a:latin typeface="IBM Plex Sans" panose="020B0503050203000203" pitchFamily="34" charset="0"/>
              </a:rPr>
              <a:t>haven + pharmaverseadam + flextable/officer</a:t>
            </a:r>
          </a:p>
        </p:txBody>
      </p:sp>
      <p:sp>
        <p:nvSpPr>
          <p:cNvPr id="4" name="Rectangle: Rounded Corners 3">
            <a:extLst>
              <a:ext uri="{FF2B5EF4-FFF2-40B4-BE49-F238E27FC236}">
                <a16:creationId xmlns:a16="http://schemas.microsoft.com/office/drawing/2014/main" id="{B836949D-05F6-C8C8-6A2C-60202D3CE5AE}"/>
              </a:ext>
            </a:extLst>
          </p:cNvPr>
          <p:cNvSpPr/>
          <p:nvPr/>
        </p:nvSpPr>
        <p:spPr>
          <a:xfrm>
            <a:off x="584200" y="1905000"/>
            <a:ext cx="3505098" cy="4191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E9568DF7-EB82-7A11-9C03-3EA1ABB6FE74}"/>
              </a:ext>
            </a:extLst>
          </p:cNvPr>
          <p:cNvSpPr/>
          <p:nvPr/>
        </p:nvSpPr>
        <p:spPr>
          <a:xfrm>
            <a:off x="584200" y="1905000"/>
            <a:ext cx="3505098" cy="76200"/>
          </a:xfrm>
          <a:prstGeom prst="rect">
            <a:avLst/>
          </a:prstGeom>
          <a:solidFill>
            <a:srgbClr val="0F7A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5000A086-3539-C651-D61E-D887C89A596D}"/>
              </a:ext>
            </a:extLst>
          </p:cNvPr>
          <p:cNvSpPr txBox="1"/>
          <p:nvPr/>
        </p:nvSpPr>
        <p:spPr>
          <a:xfrm>
            <a:off x="787400" y="2133600"/>
            <a:ext cx="3098698" cy="323165"/>
          </a:xfrm>
          <a:prstGeom prst="rect">
            <a:avLst/>
          </a:prstGeom>
          <a:noFill/>
        </p:spPr>
        <p:txBody>
          <a:bodyPr vert="horz" wrap="square" rtlCol="0">
            <a:spAutoFit/>
          </a:bodyPr>
          <a:lstStyle/>
          <a:p>
            <a:r>
              <a:rPr lang="en-IN" sz="1500" b="1">
                <a:solidFill>
                  <a:srgbClr val="1B2340"/>
                </a:solidFill>
                <a:latin typeface="IBM Plex Sans" panose="020B0503050203000203" pitchFamily="34" charset="0"/>
              </a:rPr>
              <a:t>haven</a:t>
            </a:r>
          </a:p>
        </p:txBody>
      </p:sp>
      <p:sp>
        <p:nvSpPr>
          <p:cNvPr id="7" name="TextBox 6">
            <a:extLst>
              <a:ext uri="{FF2B5EF4-FFF2-40B4-BE49-F238E27FC236}">
                <a16:creationId xmlns:a16="http://schemas.microsoft.com/office/drawing/2014/main" id="{FC0D3185-975E-F197-47A3-42D8E682B6EB}"/>
              </a:ext>
            </a:extLst>
          </p:cNvPr>
          <p:cNvSpPr txBox="1"/>
          <p:nvPr/>
        </p:nvSpPr>
        <p:spPr>
          <a:xfrm>
            <a:off x="787400" y="2743200"/>
            <a:ext cx="3098698" cy="369332"/>
          </a:xfrm>
          <a:prstGeom prst="rect">
            <a:avLst/>
          </a:prstGeom>
          <a:noFill/>
        </p:spPr>
        <p:txBody>
          <a:bodyPr vert="horz" wrap="square" rtlCol="0">
            <a:noAutofit/>
          </a:bodyPr>
          <a:lstStyle/>
          <a:p>
            <a:pPr marL="342900" indent="-342900">
              <a:buFont typeface="+mj-lt"/>
              <a:buChar char="•"/>
            </a:pPr>
            <a:r>
              <a:rPr lang="en-US" sz="1300">
                <a:solidFill>
                  <a:srgbClr val="5B6182"/>
                </a:solidFill>
                <a:latin typeface="IBM Plex Sans" panose="020B0503050203000203" pitchFamily="34" charset="0"/>
              </a:rPr>
              <a:t>Reads real SAS transport-style .sas7bdat files directly into R critical for a tool meant to work against actual clinical deliverables.</a:t>
            </a:r>
            <a:endParaRPr lang="en-IN" sz="1300">
              <a:solidFill>
                <a:srgbClr val="5B6182"/>
              </a:solidFill>
              <a:latin typeface="IBM Plex Sans" panose="020B0503050203000203" pitchFamily="34" charset="0"/>
            </a:endParaRPr>
          </a:p>
        </p:txBody>
      </p:sp>
      <p:sp>
        <p:nvSpPr>
          <p:cNvPr id="8" name="Rectangle: Rounded Corners 7">
            <a:extLst>
              <a:ext uri="{FF2B5EF4-FFF2-40B4-BE49-F238E27FC236}">
                <a16:creationId xmlns:a16="http://schemas.microsoft.com/office/drawing/2014/main" id="{B7B6B057-DB0A-C98A-8857-DA689344BED3}"/>
              </a:ext>
            </a:extLst>
          </p:cNvPr>
          <p:cNvSpPr/>
          <p:nvPr/>
        </p:nvSpPr>
        <p:spPr>
          <a:xfrm>
            <a:off x="4343298" y="1905000"/>
            <a:ext cx="3505099" cy="4191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E64A00C4-1C1C-17D1-A1F5-665DEA78F762}"/>
              </a:ext>
            </a:extLst>
          </p:cNvPr>
          <p:cNvSpPr/>
          <p:nvPr/>
        </p:nvSpPr>
        <p:spPr>
          <a:xfrm>
            <a:off x="4343298" y="1905000"/>
            <a:ext cx="3505099" cy="76200"/>
          </a:xfrm>
          <a:prstGeom prst="rect">
            <a:avLst/>
          </a:prstGeom>
          <a:solidFill>
            <a:srgbClr val="0F7A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F8757B45-76D2-083A-0DD9-1F62416DC8DC}"/>
              </a:ext>
            </a:extLst>
          </p:cNvPr>
          <p:cNvSpPr txBox="1"/>
          <p:nvPr/>
        </p:nvSpPr>
        <p:spPr>
          <a:xfrm>
            <a:off x="4546498" y="2133600"/>
            <a:ext cx="3098698" cy="323165"/>
          </a:xfrm>
          <a:prstGeom prst="rect">
            <a:avLst/>
          </a:prstGeom>
          <a:noFill/>
        </p:spPr>
        <p:txBody>
          <a:bodyPr vert="horz" wrap="square" rtlCol="0">
            <a:spAutoFit/>
          </a:bodyPr>
          <a:lstStyle/>
          <a:p>
            <a:r>
              <a:rPr lang="en-IN" sz="1500" b="1">
                <a:solidFill>
                  <a:srgbClr val="1B2340"/>
                </a:solidFill>
                <a:latin typeface="IBM Plex Sans" panose="020B0503050203000203" pitchFamily="34" charset="0"/>
              </a:rPr>
              <a:t>pharmaverseadam</a:t>
            </a:r>
          </a:p>
        </p:txBody>
      </p:sp>
      <p:sp>
        <p:nvSpPr>
          <p:cNvPr id="11" name="TextBox 10">
            <a:extLst>
              <a:ext uri="{FF2B5EF4-FFF2-40B4-BE49-F238E27FC236}">
                <a16:creationId xmlns:a16="http://schemas.microsoft.com/office/drawing/2014/main" id="{AF08606F-8BB4-9A5C-335D-4FF895062D82}"/>
              </a:ext>
            </a:extLst>
          </p:cNvPr>
          <p:cNvSpPr txBox="1"/>
          <p:nvPr/>
        </p:nvSpPr>
        <p:spPr>
          <a:xfrm>
            <a:off x="4546498" y="2743200"/>
            <a:ext cx="3098698" cy="369332"/>
          </a:xfrm>
          <a:prstGeom prst="rect">
            <a:avLst/>
          </a:prstGeom>
          <a:noFill/>
        </p:spPr>
        <p:txBody>
          <a:bodyPr vert="horz" wrap="square" rtlCol="0">
            <a:noAutofit/>
          </a:bodyPr>
          <a:lstStyle/>
          <a:p>
            <a:pPr marL="342900" indent="-342900">
              <a:buFont typeface="+mj-lt"/>
              <a:buChar char="•"/>
            </a:pPr>
            <a:r>
              <a:rPr lang="en-US" sz="1300">
                <a:solidFill>
                  <a:srgbClr val="5B6182"/>
                </a:solidFill>
                <a:latin typeface="IBM Plex Sans" panose="020B0503050203000203" pitchFamily="34" charset="0"/>
              </a:rPr>
              <a:t>Ships realistic, ready-made ADSL/ADAE/ADLB/ADVS sample data the demo works out of the box with zero setup.</a:t>
            </a:r>
            <a:endParaRPr lang="en-IN" sz="1300">
              <a:solidFill>
                <a:srgbClr val="5B6182"/>
              </a:solidFill>
              <a:latin typeface="IBM Plex Sans" panose="020B0503050203000203" pitchFamily="34" charset="0"/>
            </a:endParaRPr>
          </a:p>
        </p:txBody>
      </p:sp>
      <p:sp>
        <p:nvSpPr>
          <p:cNvPr id="12" name="Rectangle: Rounded Corners 11">
            <a:extLst>
              <a:ext uri="{FF2B5EF4-FFF2-40B4-BE49-F238E27FC236}">
                <a16:creationId xmlns:a16="http://schemas.microsoft.com/office/drawing/2014/main" id="{F9F295C4-5D5F-A0EA-CA0B-4A3C58FCD3D9}"/>
              </a:ext>
            </a:extLst>
          </p:cNvPr>
          <p:cNvSpPr/>
          <p:nvPr/>
        </p:nvSpPr>
        <p:spPr>
          <a:xfrm>
            <a:off x="8102397" y="1905000"/>
            <a:ext cx="3505098" cy="4191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B949609F-8067-DE6C-56D8-9ECBCFF31608}"/>
              </a:ext>
            </a:extLst>
          </p:cNvPr>
          <p:cNvSpPr/>
          <p:nvPr/>
        </p:nvSpPr>
        <p:spPr>
          <a:xfrm>
            <a:off x="8102397" y="1905000"/>
            <a:ext cx="3505098" cy="76200"/>
          </a:xfrm>
          <a:prstGeom prst="rect">
            <a:avLst/>
          </a:prstGeom>
          <a:solidFill>
            <a:srgbClr val="0F7A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E5997079-9A38-40D4-DA1C-29E44047B2FA}"/>
              </a:ext>
            </a:extLst>
          </p:cNvPr>
          <p:cNvSpPr txBox="1"/>
          <p:nvPr/>
        </p:nvSpPr>
        <p:spPr>
          <a:xfrm>
            <a:off x="8305597" y="2133600"/>
            <a:ext cx="3098698" cy="323165"/>
          </a:xfrm>
          <a:prstGeom prst="rect">
            <a:avLst/>
          </a:prstGeom>
          <a:noFill/>
        </p:spPr>
        <p:txBody>
          <a:bodyPr vert="horz" wrap="square" rtlCol="0">
            <a:spAutoFit/>
          </a:bodyPr>
          <a:lstStyle/>
          <a:p>
            <a:r>
              <a:rPr lang="en-IN" sz="1500" b="1">
                <a:solidFill>
                  <a:srgbClr val="1B2340"/>
                </a:solidFill>
                <a:latin typeface="IBM Plex Sans" panose="020B0503050203000203" pitchFamily="34" charset="0"/>
              </a:rPr>
              <a:t>flextable + officer</a:t>
            </a:r>
          </a:p>
        </p:txBody>
      </p:sp>
      <p:sp>
        <p:nvSpPr>
          <p:cNvPr id="15" name="TextBox 14">
            <a:extLst>
              <a:ext uri="{FF2B5EF4-FFF2-40B4-BE49-F238E27FC236}">
                <a16:creationId xmlns:a16="http://schemas.microsoft.com/office/drawing/2014/main" id="{8C861EF3-E32D-6C0E-9B5C-5F19C1FFBDC6}"/>
              </a:ext>
            </a:extLst>
          </p:cNvPr>
          <p:cNvSpPr txBox="1"/>
          <p:nvPr/>
        </p:nvSpPr>
        <p:spPr>
          <a:xfrm>
            <a:off x="8305597" y="2743200"/>
            <a:ext cx="3098698" cy="369332"/>
          </a:xfrm>
          <a:prstGeom prst="rect">
            <a:avLst/>
          </a:prstGeom>
          <a:noFill/>
        </p:spPr>
        <p:txBody>
          <a:bodyPr vert="horz" wrap="square" rtlCol="0">
            <a:noAutofit/>
          </a:bodyPr>
          <a:lstStyle/>
          <a:p>
            <a:pPr marL="342900" indent="-342900">
              <a:buFont typeface="+mj-lt"/>
              <a:buChar char="•"/>
            </a:pPr>
            <a:r>
              <a:rPr lang="en-US" sz="1300">
                <a:solidFill>
                  <a:srgbClr val="5B6182"/>
                </a:solidFill>
                <a:latin typeface="IBM Plex Sans" panose="020B0503050203000203" pitchFamily="34" charset="0"/>
              </a:rPr>
              <a:t>Rebuilds any gt table as an editable, submission-style Word table officer::read_docx() assembles the .docx entirely in memory.</a:t>
            </a:r>
            <a:endParaRPr lang="en-IN" sz="1300">
              <a:solidFill>
                <a:srgbClr val="5B6182"/>
              </a:solidFill>
              <a:latin typeface="IBM Plex Sans" panose="020B0503050203000203" pitchFamily="34" charset="0"/>
            </a:endParaRPr>
          </a:p>
        </p:txBody>
      </p:sp>
      <p:sp>
        <p:nvSpPr>
          <p:cNvPr id="16" name="TextBox 15">
            <a:extLst>
              <a:ext uri="{FF2B5EF4-FFF2-40B4-BE49-F238E27FC236}">
                <a16:creationId xmlns:a16="http://schemas.microsoft.com/office/drawing/2014/main" id="{900F4F7F-CA44-FBD0-360C-EE43A58D88A7}"/>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Code Walkthrough Ã‚Â· Foundations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18555202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235A3E-3AE5-E327-CBC3-33D2F39A99FF}"/>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CODE Ã‚Â· PACKAGE SPOTLIGHT</a:t>
            </a:r>
          </a:p>
        </p:txBody>
      </p:sp>
      <p:sp>
        <p:nvSpPr>
          <p:cNvPr id="3" name="TextBox 2">
            <a:extLst>
              <a:ext uri="{FF2B5EF4-FFF2-40B4-BE49-F238E27FC236}">
                <a16:creationId xmlns:a16="http://schemas.microsoft.com/office/drawing/2014/main" id="{B22096AB-B394-140F-2250-3E53CC67DE58}"/>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How the packages divide responsibility</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5967BEE0-9CF8-4F2A-DC80-BE1390EFBCDA}"/>
              </a:ext>
            </a:extLst>
          </p:cNvPr>
          <p:cNvSpPr/>
          <p:nvPr/>
        </p:nvSpPr>
        <p:spPr>
          <a:xfrm>
            <a:off x="584200" y="1651000"/>
            <a:ext cx="11023295"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67440C66-F2F7-22A1-20A9-5C36B6F7E164}"/>
              </a:ext>
            </a:extLst>
          </p:cNvPr>
          <p:cNvSpPr txBox="1"/>
          <p:nvPr/>
        </p:nvSpPr>
        <p:spPr>
          <a:xfrm>
            <a:off x="889000" y="1930400"/>
            <a:ext cx="10413695" cy="369332"/>
          </a:xfrm>
          <a:prstGeom prst="rect">
            <a:avLst/>
          </a:prstGeom>
          <a:noFill/>
        </p:spPr>
        <p:txBody>
          <a:bodyPr vert="horz" wrap="square" rtlCol="0">
            <a:noAutofit/>
          </a:bodyPr>
          <a:lstStyle/>
          <a:p>
            <a:pPr marL="342900" indent="-342900">
              <a:buFont typeface="+mj-lt"/>
              <a:buChar char="•"/>
            </a:pPr>
            <a:r>
              <a:rPr lang="en-US" sz="1600">
                <a:solidFill>
                  <a:srgbClr val="5B6182"/>
                </a:solidFill>
                <a:latin typeface="IBM Plex Sans" panose="020B0503050203000203" pitchFamily="34" charset="0"/>
              </a:rPr>
              <a:t>`
 Notice the pattern: each package owns exactly one concern, and no two packages compete for the same job. dplyr/tidyr never touch presentation; gt/ggplot2 never touch aggregation. That separation is what makes every build_*() function testable on its own, independent of Shiny running at all.
`</a:t>
            </a:r>
            <a:endParaRPr lang="en-IN" sz="1600">
              <a:solidFill>
                <a:srgbClr val="5B6182"/>
              </a:solidFill>
              <a:latin typeface="IBM Plex Sans" panose="020B0503050203000203" pitchFamily="34" charset="0"/>
            </a:endParaRPr>
          </a:p>
        </p:txBody>
      </p:sp>
      <p:sp>
        <p:nvSpPr>
          <p:cNvPr id="6" name="TextBox 5">
            <a:extLst>
              <a:ext uri="{FF2B5EF4-FFF2-40B4-BE49-F238E27FC236}">
                <a16:creationId xmlns:a16="http://schemas.microsoft.com/office/drawing/2014/main" id="{98CF629B-327C-9636-9CF5-71F170FB8A11}"/>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Code Walkthrough Ã‚Â· Foundations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2954354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AB9C712-0B49-45A0-F9B7-E7086B8A8A37}"/>
              </a:ext>
            </a:extLst>
          </p:cNvPr>
          <p:cNvSpPr txBox="1"/>
          <p:nvPr/>
        </p:nvSpPr>
        <p:spPr>
          <a:xfrm>
            <a:off x="584200" y="330200"/>
            <a:ext cx="11430000" cy="292388"/>
          </a:xfrm>
          <a:prstGeom prst="rect">
            <a:avLst/>
          </a:prstGeom>
          <a:noFill/>
        </p:spPr>
        <p:txBody>
          <a:bodyPr vert="horz" wrap="square" rtlCol="0">
            <a:spAutoFit/>
          </a:bodyPr>
          <a:lstStyle/>
          <a:p>
            <a:r>
              <a:rPr lang="en-US" sz="1300" b="1">
                <a:solidFill>
                  <a:srgbClr val="0F7A7A"/>
                </a:solidFill>
                <a:latin typeface="IBM Plex Sans" panose="020B0503050203000203" pitchFamily="34" charset="0"/>
              </a:rPr>
              <a:t>CODE Ã‚Â· SHARED FILTERING</a:t>
            </a:r>
            <a:endParaRPr lang="en-IN" sz="1300" b="1">
              <a:solidFill>
                <a:srgbClr val="0F7A7A"/>
              </a:solidFill>
              <a:latin typeface="IBM Plex Sans" panose="020B0503050203000203" pitchFamily="34" charset="0"/>
            </a:endParaRPr>
          </a:p>
        </p:txBody>
      </p:sp>
      <p:sp>
        <p:nvSpPr>
          <p:cNvPr id="3" name="TextBox 2">
            <a:extLst>
              <a:ext uri="{FF2B5EF4-FFF2-40B4-BE49-F238E27FC236}">
                <a16:creationId xmlns:a16="http://schemas.microsoft.com/office/drawing/2014/main" id="{84228B0C-972C-FDFA-79A3-93F77A6891E4}"/>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prep_adsl() Ã¢ part 1: population &amp; treatment filter</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66F1C5F9-3A19-830B-2E4C-4CBD52E48A85}"/>
              </a:ext>
            </a:extLst>
          </p:cNvPr>
          <p:cNvSpPr/>
          <p:nvPr/>
        </p:nvSpPr>
        <p:spPr>
          <a:xfrm>
            <a:off x="584200" y="1651000"/>
            <a:ext cx="5359248" cy="4699000"/>
          </a:xfrm>
          <a:prstGeom prst="roundRect">
            <a:avLst/>
          </a:prstGeom>
          <a:solidFill>
            <a:srgbClr val="161C3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996E34B6-96BF-EE89-8DAF-023207274ABF}"/>
              </a:ext>
            </a:extLst>
          </p:cNvPr>
          <p:cNvSpPr txBox="1"/>
          <p:nvPr/>
        </p:nvSpPr>
        <p:spPr>
          <a:xfrm>
            <a:off x="787400" y="1854200"/>
            <a:ext cx="4952848" cy="646331"/>
          </a:xfrm>
          <a:prstGeom prst="rect">
            <a:avLst/>
          </a:prstGeom>
          <a:noFill/>
        </p:spPr>
        <p:txBody>
          <a:bodyPr vert="horz" wrap="square" rtlCol="0">
            <a:spAutoFit/>
          </a:bodyPr>
          <a:lstStyle/>
          <a:p>
            <a:r>
              <a:rPr lang="en-IN" sz="1200">
                <a:solidFill>
                  <a:srgbClr val="DCE1F5"/>
                </a:solidFill>
                <a:latin typeface="Consolas" panose="020B0609020204030204" pitchFamily="49" charset="0"/>
              </a:rPr>
              <a:t>`prep_adsl 
 mutate(TRT = factor(.data[[trt_var]],
 levels = trts))`</a:t>
            </a:r>
          </a:p>
        </p:txBody>
      </p:sp>
      <p:sp>
        <p:nvSpPr>
          <p:cNvPr id="6" name="TextBox 5">
            <a:extLst>
              <a:ext uri="{FF2B5EF4-FFF2-40B4-BE49-F238E27FC236}">
                <a16:creationId xmlns:a16="http://schemas.microsoft.com/office/drawing/2014/main" id="{74BE2ADA-71CC-564D-EBDC-B5F37193E8D8}"/>
              </a:ext>
            </a:extLst>
          </p:cNvPr>
          <p:cNvSpPr txBox="1"/>
          <p:nvPr/>
        </p:nvSpPr>
        <p:spPr>
          <a:xfrm>
            <a:off x="6248248" y="1752600"/>
            <a:ext cx="5359248" cy="369332"/>
          </a:xfrm>
          <a:prstGeom prst="rect">
            <a:avLst/>
          </a:prstGeom>
          <a:noFill/>
        </p:spPr>
        <p:txBody>
          <a:bodyPr vert="horz" wrap="square" rtlCol="0">
            <a:noAutofit/>
          </a:bodyPr>
          <a:lstStyle/>
          <a:p>
            <a:pPr marL="342900" indent="-342900">
              <a:buFont typeface="+mj-lt"/>
              <a:buChar char="•"/>
            </a:pPr>
            <a:r>
              <a:rPr lang="en-US" sz="1400">
                <a:solidFill>
                  <a:srgbClr val="5B6182"/>
                </a:solidFill>
                <a:latin typeface="IBM Plex Sans" panose="020B0503050203000203" pitchFamily="34" charset="0"/>
              </a:rPr>
              <a:t>Every table and figure builder calls prep_adsl() first it's the single choke point for filtering logic
.data[[pop_flag]] uses tidy-eval to filter by a column name stored in a variable essential since the population flag is a user selection, not hardcoded
factor(..., levels = trts) locks treatment display order to the order the user selected arms in</a:t>
            </a:r>
            <a:endParaRPr lang="en-IN" sz="1400">
              <a:solidFill>
                <a:srgbClr val="5B6182"/>
              </a:solidFill>
              <a:latin typeface="IBM Plex Sans" panose="020B0503050203000203" pitchFamily="34" charset="0"/>
            </a:endParaRPr>
          </a:p>
        </p:txBody>
      </p:sp>
      <p:sp>
        <p:nvSpPr>
          <p:cNvPr id="7" name="TextBox 6">
            <a:extLst>
              <a:ext uri="{FF2B5EF4-FFF2-40B4-BE49-F238E27FC236}">
                <a16:creationId xmlns:a16="http://schemas.microsoft.com/office/drawing/2014/main" id="{C6E2D4EB-67A0-793C-C7E8-B41BB1B16758}"/>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Code Walkthrough Ã‚Â· Foundations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4894630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42CC34-FAFF-2015-D00E-4BD09ADB0039}"/>
              </a:ext>
            </a:extLst>
          </p:cNvPr>
          <p:cNvSpPr txBox="1"/>
          <p:nvPr/>
        </p:nvSpPr>
        <p:spPr>
          <a:xfrm>
            <a:off x="584200" y="330200"/>
            <a:ext cx="11430000" cy="292388"/>
          </a:xfrm>
          <a:prstGeom prst="rect">
            <a:avLst/>
          </a:prstGeom>
          <a:noFill/>
        </p:spPr>
        <p:txBody>
          <a:bodyPr vert="horz" wrap="square" rtlCol="0">
            <a:spAutoFit/>
          </a:bodyPr>
          <a:lstStyle/>
          <a:p>
            <a:r>
              <a:rPr lang="en-US" sz="1300" b="1">
                <a:solidFill>
                  <a:srgbClr val="0F7A7A"/>
                </a:solidFill>
                <a:latin typeface="IBM Plex Sans" panose="020B0503050203000203" pitchFamily="34" charset="0"/>
              </a:rPr>
              <a:t>CODE Ã‚Â· SHARED FILTERING</a:t>
            </a:r>
            <a:endParaRPr lang="en-IN" sz="1300" b="1">
              <a:solidFill>
                <a:srgbClr val="0F7A7A"/>
              </a:solidFill>
              <a:latin typeface="IBM Plex Sans" panose="020B0503050203000203" pitchFamily="34" charset="0"/>
            </a:endParaRPr>
          </a:p>
        </p:txBody>
      </p:sp>
      <p:sp>
        <p:nvSpPr>
          <p:cNvPr id="3" name="TextBox 2">
            <a:extLst>
              <a:ext uri="{FF2B5EF4-FFF2-40B4-BE49-F238E27FC236}">
                <a16:creationId xmlns:a16="http://schemas.microsoft.com/office/drawing/2014/main" id="{7C6A4A77-9DC9-C058-EE85-D3FB483FD0ED}"/>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prep_adsl() Ã¢ part 2: synthesizing the Total column</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2CA738A9-3495-AC55-AAE3-2D16ECD9FB58}"/>
              </a:ext>
            </a:extLst>
          </p:cNvPr>
          <p:cNvSpPr/>
          <p:nvPr/>
        </p:nvSpPr>
        <p:spPr>
          <a:xfrm>
            <a:off x="584200" y="1651000"/>
            <a:ext cx="5359248" cy="4699000"/>
          </a:xfrm>
          <a:prstGeom prst="roundRect">
            <a:avLst/>
          </a:prstGeom>
          <a:solidFill>
            <a:srgbClr val="161C3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C5A229D7-62DC-72B8-CC31-11887FE22B8D}"/>
              </a:ext>
            </a:extLst>
          </p:cNvPr>
          <p:cNvSpPr txBox="1"/>
          <p:nvPr/>
        </p:nvSpPr>
        <p:spPr>
          <a:xfrm>
            <a:off x="787400" y="1854200"/>
            <a:ext cx="4952848" cy="1938992"/>
          </a:xfrm>
          <a:prstGeom prst="rect">
            <a:avLst/>
          </a:prstGeom>
          <a:noFill/>
        </p:spPr>
        <p:txBody>
          <a:bodyPr vert="horz" wrap="square" rtlCol="0">
            <a:spAutoFit/>
          </a:bodyPr>
          <a:lstStyle/>
          <a:p>
            <a:r>
              <a:rPr lang="en-IN" sz="1200">
                <a:solidFill>
                  <a:srgbClr val="DCE1F5"/>
                </a:solidFill>
                <a:latin typeface="Consolas" panose="020B0609020204030204" pitchFamily="49" charset="0"/>
              </a:rPr>
              <a:t>` N &lt;- setNames(as.integer(table(d$TRT)), trts)
 all_lvls &lt;- if (show_total) c(trts, "Total") else trts
 if (show_total) {
 d &lt;- bind_rows(d, mutate(d,
 TRT = factor("Total", levels = all_lvls)))
 N &lt;- c(N, Total = sum(N))
 }
 list(d = d, N = N, all_lvls = all_lvls)
}`</a:t>
            </a:r>
          </a:p>
        </p:txBody>
      </p:sp>
      <p:sp>
        <p:nvSpPr>
          <p:cNvPr id="6" name="TextBox 5">
            <a:extLst>
              <a:ext uri="{FF2B5EF4-FFF2-40B4-BE49-F238E27FC236}">
                <a16:creationId xmlns:a16="http://schemas.microsoft.com/office/drawing/2014/main" id="{E9604D43-A046-B874-BF42-8899D2AA9ABC}"/>
              </a:ext>
            </a:extLst>
          </p:cNvPr>
          <p:cNvSpPr txBox="1"/>
          <p:nvPr/>
        </p:nvSpPr>
        <p:spPr>
          <a:xfrm>
            <a:off x="6248248" y="1752600"/>
            <a:ext cx="5359248" cy="369332"/>
          </a:xfrm>
          <a:prstGeom prst="rect">
            <a:avLst/>
          </a:prstGeom>
          <a:noFill/>
        </p:spPr>
        <p:txBody>
          <a:bodyPr vert="horz" wrap="square" rtlCol="0">
            <a:noAutofit/>
          </a:bodyPr>
          <a:lstStyle/>
          <a:p>
            <a:pPr marL="342900" indent="-342900">
              <a:buFont typeface="+mj-lt"/>
              <a:buChar char="•"/>
            </a:pPr>
            <a:r>
              <a:rPr lang="en-US" sz="1400">
                <a:solidFill>
                  <a:srgbClr val="5B6182"/>
                </a:solidFill>
                <a:latin typeface="IBM Plex Sans" panose="020B0503050203000203" pitchFamily="34" charset="0"/>
              </a:rPr>
              <a:t>The "Total" column isn't special-cased downstream it's manufactured by duplicating every row with TRT relabeled to "Total"
Because it's just another factor level, every count()/pivot_wider() call downstream treats it identically to a real arm
Returns a 3-part list d, N, all_lvls that every builder destructures the same way</a:t>
            </a:r>
            <a:endParaRPr lang="en-IN" sz="1400">
              <a:solidFill>
                <a:srgbClr val="5B6182"/>
              </a:solidFill>
              <a:latin typeface="IBM Plex Sans" panose="020B0503050203000203" pitchFamily="34" charset="0"/>
            </a:endParaRPr>
          </a:p>
        </p:txBody>
      </p:sp>
      <p:sp>
        <p:nvSpPr>
          <p:cNvPr id="7" name="TextBox 6">
            <a:extLst>
              <a:ext uri="{FF2B5EF4-FFF2-40B4-BE49-F238E27FC236}">
                <a16:creationId xmlns:a16="http://schemas.microsoft.com/office/drawing/2014/main" id="{BFB87D06-7477-5136-1072-9B1FFFA140C8}"/>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Code Walkthrough Ã‚Â· Foundations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42510604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7FF975-30E2-FE50-8537-2F92EB18CE81}"/>
              </a:ext>
            </a:extLst>
          </p:cNvPr>
          <p:cNvSpPr txBox="1"/>
          <p:nvPr/>
        </p:nvSpPr>
        <p:spPr>
          <a:xfrm>
            <a:off x="584200" y="330200"/>
            <a:ext cx="11430000" cy="292388"/>
          </a:xfrm>
          <a:prstGeom prst="rect">
            <a:avLst/>
          </a:prstGeom>
          <a:noFill/>
        </p:spPr>
        <p:txBody>
          <a:bodyPr vert="horz" wrap="square" rtlCol="0">
            <a:spAutoFit/>
          </a:bodyPr>
          <a:lstStyle/>
          <a:p>
            <a:r>
              <a:rPr lang="en-US" sz="1300" b="1">
                <a:solidFill>
                  <a:srgbClr val="0F7A7A"/>
                </a:solidFill>
                <a:latin typeface="IBM Plex Sans" panose="020B0503050203000203" pitchFamily="34" charset="0"/>
              </a:rPr>
              <a:t>CODE Ã‚Â· SHARED FILTERING</a:t>
            </a:r>
            <a:endParaRPr lang="en-IN" sz="1300" b="1">
              <a:solidFill>
                <a:srgbClr val="0F7A7A"/>
              </a:solidFill>
              <a:latin typeface="IBM Plex Sans" panose="020B0503050203000203" pitchFamily="34" charset="0"/>
            </a:endParaRPr>
          </a:p>
        </p:txBody>
      </p:sp>
      <p:sp>
        <p:nvSpPr>
          <p:cNvPr id="3" name="TextBox 2">
            <a:extLst>
              <a:ext uri="{FF2B5EF4-FFF2-40B4-BE49-F238E27FC236}">
                <a16:creationId xmlns:a16="http://schemas.microsoft.com/office/drawing/2014/main" id="{056C65C4-C981-E04A-ED15-5A5E35E235A6}"/>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wide_counts() Ã¢ count, join, pivot in one call</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A9191CAB-3F67-A6BF-C091-FBBBAFB860FF}"/>
              </a:ext>
            </a:extLst>
          </p:cNvPr>
          <p:cNvSpPr/>
          <p:nvPr/>
        </p:nvSpPr>
        <p:spPr>
          <a:xfrm>
            <a:off x="584200" y="1651000"/>
            <a:ext cx="5359248" cy="4699000"/>
          </a:xfrm>
          <a:prstGeom prst="roundRect">
            <a:avLst/>
          </a:prstGeom>
          <a:solidFill>
            <a:srgbClr val="161C3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3D3D0378-3B9A-5193-889C-CEB98CF4FDD5}"/>
              </a:ext>
            </a:extLst>
          </p:cNvPr>
          <p:cNvSpPr txBox="1"/>
          <p:nvPr/>
        </p:nvSpPr>
        <p:spPr>
          <a:xfrm>
            <a:off x="787400" y="1854200"/>
            <a:ext cx="4952848" cy="1569660"/>
          </a:xfrm>
          <a:prstGeom prst="rect">
            <a:avLst/>
          </a:prstGeom>
          <a:noFill/>
        </p:spPr>
        <p:txBody>
          <a:bodyPr vert="horz" wrap="square" rtlCol="0">
            <a:spAutoFit/>
          </a:bodyPr>
          <a:lstStyle/>
          <a:p>
            <a:r>
              <a:rPr lang="en-IN" sz="1200">
                <a:solidFill>
                  <a:srgbClr val="DCE1F5"/>
                </a:solidFill>
                <a:latin typeface="Consolas" panose="020B0609020204030204" pitchFamily="49" charset="0"/>
              </a:rPr>
              <a:t>`wide_counts 
 count(TRT, across(all_of(grp_cols))) |&gt;
 right_join(expand.grid(...), # fills implicit zeros
 by = c("TRT", grp_cols)) |&gt;
 mutate(n = replace_na(n, 0L),
 val = fmt_n_pct(n, N[as.character(TRT)])) |&gt;
 pivot_wider(names_from = TRT, values_from = val)
}`</a:t>
            </a:r>
          </a:p>
        </p:txBody>
      </p:sp>
      <p:sp>
        <p:nvSpPr>
          <p:cNvPr id="6" name="TextBox 5">
            <a:extLst>
              <a:ext uri="{FF2B5EF4-FFF2-40B4-BE49-F238E27FC236}">
                <a16:creationId xmlns:a16="http://schemas.microsoft.com/office/drawing/2014/main" id="{E5A27999-4DF8-3AFB-3674-A8AD550B8C3E}"/>
              </a:ext>
            </a:extLst>
          </p:cNvPr>
          <p:cNvSpPr txBox="1"/>
          <p:nvPr/>
        </p:nvSpPr>
        <p:spPr>
          <a:xfrm>
            <a:off x="6248248" y="1752600"/>
            <a:ext cx="5359248" cy="369332"/>
          </a:xfrm>
          <a:prstGeom prst="rect">
            <a:avLst/>
          </a:prstGeom>
          <a:noFill/>
        </p:spPr>
        <p:txBody>
          <a:bodyPr vert="horz" wrap="square" rtlCol="0">
            <a:noAutofit/>
          </a:bodyPr>
          <a:lstStyle/>
          <a:p>
            <a:pPr marL="342900" indent="-342900">
              <a:buFont typeface="+mj-lt"/>
              <a:buChar char="•"/>
            </a:pPr>
            <a:r>
              <a:rPr lang="en-US" sz="1400">
                <a:solidFill>
                  <a:srgbClr val="5B6182"/>
                </a:solidFill>
                <a:latin typeface="IBM Plex Sans" panose="020B0503050203000203" pitchFamily="34" charset="0"/>
              </a:rPr>
              <a:t>expand.grid() + right_join() is the trick that turns "0 subjects had this category" from a missing row into an explicit "0 (0.0%)"
Reused by build_demog() (sex, race), build_dispos() (status), and build_ae_sev() (severity) one function, three tables
Ends in wide format: one column per treatment arm, ready to hand to gt()</a:t>
            </a:r>
            <a:endParaRPr lang="en-IN" sz="1400">
              <a:solidFill>
                <a:srgbClr val="5B6182"/>
              </a:solidFill>
              <a:latin typeface="IBM Plex Sans" panose="020B0503050203000203" pitchFamily="34" charset="0"/>
            </a:endParaRPr>
          </a:p>
        </p:txBody>
      </p:sp>
      <p:sp>
        <p:nvSpPr>
          <p:cNvPr id="7" name="TextBox 6">
            <a:extLst>
              <a:ext uri="{FF2B5EF4-FFF2-40B4-BE49-F238E27FC236}">
                <a16:creationId xmlns:a16="http://schemas.microsoft.com/office/drawing/2014/main" id="{B69BBDBB-06FA-51D8-484A-6362BE14022D}"/>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Code Walkthrough Ã‚Â· Foundations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26580040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3105F3-2E5A-E2A3-6A38-034C0F1AF985}"/>
              </a:ext>
            </a:extLst>
          </p:cNvPr>
          <p:cNvSpPr txBox="1"/>
          <p:nvPr/>
        </p:nvSpPr>
        <p:spPr>
          <a:xfrm>
            <a:off x="584200" y="330200"/>
            <a:ext cx="11430000" cy="292388"/>
          </a:xfrm>
          <a:prstGeom prst="rect">
            <a:avLst/>
          </a:prstGeom>
          <a:noFill/>
        </p:spPr>
        <p:txBody>
          <a:bodyPr vert="horz" wrap="square" rtlCol="0">
            <a:spAutoFit/>
          </a:bodyPr>
          <a:lstStyle/>
          <a:p>
            <a:r>
              <a:rPr lang="en-US" sz="1300" b="1">
                <a:solidFill>
                  <a:srgbClr val="0F7A7A"/>
                </a:solidFill>
                <a:latin typeface="IBM Plex Sans" panose="020B0503050203000203" pitchFamily="34" charset="0"/>
              </a:rPr>
              <a:t>CODE Ã‚Â· SHARED FILTERING</a:t>
            </a:r>
            <a:endParaRPr lang="en-IN" sz="1300" b="1">
              <a:solidFill>
                <a:srgbClr val="0F7A7A"/>
              </a:solidFill>
              <a:latin typeface="IBM Plex Sans" panose="020B0503050203000203" pitchFamily="34" charset="0"/>
            </a:endParaRPr>
          </a:p>
        </p:txBody>
      </p:sp>
      <p:sp>
        <p:nvSpPr>
          <p:cNvPr id="3" name="TextBox 2">
            <a:extLst>
              <a:ext uri="{FF2B5EF4-FFF2-40B4-BE49-F238E27FC236}">
                <a16:creationId xmlns:a16="http://schemas.microsoft.com/office/drawing/2014/main" id="{E3D33B10-E739-5691-99F1-EEBA9BBBCEF0}"/>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hdr_row() Ã¢ the \"(N=xx)\" header row</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1049C86B-1A96-516D-6014-6EAE1FB608A7}"/>
              </a:ext>
            </a:extLst>
          </p:cNvPr>
          <p:cNvSpPr/>
          <p:nvPr/>
        </p:nvSpPr>
        <p:spPr>
          <a:xfrm>
            <a:off x="584200" y="1651000"/>
            <a:ext cx="11023295"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AD2D57D7-D02F-2796-07C7-5F55C4C5DEE6}"/>
              </a:ext>
            </a:extLst>
          </p:cNvPr>
          <p:cNvSpPr txBox="1"/>
          <p:nvPr/>
        </p:nvSpPr>
        <p:spPr>
          <a:xfrm>
            <a:off x="889000" y="1930400"/>
            <a:ext cx="10413695" cy="369332"/>
          </a:xfrm>
          <a:prstGeom prst="rect">
            <a:avLst/>
          </a:prstGeom>
          <a:noFill/>
        </p:spPr>
        <p:txBody>
          <a:bodyPr vert="horz" wrap="square" rtlCol="0">
            <a:noAutofit/>
          </a:bodyPr>
          <a:lstStyle/>
          <a:p>
            <a:pPr marL="342900" indent="-342900">
              <a:buFont typeface="+mj-lt"/>
              <a:buChar char="•"/>
            </a:pPr>
            <a:r>
              <a:rPr lang="en-US" sz="1600">
                <a:solidFill>
                  <a:srgbClr val="5B6182"/>
                </a:solidFill>
                <a:latin typeface="IBM Plex Sans" panose="020B0503050203000203" pitchFamily="34" charset="0"/>
              </a:rPr>
              <a:t>`
 A tiny helper that builds a single-row tibble like Characteristic | (N=64) | (N=62) | (N=126) using the treatment N's computed in prep_adsl(). Every table prepends one of these via bind_rows() so the reader always sees the denominator before reading a single percentage directly addressing the \"don't hide the N\" design principle from Session 1.
`</a:t>
            </a:r>
            <a:endParaRPr lang="en-IN" sz="1600">
              <a:solidFill>
                <a:srgbClr val="5B6182"/>
              </a:solidFill>
              <a:latin typeface="IBM Plex Sans" panose="020B0503050203000203" pitchFamily="34" charset="0"/>
            </a:endParaRPr>
          </a:p>
        </p:txBody>
      </p:sp>
      <p:sp>
        <p:nvSpPr>
          <p:cNvPr id="6" name="TextBox 5">
            <a:extLst>
              <a:ext uri="{FF2B5EF4-FFF2-40B4-BE49-F238E27FC236}">
                <a16:creationId xmlns:a16="http://schemas.microsoft.com/office/drawing/2014/main" id="{FAB7D63A-2820-82B7-7E95-D4B4144D5460}"/>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Code Walkthrough Ã‚Â· Foundations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65188790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42066A-24B1-8905-8285-12EBBDAA990C}"/>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TABLE BUILDER 1/5</a:t>
            </a:r>
          </a:p>
        </p:txBody>
      </p:sp>
      <p:sp>
        <p:nvSpPr>
          <p:cNvPr id="3" name="TextBox 2">
            <a:extLst>
              <a:ext uri="{FF2B5EF4-FFF2-40B4-BE49-F238E27FC236}">
                <a16:creationId xmlns:a16="http://schemas.microsoft.com/office/drawing/2014/main" id="{5EF6089E-37B0-C188-F4B3-965195E44294}"/>
              </a:ext>
            </a:extLst>
          </p:cNvPr>
          <p:cNvSpPr txBox="1"/>
          <p:nvPr/>
        </p:nvSpPr>
        <p:spPr>
          <a:xfrm>
            <a:off x="584200" y="609600"/>
            <a:ext cx="14605000" cy="492443"/>
          </a:xfrm>
          <a:prstGeom prst="rect">
            <a:avLst/>
          </a:prstGeom>
          <a:noFill/>
        </p:spPr>
        <p:txBody>
          <a:bodyPr vert="horz" wrap="square" rtlCol="0">
            <a:spAutoFit/>
          </a:bodyPr>
          <a:lstStyle/>
          <a:p>
            <a:r>
              <a:rPr lang="en-IN" sz="2600" b="1">
                <a:solidFill>
                  <a:srgbClr val="1B2340"/>
                </a:solidFill>
                <a:latin typeface="IBM Plex Sans" panose="020B0503050203000203" pitchFamily="34" charset="0"/>
              </a:rPr>
              <a:t>build_demog() Ã¢ Demographics (T14.1.1)</a:t>
            </a:r>
          </a:p>
        </p:txBody>
      </p:sp>
      <p:sp>
        <p:nvSpPr>
          <p:cNvPr id="4" name="Rectangle: Rounded Corners 3">
            <a:extLst>
              <a:ext uri="{FF2B5EF4-FFF2-40B4-BE49-F238E27FC236}">
                <a16:creationId xmlns:a16="http://schemas.microsoft.com/office/drawing/2014/main" id="{812E98B6-8C88-1E48-FAAE-F3DDE622B607}"/>
              </a:ext>
            </a:extLst>
          </p:cNvPr>
          <p:cNvSpPr/>
          <p:nvPr/>
        </p:nvSpPr>
        <p:spPr>
          <a:xfrm>
            <a:off x="584200" y="1651000"/>
            <a:ext cx="5359248" cy="4699000"/>
          </a:xfrm>
          <a:prstGeom prst="roundRect">
            <a:avLst/>
          </a:prstGeom>
          <a:solidFill>
            <a:srgbClr val="161C3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041C4D21-1428-85E3-558C-6AB76C9DF3DD}"/>
              </a:ext>
            </a:extLst>
          </p:cNvPr>
          <p:cNvSpPr txBox="1"/>
          <p:nvPr/>
        </p:nvSpPr>
        <p:spPr>
          <a:xfrm>
            <a:off x="787400" y="1854200"/>
            <a:ext cx="4952848" cy="1384995"/>
          </a:xfrm>
          <a:prstGeom prst="rect">
            <a:avLst/>
          </a:prstGeom>
          <a:noFill/>
        </p:spPr>
        <p:txBody>
          <a:bodyPr vert="horz" wrap="square" rtlCol="0">
            <a:spAutoFit/>
          </a:bodyPr>
          <a:lstStyle/>
          <a:p>
            <a:r>
              <a:rPr lang="en-IN" sz="1200">
                <a:solidFill>
                  <a:srgbClr val="DCE1F5"/>
                </a:solidFill>
                <a:latin typeface="Consolas" panose="020B0609020204030204" pitchFamily="49" charset="0"/>
              </a:rPr>
              <a:t>`age_tbl group_by(TRT) |&gt;
 summarise(\`Mean (SD)\` = fmt_mean_sd(AGE),
 \`Median [Min, Max]\` = fmt_med_rng(AGE)) |&gt;
 pivot_longer(-TRT) |&gt; pivot_wider(names_from=TRT)
cat_blk 
 mutate(Variable = label, .before = 1)`</a:t>
            </a:r>
          </a:p>
        </p:txBody>
      </p:sp>
      <p:sp>
        <p:nvSpPr>
          <p:cNvPr id="6" name="TextBox 5">
            <a:extLst>
              <a:ext uri="{FF2B5EF4-FFF2-40B4-BE49-F238E27FC236}">
                <a16:creationId xmlns:a16="http://schemas.microsoft.com/office/drawing/2014/main" id="{05435C7E-FB7A-79F5-A6FD-DD63C83039AC}"/>
              </a:ext>
            </a:extLst>
          </p:cNvPr>
          <p:cNvSpPr txBox="1"/>
          <p:nvPr/>
        </p:nvSpPr>
        <p:spPr>
          <a:xfrm>
            <a:off x="6248248" y="1752600"/>
            <a:ext cx="5359248" cy="369332"/>
          </a:xfrm>
          <a:prstGeom prst="rect">
            <a:avLst/>
          </a:prstGeom>
          <a:noFill/>
        </p:spPr>
        <p:txBody>
          <a:bodyPr vert="horz" wrap="square" rtlCol="0">
            <a:noAutofit/>
          </a:bodyPr>
          <a:lstStyle/>
          <a:p>
            <a:pPr marL="342900" indent="-342900">
              <a:buFont typeface="+mj-lt"/>
              <a:buChar char="•"/>
            </a:pPr>
            <a:r>
              <a:rPr lang="en-US" sz="1400">
                <a:solidFill>
                  <a:srgbClr val="5B6182"/>
                </a:solidFill>
                <a:latin typeface="IBM Plex Sans" panose="020B0503050203000203" pitchFamily="34" charset="0"/>
              </a:rPr>
              <a:t>Age is summarized as continuous (mean/SD, median/range); sex and race are summarized as categorical via wide_counts()
SEX is relabeled Female/Male and RACE is title-cased before counting, so display formatting never leaks into the aggregation logic
Final table is a bind_rows() stack: header row, age block, sex block, race block</a:t>
            </a:r>
            <a:endParaRPr lang="en-IN" sz="1400">
              <a:solidFill>
                <a:srgbClr val="5B6182"/>
              </a:solidFill>
              <a:latin typeface="IBM Plex Sans" panose="020B0503050203000203" pitchFamily="34" charset="0"/>
            </a:endParaRPr>
          </a:p>
        </p:txBody>
      </p:sp>
      <p:sp>
        <p:nvSpPr>
          <p:cNvPr id="7" name="TextBox 6">
            <a:extLst>
              <a:ext uri="{FF2B5EF4-FFF2-40B4-BE49-F238E27FC236}">
                <a16:creationId xmlns:a16="http://schemas.microsoft.com/office/drawing/2014/main" id="{544DAAE8-C86B-2637-5EF6-4AD511B42F54}"/>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Code Walkthrough Ã‚Â· Table Builders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24620951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D705A66-72C5-F973-1D78-32C5623C4E27}"/>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TABLE BUILDER 2/5</a:t>
            </a:r>
          </a:p>
        </p:txBody>
      </p:sp>
      <p:sp>
        <p:nvSpPr>
          <p:cNvPr id="3" name="TextBox 2">
            <a:extLst>
              <a:ext uri="{FF2B5EF4-FFF2-40B4-BE49-F238E27FC236}">
                <a16:creationId xmlns:a16="http://schemas.microsoft.com/office/drawing/2014/main" id="{2C8084AA-60D4-B849-E584-E2972554B544}"/>
              </a:ext>
            </a:extLst>
          </p:cNvPr>
          <p:cNvSpPr txBox="1"/>
          <p:nvPr/>
        </p:nvSpPr>
        <p:spPr>
          <a:xfrm>
            <a:off x="584200" y="609600"/>
            <a:ext cx="14605000" cy="492443"/>
          </a:xfrm>
          <a:prstGeom prst="rect">
            <a:avLst/>
          </a:prstGeom>
          <a:noFill/>
        </p:spPr>
        <p:txBody>
          <a:bodyPr vert="horz" wrap="square" rtlCol="0">
            <a:spAutoFit/>
          </a:bodyPr>
          <a:lstStyle/>
          <a:p>
            <a:r>
              <a:rPr lang="fr-FR" sz="2600" b="1">
                <a:solidFill>
                  <a:srgbClr val="1B2340"/>
                </a:solidFill>
                <a:latin typeface="IBM Plex Sans" panose="020B0503050203000203" pitchFamily="34" charset="0"/>
              </a:rPr>
              <a:t>build_dispos() Ã¢ Disposition (T14.1.2)</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E09133EB-CAF5-05A6-9EB6-9B48CB527CF5}"/>
              </a:ext>
            </a:extLst>
          </p:cNvPr>
          <p:cNvSpPr/>
          <p:nvPr/>
        </p:nvSpPr>
        <p:spPr>
          <a:xfrm>
            <a:off x="584200" y="1651000"/>
            <a:ext cx="5359248" cy="4699000"/>
          </a:xfrm>
          <a:prstGeom prst="roundRect">
            <a:avLst/>
          </a:prstGeom>
          <a:solidFill>
            <a:srgbClr val="161C3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022C54FC-17D0-4D38-9D6C-01D2BF8BAF4F}"/>
              </a:ext>
            </a:extLst>
          </p:cNvPr>
          <p:cNvSpPr txBox="1"/>
          <p:nvPr/>
        </p:nvSpPr>
        <p:spPr>
          <a:xfrm>
            <a:off x="787400" y="1854200"/>
            <a:ext cx="4952848" cy="830997"/>
          </a:xfrm>
          <a:prstGeom prst="rect">
            <a:avLst/>
          </a:prstGeom>
          <a:noFill/>
        </p:spPr>
        <p:txBody>
          <a:bodyPr vert="horz" wrap="square" rtlCol="0">
            <a:spAutoFit/>
          </a:bodyPr>
          <a:lstStyle/>
          <a:p>
            <a:r>
              <a:rPr lang="en-US" sz="1200">
                <a:solidFill>
                  <a:srgbClr val="DCE1F5"/>
                </a:solidFill>
                <a:latin typeface="Consolas" panose="020B0609020204030204" pitchFamily="49" charset="0"/>
              </a:rPr>
              <a:t>`status 
 mutate(Category = c("Completed","Discontinued")[
 match(Category, c("COMPLETED","DISCONTINUED"))]) |&gt;
 replace_na(list(Category = "Other"))`</a:t>
            </a:r>
            <a:endParaRPr lang="en-IN" sz="1200">
              <a:solidFill>
                <a:srgbClr val="DCE1F5"/>
              </a:solidFill>
              <a:latin typeface="Consolas" panose="020B0609020204030204" pitchFamily="49" charset="0"/>
            </a:endParaRPr>
          </a:p>
        </p:txBody>
      </p:sp>
      <p:sp>
        <p:nvSpPr>
          <p:cNvPr id="6" name="TextBox 5">
            <a:extLst>
              <a:ext uri="{FF2B5EF4-FFF2-40B4-BE49-F238E27FC236}">
                <a16:creationId xmlns:a16="http://schemas.microsoft.com/office/drawing/2014/main" id="{0C1E9822-9DD9-851A-5CC4-343ED5704C98}"/>
              </a:ext>
            </a:extLst>
          </p:cNvPr>
          <p:cNvSpPr txBox="1"/>
          <p:nvPr/>
        </p:nvSpPr>
        <p:spPr>
          <a:xfrm>
            <a:off x="6248248" y="1752600"/>
            <a:ext cx="5359248" cy="369332"/>
          </a:xfrm>
          <a:prstGeom prst="rect">
            <a:avLst/>
          </a:prstGeom>
          <a:noFill/>
        </p:spPr>
        <p:txBody>
          <a:bodyPr vert="horz" wrap="square" rtlCol="0">
            <a:noAutofit/>
          </a:bodyPr>
          <a:lstStyle/>
          <a:p>
            <a:pPr marL="342900" indent="-342900">
              <a:buFont typeface="+mj-lt"/>
              <a:buChar char="•"/>
            </a:pPr>
            <a:r>
              <a:rPr lang="en-US" sz="1400">
                <a:solidFill>
                  <a:srgbClr val="5B6182"/>
                </a:solidFill>
                <a:latin typeface="IBM Plex Sans" panose="020B0503050203000203" pitchFamily="34" charset="0"/>
              </a:rPr>
              <a:t>Defensive check first: if EOSSTT isn't in the uploaded data, the function returns a graceful "data unavailable" placeholder table instead of erroring the whole app
Reuses wide_counts() again the third table to lean on the same shared helper
Raw ADaM codes (COMPLETED) are relabeled to sentence case for clinical readability at render time only</a:t>
            </a:r>
            <a:endParaRPr lang="en-IN" sz="1400">
              <a:solidFill>
                <a:srgbClr val="5B6182"/>
              </a:solidFill>
              <a:latin typeface="IBM Plex Sans" panose="020B0503050203000203" pitchFamily="34" charset="0"/>
            </a:endParaRPr>
          </a:p>
        </p:txBody>
      </p:sp>
      <p:sp>
        <p:nvSpPr>
          <p:cNvPr id="7" name="TextBox 6">
            <a:extLst>
              <a:ext uri="{FF2B5EF4-FFF2-40B4-BE49-F238E27FC236}">
                <a16:creationId xmlns:a16="http://schemas.microsoft.com/office/drawing/2014/main" id="{8020C86C-16BF-39A5-4793-9277B3CD31D0}"/>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Code Walkthrough Ã‚Â· Table Builders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22653153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81B842-6541-1DDE-B1C6-71D7209EF832}"/>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TABLE BUILDER 3/5</a:t>
            </a:r>
          </a:p>
        </p:txBody>
      </p:sp>
      <p:sp>
        <p:nvSpPr>
          <p:cNvPr id="3" name="TextBox 2">
            <a:extLst>
              <a:ext uri="{FF2B5EF4-FFF2-40B4-BE49-F238E27FC236}">
                <a16:creationId xmlns:a16="http://schemas.microsoft.com/office/drawing/2014/main" id="{3CBC30B7-2893-8AAF-6FE4-65C9E3D3F0CF}"/>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build_ae_overview() Ã¢ TEAE Overview (T14.3.1)</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FB78D38E-51BC-D7E4-B80E-DB5F4F9DD7F7}"/>
              </a:ext>
            </a:extLst>
          </p:cNvPr>
          <p:cNvSpPr/>
          <p:nvPr/>
        </p:nvSpPr>
        <p:spPr>
          <a:xfrm>
            <a:off x="584200" y="1651000"/>
            <a:ext cx="5359248" cy="4699000"/>
          </a:xfrm>
          <a:prstGeom prst="roundRect">
            <a:avLst/>
          </a:prstGeom>
          <a:solidFill>
            <a:srgbClr val="161C3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83C4F2CD-557D-CA60-F408-7F9E9FA21CA8}"/>
              </a:ext>
            </a:extLst>
          </p:cNvPr>
          <p:cNvSpPr txBox="1"/>
          <p:nvPr/>
        </p:nvSpPr>
        <p:spPr>
          <a:xfrm>
            <a:off x="787400" y="1854200"/>
            <a:ext cx="4952848" cy="1569660"/>
          </a:xfrm>
          <a:prstGeom prst="rect">
            <a:avLst/>
          </a:prstGeom>
          <a:noFill/>
        </p:spPr>
        <p:txBody>
          <a:bodyPr vert="horz" wrap="square" rtlCol="0">
            <a:spAutoFit/>
          </a:bodyPr>
          <a:lstStyle/>
          <a:p>
            <a:r>
              <a:rPr lang="en-IN" sz="1200">
                <a:solidFill>
                  <a:srgbClr val="DCE1F5"/>
                </a:solidFill>
                <a:latin typeface="Consolas" panose="020B0609020204030204" pitchFamily="49" charset="0"/>
              </a:rPr>
              <a:t>`rows &lt;- list(
 list("Any TEAE", quote(TRUE)),
 list("Any Serious TEAE", quote(AESER=="Y")),
 list("TEAE Leading to Death",
 quote(!is.na(AESDTH)&amp;AESDTH=="Y")),
 ...
)
result &lt;- map_dfr(rows, ~cnt(base_ae, .x[[2]]))`</a:t>
            </a:r>
          </a:p>
        </p:txBody>
      </p:sp>
      <p:sp>
        <p:nvSpPr>
          <p:cNvPr id="6" name="TextBox 5">
            <a:extLst>
              <a:ext uri="{FF2B5EF4-FFF2-40B4-BE49-F238E27FC236}">
                <a16:creationId xmlns:a16="http://schemas.microsoft.com/office/drawing/2014/main" id="{A121BBE3-2520-EDAE-03A4-DE49EFE56DD4}"/>
              </a:ext>
            </a:extLst>
          </p:cNvPr>
          <p:cNvSpPr txBox="1"/>
          <p:nvPr/>
        </p:nvSpPr>
        <p:spPr>
          <a:xfrm>
            <a:off x="6248248" y="1752600"/>
            <a:ext cx="5359248" cy="369332"/>
          </a:xfrm>
          <a:prstGeom prst="rect">
            <a:avLst/>
          </a:prstGeom>
          <a:noFill/>
        </p:spPr>
        <p:txBody>
          <a:bodyPr vert="horz" wrap="square" rtlCol="0">
            <a:noAutofit/>
          </a:bodyPr>
          <a:lstStyle/>
          <a:p>
            <a:pPr marL="342900" indent="-342900">
              <a:buFont typeface="+mj-lt"/>
              <a:buChar char="•"/>
            </a:pPr>
            <a:r>
              <a:rPr lang="en-US" sz="1400">
                <a:solidFill>
                  <a:srgbClr val="5B6182"/>
                </a:solidFill>
                <a:latin typeface="IBM Plex Sans" panose="020B0503050203000203" pitchFamily="34" charset="0"/>
              </a:rPr>
              <a:t>Each row is a quote()d condition unevaluated R code stored as data, then evaluated later inside cnt() via filter(!!cond_expr)
This pattern makes adding a new TEAE category (e.g. "Leading to Dose Reduction") a one-line addition to the rows list, no new function needed
tryCatch() around cnt() means a missing variable degrades to "N/A" per-row rather than crashing the table</a:t>
            </a:r>
            <a:endParaRPr lang="en-IN" sz="1400">
              <a:solidFill>
                <a:srgbClr val="5B6182"/>
              </a:solidFill>
              <a:latin typeface="IBM Plex Sans" panose="020B0503050203000203" pitchFamily="34" charset="0"/>
            </a:endParaRPr>
          </a:p>
        </p:txBody>
      </p:sp>
      <p:sp>
        <p:nvSpPr>
          <p:cNvPr id="7" name="TextBox 6">
            <a:extLst>
              <a:ext uri="{FF2B5EF4-FFF2-40B4-BE49-F238E27FC236}">
                <a16:creationId xmlns:a16="http://schemas.microsoft.com/office/drawing/2014/main" id="{E49CDF38-3DA7-18C3-EFA0-D7B616F5C0EE}"/>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Code Walkthrough Ã‚Â· Table Builders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28089026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2C7514-E01B-D784-AA46-F13BCDF9730F}"/>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TABLE BUILDER 4/5</a:t>
            </a:r>
          </a:p>
        </p:txBody>
      </p:sp>
      <p:sp>
        <p:nvSpPr>
          <p:cNvPr id="3" name="TextBox 2">
            <a:extLst>
              <a:ext uri="{FF2B5EF4-FFF2-40B4-BE49-F238E27FC236}">
                <a16:creationId xmlns:a16="http://schemas.microsoft.com/office/drawing/2014/main" id="{FFB39B5D-A019-A585-327F-C2D4ECB4C8D3}"/>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build_ae_socpt() Ã¢ AE by SOC/PT (T14.3.2), part 1</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B65FD08E-AF76-43EB-CF3F-87A71614C996}"/>
              </a:ext>
            </a:extLst>
          </p:cNvPr>
          <p:cNvSpPr/>
          <p:nvPr/>
        </p:nvSpPr>
        <p:spPr>
          <a:xfrm>
            <a:off x="584200" y="1651000"/>
            <a:ext cx="5359248" cy="4699000"/>
          </a:xfrm>
          <a:prstGeom prst="roundRect">
            <a:avLst/>
          </a:prstGeom>
          <a:solidFill>
            <a:srgbClr val="161C3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48DDE27E-CB17-9B27-99C1-8C21F1697F61}"/>
              </a:ext>
            </a:extLst>
          </p:cNvPr>
          <p:cNvSpPr txBox="1"/>
          <p:nvPr/>
        </p:nvSpPr>
        <p:spPr>
          <a:xfrm>
            <a:off x="787400" y="1854200"/>
            <a:ext cx="4952848" cy="1754326"/>
          </a:xfrm>
          <a:prstGeom prst="rect">
            <a:avLst/>
          </a:prstGeom>
          <a:noFill/>
        </p:spPr>
        <p:txBody>
          <a:bodyPr vert="horz" wrap="square" rtlCol="0">
            <a:spAutoFit/>
          </a:bodyPr>
          <a:lstStyle/>
          <a:p>
            <a:r>
              <a:rPr lang="en-IN" sz="1200">
                <a:solidFill>
                  <a:srgbClr val="DCE1F5"/>
                </a:solidFill>
                <a:latin typeface="Consolas" panose="020B0609020204030204" pitchFamily="49" charset="0"/>
              </a:rPr>
              <a:t>`mk_counts 
 distinct(USUBJID, TRT, !!!syms(id_cols)) |&gt;
 count(TRT, !!!syms(id_cols)) |&gt;
 mutate(pct = 100 * n / N[as.character(TRT)]) |&gt;
 pivot_wider(id_cols=id_cols, names_from=TRT,
 values_from=c(val,pct))
}
soc_df &lt;- mk_counts("AEBODSYS")
pt_df &lt;- mk_counts(c("AEBODSYS","AEDECOD"))`</a:t>
            </a:r>
          </a:p>
        </p:txBody>
      </p:sp>
      <p:sp>
        <p:nvSpPr>
          <p:cNvPr id="6" name="TextBox 5">
            <a:extLst>
              <a:ext uri="{FF2B5EF4-FFF2-40B4-BE49-F238E27FC236}">
                <a16:creationId xmlns:a16="http://schemas.microsoft.com/office/drawing/2014/main" id="{297BEEFE-6F43-BCE1-6E3A-74185D3E6E8C}"/>
              </a:ext>
            </a:extLst>
          </p:cNvPr>
          <p:cNvSpPr txBox="1"/>
          <p:nvPr/>
        </p:nvSpPr>
        <p:spPr>
          <a:xfrm>
            <a:off x="6248248" y="1752600"/>
            <a:ext cx="5359248" cy="369332"/>
          </a:xfrm>
          <a:prstGeom prst="rect">
            <a:avLst/>
          </a:prstGeom>
          <a:noFill/>
        </p:spPr>
        <p:txBody>
          <a:bodyPr vert="horz" wrap="square" rtlCol="0">
            <a:noAutofit/>
          </a:bodyPr>
          <a:lstStyle/>
          <a:p>
            <a:pPr marL="342900" indent="-342900">
              <a:buFont typeface="+mj-lt"/>
              <a:buChar char="•"/>
            </a:pPr>
            <a:r>
              <a:rPr lang="en-US" sz="1400">
                <a:solidFill>
                  <a:srgbClr val="5B6182"/>
                </a:solidFill>
                <a:latin typeface="IBM Plex Sans" panose="020B0503050203000203" pitchFamily="34" charset="0"/>
              </a:rPr>
              <a:t>distinct(USUBJID, ...) before counting is the key correctness step: a subject with 3 events of the same PT is still counted once for incidence
One helper, mk_counts(), generates both the SOC-level and PT-level count tables by just changing which grouping columns are passed in
!!!syms(id_cols) is tidy-eval splicing a character vector of column names into dplyr verbs that normally expect bare column names</a:t>
            </a:r>
            <a:endParaRPr lang="en-IN" sz="1400">
              <a:solidFill>
                <a:srgbClr val="5B6182"/>
              </a:solidFill>
              <a:latin typeface="IBM Plex Sans" panose="020B0503050203000203" pitchFamily="34" charset="0"/>
            </a:endParaRPr>
          </a:p>
        </p:txBody>
      </p:sp>
      <p:sp>
        <p:nvSpPr>
          <p:cNvPr id="7" name="TextBox 6">
            <a:extLst>
              <a:ext uri="{FF2B5EF4-FFF2-40B4-BE49-F238E27FC236}">
                <a16:creationId xmlns:a16="http://schemas.microsoft.com/office/drawing/2014/main" id="{0EFBBBEF-ADDE-BEB5-E99A-8150BE5A4720}"/>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Code Walkthrough Ã‚Â· Table Builders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34159593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0256E7-E7EF-D6B0-041B-C9EB2E0D61C6}"/>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TABLE BUILDER 4/5</a:t>
            </a:r>
          </a:p>
        </p:txBody>
      </p:sp>
      <p:sp>
        <p:nvSpPr>
          <p:cNvPr id="3" name="TextBox 2">
            <a:extLst>
              <a:ext uri="{FF2B5EF4-FFF2-40B4-BE49-F238E27FC236}">
                <a16:creationId xmlns:a16="http://schemas.microsoft.com/office/drawing/2014/main" id="{3AAC75E0-AF3D-4F15-79C0-6E5984B28377}"/>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build_ae_socpt() Ã¢ AE by SOC/PT (T14.3.2), part 2</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68C90233-4771-EB9A-E23F-478776BD062F}"/>
              </a:ext>
            </a:extLst>
          </p:cNvPr>
          <p:cNvSpPr/>
          <p:nvPr/>
        </p:nvSpPr>
        <p:spPr>
          <a:xfrm>
            <a:off x="584200" y="1651000"/>
            <a:ext cx="5359248" cy="4699000"/>
          </a:xfrm>
          <a:prstGeom prst="roundRect">
            <a:avLst/>
          </a:prstGeom>
          <a:solidFill>
            <a:srgbClr val="161C3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7BA7DE5A-F288-D529-AA46-DF14B072493A}"/>
              </a:ext>
            </a:extLst>
          </p:cNvPr>
          <p:cNvSpPr txBox="1"/>
          <p:nvPr/>
        </p:nvSpPr>
        <p:spPr>
          <a:xfrm>
            <a:off x="787400" y="1854200"/>
            <a:ext cx="4952848" cy="1569660"/>
          </a:xfrm>
          <a:prstGeom prst="rect">
            <a:avLst/>
          </a:prstGeom>
          <a:noFill/>
        </p:spPr>
        <p:txBody>
          <a:bodyPr vert="horz" wrap="square" rtlCol="0">
            <a:spAutoFit/>
          </a:bodyPr>
          <a:lstStyle/>
          <a:p>
            <a:r>
              <a:rPr lang="en-IN" sz="1200">
                <a:solidFill>
                  <a:srgbClr val="DCE1F5"/>
                </a:solidFill>
                <a:latin typeface="Consolas" panose="020B0609020204030204" pitchFamily="49" charset="0"/>
              </a:rPr>
              <a:t>`rows 
 mutate(Level = "SOC")
 pt_rows 
 arrange(desc(pct)) |&gt;
 mutate(Term = paste0(" ", Term),
 Level = "PT")
 bind_rows(soc_row, pt_rows)
})`</a:t>
            </a:r>
          </a:p>
        </p:txBody>
      </p:sp>
      <p:sp>
        <p:nvSpPr>
          <p:cNvPr id="6" name="TextBox 5">
            <a:extLst>
              <a:ext uri="{FF2B5EF4-FFF2-40B4-BE49-F238E27FC236}">
                <a16:creationId xmlns:a16="http://schemas.microsoft.com/office/drawing/2014/main" id="{82600619-BA1D-785E-2443-E6B96EBF8FBB}"/>
              </a:ext>
            </a:extLst>
          </p:cNvPr>
          <p:cNvSpPr txBox="1"/>
          <p:nvPr/>
        </p:nvSpPr>
        <p:spPr>
          <a:xfrm>
            <a:off x="6248248" y="1752600"/>
            <a:ext cx="5359248" cy="369332"/>
          </a:xfrm>
          <a:prstGeom prst="rect">
            <a:avLst/>
          </a:prstGeom>
          <a:noFill/>
        </p:spPr>
        <p:txBody>
          <a:bodyPr vert="horz" wrap="square" rtlCol="0">
            <a:noAutofit/>
          </a:bodyPr>
          <a:lstStyle/>
          <a:p>
            <a:pPr marL="342900" indent="-342900">
              <a:buFont typeface="+mj-lt"/>
              <a:buChar char="•"/>
            </a:pPr>
            <a:r>
              <a:rPr lang="en-US" sz="1400">
                <a:solidFill>
                  <a:srgbClr val="5B6182"/>
                </a:solidFill>
                <a:latin typeface="IBM Plex Sans" panose="020B0503050203000203" pitchFamily="34" charset="0"/>
              </a:rPr>
              <a:t>SOC rows are sorted by mean incidence across arms; within each SOC block, PT rows are sorted by their own descending incidence a nested sort, built with two arrange() calls at two levels of map_dfr()
PT rows get 3 leading spaces prepended to Term for visual indentation a simple text trick that avoids a more complex nested-table rendering approach
Level ("SOC" / "PT") travels through to the gt renderer, which uses it purely for styling (bold SOC rows), then is dropped before export</a:t>
            </a:r>
            <a:endParaRPr lang="en-IN" sz="1400">
              <a:solidFill>
                <a:srgbClr val="5B6182"/>
              </a:solidFill>
              <a:latin typeface="IBM Plex Sans" panose="020B0503050203000203" pitchFamily="34" charset="0"/>
            </a:endParaRPr>
          </a:p>
        </p:txBody>
      </p:sp>
      <p:sp>
        <p:nvSpPr>
          <p:cNvPr id="7" name="TextBox 6">
            <a:extLst>
              <a:ext uri="{FF2B5EF4-FFF2-40B4-BE49-F238E27FC236}">
                <a16:creationId xmlns:a16="http://schemas.microsoft.com/office/drawing/2014/main" id="{E5FD6420-7C17-076B-5875-EA2F78681F2E}"/>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Code Walkthrough Ã‚Â· Table Builders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37728401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69901A-953E-2D5F-0034-98043F4D38C8}"/>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TABLE BUILDER 5/5</a:t>
            </a:r>
          </a:p>
        </p:txBody>
      </p:sp>
      <p:sp>
        <p:nvSpPr>
          <p:cNvPr id="3" name="TextBox 2">
            <a:extLst>
              <a:ext uri="{FF2B5EF4-FFF2-40B4-BE49-F238E27FC236}">
                <a16:creationId xmlns:a16="http://schemas.microsoft.com/office/drawing/2014/main" id="{9A846DE8-3135-2DCF-F9E5-BE9AE1096F9C}"/>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build_ae_sev() Ã¢ AE by Max Severity (T14.3.3)</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7563A318-276E-C6CE-76DA-C5CBF48A6D26}"/>
              </a:ext>
            </a:extLst>
          </p:cNvPr>
          <p:cNvSpPr/>
          <p:nvPr/>
        </p:nvSpPr>
        <p:spPr>
          <a:xfrm>
            <a:off x="584200" y="1651000"/>
            <a:ext cx="5359248" cy="4699000"/>
          </a:xfrm>
          <a:prstGeom prst="roundRect">
            <a:avLst/>
          </a:prstGeom>
          <a:solidFill>
            <a:srgbClr val="161C3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0477FDF7-6D66-BA82-0578-AA285C292D9B}"/>
              </a:ext>
            </a:extLst>
          </p:cNvPr>
          <p:cNvSpPr txBox="1"/>
          <p:nvPr/>
        </p:nvSpPr>
        <p:spPr>
          <a:xfrm>
            <a:off x="787400" y="1854200"/>
            <a:ext cx="4952848" cy="830997"/>
          </a:xfrm>
          <a:prstGeom prst="rect">
            <a:avLst/>
          </a:prstGeom>
          <a:noFill/>
        </p:spPr>
        <p:txBody>
          <a:bodyPr vert="horz" wrap="square" rtlCol="0">
            <a:spAutoFit/>
          </a:bodyPr>
          <a:lstStyle/>
          <a:p>
            <a:r>
              <a:rPr lang="en-IN" sz="1200">
                <a:solidFill>
                  <a:srgbClr val="DCE1F5"/>
                </a:solidFill>
                <a:latin typeface="Consolas" panose="020B0609020204030204" pitchFamily="49" charset="0"/>
              </a:rPr>
              <a:t>`sev_lvls 
 distinct(USUBJID, TRT, AESEV),
 "AESEV", N, lvls
) |&gt; rename(Severity = AESEV)`</a:t>
            </a:r>
          </a:p>
        </p:txBody>
      </p:sp>
      <p:sp>
        <p:nvSpPr>
          <p:cNvPr id="6" name="TextBox 5">
            <a:extLst>
              <a:ext uri="{FF2B5EF4-FFF2-40B4-BE49-F238E27FC236}">
                <a16:creationId xmlns:a16="http://schemas.microsoft.com/office/drawing/2014/main" id="{067C7B55-B29D-7654-E74D-9FEA8809D1A0}"/>
              </a:ext>
            </a:extLst>
          </p:cNvPr>
          <p:cNvSpPr txBox="1"/>
          <p:nvPr/>
        </p:nvSpPr>
        <p:spPr>
          <a:xfrm>
            <a:off x="6248248" y="1752600"/>
            <a:ext cx="5359248" cy="369332"/>
          </a:xfrm>
          <a:prstGeom prst="rect">
            <a:avLst/>
          </a:prstGeom>
          <a:noFill/>
        </p:spPr>
        <p:txBody>
          <a:bodyPr vert="horz" wrap="square" rtlCol="0">
            <a:noAutofit/>
          </a:bodyPr>
          <a:lstStyle/>
          <a:p>
            <a:pPr marL="342900" indent="-342900">
              <a:buFont typeface="+mj-lt"/>
              <a:buChar char="•"/>
            </a:pPr>
            <a:r>
              <a:rPr lang="en-US" sz="1400">
                <a:solidFill>
                  <a:srgbClr val="5B6182"/>
                </a:solidFill>
                <a:latin typeface="IBM Plex Sans" panose="020B0503050203000203" pitchFamily="34" charset="0"/>
              </a:rPr>
              <a:t>The 4th call site for wide_counts() in the app the same helper now handles a third categorical variable with zero new counting logic
distinct(USUBJID, TRT, AESEV) again ensures each subject is counted once per severity level, not once per event
Explicit factor levels ordering keeps Mild -&gt; Moderate -&gt; Severe in clinical reading order regardless of alphabetical sort</a:t>
            </a:r>
            <a:endParaRPr lang="en-IN" sz="1400">
              <a:solidFill>
                <a:srgbClr val="5B6182"/>
              </a:solidFill>
              <a:latin typeface="IBM Plex Sans" panose="020B0503050203000203" pitchFamily="34" charset="0"/>
            </a:endParaRPr>
          </a:p>
        </p:txBody>
      </p:sp>
      <p:sp>
        <p:nvSpPr>
          <p:cNvPr id="7" name="TextBox 6">
            <a:extLst>
              <a:ext uri="{FF2B5EF4-FFF2-40B4-BE49-F238E27FC236}">
                <a16:creationId xmlns:a16="http://schemas.microsoft.com/office/drawing/2014/main" id="{2D158B0A-2578-0E05-FE80-64F2E03BEDA4}"/>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Code Walkthrough Ã‚Â· Table Builders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19039919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AAB2584-9521-C959-F2AC-244DB7741319}"/>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THE GT RENDERER, 1/2</a:t>
            </a:r>
          </a:p>
        </p:txBody>
      </p:sp>
      <p:sp>
        <p:nvSpPr>
          <p:cNvPr id="3" name="TextBox 2">
            <a:extLst>
              <a:ext uri="{FF2B5EF4-FFF2-40B4-BE49-F238E27FC236}">
                <a16:creationId xmlns:a16="http://schemas.microsoft.com/office/drawing/2014/main" id="{F2D1F735-1023-4CC7-F13D-5413D6D6D016}"/>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to_gt() Ã¢ structure and spanners</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0B2EA3D9-65EC-E504-A9E3-6C8875452BEB}"/>
              </a:ext>
            </a:extLst>
          </p:cNvPr>
          <p:cNvSpPr/>
          <p:nvPr/>
        </p:nvSpPr>
        <p:spPr>
          <a:xfrm>
            <a:off x="584200" y="1651000"/>
            <a:ext cx="5359248" cy="4699000"/>
          </a:xfrm>
          <a:prstGeom prst="roundRect">
            <a:avLst/>
          </a:prstGeom>
          <a:solidFill>
            <a:srgbClr val="161C3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8E1DD1F1-A64E-0B64-FB1C-4020BC91A9E7}"/>
              </a:ext>
            </a:extLst>
          </p:cNvPr>
          <p:cNvSpPr txBox="1"/>
          <p:nvPr/>
        </p:nvSpPr>
        <p:spPr>
          <a:xfrm>
            <a:off x="787400" y="1854200"/>
            <a:ext cx="4952848" cy="1200329"/>
          </a:xfrm>
          <a:prstGeom prst="rect">
            <a:avLst/>
          </a:prstGeom>
          <a:noFill/>
        </p:spPr>
        <p:txBody>
          <a:bodyPr vert="horz" wrap="square" rtlCol="0">
            <a:spAutoFit/>
          </a:bodyPr>
          <a:lstStyle/>
          <a:p>
            <a:r>
              <a:rPr lang="en-US" sz="1200">
                <a:solidFill>
                  <a:srgbClr val="DCE1F5"/>
                </a:solidFill>
                <a:latin typeface="Consolas" panose="020B0609020204030204" pitchFamily="49" charset="0"/>
              </a:rPr>
              <a:t>`gt_tbl 
 select(-any_of("Level")) |&gt;
 gt(rowname_col = first_col) |&gt;
 tab_header(title = md(paste0("**",title,"**"))) |&gt;
 tab_spanner(label = md("**Treatment Group**"),
 columns = all_of(active_trt))`</a:t>
            </a:r>
            <a:endParaRPr lang="en-IN" sz="1200">
              <a:solidFill>
                <a:srgbClr val="DCE1F5"/>
              </a:solidFill>
              <a:latin typeface="Consolas" panose="020B0609020204030204" pitchFamily="49" charset="0"/>
            </a:endParaRPr>
          </a:p>
        </p:txBody>
      </p:sp>
      <p:sp>
        <p:nvSpPr>
          <p:cNvPr id="6" name="TextBox 5">
            <a:extLst>
              <a:ext uri="{FF2B5EF4-FFF2-40B4-BE49-F238E27FC236}">
                <a16:creationId xmlns:a16="http://schemas.microsoft.com/office/drawing/2014/main" id="{0ADCF5FC-9541-2300-17BD-062E1BD2F3A2}"/>
              </a:ext>
            </a:extLst>
          </p:cNvPr>
          <p:cNvSpPr txBox="1"/>
          <p:nvPr/>
        </p:nvSpPr>
        <p:spPr>
          <a:xfrm>
            <a:off x="6248248" y="1752600"/>
            <a:ext cx="5359248" cy="369332"/>
          </a:xfrm>
          <a:prstGeom prst="rect">
            <a:avLst/>
          </a:prstGeom>
          <a:noFill/>
        </p:spPr>
        <p:txBody>
          <a:bodyPr vert="horz" wrap="square" rtlCol="0">
            <a:noAutofit/>
          </a:bodyPr>
          <a:lstStyle/>
          <a:p>
            <a:pPr marL="342900" indent="-342900">
              <a:buFont typeface="+mj-lt"/>
              <a:buChar char="•"/>
            </a:pPr>
            <a:r>
              <a:rPr lang="en-US" sz="1400">
                <a:solidFill>
                  <a:srgbClr val="5B6182"/>
                </a:solidFill>
                <a:latin typeface="IBM Plex Sans" panose="020B0503050203000203" pitchFamily="34" charset="0"/>
              </a:rPr>
              <a:t>Every one of the 5 tables passes through this single renderer table-specific logic lives in the build_*() functions, presentation logic lives here, once
Level (used only for internal styling decisions) is dropped from the visible output right before rendering
The "Treatment Group" spanner groups arm columns under one header, visually separating them from the row-label column</a:t>
            </a:r>
            <a:endParaRPr lang="en-IN" sz="1400">
              <a:solidFill>
                <a:srgbClr val="5B6182"/>
              </a:solidFill>
              <a:latin typeface="IBM Plex Sans" panose="020B0503050203000203" pitchFamily="34" charset="0"/>
            </a:endParaRPr>
          </a:p>
        </p:txBody>
      </p:sp>
      <p:sp>
        <p:nvSpPr>
          <p:cNvPr id="7" name="TextBox 6">
            <a:extLst>
              <a:ext uri="{FF2B5EF4-FFF2-40B4-BE49-F238E27FC236}">
                <a16:creationId xmlns:a16="http://schemas.microsoft.com/office/drawing/2014/main" id="{29B3F965-7699-806B-AD98-E14929026D5E}"/>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Code Walkthrough Ã‚Â· gt Renderer</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35505910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2A29A49-6840-B617-0969-D156B9CE40C8}"/>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THE GT RENDERER, 2/2</a:t>
            </a:r>
          </a:p>
        </p:txBody>
      </p:sp>
      <p:sp>
        <p:nvSpPr>
          <p:cNvPr id="3" name="TextBox 2">
            <a:extLst>
              <a:ext uri="{FF2B5EF4-FFF2-40B4-BE49-F238E27FC236}">
                <a16:creationId xmlns:a16="http://schemas.microsoft.com/office/drawing/2014/main" id="{117CF1C2-C325-E39D-F4A0-9C86022787EE}"/>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to_gt() Ã¢ conditional styling</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A003047D-3358-2808-32C2-DAF874733C99}"/>
              </a:ext>
            </a:extLst>
          </p:cNvPr>
          <p:cNvSpPr/>
          <p:nvPr/>
        </p:nvSpPr>
        <p:spPr>
          <a:xfrm>
            <a:off x="584200" y="1651000"/>
            <a:ext cx="5359248" cy="4699000"/>
          </a:xfrm>
          <a:prstGeom prst="roundRect">
            <a:avLst/>
          </a:prstGeom>
          <a:solidFill>
            <a:srgbClr val="161C3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F1764FBE-EB4C-C522-AAC4-A814EF1D1A4C}"/>
              </a:ext>
            </a:extLst>
          </p:cNvPr>
          <p:cNvSpPr txBox="1"/>
          <p:nvPr/>
        </p:nvSpPr>
        <p:spPr>
          <a:xfrm>
            <a:off x="787400" y="1854200"/>
            <a:ext cx="4952848" cy="1754326"/>
          </a:xfrm>
          <a:prstGeom prst="rect">
            <a:avLst/>
          </a:prstGeom>
          <a:noFill/>
        </p:spPr>
        <p:txBody>
          <a:bodyPr vert="horz" wrap="square" rtlCol="0">
            <a:spAutoFit/>
          </a:bodyPr>
          <a:lstStyle/>
          <a:p>
            <a:r>
              <a:rPr lang="en-IN" sz="1200">
                <a:solidFill>
                  <a:srgbClr val="DCE1F5"/>
                </a:solidFill>
                <a:latin typeface="Consolas" panose="020B0609020204030204" pitchFamily="49" charset="0"/>
              </a:rPr>
              <a:t>`if (tbl_type == "ae_socpt" &amp;&amp; "Level" %in% names(df)) {
 soc_rows tab_style(
 style = cell_text(weight = "bold"),
 locations = cells_body(rows = soc_rows, columns = first_col))
}
if (has_total) gt_tbl 
 tab_style(style = cell_fill(color="#F0F4FF"),
 locations = cells_body(columns="Total"))`</a:t>
            </a:r>
          </a:p>
        </p:txBody>
      </p:sp>
      <p:sp>
        <p:nvSpPr>
          <p:cNvPr id="6" name="TextBox 5">
            <a:extLst>
              <a:ext uri="{FF2B5EF4-FFF2-40B4-BE49-F238E27FC236}">
                <a16:creationId xmlns:a16="http://schemas.microsoft.com/office/drawing/2014/main" id="{C2AEF18C-7F9D-7E35-A48C-DB4C2529E8A0}"/>
              </a:ext>
            </a:extLst>
          </p:cNvPr>
          <p:cNvSpPr txBox="1"/>
          <p:nvPr/>
        </p:nvSpPr>
        <p:spPr>
          <a:xfrm>
            <a:off x="6248248" y="1752600"/>
            <a:ext cx="5359248" cy="369332"/>
          </a:xfrm>
          <a:prstGeom prst="rect">
            <a:avLst/>
          </a:prstGeom>
          <a:noFill/>
        </p:spPr>
        <p:txBody>
          <a:bodyPr vert="horz" wrap="square" rtlCol="0">
            <a:noAutofit/>
          </a:bodyPr>
          <a:lstStyle/>
          <a:p>
            <a:pPr marL="342900" indent="-342900">
              <a:buFont typeface="+mj-lt"/>
              <a:buChar char="•"/>
            </a:pPr>
            <a:r>
              <a:rPr lang="en-US" sz="1400">
                <a:solidFill>
                  <a:srgbClr val="5B6182"/>
                </a:solidFill>
                <a:latin typeface="IBM Plex Sans" panose="020B0503050203000203" pitchFamily="34" charset="0"/>
              </a:rPr>
              <a:t>Row-level bolding for SOC rows is conditional on both the table type and the presence of the Level column a defensive double-check
The Total column, when shown, gets a distinct fill color and bold weight in both the body and the header, so it visually reads as a summary column, not just another arm
Closes with tab_source_note() stating the analysis set and percentage basis required context for a clinical reader on every export</a:t>
            </a:r>
            <a:endParaRPr lang="en-IN" sz="1400">
              <a:solidFill>
                <a:srgbClr val="5B6182"/>
              </a:solidFill>
              <a:latin typeface="IBM Plex Sans" panose="020B0503050203000203" pitchFamily="34" charset="0"/>
            </a:endParaRPr>
          </a:p>
        </p:txBody>
      </p:sp>
      <p:sp>
        <p:nvSpPr>
          <p:cNvPr id="7" name="TextBox 6">
            <a:extLst>
              <a:ext uri="{FF2B5EF4-FFF2-40B4-BE49-F238E27FC236}">
                <a16:creationId xmlns:a16="http://schemas.microsoft.com/office/drawing/2014/main" id="{681AE5C1-9AE2-1477-2562-B8D25A7C87CD}"/>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Code Walkthrough Ã‚Â· gt Renderer</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29945628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F58B9B-70BF-C287-4EFE-6EA1965590B9}"/>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SHARED FIGURE THEME</a:t>
            </a:r>
          </a:p>
        </p:txBody>
      </p:sp>
      <p:sp>
        <p:nvSpPr>
          <p:cNvPr id="3" name="TextBox 2">
            <a:extLst>
              <a:ext uri="{FF2B5EF4-FFF2-40B4-BE49-F238E27FC236}">
                <a16:creationId xmlns:a16="http://schemas.microsoft.com/office/drawing/2014/main" id="{D8371445-8EC3-B29B-0DC7-E25FFBB32939}"/>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tfl_theme Ã¢ one look for every chart</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AEEF0BC3-727D-1AD9-6069-FCF8971F6368}"/>
              </a:ext>
            </a:extLst>
          </p:cNvPr>
          <p:cNvSpPr/>
          <p:nvPr/>
        </p:nvSpPr>
        <p:spPr>
          <a:xfrm>
            <a:off x="584200" y="1651000"/>
            <a:ext cx="5359248" cy="4699000"/>
          </a:xfrm>
          <a:prstGeom prst="roundRect">
            <a:avLst/>
          </a:prstGeom>
          <a:solidFill>
            <a:srgbClr val="161C3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1D73F5FE-103B-8CDD-C39A-8093013684FA}"/>
              </a:ext>
            </a:extLst>
          </p:cNvPr>
          <p:cNvSpPr txBox="1"/>
          <p:nvPr/>
        </p:nvSpPr>
        <p:spPr>
          <a:xfrm>
            <a:off x="787400" y="1854200"/>
            <a:ext cx="4952848" cy="1569660"/>
          </a:xfrm>
          <a:prstGeom prst="rect">
            <a:avLst/>
          </a:prstGeom>
          <a:noFill/>
        </p:spPr>
        <p:txBody>
          <a:bodyPr vert="horz" wrap="square" rtlCol="0">
            <a:spAutoFit/>
          </a:bodyPr>
          <a:lstStyle/>
          <a:p>
            <a:r>
              <a:rPr lang="en-IN" sz="1200">
                <a:solidFill>
                  <a:srgbClr val="DCE1F5"/>
                </a:solidFill>
                <a:latin typeface="Consolas" panose="020B0609020204030204" pitchFamily="49" charset="0"/>
              </a:rPr>
              <a:t>`tfl_theme &lt;- theme_classic(base_size = 13) +
 theme(
 plot.title = element_text(face="bold", size=13),
 plot.subtitle = element_text(color="grey40"),
 legend.position = "bottom",
 strip.background = element_rect(fill="#E3EBF6"),
 panel.grid.major.y = element_line(color="grey92")
 )`</a:t>
            </a:r>
          </a:p>
        </p:txBody>
      </p:sp>
      <p:sp>
        <p:nvSpPr>
          <p:cNvPr id="6" name="TextBox 5">
            <a:extLst>
              <a:ext uri="{FF2B5EF4-FFF2-40B4-BE49-F238E27FC236}">
                <a16:creationId xmlns:a16="http://schemas.microsoft.com/office/drawing/2014/main" id="{7BC39C3C-9FA6-0C73-8430-C02FC7852FF9}"/>
              </a:ext>
            </a:extLst>
          </p:cNvPr>
          <p:cNvSpPr txBox="1"/>
          <p:nvPr/>
        </p:nvSpPr>
        <p:spPr>
          <a:xfrm>
            <a:off x="6248248" y="1752600"/>
            <a:ext cx="5359248" cy="369332"/>
          </a:xfrm>
          <a:prstGeom prst="rect">
            <a:avLst/>
          </a:prstGeom>
          <a:noFill/>
        </p:spPr>
        <p:txBody>
          <a:bodyPr vert="horz" wrap="square" rtlCol="0">
            <a:noAutofit/>
          </a:bodyPr>
          <a:lstStyle/>
          <a:p>
            <a:pPr marL="342900" indent="-342900">
              <a:buFont typeface="+mj-lt"/>
              <a:buChar char="•"/>
            </a:pPr>
            <a:r>
              <a:rPr lang="en-US" sz="1400">
                <a:solidFill>
                  <a:srgbClr val="5B6182"/>
                </a:solidFill>
                <a:latin typeface="IBM Plex Sans" panose="020B0503050203000203" pitchFamily="34" charset="0"/>
              </a:rPr>
              <a:t>Added to every ggplot object with + tfl_theme one theme object, reused across boxplot, histogram, and AE bar chart
Only horizontal gridlines are kept (panel.grid.major.y) a deliberate choice to reduce chartjunk while keeping value-reading easy
Legend fixed at the bottom keeps every figure's layout predictable when embedded in a report or slide</a:t>
            </a:r>
            <a:endParaRPr lang="en-IN" sz="1400">
              <a:solidFill>
                <a:srgbClr val="5B6182"/>
              </a:solidFill>
              <a:latin typeface="IBM Plex Sans" panose="020B0503050203000203" pitchFamily="34" charset="0"/>
            </a:endParaRPr>
          </a:p>
        </p:txBody>
      </p:sp>
      <p:sp>
        <p:nvSpPr>
          <p:cNvPr id="7" name="TextBox 6">
            <a:extLst>
              <a:ext uri="{FF2B5EF4-FFF2-40B4-BE49-F238E27FC236}">
                <a16:creationId xmlns:a16="http://schemas.microsoft.com/office/drawing/2014/main" id="{9151A505-6EDF-C60A-BDA1-098CA5C8B630}"/>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Code Walkthrough Ã‚Â· Figure Builders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9499478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0AE5B1-6AB8-C2B6-9865-6835576C1038}"/>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FIGURE BUILDER 1/3</a:t>
            </a:r>
          </a:p>
        </p:txBody>
      </p:sp>
      <p:sp>
        <p:nvSpPr>
          <p:cNvPr id="3" name="TextBox 2">
            <a:extLst>
              <a:ext uri="{FF2B5EF4-FFF2-40B4-BE49-F238E27FC236}">
                <a16:creationId xmlns:a16="http://schemas.microsoft.com/office/drawing/2014/main" id="{FC2F4EA4-AFB3-42F2-F607-AF7367C4F1DF}"/>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build_boxplot() Ã¢ Distribution by Treatment (F14.2.1)</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036BD712-E3C5-A1B4-8D4D-20BAF44D075F}"/>
              </a:ext>
            </a:extLst>
          </p:cNvPr>
          <p:cNvSpPr/>
          <p:nvPr/>
        </p:nvSpPr>
        <p:spPr>
          <a:xfrm>
            <a:off x="584200" y="1651000"/>
            <a:ext cx="5359248" cy="4699000"/>
          </a:xfrm>
          <a:prstGeom prst="roundRect">
            <a:avLst/>
          </a:prstGeom>
          <a:solidFill>
            <a:srgbClr val="161C3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B0A66639-52D3-7B9E-6369-D31F5743D87A}"/>
              </a:ext>
            </a:extLst>
          </p:cNvPr>
          <p:cNvSpPr txBox="1"/>
          <p:nvPr/>
        </p:nvSpPr>
        <p:spPr>
          <a:xfrm>
            <a:off x="787400" y="1854200"/>
            <a:ext cx="4952848" cy="1200329"/>
          </a:xfrm>
          <a:prstGeom prst="rect">
            <a:avLst/>
          </a:prstGeom>
          <a:noFill/>
        </p:spPr>
        <p:txBody>
          <a:bodyPr vert="horz" wrap="square" rtlCol="0">
            <a:spAutoFit/>
          </a:bodyPr>
          <a:lstStyle/>
          <a:p>
            <a:r>
              <a:rPr lang="en-IN" sz="1200">
                <a:solidFill>
                  <a:srgbClr val="DCE1F5"/>
                </a:solidFill>
                <a:latin typeface="Consolas" panose="020B0609020204030204" pitchFamily="49" charset="0"/>
              </a:rPr>
              <a:t>`pl &lt;- ggplot(d, aes(TRT, .data[[yvar]], fill=TRT))
if (show_violin) pl &lt;- pl + geom_violin(alpha=0.2)
pl &lt;- pl + geom_boxplot(alpha=0.7,
 outlier.shape = if(show_pts) NA else 19)
if (show_pts) pl &lt;- pl + geom_jitter(aes(color=TRT),
 width=0.12, alpha=0.5)`</a:t>
            </a:r>
          </a:p>
        </p:txBody>
      </p:sp>
      <p:sp>
        <p:nvSpPr>
          <p:cNvPr id="6" name="TextBox 5">
            <a:extLst>
              <a:ext uri="{FF2B5EF4-FFF2-40B4-BE49-F238E27FC236}">
                <a16:creationId xmlns:a16="http://schemas.microsoft.com/office/drawing/2014/main" id="{1C72C324-8780-9EB6-A972-9A3DFC6B8C59}"/>
              </a:ext>
            </a:extLst>
          </p:cNvPr>
          <p:cNvSpPr txBox="1"/>
          <p:nvPr/>
        </p:nvSpPr>
        <p:spPr>
          <a:xfrm>
            <a:off x="6248248" y="1752600"/>
            <a:ext cx="5359248" cy="369332"/>
          </a:xfrm>
          <a:prstGeom prst="rect">
            <a:avLst/>
          </a:prstGeom>
          <a:noFill/>
        </p:spPr>
        <p:txBody>
          <a:bodyPr vert="horz" wrap="square" rtlCol="0">
            <a:noAutofit/>
          </a:bodyPr>
          <a:lstStyle/>
          <a:p>
            <a:pPr marL="342900" indent="-342900">
              <a:buFont typeface="+mj-lt"/>
              <a:buChar char="•"/>
            </a:pPr>
            <a:r>
              <a:rPr lang="en-US" sz="1400">
                <a:solidFill>
                  <a:srgbClr val="5B6182"/>
                </a:solidFill>
                <a:latin typeface="IBM Plex Sans" panose="020B0503050203000203" pitchFamily="34" charset="0"/>
              </a:rPr>
              <a:t>Layers are added conditionally based on live user toggles show_violin and show_pts by mutating the same pl object in place before it's returned
When jittered points are shown, boxplot outliers are hidden (outlier.shape = NA) to avoid double-plotting the same subjects
N per arm is baked directly into the x-axis labels: "Placebo\\n(n=64)" the same "never hide the N" principle from Session 1, applied to a figure</a:t>
            </a:r>
            <a:endParaRPr lang="en-IN" sz="1400">
              <a:solidFill>
                <a:srgbClr val="5B6182"/>
              </a:solidFill>
              <a:latin typeface="IBM Plex Sans" panose="020B0503050203000203" pitchFamily="34" charset="0"/>
            </a:endParaRPr>
          </a:p>
        </p:txBody>
      </p:sp>
      <p:sp>
        <p:nvSpPr>
          <p:cNvPr id="7" name="TextBox 6">
            <a:extLst>
              <a:ext uri="{FF2B5EF4-FFF2-40B4-BE49-F238E27FC236}">
                <a16:creationId xmlns:a16="http://schemas.microsoft.com/office/drawing/2014/main" id="{2D524065-3757-91B7-2236-1408794AF4FC}"/>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Code Walkthrough Ã‚Â· Figure Builders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344410864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C4A860-CBA1-2915-0E43-BB02183BEAAB}"/>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FIGURE BUILDER 2/3</a:t>
            </a:r>
          </a:p>
        </p:txBody>
      </p:sp>
      <p:sp>
        <p:nvSpPr>
          <p:cNvPr id="3" name="TextBox 2">
            <a:extLst>
              <a:ext uri="{FF2B5EF4-FFF2-40B4-BE49-F238E27FC236}">
                <a16:creationId xmlns:a16="http://schemas.microsoft.com/office/drawing/2014/main" id="{30DF23C6-7E88-24F0-59F0-532E306F9F83}"/>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build_histogram() Ã¢ Continuous Variable Distribution (F14.2.2)</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28B40A58-B4EF-7E25-BE89-B480476CAFF1}"/>
              </a:ext>
            </a:extLst>
          </p:cNvPr>
          <p:cNvSpPr/>
          <p:nvPr/>
        </p:nvSpPr>
        <p:spPr>
          <a:xfrm>
            <a:off x="584200" y="1651000"/>
            <a:ext cx="5359248" cy="4699000"/>
          </a:xfrm>
          <a:prstGeom prst="roundRect">
            <a:avLst/>
          </a:prstGeom>
          <a:solidFill>
            <a:srgbClr val="161C3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269D334A-CB35-2676-D325-886D6A9E802F}"/>
              </a:ext>
            </a:extLst>
          </p:cNvPr>
          <p:cNvSpPr txBox="1"/>
          <p:nvPr/>
        </p:nvSpPr>
        <p:spPr>
          <a:xfrm>
            <a:off x="787400" y="1854200"/>
            <a:ext cx="4952848" cy="1754326"/>
          </a:xfrm>
          <a:prstGeom prst="rect">
            <a:avLst/>
          </a:prstGeom>
          <a:noFill/>
        </p:spPr>
        <p:txBody>
          <a:bodyPr vert="horz" wrap="square" rtlCol="0">
            <a:spAutoFit/>
          </a:bodyPr>
          <a:lstStyle/>
          <a:p>
            <a:r>
              <a:rPr lang="en-IN" sz="1200">
                <a:solidFill>
                  <a:srgbClr val="DCE1F5"/>
                </a:solidFill>
                <a:latin typeface="Consolas" panose="020B0609020204030204" pitchFamily="49" charset="0"/>
              </a:rPr>
              <a:t>`if (facet_trt) {
 pl &lt;- pl + geom_histogram(bins=bins) +
 facet_wrap(vars(TRT), ncol=1)
} else {
 pl &lt;- pl + geom_histogram(bins=bins,
 position="identity", alpha=0.55)
}
if (show_density) pl &lt;- pl + geom_density(
 aes(y=after_stat(count*diff(range)/bins), color=TRT))`</a:t>
            </a:r>
          </a:p>
        </p:txBody>
      </p:sp>
      <p:sp>
        <p:nvSpPr>
          <p:cNvPr id="6" name="TextBox 5">
            <a:extLst>
              <a:ext uri="{FF2B5EF4-FFF2-40B4-BE49-F238E27FC236}">
                <a16:creationId xmlns:a16="http://schemas.microsoft.com/office/drawing/2014/main" id="{753ADC98-F013-5873-EBDB-3BCDCCC906DA}"/>
              </a:ext>
            </a:extLst>
          </p:cNvPr>
          <p:cNvSpPr txBox="1"/>
          <p:nvPr/>
        </p:nvSpPr>
        <p:spPr>
          <a:xfrm>
            <a:off x="6248248" y="1752600"/>
            <a:ext cx="5359248" cy="369332"/>
          </a:xfrm>
          <a:prstGeom prst="rect">
            <a:avLst/>
          </a:prstGeom>
          <a:noFill/>
        </p:spPr>
        <p:txBody>
          <a:bodyPr vert="horz" wrap="square" rtlCol="0">
            <a:noAutofit/>
          </a:bodyPr>
          <a:lstStyle/>
          <a:p>
            <a:pPr marL="342900" indent="-342900">
              <a:buFont typeface="+mj-lt"/>
              <a:buChar char="•"/>
            </a:pPr>
            <a:r>
              <a:rPr lang="en-US" sz="1400">
                <a:solidFill>
                  <a:srgbClr val="5B6182"/>
                </a:solidFill>
                <a:latin typeface="IBM Plex Sans" panose="020B0503050203000203" pitchFamily="34" charset="0"/>
              </a:rPr>
              <a:t>Two display modes toggle the whole chart structure: faceted-by-treatment (stacked panels) vs. overlaid with transparency same data, different comparison strategy
after_stat(count * diff(range)/bins) rescales the density curve's y-axis to match the histogram's count axis, so overlay actually lines up visually
Bin count is a live sliderInput a direct, visible lesson in how binning choice changes a distribution's apparent shape</a:t>
            </a:r>
            <a:endParaRPr lang="en-IN" sz="1400">
              <a:solidFill>
                <a:srgbClr val="5B6182"/>
              </a:solidFill>
              <a:latin typeface="IBM Plex Sans" panose="020B0503050203000203" pitchFamily="34" charset="0"/>
            </a:endParaRPr>
          </a:p>
        </p:txBody>
      </p:sp>
      <p:sp>
        <p:nvSpPr>
          <p:cNvPr id="7" name="TextBox 6">
            <a:extLst>
              <a:ext uri="{FF2B5EF4-FFF2-40B4-BE49-F238E27FC236}">
                <a16:creationId xmlns:a16="http://schemas.microsoft.com/office/drawing/2014/main" id="{52874A04-B2B0-9136-9DBA-3097B6F2B519}"/>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Code Walkthrough Ã‚Â· Figure Builders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23219563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3F695C4-1C41-EDAD-375B-82C943EB5A87}"/>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FIGURE BUILDER 3/3</a:t>
            </a:r>
          </a:p>
        </p:txBody>
      </p:sp>
      <p:sp>
        <p:nvSpPr>
          <p:cNvPr id="3" name="TextBox 2">
            <a:extLst>
              <a:ext uri="{FF2B5EF4-FFF2-40B4-BE49-F238E27FC236}">
                <a16:creationId xmlns:a16="http://schemas.microsoft.com/office/drawing/2014/main" id="{B5FD8073-22DE-EBB8-28B1-4B7E949CD70F}"/>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build_ae_bar() Ã¢ Top TEAEs by Incidence (F14.3.1)</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156A07A6-C5A6-F8D1-5F9D-BF919D9F71C0}"/>
              </a:ext>
            </a:extLst>
          </p:cNvPr>
          <p:cNvSpPr/>
          <p:nvPr/>
        </p:nvSpPr>
        <p:spPr>
          <a:xfrm>
            <a:off x="584200" y="1651000"/>
            <a:ext cx="5359248" cy="4699000"/>
          </a:xfrm>
          <a:prstGeom prst="roundRect">
            <a:avLst/>
          </a:prstGeom>
          <a:solidFill>
            <a:srgbClr val="161C3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7D16CF5B-78C4-02DD-A855-1F53D29B78C6}"/>
              </a:ext>
            </a:extLst>
          </p:cNvPr>
          <p:cNvSpPr txBox="1"/>
          <p:nvPr/>
        </p:nvSpPr>
        <p:spPr>
          <a:xfrm>
            <a:off x="787400" y="1854200"/>
            <a:ext cx="4952848" cy="1754326"/>
          </a:xfrm>
          <a:prstGeom prst="rect">
            <a:avLst/>
          </a:prstGeom>
          <a:noFill/>
        </p:spPr>
        <p:txBody>
          <a:bodyPr vert="horz" wrap="square" rtlCol="0">
            <a:spAutoFit/>
          </a:bodyPr>
          <a:lstStyle/>
          <a:p>
            <a:r>
              <a:rPr lang="en-IN" sz="1200">
                <a:solidFill>
                  <a:srgbClr val="DCE1F5"/>
                </a:solidFill>
                <a:latin typeface="Consolas" panose="020B0609020204030204" pitchFamily="49" charset="0"/>
              </a:rPr>
              <a:t>`adae |&gt; filter(TRTEMFL=="Y") |&gt;
 distinct(USUBJID, TRT, AEDECOD) |&gt;
 count(TRT, AEDECOD) |&gt;
 mutate(pct = 100*n/N[as.character(TRT)]) |&gt;
 group_by(AEDECOD) |&gt; mutate(max_pct=max(pct)) |&gt;
 filter(AEDECOD %in% slice_max(..., n=top_n)$AEDECOD) |&gt;
 mutate(AEDECOD = fct_reorder(AEDECOD, max_pct)) |&gt;
 ggplot(aes(pct, AEDECOD, fill=TRT)) + geom_col(position=position_dodge(0.7))`</a:t>
            </a:r>
          </a:p>
        </p:txBody>
      </p:sp>
      <p:sp>
        <p:nvSpPr>
          <p:cNvPr id="6" name="TextBox 5">
            <a:extLst>
              <a:ext uri="{FF2B5EF4-FFF2-40B4-BE49-F238E27FC236}">
                <a16:creationId xmlns:a16="http://schemas.microsoft.com/office/drawing/2014/main" id="{986BDED2-46F8-C740-4436-FD677FFB8BD6}"/>
              </a:ext>
            </a:extLst>
          </p:cNvPr>
          <p:cNvSpPr txBox="1"/>
          <p:nvPr/>
        </p:nvSpPr>
        <p:spPr>
          <a:xfrm>
            <a:off x="6248248" y="1752600"/>
            <a:ext cx="5359248" cy="369332"/>
          </a:xfrm>
          <a:prstGeom prst="rect">
            <a:avLst/>
          </a:prstGeom>
          <a:noFill/>
        </p:spPr>
        <p:txBody>
          <a:bodyPr vert="horz" wrap="square" rtlCol="0">
            <a:noAutofit/>
          </a:bodyPr>
          <a:lstStyle/>
          <a:p>
            <a:pPr marL="342900" indent="-342900">
              <a:buFont typeface="+mj-lt"/>
              <a:buChar char="•"/>
            </a:pPr>
            <a:r>
              <a:rPr lang="en-US" sz="1400">
                <a:solidFill>
                  <a:srgbClr val="5B6182"/>
                </a:solidFill>
                <a:latin typeface="IBM Plex Sans" panose="020B0503050203000203" pitchFamily="34" charset="0"/>
              </a:rPr>
              <a:t>"Top N" ranking uses each term's maximum incidence across any single arm a term dominant in only one arm still surfaces, which matters for safety signal review
fct_reorder() sorts the y-axis by that ranking so the chart reads top-to-bottom as highest-to-lowest incidence, standard practice for incidence bar charts
top_n is a live slider (5-25 terms) the reviewer controls signal-to-noise directly</a:t>
            </a:r>
            <a:endParaRPr lang="en-IN" sz="1400">
              <a:solidFill>
                <a:srgbClr val="5B6182"/>
              </a:solidFill>
              <a:latin typeface="IBM Plex Sans" panose="020B0503050203000203" pitchFamily="34" charset="0"/>
            </a:endParaRPr>
          </a:p>
        </p:txBody>
      </p:sp>
      <p:sp>
        <p:nvSpPr>
          <p:cNvPr id="7" name="TextBox 6">
            <a:extLst>
              <a:ext uri="{FF2B5EF4-FFF2-40B4-BE49-F238E27FC236}">
                <a16:creationId xmlns:a16="http://schemas.microsoft.com/office/drawing/2014/main" id="{57B7B14F-12EA-5923-38D0-5F7DDCAFC1F3}"/>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Code Walkthrough Ã‚Â· Figure Builders</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417859612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7F465E1-8281-49B5-1BF5-A266174DFEC5}"/>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UI SHELL</a:t>
            </a:r>
          </a:p>
        </p:txBody>
      </p:sp>
      <p:sp>
        <p:nvSpPr>
          <p:cNvPr id="3" name="TextBox 2">
            <a:extLst>
              <a:ext uri="{FF2B5EF4-FFF2-40B4-BE49-F238E27FC236}">
                <a16:creationId xmlns:a16="http://schemas.microsoft.com/office/drawing/2014/main" id="{E185C80A-6B79-B0AC-EF44-BFDCA174491B}"/>
              </a:ext>
            </a:extLst>
          </p:cNvPr>
          <p:cNvSpPr txBox="1"/>
          <p:nvPr/>
        </p:nvSpPr>
        <p:spPr>
          <a:xfrm>
            <a:off x="584200" y="609600"/>
            <a:ext cx="14605000" cy="492443"/>
          </a:xfrm>
          <a:prstGeom prst="rect">
            <a:avLst/>
          </a:prstGeom>
          <a:noFill/>
        </p:spPr>
        <p:txBody>
          <a:bodyPr vert="horz" wrap="square" rtlCol="0">
            <a:spAutoFit/>
          </a:bodyPr>
          <a:lstStyle/>
          <a:p>
            <a:r>
              <a:rPr lang="en-IN" sz="2600" b="1">
                <a:solidFill>
                  <a:srgbClr val="1B2340"/>
                </a:solidFill>
                <a:latin typeface="IBM Plex Sans" panose="020B0503050203000203" pitchFamily="34" charset="0"/>
              </a:rPr>
              <a:t>page_sidebar() + bslib theming</a:t>
            </a:r>
          </a:p>
        </p:txBody>
      </p:sp>
      <p:sp>
        <p:nvSpPr>
          <p:cNvPr id="4" name="Rectangle: Rounded Corners 3">
            <a:extLst>
              <a:ext uri="{FF2B5EF4-FFF2-40B4-BE49-F238E27FC236}">
                <a16:creationId xmlns:a16="http://schemas.microsoft.com/office/drawing/2014/main" id="{47198170-1462-C096-3831-44D302E39DD2}"/>
              </a:ext>
            </a:extLst>
          </p:cNvPr>
          <p:cNvSpPr/>
          <p:nvPr/>
        </p:nvSpPr>
        <p:spPr>
          <a:xfrm>
            <a:off x="584200" y="1651000"/>
            <a:ext cx="5359248" cy="4699000"/>
          </a:xfrm>
          <a:prstGeom prst="roundRect">
            <a:avLst/>
          </a:prstGeom>
          <a:solidFill>
            <a:srgbClr val="161C3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29DFA4D0-4C56-2C25-D0BF-E21411906A93}"/>
              </a:ext>
            </a:extLst>
          </p:cNvPr>
          <p:cNvSpPr txBox="1"/>
          <p:nvPr/>
        </p:nvSpPr>
        <p:spPr>
          <a:xfrm>
            <a:off x="787400" y="1854200"/>
            <a:ext cx="4952848" cy="1754326"/>
          </a:xfrm>
          <a:prstGeom prst="rect">
            <a:avLst/>
          </a:prstGeom>
          <a:noFill/>
        </p:spPr>
        <p:txBody>
          <a:bodyPr vert="horz" wrap="square" rtlCol="0">
            <a:spAutoFit/>
          </a:bodyPr>
          <a:lstStyle/>
          <a:p>
            <a:r>
              <a:rPr lang="en-IN" sz="1200">
                <a:solidFill>
                  <a:srgbClr val="DCE1F5"/>
                </a:solidFill>
                <a:latin typeface="Consolas" panose="020B0609020204030204" pitchFamily="49" charset="0"/>
              </a:rPr>
              <a:t>`ui &lt;- page_sidebar(
 title = tags$span(tags$b("TFL"), " Builder"),
 theme = bs_theme(
 bootswatch = "flatly", primary = BRAND_BLUE,
 font_scale = 0.95, "navbar-bg" = BRAND_BLUE
 ),
 sidebar = sidebar(width = 290, ...),
 navset_tab(id = "main_tabs", ...)
)`</a:t>
            </a:r>
          </a:p>
        </p:txBody>
      </p:sp>
      <p:sp>
        <p:nvSpPr>
          <p:cNvPr id="6" name="TextBox 5">
            <a:extLst>
              <a:ext uri="{FF2B5EF4-FFF2-40B4-BE49-F238E27FC236}">
                <a16:creationId xmlns:a16="http://schemas.microsoft.com/office/drawing/2014/main" id="{7D8195C3-7D8B-F62C-66CE-9AC32A05AE01}"/>
              </a:ext>
            </a:extLst>
          </p:cNvPr>
          <p:cNvSpPr txBox="1"/>
          <p:nvPr/>
        </p:nvSpPr>
        <p:spPr>
          <a:xfrm>
            <a:off x="6248248" y="1752600"/>
            <a:ext cx="5359248" cy="369332"/>
          </a:xfrm>
          <a:prstGeom prst="rect">
            <a:avLst/>
          </a:prstGeom>
          <a:noFill/>
        </p:spPr>
        <p:txBody>
          <a:bodyPr vert="horz" wrap="square" rtlCol="0">
            <a:noAutofit/>
          </a:bodyPr>
          <a:lstStyle/>
          <a:p>
            <a:pPr marL="342900" indent="-342900">
              <a:buFont typeface="+mj-lt"/>
              <a:buChar char="•"/>
            </a:pPr>
            <a:r>
              <a:rPr lang="en-US" sz="1400">
                <a:solidFill>
                  <a:srgbClr val="5B6182"/>
                </a:solidFill>
                <a:latin typeface="IBM Plex Sans" panose="020B0503050203000203" pitchFamily="34" charset="0"/>
              </a:rPr>
              <a:t>bslib::bs_theme() gives full Bootstrap 5 theming from four arguments no custom CSS file needed for brand colors
page_sidebar() is a bslib layout primitive: a persistent left sidebar plus a main content area, which is exactly the global-controls / per-tab-content split this app needs
The sidebar carries only global concerns (data source); everything analysis-specific lives inside each tab, one layer down</a:t>
            </a:r>
            <a:endParaRPr lang="en-IN" sz="1400">
              <a:solidFill>
                <a:srgbClr val="5B6182"/>
              </a:solidFill>
              <a:latin typeface="IBM Plex Sans" panose="020B0503050203000203" pitchFamily="34" charset="0"/>
            </a:endParaRPr>
          </a:p>
        </p:txBody>
      </p:sp>
      <p:sp>
        <p:nvSpPr>
          <p:cNvPr id="7" name="TextBox 6">
            <a:extLst>
              <a:ext uri="{FF2B5EF4-FFF2-40B4-BE49-F238E27FC236}">
                <a16:creationId xmlns:a16="http://schemas.microsoft.com/office/drawing/2014/main" id="{0052B8CD-87BA-62E8-CF88-6448DC8652C3}"/>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Code Walkthrough Ã‚Â· UI Layer</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377037964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55DC96-EFCD-F70D-D5F1-44FE1F621553}"/>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UI Ã‚Â· GLOBAL SIDEBAR</a:t>
            </a:r>
          </a:p>
        </p:txBody>
      </p:sp>
      <p:sp>
        <p:nvSpPr>
          <p:cNvPr id="3" name="TextBox 2">
            <a:extLst>
              <a:ext uri="{FF2B5EF4-FFF2-40B4-BE49-F238E27FC236}">
                <a16:creationId xmlns:a16="http://schemas.microsoft.com/office/drawing/2014/main" id="{992282A8-1FDE-6885-C8E9-ADB9C1CB92AE}"/>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Data source: built-in vs. upload</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96820DC1-A5DD-A3FE-DAD8-40231274BB4B}"/>
              </a:ext>
            </a:extLst>
          </p:cNvPr>
          <p:cNvSpPr/>
          <p:nvPr/>
        </p:nvSpPr>
        <p:spPr>
          <a:xfrm>
            <a:off x="584200" y="1651000"/>
            <a:ext cx="5359248" cy="4699000"/>
          </a:xfrm>
          <a:prstGeom prst="roundRect">
            <a:avLst/>
          </a:prstGeom>
          <a:solidFill>
            <a:srgbClr val="161C3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6348A4DE-8514-D0BA-4055-5D2975A494D6}"/>
              </a:ext>
            </a:extLst>
          </p:cNvPr>
          <p:cNvSpPr txBox="1"/>
          <p:nvPr/>
        </p:nvSpPr>
        <p:spPr>
          <a:xfrm>
            <a:off x="787400" y="1854200"/>
            <a:ext cx="4952848" cy="1384995"/>
          </a:xfrm>
          <a:prstGeom prst="rect">
            <a:avLst/>
          </a:prstGeom>
          <a:noFill/>
        </p:spPr>
        <p:txBody>
          <a:bodyPr vert="horz" wrap="square" rtlCol="0">
            <a:spAutoFit/>
          </a:bodyPr>
          <a:lstStyle/>
          <a:p>
            <a:r>
              <a:rPr lang="en-IN" sz="1200">
                <a:solidFill>
                  <a:srgbClr val="DCE1F5"/>
                </a:solidFill>
                <a:latin typeface="Consolas" panose="020B0609020204030204" pitchFamily="49" charset="0"/>
              </a:rPr>
              <a:t>`radioButtons("data_source", NULL,
 choices = c("pharmaverseadam (built-in)"="builtin",
 "Upload my own data files"="upload"))
conditionalPanel("input.data_source == 'upload'",
 fileInput("upload_files", ...,
 accept = c(".sas7bdat",".csv",".rds")))`</a:t>
            </a:r>
          </a:p>
        </p:txBody>
      </p:sp>
      <p:sp>
        <p:nvSpPr>
          <p:cNvPr id="6" name="TextBox 5">
            <a:extLst>
              <a:ext uri="{FF2B5EF4-FFF2-40B4-BE49-F238E27FC236}">
                <a16:creationId xmlns:a16="http://schemas.microsoft.com/office/drawing/2014/main" id="{C32CAB1F-2072-E526-4E3D-8831BE3F09ED}"/>
              </a:ext>
            </a:extLst>
          </p:cNvPr>
          <p:cNvSpPr txBox="1"/>
          <p:nvPr/>
        </p:nvSpPr>
        <p:spPr>
          <a:xfrm>
            <a:off x="6248248" y="1752600"/>
            <a:ext cx="5359248" cy="369332"/>
          </a:xfrm>
          <a:prstGeom prst="rect">
            <a:avLst/>
          </a:prstGeom>
          <a:noFill/>
        </p:spPr>
        <p:txBody>
          <a:bodyPr vert="horz" wrap="square" rtlCol="0">
            <a:noAutofit/>
          </a:bodyPr>
          <a:lstStyle/>
          <a:p>
            <a:pPr marL="342900" indent="-342900">
              <a:buFont typeface="+mj-lt"/>
              <a:buChar char="•"/>
            </a:pPr>
            <a:r>
              <a:rPr lang="en-US" sz="1400">
                <a:solidFill>
                  <a:srgbClr val="5B6182"/>
                </a:solidFill>
                <a:latin typeface="IBM Plex Sans" panose="020B0503050203000203" pitchFamily="34" charset="0"/>
              </a:rPr>
              <a:t>conditionalPanel() uses a JavaScript expression string, not R it toggles visibility client-side with zero server round-trip, so the UI feels instant
Accepting .sas7bdat directly (via haven) means a study team can point the app at real SAS transport-style datasets, not just CSV exports
Files are matched to ADSL/ADAE/etc. by filename, not by asking the user to manually label each upload</a:t>
            </a:r>
            <a:endParaRPr lang="en-IN" sz="1400">
              <a:solidFill>
                <a:srgbClr val="5B6182"/>
              </a:solidFill>
              <a:latin typeface="IBM Plex Sans" panose="020B0503050203000203" pitchFamily="34" charset="0"/>
            </a:endParaRPr>
          </a:p>
        </p:txBody>
      </p:sp>
      <p:sp>
        <p:nvSpPr>
          <p:cNvPr id="7" name="TextBox 6">
            <a:extLst>
              <a:ext uri="{FF2B5EF4-FFF2-40B4-BE49-F238E27FC236}">
                <a16:creationId xmlns:a16="http://schemas.microsoft.com/office/drawing/2014/main" id="{EFDAD8CA-0A7E-CFD3-8ECC-6CB4263E341E}"/>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Code Walkthrough Ã‚Â· UI Layer</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392308559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424DBFA-F6D8-D617-F0F3-B4161BEA81C4}"/>
              </a:ext>
            </a:extLst>
          </p:cNvPr>
          <p:cNvSpPr txBox="1"/>
          <p:nvPr/>
        </p:nvSpPr>
        <p:spPr>
          <a:xfrm>
            <a:off x="584200" y="330200"/>
            <a:ext cx="11430000" cy="292388"/>
          </a:xfrm>
          <a:prstGeom prst="rect">
            <a:avLst/>
          </a:prstGeom>
          <a:noFill/>
        </p:spPr>
        <p:txBody>
          <a:bodyPr vert="horz" wrap="square" rtlCol="0">
            <a:spAutoFit/>
          </a:bodyPr>
          <a:lstStyle/>
          <a:p>
            <a:r>
              <a:rPr lang="fr-FR" sz="1300" b="1">
                <a:solidFill>
                  <a:srgbClr val="0F7A7A"/>
                </a:solidFill>
                <a:latin typeface="IBM Plex Sans" panose="020B0503050203000203" pitchFamily="34" charset="0"/>
              </a:rPr>
              <a:t>UI Ã‚Â· TABLES TAB</a:t>
            </a:r>
            <a:endParaRPr lang="en-IN" sz="1300" b="1">
              <a:solidFill>
                <a:srgbClr val="0F7A7A"/>
              </a:solidFill>
              <a:latin typeface="IBM Plex Sans" panose="020B0503050203000203" pitchFamily="34" charset="0"/>
            </a:endParaRPr>
          </a:p>
        </p:txBody>
      </p:sp>
      <p:sp>
        <p:nvSpPr>
          <p:cNvPr id="3" name="TextBox 2">
            <a:extLst>
              <a:ext uri="{FF2B5EF4-FFF2-40B4-BE49-F238E27FC236}">
                <a16:creationId xmlns:a16="http://schemas.microsoft.com/office/drawing/2014/main" id="{C19EB12F-9BBE-5EB0-D285-0C611D734871}"/>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Split layout: controls left, output right</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AA99530B-517B-04CE-DE90-B996DAB17A37}"/>
              </a:ext>
            </a:extLst>
          </p:cNvPr>
          <p:cNvSpPr/>
          <p:nvPr/>
        </p:nvSpPr>
        <p:spPr>
          <a:xfrm>
            <a:off x="584200" y="1651000"/>
            <a:ext cx="5359248" cy="4699000"/>
          </a:xfrm>
          <a:prstGeom prst="roundRect">
            <a:avLst/>
          </a:prstGeom>
          <a:solidFill>
            <a:srgbClr val="161C3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7AB72BC-8A1E-7B0B-5097-EAD8AA61F5E2}"/>
              </a:ext>
            </a:extLst>
          </p:cNvPr>
          <p:cNvSpPr txBox="1"/>
          <p:nvPr/>
        </p:nvSpPr>
        <p:spPr>
          <a:xfrm>
            <a:off x="787400" y="1854200"/>
            <a:ext cx="4952848" cy="1938992"/>
          </a:xfrm>
          <a:prstGeom prst="rect">
            <a:avLst/>
          </a:prstGeom>
          <a:noFill/>
        </p:spPr>
        <p:txBody>
          <a:bodyPr vert="horz" wrap="square" rtlCol="0">
            <a:spAutoFit/>
          </a:bodyPr>
          <a:lstStyle/>
          <a:p>
            <a:r>
              <a:rPr lang="en-IN" sz="1200">
                <a:solidFill>
                  <a:srgbClr val="DCE1F5"/>
                </a:solidFill>
                <a:latin typeface="Consolas" panose="020B0609020204030204" pitchFamily="49" charset="0"/>
              </a:rPr>
              <a:t>`layout_columns(col_widths = c(3,9),
 div(style="overflow-y:auto;...",
 ctrl_card(
 selectInput("table_type", ..., choices=TABLE_CHOICES),
 uiOutput("tbl_pop_flag_ui"),
 uiOutput("tbl_trt_arms_ui"),
 uiOutput("table_specific_ui")
 )),
 card(gt_output("tbl_output"), full_screen=TRUE)
)`</a:t>
            </a:r>
          </a:p>
        </p:txBody>
      </p:sp>
      <p:sp>
        <p:nvSpPr>
          <p:cNvPr id="6" name="TextBox 5">
            <a:extLst>
              <a:ext uri="{FF2B5EF4-FFF2-40B4-BE49-F238E27FC236}">
                <a16:creationId xmlns:a16="http://schemas.microsoft.com/office/drawing/2014/main" id="{61E705CC-5EBC-CED5-0012-E921FB9692E8}"/>
              </a:ext>
            </a:extLst>
          </p:cNvPr>
          <p:cNvSpPr txBox="1"/>
          <p:nvPr/>
        </p:nvSpPr>
        <p:spPr>
          <a:xfrm>
            <a:off x="6248248" y="1752600"/>
            <a:ext cx="5359248" cy="369332"/>
          </a:xfrm>
          <a:prstGeom prst="rect">
            <a:avLst/>
          </a:prstGeom>
          <a:noFill/>
        </p:spPr>
        <p:txBody>
          <a:bodyPr vert="horz" wrap="square" rtlCol="0">
            <a:noAutofit/>
          </a:bodyPr>
          <a:lstStyle/>
          <a:p>
            <a:pPr marL="342900" indent="-342900">
              <a:buFont typeface="+mj-lt"/>
              <a:buChar char="•"/>
            </a:pPr>
            <a:r>
              <a:rPr lang="en-US" sz="1400">
                <a:solidFill>
                  <a:srgbClr val="5B6182"/>
                </a:solidFill>
                <a:latin typeface="IBM Plex Sans" panose="020B0503050203000203" pitchFamily="34" charset="0"/>
              </a:rPr>
              <a:t>A consistent 3/9 column split repeats across the Tables and Figures tabs one visual language for "configure, then view"
Population flag, treatment variable, and treatment arms are rendered via uiOutput() server-generated, because their choices depend on which dataset is actually loaded
full_screen = TRUE on the output card gives reviewers a one-click expand for detailed reading, a small but meaningful usability touch</a:t>
            </a:r>
            <a:endParaRPr lang="en-IN" sz="1400">
              <a:solidFill>
                <a:srgbClr val="5B6182"/>
              </a:solidFill>
              <a:latin typeface="IBM Plex Sans" panose="020B0503050203000203" pitchFamily="34" charset="0"/>
            </a:endParaRPr>
          </a:p>
        </p:txBody>
      </p:sp>
      <p:sp>
        <p:nvSpPr>
          <p:cNvPr id="7" name="TextBox 6">
            <a:extLst>
              <a:ext uri="{FF2B5EF4-FFF2-40B4-BE49-F238E27FC236}">
                <a16:creationId xmlns:a16="http://schemas.microsoft.com/office/drawing/2014/main" id="{A6E19E06-5B97-AC15-FA7F-243C69379CB6}"/>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Code Walkthrough Ã‚Â· UI Layer</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194217150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F75033-4D20-988C-EEC3-0AFCD6405C9D}"/>
              </a:ext>
            </a:extLst>
          </p:cNvPr>
          <p:cNvSpPr txBox="1"/>
          <p:nvPr/>
        </p:nvSpPr>
        <p:spPr>
          <a:xfrm>
            <a:off x="584200" y="330200"/>
            <a:ext cx="11430000" cy="292388"/>
          </a:xfrm>
          <a:prstGeom prst="rect">
            <a:avLst/>
          </a:prstGeom>
          <a:noFill/>
        </p:spPr>
        <p:txBody>
          <a:bodyPr vert="horz" wrap="square" rtlCol="0">
            <a:spAutoFit/>
          </a:bodyPr>
          <a:lstStyle/>
          <a:p>
            <a:r>
              <a:rPr lang="en-US" sz="1300" b="1">
                <a:solidFill>
                  <a:srgbClr val="0F7A7A"/>
                </a:solidFill>
                <a:latin typeface="IBM Plex Sans" panose="020B0503050203000203" pitchFamily="34" charset="0"/>
              </a:rPr>
              <a:t>UI Ã‚Â· SMALL HELPERS</a:t>
            </a:r>
            <a:endParaRPr lang="en-IN" sz="1300" b="1">
              <a:solidFill>
                <a:srgbClr val="0F7A7A"/>
              </a:solidFill>
              <a:latin typeface="IBM Plex Sans" panose="020B0503050203000203" pitchFamily="34" charset="0"/>
            </a:endParaRPr>
          </a:p>
        </p:txBody>
      </p:sp>
      <p:sp>
        <p:nvSpPr>
          <p:cNvPr id="3" name="TextBox 2">
            <a:extLst>
              <a:ext uri="{FF2B5EF4-FFF2-40B4-BE49-F238E27FC236}">
                <a16:creationId xmlns:a16="http://schemas.microsoft.com/office/drawing/2014/main" id="{AC42F68C-50A4-3E8F-15D6-985EB5CD258F}"/>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status_chip() and ctrl_card() Ã¢ tiny, reused UI functions</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0AA74C15-6655-D477-4090-8F55959E78DB}"/>
              </a:ext>
            </a:extLst>
          </p:cNvPr>
          <p:cNvSpPr/>
          <p:nvPr/>
        </p:nvSpPr>
        <p:spPr>
          <a:xfrm>
            <a:off x="584200" y="1651000"/>
            <a:ext cx="11023295"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719F3C4E-EFAB-4885-1088-99158D7883AC}"/>
              </a:ext>
            </a:extLst>
          </p:cNvPr>
          <p:cNvSpPr txBox="1"/>
          <p:nvPr/>
        </p:nvSpPr>
        <p:spPr>
          <a:xfrm>
            <a:off x="889000" y="1930400"/>
            <a:ext cx="10413695" cy="369332"/>
          </a:xfrm>
          <a:prstGeom prst="rect">
            <a:avLst/>
          </a:prstGeom>
          <a:noFill/>
        </p:spPr>
        <p:txBody>
          <a:bodyPr vert="horz" wrap="square" rtlCol="0">
            <a:noAutofit/>
          </a:bodyPr>
          <a:lstStyle/>
          <a:p>
            <a:pPr marL="342900" indent="-342900">
              <a:buFont typeface="+mj-lt"/>
              <a:buChar char="•"/>
            </a:pPr>
            <a:r>
              <a:rPr lang="en-US" sz="1600">
                <a:solidFill>
                  <a:srgbClr val="5B6182"/>
                </a:solidFill>
                <a:latin typeface="IBM Plex Sans" panose="020B0503050203000203" pitchFamily="34" charset="0"/>
              </a:rPr>
              <a:t>`
 status_chip()Renders a colored pill (checkmark ADSL 254 rows) showing which required datasets are loaded. Called twice once for ADSL, once for ADAE from one function definition.
 ctrl_card()A styled wrapper around bslib::card() with a fixed grey background and padding, used for every control panel in the app so the sidebar controls look visually distinct from the output cards.
`</a:t>
            </a:r>
            <a:endParaRPr lang="en-IN" sz="1600">
              <a:solidFill>
                <a:srgbClr val="5B6182"/>
              </a:solidFill>
              <a:latin typeface="IBM Plex Sans" panose="020B0503050203000203" pitchFamily="34" charset="0"/>
            </a:endParaRPr>
          </a:p>
        </p:txBody>
      </p:sp>
      <p:sp>
        <p:nvSpPr>
          <p:cNvPr id="6" name="TextBox 5">
            <a:extLst>
              <a:ext uri="{FF2B5EF4-FFF2-40B4-BE49-F238E27FC236}">
                <a16:creationId xmlns:a16="http://schemas.microsoft.com/office/drawing/2014/main" id="{4C44B623-67D3-93F0-CA0D-756001EE71E2}"/>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Code Walkthrough Ã‚Â· UI Layer</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70506843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4126AD-0CCF-B8E6-AE39-4F922934585F}"/>
              </a:ext>
            </a:extLst>
          </p:cNvPr>
          <p:cNvSpPr txBox="1"/>
          <p:nvPr/>
        </p:nvSpPr>
        <p:spPr>
          <a:xfrm>
            <a:off x="584200" y="330200"/>
            <a:ext cx="11430000" cy="292388"/>
          </a:xfrm>
          <a:prstGeom prst="rect">
            <a:avLst/>
          </a:prstGeom>
          <a:noFill/>
        </p:spPr>
        <p:txBody>
          <a:bodyPr vert="horz" wrap="square" rtlCol="0">
            <a:spAutoFit/>
          </a:bodyPr>
          <a:lstStyle/>
          <a:p>
            <a:r>
              <a:rPr lang="en-US" sz="1300" b="1">
                <a:solidFill>
                  <a:srgbClr val="0F7A7A"/>
                </a:solidFill>
                <a:latin typeface="IBM Plex Sans" panose="020B0503050203000203" pitchFamily="34" charset="0"/>
              </a:rPr>
              <a:t>SERVER Ã‚Â· DATA LOADING</a:t>
            </a:r>
            <a:endParaRPr lang="en-IN" sz="1300" b="1">
              <a:solidFill>
                <a:srgbClr val="0F7A7A"/>
              </a:solidFill>
              <a:latin typeface="IBM Plex Sans" panose="020B0503050203000203" pitchFamily="34" charset="0"/>
            </a:endParaRPr>
          </a:p>
        </p:txBody>
      </p:sp>
      <p:sp>
        <p:nvSpPr>
          <p:cNvPr id="3" name="TextBox 2">
            <a:extLst>
              <a:ext uri="{FF2B5EF4-FFF2-40B4-BE49-F238E27FC236}">
                <a16:creationId xmlns:a16="http://schemas.microsoft.com/office/drawing/2014/main" id="{B2722481-1A52-B8CB-6C19-55269E77375E}"/>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datasets() Ã¢ the one reactive everything depends on</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9D368AE8-AF6F-5A69-48D6-1824A769D7EE}"/>
              </a:ext>
            </a:extLst>
          </p:cNvPr>
          <p:cNvSpPr/>
          <p:nvPr/>
        </p:nvSpPr>
        <p:spPr>
          <a:xfrm>
            <a:off x="584200" y="1651000"/>
            <a:ext cx="5359248" cy="4699000"/>
          </a:xfrm>
          <a:prstGeom prst="roundRect">
            <a:avLst/>
          </a:prstGeom>
          <a:solidFill>
            <a:srgbClr val="161C3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01010A49-12E8-C9EE-B0B7-749809D19490}"/>
              </a:ext>
            </a:extLst>
          </p:cNvPr>
          <p:cNvSpPr txBox="1"/>
          <p:nvPr/>
        </p:nvSpPr>
        <p:spPr>
          <a:xfrm>
            <a:off x="787400" y="1854200"/>
            <a:ext cx="4952848" cy="2123658"/>
          </a:xfrm>
          <a:prstGeom prst="rect">
            <a:avLst/>
          </a:prstGeom>
          <a:noFill/>
        </p:spPr>
        <p:txBody>
          <a:bodyPr vert="horz" wrap="square" rtlCol="0">
            <a:spAutoFit/>
          </a:bodyPr>
          <a:lstStyle/>
          <a:p>
            <a:r>
              <a:rPr lang="en-IN" sz="1200">
                <a:solidFill>
                  <a:srgbClr val="DCE1F5"/>
                </a:solidFill>
                <a:latin typeface="Consolas" panose="020B0609020204030204" pitchFamily="49" charset="0"/>
              </a:rPr>
              <a:t>`datasets &lt;- reactive({
 if (input$data_source == "builtin") return(BUILTIN)
 req(input$upload_files)
 withProgress(message = "Loading datasets...", {
 for (i in seq_len(nrow(input$upload_files))) {
 nm &lt;- toupper(file_path_sans_ext(...))
 df &lt;- switch(ext, "sas7bdat"=haven::read_sas(fp), ...)
 result[[nm]] &lt;- df
 }
 })
})`</a:t>
            </a:r>
          </a:p>
        </p:txBody>
      </p:sp>
      <p:sp>
        <p:nvSpPr>
          <p:cNvPr id="6" name="TextBox 5">
            <a:extLst>
              <a:ext uri="{FF2B5EF4-FFF2-40B4-BE49-F238E27FC236}">
                <a16:creationId xmlns:a16="http://schemas.microsoft.com/office/drawing/2014/main" id="{3B272849-D090-6819-F5F7-F7E0E18696F0}"/>
              </a:ext>
            </a:extLst>
          </p:cNvPr>
          <p:cNvSpPr txBox="1"/>
          <p:nvPr/>
        </p:nvSpPr>
        <p:spPr>
          <a:xfrm>
            <a:off x="6248248" y="1752600"/>
            <a:ext cx="5359248" cy="369332"/>
          </a:xfrm>
          <a:prstGeom prst="rect">
            <a:avLst/>
          </a:prstGeom>
          <a:noFill/>
        </p:spPr>
        <p:txBody>
          <a:bodyPr vert="horz" wrap="square" rtlCol="0">
            <a:noAutofit/>
          </a:bodyPr>
          <a:lstStyle/>
          <a:p>
            <a:pPr marL="342900" indent="-342900">
              <a:buFont typeface="+mj-lt"/>
              <a:buChar char="•"/>
            </a:pPr>
            <a:r>
              <a:rPr lang="en-US" sz="1400">
                <a:solidFill>
                  <a:srgbClr val="5B6182"/>
                </a:solidFill>
                <a:latin typeface="IBM Plex Sans" panose="020B0503050203000203" pitchFamily="34" charset="0"/>
              </a:rPr>
              <a:t>This is the only reactive that reads input$data_source or input$upload_files directly every other reactive in the app depends on datasets(), never on the raw inputs
req() means: if no files are uploaded yet, this reactive simply doesn't run no error, the UI just waits
withProgress() shows a native Shiny progress bar during file parsing, important once someone uploads a large ADAE</a:t>
            </a:r>
            <a:endParaRPr lang="en-IN" sz="1400">
              <a:solidFill>
                <a:srgbClr val="5B6182"/>
              </a:solidFill>
              <a:latin typeface="IBM Plex Sans" panose="020B0503050203000203" pitchFamily="34" charset="0"/>
            </a:endParaRPr>
          </a:p>
        </p:txBody>
      </p:sp>
      <p:sp>
        <p:nvSpPr>
          <p:cNvPr id="7" name="TextBox 6">
            <a:extLst>
              <a:ext uri="{FF2B5EF4-FFF2-40B4-BE49-F238E27FC236}">
                <a16:creationId xmlns:a16="http://schemas.microsoft.com/office/drawing/2014/main" id="{A2EB75DE-2EE4-CE85-2E87-52726F1E397A}"/>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Code Walkthrough Ã‚Â· Server Layer</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185967540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D399ED-A2B1-97BC-51A1-13A7DD0E78A3}"/>
              </a:ext>
            </a:extLst>
          </p:cNvPr>
          <p:cNvSpPr txBox="1"/>
          <p:nvPr/>
        </p:nvSpPr>
        <p:spPr>
          <a:xfrm>
            <a:off x="584200" y="330200"/>
            <a:ext cx="11430000" cy="292388"/>
          </a:xfrm>
          <a:prstGeom prst="rect">
            <a:avLst/>
          </a:prstGeom>
          <a:noFill/>
        </p:spPr>
        <p:txBody>
          <a:bodyPr vert="horz" wrap="square" rtlCol="0">
            <a:spAutoFit/>
          </a:bodyPr>
          <a:lstStyle/>
          <a:p>
            <a:r>
              <a:rPr lang="en-US" sz="1300" b="1">
                <a:solidFill>
                  <a:srgbClr val="0F7A7A"/>
                </a:solidFill>
                <a:latin typeface="IBM Plex Sans" panose="020B0503050203000203" pitchFamily="34" charset="0"/>
              </a:rPr>
              <a:t>SERVER Ã‚Â· DYNAMIC CHOICES</a:t>
            </a:r>
            <a:endParaRPr lang="en-IN" sz="1300" b="1">
              <a:solidFill>
                <a:srgbClr val="0F7A7A"/>
              </a:solidFill>
              <a:latin typeface="IBM Plex Sans" panose="020B0503050203000203" pitchFamily="34" charset="0"/>
            </a:endParaRPr>
          </a:p>
        </p:txBody>
      </p:sp>
      <p:sp>
        <p:nvSpPr>
          <p:cNvPr id="3" name="TextBox 2">
            <a:extLst>
              <a:ext uri="{FF2B5EF4-FFF2-40B4-BE49-F238E27FC236}">
                <a16:creationId xmlns:a16="http://schemas.microsoft.com/office/drawing/2014/main" id="{3006E8CE-3999-E95A-01B8-9B9B4CAEAB77}"/>
              </a:ext>
            </a:extLst>
          </p:cNvPr>
          <p:cNvSpPr txBox="1"/>
          <p:nvPr/>
        </p:nvSpPr>
        <p:spPr>
          <a:xfrm>
            <a:off x="584200" y="609600"/>
            <a:ext cx="14605000" cy="492443"/>
          </a:xfrm>
          <a:prstGeom prst="rect">
            <a:avLst/>
          </a:prstGeom>
          <a:noFill/>
        </p:spPr>
        <p:txBody>
          <a:bodyPr vert="horz" wrap="square" rtlCol="0">
            <a:spAutoFit/>
          </a:bodyPr>
          <a:lstStyle/>
          <a:p>
            <a:r>
              <a:rPr lang="en-IN" sz="2600" b="1">
                <a:solidFill>
                  <a:srgbClr val="1B2340"/>
                </a:solidFill>
                <a:latin typeface="IBM Plex Sans" panose="020B0503050203000203" pitchFamily="34" charset="0"/>
              </a:rPr>
              <a:t>pop_flags_available() and trt_vars_available()</a:t>
            </a:r>
          </a:p>
        </p:txBody>
      </p:sp>
      <p:sp>
        <p:nvSpPr>
          <p:cNvPr id="4" name="Rectangle: Rounded Corners 3">
            <a:extLst>
              <a:ext uri="{FF2B5EF4-FFF2-40B4-BE49-F238E27FC236}">
                <a16:creationId xmlns:a16="http://schemas.microsoft.com/office/drawing/2014/main" id="{5E40F197-ECE9-A3BC-EFB2-3195BC34EAD1}"/>
              </a:ext>
            </a:extLst>
          </p:cNvPr>
          <p:cNvSpPr/>
          <p:nvPr/>
        </p:nvSpPr>
        <p:spPr>
          <a:xfrm>
            <a:off x="584200" y="1651000"/>
            <a:ext cx="5359248" cy="4699000"/>
          </a:xfrm>
          <a:prstGeom prst="roundRect">
            <a:avLst/>
          </a:prstGeom>
          <a:solidFill>
            <a:srgbClr val="161C3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215F5DA8-7680-47A6-F278-CF9C6B7D0DA0}"/>
              </a:ext>
            </a:extLst>
          </p:cNvPr>
          <p:cNvSpPr txBox="1"/>
          <p:nvPr/>
        </p:nvSpPr>
        <p:spPr>
          <a:xfrm>
            <a:off x="787400" y="1854200"/>
            <a:ext cx="4952848" cy="1200329"/>
          </a:xfrm>
          <a:prstGeom prst="rect">
            <a:avLst/>
          </a:prstGeom>
          <a:noFill/>
        </p:spPr>
        <p:txBody>
          <a:bodyPr vert="horz" wrap="square" rtlCol="0">
            <a:spAutoFit/>
          </a:bodyPr>
          <a:lstStyle/>
          <a:p>
            <a:r>
              <a:rPr lang="en-IN" sz="1200">
                <a:solidFill>
                  <a:srgbClr val="DCE1F5"/>
                </a:solidFill>
                <a:latin typeface="Consolas" panose="020B0609020204030204" pitchFamily="49" charset="0"/>
              </a:rPr>
              <a:t>`pop_flags_available &lt;- reactive({
 fl &lt;- adsl_cols()[grepl("FL$", adsl_cols())]
 valid &lt;- fl[sapply(fl, function(v)
 all(adsl[[v]] %in% c("Y","N",NA)))]
 c("All Subjects (no filter)"="__ALL__", valid)
})`</a:t>
            </a:r>
          </a:p>
        </p:txBody>
      </p:sp>
      <p:sp>
        <p:nvSpPr>
          <p:cNvPr id="6" name="TextBox 5">
            <a:extLst>
              <a:ext uri="{FF2B5EF4-FFF2-40B4-BE49-F238E27FC236}">
                <a16:creationId xmlns:a16="http://schemas.microsoft.com/office/drawing/2014/main" id="{3A1F0A53-B56B-7194-C7EA-D3BA0B4B78E4}"/>
              </a:ext>
            </a:extLst>
          </p:cNvPr>
          <p:cNvSpPr txBox="1"/>
          <p:nvPr/>
        </p:nvSpPr>
        <p:spPr>
          <a:xfrm>
            <a:off x="6248248" y="1752600"/>
            <a:ext cx="5359248" cy="369332"/>
          </a:xfrm>
          <a:prstGeom prst="rect">
            <a:avLst/>
          </a:prstGeom>
          <a:noFill/>
        </p:spPr>
        <p:txBody>
          <a:bodyPr vert="horz" wrap="square" rtlCol="0">
            <a:noAutofit/>
          </a:bodyPr>
          <a:lstStyle/>
          <a:p>
            <a:pPr marL="342900" indent="-342900">
              <a:buFont typeface="+mj-lt"/>
              <a:buChar char="•"/>
            </a:pPr>
            <a:r>
              <a:rPr lang="en-US" sz="1400">
                <a:solidFill>
                  <a:srgbClr val="5B6182"/>
                </a:solidFill>
                <a:latin typeface="IBM Plex Sans" panose="020B0503050203000203" pitchFamily="34" charset="0"/>
              </a:rPr>
              <a:t>Population flags aren't hardcoded to SAFFL any column ending in FL that only contains Y/N/NA values is auto-detected as a valid population flag
This is what makes the app work against any uploaded ADSL, not just the specific one shipped in the demo
Treatment variables use a similar pattern: try common names (TRT01A, ARM...) first, fall back to a regex match on ^TRT[0-9]</a:t>
            </a:r>
            <a:endParaRPr lang="en-IN" sz="1400">
              <a:solidFill>
                <a:srgbClr val="5B6182"/>
              </a:solidFill>
              <a:latin typeface="IBM Plex Sans" panose="020B0503050203000203" pitchFamily="34" charset="0"/>
            </a:endParaRPr>
          </a:p>
        </p:txBody>
      </p:sp>
      <p:sp>
        <p:nvSpPr>
          <p:cNvPr id="7" name="TextBox 6">
            <a:extLst>
              <a:ext uri="{FF2B5EF4-FFF2-40B4-BE49-F238E27FC236}">
                <a16:creationId xmlns:a16="http://schemas.microsoft.com/office/drawing/2014/main" id="{640E25F7-19CE-4A75-DAC3-A2107CC2D10F}"/>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Code Walkthrough Ã‚Â· Server Layer</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226564275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7E4F5EF-523D-ADB4-9BCC-CFB7EA934115}"/>
              </a:ext>
            </a:extLst>
          </p:cNvPr>
          <p:cNvSpPr txBox="1"/>
          <p:nvPr/>
        </p:nvSpPr>
        <p:spPr>
          <a:xfrm>
            <a:off x="584200" y="330200"/>
            <a:ext cx="11430000" cy="292388"/>
          </a:xfrm>
          <a:prstGeom prst="rect">
            <a:avLst/>
          </a:prstGeom>
          <a:noFill/>
        </p:spPr>
        <p:txBody>
          <a:bodyPr vert="horz" wrap="square" rtlCol="0">
            <a:spAutoFit/>
          </a:bodyPr>
          <a:lstStyle/>
          <a:p>
            <a:r>
              <a:rPr lang="en-US" sz="1300" b="1">
                <a:solidFill>
                  <a:srgbClr val="0F7A7A"/>
                </a:solidFill>
                <a:latin typeface="IBM Plex Sans" panose="020B0503050203000203" pitchFamily="34" charset="0"/>
              </a:rPr>
              <a:t>SERVER Ã‚Â· REUSABLE REACTIVE FACTORY</a:t>
            </a:r>
            <a:endParaRPr lang="en-IN" sz="1300" b="1">
              <a:solidFill>
                <a:srgbClr val="0F7A7A"/>
              </a:solidFill>
              <a:latin typeface="IBM Plex Sans" panose="020B0503050203000203" pitchFamily="34" charset="0"/>
            </a:endParaRPr>
          </a:p>
        </p:txBody>
      </p:sp>
      <p:sp>
        <p:nvSpPr>
          <p:cNvPr id="3" name="TextBox 2">
            <a:extLst>
              <a:ext uri="{FF2B5EF4-FFF2-40B4-BE49-F238E27FC236}">
                <a16:creationId xmlns:a16="http://schemas.microsoft.com/office/drawing/2014/main" id="{3E85725A-E019-360D-D5BA-BA0D8A2DE652}"/>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trt_levels_for() Ã¢ a function that returns a reactive</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E8785EB6-3D63-BA94-1C5E-26203D5CAF0B}"/>
              </a:ext>
            </a:extLst>
          </p:cNvPr>
          <p:cNvSpPr/>
          <p:nvPr/>
        </p:nvSpPr>
        <p:spPr>
          <a:xfrm>
            <a:off x="584200" y="1651000"/>
            <a:ext cx="5359248" cy="4699000"/>
          </a:xfrm>
          <a:prstGeom prst="roundRect">
            <a:avLst/>
          </a:prstGeom>
          <a:solidFill>
            <a:srgbClr val="161C3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46089C48-887D-CFF9-EB15-F5A11001E071}"/>
              </a:ext>
            </a:extLst>
          </p:cNvPr>
          <p:cNvSpPr txBox="1"/>
          <p:nvPr/>
        </p:nvSpPr>
        <p:spPr>
          <a:xfrm>
            <a:off x="787400" y="1854200"/>
            <a:ext cx="4952848" cy="2492990"/>
          </a:xfrm>
          <a:prstGeom prst="rect">
            <a:avLst/>
          </a:prstGeom>
          <a:noFill/>
        </p:spPr>
        <p:txBody>
          <a:bodyPr vert="horz" wrap="square" rtlCol="0">
            <a:spAutoFit/>
          </a:bodyPr>
          <a:lstStyle/>
          <a:p>
            <a:r>
              <a:rPr lang="en-IN" sz="1200">
                <a:solidFill>
                  <a:srgbClr val="DCE1F5"/>
                </a:solidFill>
                <a:latin typeface="Consolas" panose="020B0609020204030204" pitchFamily="49" charset="0"/>
              </a:rPr>
              <a:t>`trt_levels_for &lt;- function(trt_var_input, pop_flag_input) {
 reactive({
 req(trt_var_input(), datasets()$ADSL)
 pop &lt;- if (pop_flag_input() != "__ALL__")
 filter(adsl, .data[[pop_flag_input()]]=="Y") else adsl
 sort(unique(as.character(pop[[trt_var_input()]])))
 })
}
tbl_trt_levels &lt;- trt_levels_for(reactive(input$tbl_trt_var), ...)
fig_trt_levels &lt;- trt_levels_for(reactive(input$fig_trt_var), ...)`</a:t>
            </a:r>
          </a:p>
        </p:txBody>
      </p:sp>
      <p:sp>
        <p:nvSpPr>
          <p:cNvPr id="6" name="TextBox 5">
            <a:extLst>
              <a:ext uri="{FF2B5EF4-FFF2-40B4-BE49-F238E27FC236}">
                <a16:creationId xmlns:a16="http://schemas.microsoft.com/office/drawing/2014/main" id="{393E82E9-AD1A-D64E-C510-81D3FF31D479}"/>
              </a:ext>
            </a:extLst>
          </p:cNvPr>
          <p:cNvSpPr txBox="1"/>
          <p:nvPr/>
        </p:nvSpPr>
        <p:spPr>
          <a:xfrm>
            <a:off x="6248248" y="1752600"/>
            <a:ext cx="5359248" cy="369332"/>
          </a:xfrm>
          <a:prstGeom prst="rect">
            <a:avLst/>
          </a:prstGeom>
          <a:noFill/>
        </p:spPr>
        <p:txBody>
          <a:bodyPr vert="horz" wrap="square" rtlCol="0">
            <a:noAutofit/>
          </a:bodyPr>
          <a:lstStyle/>
          <a:p>
            <a:pPr marL="342900" indent="-342900">
              <a:buFont typeface="+mj-lt"/>
              <a:buChar char="•"/>
            </a:pPr>
            <a:r>
              <a:rPr lang="en-US" sz="1400">
                <a:solidFill>
                  <a:srgbClr val="5B6182"/>
                </a:solidFill>
                <a:latin typeface="IBM Plex Sans" panose="020B0503050203000203" pitchFamily="34" charset="0"/>
              </a:rPr>
              <a:t>A function that builds and returns a reactive called once for the Tables tab, once for the Figures tab, avoiding duplicated reactive logic between two nearly-identical control panels
Taking reactives as arguments (trt_var_input, pop_flag_input) rather than plain values keeps the returned reactive correctly wired into Shiny's dependency graph
"Screen failure" treatment levels are explicitly filtered out, since they're not a meaningful treatment arm for TFL purposes</a:t>
            </a:r>
            <a:endParaRPr lang="en-IN" sz="1400">
              <a:solidFill>
                <a:srgbClr val="5B6182"/>
              </a:solidFill>
              <a:latin typeface="IBM Plex Sans" panose="020B0503050203000203" pitchFamily="34" charset="0"/>
            </a:endParaRPr>
          </a:p>
        </p:txBody>
      </p:sp>
      <p:sp>
        <p:nvSpPr>
          <p:cNvPr id="7" name="TextBox 6">
            <a:extLst>
              <a:ext uri="{FF2B5EF4-FFF2-40B4-BE49-F238E27FC236}">
                <a16:creationId xmlns:a16="http://schemas.microsoft.com/office/drawing/2014/main" id="{8ABBE30E-B4AE-3291-36AC-BD2F4769EE9C}"/>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Code Walkthrough Ã‚Â· Server Layer</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19215762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7C19864-85BF-71F9-DC07-1E373404A153}"/>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SERVER Ã‚Â· TABLE PIPELINE</a:t>
            </a:r>
          </a:p>
        </p:txBody>
      </p:sp>
      <p:sp>
        <p:nvSpPr>
          <p:cNvPr id="3" name="TextBox 2">
            <a:extLst>
              <a:ext uri="{FF2B5EF4-FFF2-40B4-BE49-F238E27FC236}">
                <a16:creationId xmlns:a16="http://schemas.microsoft.com/office/drawing/2014/main" id="{B72D71BA-462C-C908-EE65-E00516841839}"/>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table_data() Ã¢ the dispatch reactive</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D6CC4095-2B41-97A0-CCE0-44D5FF44064C}"/>
              </a:ext>
            </a:extLst>
          </p:cNvPr>
          <p:cNvSpPr/>
          <p:nvPr/>
        </p:nvSpPr>
        <p:spPr>
          <a:xfrm>
            <a:off x="584200" y="1651000"/>
            <a:ext cx="5359248" cy="4699000"/>
          </a:xfrm>
          <a:prstGeom prst="roundRect">
            <a:avLst/>
          </a:prstGeom>
          <a:solidFill>
            <a:srgbClr val="161C3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BDCAF2C2-C2F1-09A1-5FA0-20982E38C085}"/>
              </a:ext>
            </a:extLst>
          </p:cNvPr>
          <p:cNvSpPr txBox="1"/>
          <p:nvPr/>
        </p:nvSpPr>
        <p:spPr>
          <a:xfrm>
            <a:off x="787400" y="1854200"/>
            <a:ext cx="4952848" cy="2492990"/>
          </a:xfrm>
          <a:prstGeom prst="rect">
            <a:avLst/>
          </a:prstGeom>
          <a:noFill/>
        </p:spPr>
        <p:txBody>
          <a:bodyPr vert="horz" wrap="square" rtlCol="0">
            <a:spAutoFit/>
          </a:bodyPr>
          <a:lstStyle/>
          <a:p>
            <a:r>
              <a:rPr lang="en-IN" sz="1200">
                <a:solidFill>
                  <a:srgbClr val="DCE1F5"/>
                </a:solidFill>
                <a:latin typeface="Consolas" panose="020B0609020204030204" pitchFamily="49" charset="0"/>
              </a:rPr>
              <a:t>`table_data &lt;- reactive({
 req(input$tbl_trt_arms, input$tbl_pop_flag, datasets()$ADSL)
 withProgress(message = "Building table...", {
 switch(input$table_type,
 demog = build_demog(adsl, trt, pop, trts, tot),
 ae_socpt = { req(adae)
 build_ae_socpt(adsl, adae, trt, pop, trts, tot,
 min_pct = input$min_pct %||% 0, sevs = input$sev_filter) },
 ...)
 })
})`</a:t>
            </a:r>
          </a:p>
        </p:txBody>
      </p:sp>
      <p:sp>
        <p:nvSpPr>
          <p:cNvPr id="6" name="TextBox 5">
            <a:extLst>
              <a:ext uri="{FF2B5EF4-FFF2-40B4-BE49-F238E27FC236}">
                <a16:creationId xmlns:a16="http://schemas.microsoft.com/office/drawing/2014/main" id="{74478253-4E34-8CAD-918D-FF7F29324600}"/>
              </a:ext>
            </a:extLst>
          </p:cNvPr>
          <p:cNvSpPr txBox="1"/>
          <p:nvPr/>
        </p:nvSpPr>
        <p:spPr>
          <a:xfrm>
            <a:off x="6248248" y="1752600"/>
            <a:ext cx="5359248" cy="369332"/>
          </a:xfrm>
          <a:prstGeom prst="rect">
            <a:avLst/>
          </a:prstGeom>
          <a:noFill/>
        </p:spPr>
        <p:txBody>
          <a:bodyPr vert="horz" wrap="square" rtlCol="0">
            <a:noAutofit/>
          </a:bodyPr>
          <a:lstStyle/>
          <a:p>
            <a:pPr marL="342900" indent="-342900">
              <a:buFont typeface="+mj-lt"/>
              <a:buChar char="•"/>
            </a:pPr>
            <a:r>
              <a:rPr lang="en-US" sz="1400">
                <a:solidFill>
                  <a:srgbClr val="5B6182"/>
                </a:solidFill>
                <a:latin typeface="IBM Plex Sans" panose="020B0503050203000203" pitchFamily="34" charset="0"/>
              </a:rPr>
              <a:t>This is the "switchboard" the only place in the server that decides which build_*() function to call, based on the dropdown selection
req(adae) is nested inside the AE-specific branches only a demographics table doesn't need ADAE to exist, so it isn't blocked by a missing upload
The custom %||% operator (defined at the bottom of the file) supplies a default when a control hasn't rendered yet, avoiding a NULL error on first load</a:t>
            </a:r>
            <a:endParaRPr lang="en-IN" sz="1400">
              <a:solidFill>
                <a:srgbClr val="5B6182"/>
              </a:solidFill>
              <a:latin typeface="IBM Plex Sans" panose="020B0503050203000203" pitchFamily="34" charset="0"/>
            </a:endParaRPr>
          </a:p>
        </p:txBody>
      </p:sp>
      <p:sp>
        <p:nvSpPr>
          <p:cNvPr id="7" name="TextBox 6">
            <a:extLst>
              <a:ext uri="{FF2B5EF4-FFF2-40B4-BE49-F238E27FC236}">
                <a16:creationId xmlns:a16="http://schemas.microsoft.com/office/drawing/2014/main" id="{99DE845B-057D-07E1-05B1-DA1C26587AF4}"/>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Code Walkthrough Ã‚Â· Server Layer</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225965159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CB5956-356D-E9A3-6847-2E0D6765F6A3}"/>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SERVER Ã‚Â· RENDERING &amp; EXPORT</a:t>
            </a:r>
          </a:p>
        </p:txBody>
      </p:sp>
      <p:sp>
        <p:nvSpPr>
          <p:cNvPr id="3" name="TextBox 2">
            <a:extLst>
              <a:ext uri="{FF2B5EF4-FFF2-40B4-BE49-F238E27FC236}">
                <a16:creationId xmlns:a16="http://schemas.microsoft.com/office/drawing/2014/main" id="{491CF198-D24E-9FBF-10DB-D36772FE1ACE}"/>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render_gt() and the three table download handlers</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35DD2F89-EB2C-3C46-CA58-4CB5464BDB21}"/>
              </a:ext>
            </a:extLst>
          </p:cNvPr>
          <p:cNvSpPr/>
          <p:nvPr/>
        </p:nvSpPr>
        <p:spPr>
          <a:xfrm>
            <a:off x="584200" y="1651000"/>
            <a:ext cx="5359248" cy="4699000"/>
          </a:xfrm>
          <a:prstGeom prst="roundRect">
            <a:avLst/>
          </a:prstGeom>
          <a:solidFill>
            <a:srgbClr val="161C3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C1C1BA2C-B093-E60E-3D7E-99C8FD776F1C}"/>
              </a:ext>
            </a:extLst>
          </p:cNvPr>
          <p:cNvSpPr txBox="1"/>
          <p:nvPr/>
        </p:nvSpPr>
        <p:spPr>
          <a:xfrm>
            <a:off x="787400" y="1854200"/>
            <a:ext cx="4952848" cy="830997"/>
          </a:xfrm>
          <a:prstGeom prst="rect">
            <a:avLst/>
          </a:prstGeom>
          <a:noFill/>
        </p:spPr>
        <p:txBody>
          <a:bodyPr vert="horz" wrap="square" rtlCol="0">
            <a:spAutoFit/>
          </a:bodyPr>
          <a:lstStyle/>
          <a:p>
            <a:r>
              <a:rPr lang="en-IN" sz="1200">
                <a:solidFill>
                  <a:srgbClr val="DCE1F5"/>
                </a:solidFill>
                <a:latin typeface="Consolas" panose="020B0609020204030204" pitchFamily="49" charset="0"/>
              </a:rPr>
              <a:t>`output$tbl_output bold(part="header") |&gt; autofit()
 doc body_add_flextable(ft)
 print(doc, target = f)
 })`</a:t>
            </a:r>
          </a:p>
        </p:txBody>
      </p:sp>
      <p:sp>
        <p:nvSpPr>
          <p:cNvPr id="6" name="TextBox 5">
            <a:extLst>
              <a:ext uri="{FF2B5EF4-FFF2-40B4-BE49-F238E27FC236}">
                <a16:creationId xmlns:a16="http://schemas.microsoft.com/office/drawing/2014/main" id="{FF3AF8B7-656B-E6AC-36EC-BFA260569B3B}"/>
              </a:ext>
            </a:extLst>
          </p:cNvPr>
          <p:cNvSpPr txBox="1"/>
          <p:nvPr/>
        </p:nvSpPr>
        <p:spPr>
          <a:xfrm>
            <a:off x="6248248" y="1752600"/>
            <a:ext cx="5359248" cy="369332"/>
          </a:xfrm>
          <a:prstGeom prst="rect">
            <a:avLst/>
          </a:prstGeom>
          <a:noFill/>
        </p:spPr>
        <p:txBody>
          <a:bodyPr vert="horz" wrap="square" rtlCol="0">
            <a:noAutofit/>
          </a:bodyPr>
          <a:lstStyle/>
          <a:p>
            <a:pPr marL="342900" indent="-342900">
              <a:buFont typeface="+mj-lt"/>
              <a:buChar char="•"/>
            </a:pPr>
            <a:r>
              <a:rPr lang="en-US" sz="1400">
                <a:solidFill>
                  <a:srgbClr val="5B6182"/>
                </a:solidFill>
                <a:latin typeface="IBM Plex Sans" panose="020B0503050203000203" pitchFamily="34" charset="0"/>
              </a:rPr>
              <a:t>render_gt() and every downloadHandler() independently call table_data() Shiny's reactive caching means the underlying computation runs once and is reused, not recomputed per output
HTML export uses gtsave(), CSV export uses write.csv() on the raw data frame, and Word export rebuilds the table in flextable three renderers, one shared source of truth
The Word export is fully programmatic: officer::read_docx() creates the document in memory, no Word template file is required</a:t>
            </a:r>
            <a:endParaRPr lang="en-IN" sz="1400">
              <a:solidFill>
                <a:srgbClr val="5B6182"/>
              </a:solidFill>
              <a:latin typeface="IBM Plex Sans" panose="020B0503050203000203" pitchFamily="34" charset="0"/>
            </a:endParaRPr>
          </a:p>
        </p:txBody>
      </p:sp>
      <p:sp>
        <p:nvSpPr>
          <p:cNvPr id="7" name="TextBox 6">
            <a:extLst>
              <a:ext uri="{FF2B5EF4-FFF2-40B4-BE49-F238E27FC236}">
                <a16:creationId xmlns:a16="http://schemas.microsoft.com/office/drawing/2014/main" id="{EE6380C5-5FFE-196D-ADAB-9D1400EBD30D}"/>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Code Walkthrough Ã‚Â· Server Layer</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41884348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0381AC-1874-3242-BCEE-9B3C24C93846}"/>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SERVER Ã‚Â· FIGURE PIPELINE</a:t>
            </a:r>
          </a:p>
        </p:txBody>
      </p:sp>
      <p:sp>
        <p:nvSpPr>
          <p:cNvPr id="3" name="TextBox 2">
            <a:extLst>
              <a:ext uri="{FF2B5EF4-FFF2-40B4-BE49-F238E27FC236}">
                <a16:creationId xmlns:a16="http://schemas.microsoft.com/office/drawing/2014/main" id="{3E1B5D98-69EF-56EA-DEF7-E787E064BD11}"/>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active_plot() and the PNG/SVG download handlers</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9FC6CFB6-46F8-276E-9FD6-0ED89D4174A8}"/>
              </a:ext>
            </a:extLst>
          </p:cNvPr>
          <p:cNvSpPr/>
          <p:nvPr/>
        </p:nvSpPr>
        <p:spPr>
          <a:xfrm>
            <a:off x="584200" y="1651000"/>
            <a:ext cx="5359248" cy="4699000"/>
          </a:xfrm>
          <a:prstGeom prst="roundRect">
            <a:avLst/>
          </a:prstGeom>
          <a:solidFill>
            <a:srgbClr val="161C3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7C7BB3EE-8541-2775-D406-C512E1C91434}"/>
              </a:ext>
            </a:extLst>
          </p:cNvPr>
          <p:cNvSpPr txBox="1"/>
          <p:nvPr/>
        </p:nvSpPr>
        <p:spPr>
          <a:xfrm>
            <a:off x="787400" y="1854200"/>
            <a:ext cx="4952848" cy="2677656"/>
          </a:xfrm>
          <a:prstGeom prst="rect">
            <a:avLst/>
          </a:prstGeom>
          <a:noFill/>
        </p:spPr>
        <p:txBody>
          <a:bodyPr vert="horz" wrap="square" rtlCol="0">
            <a:spAutoFit/>
          </a:bodyPr>
          <a:lstStyle/>
          <a:p>
            <a:r>
              <a:rPr lang="en-IN" sz="1200">
                <a:solidFill>
                  <a:srgbClr val="DCE1F5"/>
                </a:solidFill>
                <a:latin typeface="Consolas" panose="020B0609020204030204" pitchFamily="49" charset="0"/>
              </a:rPr>
              <a:t>`active_plot &lt;- reactive({
 switch(input$figure_type,
 boxplot = build_boxplot(adsl, trt, pop, trts,
 yvar=input$box_yvar, show_pts=input$box_pts, ...),
 ae_bar = { req(adae); build_ae_bar(adsl, adae, trt, pop, trts,
 top_n=input$ae_bar_topn) })
})
output$fig_output &lt;- renderPlot(active_plot(), res = 110)
output$dl_fig_png &lt;- downloadHandler(..., content = function(f)
 ggsave(f, active_plot(), width=10, height=6.5, dpi=300))`</a:t>
            </a:r>
          </a:p>
        </p:txBody>
      </p:sp>
      <p:sp>
        <p:nvSpPr>
          <p:cNvPr id="6" name="TextBox 5">
            <a:extLst>
              <a:ext uri="{FF2B5EF4-FFF2-40B4-BE49-F238E27FC236}">
                <a16:creationId xmlns:a16="http://schemas.microsoft.com/office/drawing/2014/main" id="{97EDD463-1608-0CED-1E4A-3D0CE8CC889A}"/>
              </a:ext>
            </a:extLst>
          </p:cNvPr>
          <p:cNvSpPr txBox="1"/>
          <p:nvPr/>
        </p:nvSpPr>
        <p:spPr>
          <a:xfrm>
            <a:off x="6248248" y="1752600"/>
            <a:ext cx="5359248" cy="369332"/>
          </a:xfrm>
          <a:prstGeom prst="rect">
            <a:avLst/>
          </a:prstGeom>
          <a:noFill/>
        </p:spPr>
        <p:txBody>
          <a:bodyPr vert="horz" wrap="square" rtlCol="0">
            <a:noAutofit/>
          </a:bodyPr>
          <a:lstStyle/>
          <a:p>
            <a:pPr marL="342900" indent="-342900">
              <a:buFont typeface="+mj-lt"/>
              <a:buChar char="•"/>
            </a:pPr>
            <a:r>
              <a:rPr lang="en-US" sz="1400">
                <a:solidFill>
                  <a:srgbClr val="5B6182"/>
                </a:solidFill>
                <a:latin typeface="IBM Plex Sans" panose="020B0503050203000203" pitchFamily="34" charset="0"/>
              </a:rPr>
              <a:t>Mirrors table_data() exactly same dispatch-by-switch() pattern, applied to figures instead of tables, for a consistent codebase
renderPlot(..., res = 110) sets screen resolution for on-screen display; ggsave(..., dpi = 300) uses a separate, higher, publication-quality resolution for the actual export the same plot object serves both
SVG export uses the same call with device = "svg", giving reviewers a vector format for embedding in slides without quality loss</a:t>
            </a:r>
            <a:endParaRPr lang="en-IN" sz="1400">
              <a:solidFill>
                <a:srgbClr val="5B6182"/>
              </a:solidFill>
              <a:latin typeface="IBM Plex Sans" panose="020B0503050203000203" pitchFamily="34" charset="0"/>
            </a:endParaRPr>
          </a:p>
        </p:txBody>
      </p:sp>
      <p:sp>
        <p:nvSpPr>
          <p:cNvPr id="7" name="TextBox 6">
            <a:extLst>
              <a:ext uri="{FF2B5EF4-FFF2-40B4-BE49-F238E27FC236}">
                <a16:creationId xmlns:a16="http://schemas.microsoft.com/office/drawing/2014/main" id="{909B423A-A017-63EB-AC75-5B92EEDDC71A}"/>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Code Walkthrough Ã‚Â· Server Layer</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80093641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7F318FA-11EE-AE79-9652-77CFE3DA4C8E}"/>
              </a:ext>
            </a:extLst>
          </p:cNvPr>
          <p:cNvSpPr txBox="1"/>
          <p:nvPr/>
        </p:nvSpPr>
        <p:spPr>
          <a:xfrm>
            <a:off x="584200" y="330200"/>
            <a:ext cx="11430000" cy="292388"/>
          </a:xfrm>
          <a:prstGeom prst="rect">
            <a:avLst/>
          </a:prstGeom>
          <a:noFill/>
        </p:spPr>
        <p:txBody>
          <a:bodyPr vert="horz" wrap="square" rtlCol="0">
            <a:spAutoFit/>
          </a:bodyPr>
          <a:lstStyle/>
          <a:p>
            <a:r>
              <a:rPr lang="en-US" sz="1300" b="1">
                <a:solidFill>
                  <a:srgbClr val="0F7A7A"/>
                </a:solidFill>
                <a:latin typeface="IBM Plex Sans" panose="020B0503050203000203" pitchFamily="34" charset="0"/>
              </a:rPr>
              <a:t>CODE WALKTHROUGH Ã‚Â· RECAP</a:t>
            </a:r>
            <a:endParaRPr lang="en-IN" sz="1300" b="1">
              <a:solidFill>
                <a:srgbClr val="0F7A7A"/>
              </a:solidFill>
              <a:latin typeface="IBM Plex Sans" panose="020B0503050203000203" pitchFamily="34" charset="0"/>
            </a:endParaRPr>
          </a:p>
        </p:txBody>
      </p:sp>
      <p:sp>
        <p:nvSpPr>
          <p:cNvPr id="3" name="TextBox 2">
            <a:extLst>
              <a:ext uri="{FF2B5EF4-FFF2-40B4-BE49-F238E27FC236}">
                <a16:creationId xmlns:a16="http://schemas.microsoft.com/office/drawing/2014/main" id="{5785DAFA-7BCD-8F77-4731-03470CFF48C8}"/>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End-to-end: one click in the Tables tab</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B22E8586-4429-076B-6A85-51AA0998F6C1}"/>
              </a:ext>
            </a:extLst>
          </p:cNvPr>
          <p:cNvSpPr/>
          <p:nvPr/>
        </p:nvSpPr>
        <p:spPr>
          <a:xfrm>
            <a:off x="584200" y="2921000"/>
            <a:ext cx="1696659" cy="1778000"/>
          </a:xfrm>
          <a:prstGeom prst="roundRect">
            <a:avLst/>
          </a:prstGeom>
          <a:solidFill>
            <a:srgbClr val="DCE3F5"/>
          </a:solidFill>
          <a:ln w="12700">
            <a:solidFill>
              <a:srgbClr val="2C3E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302920F5-5AF2-7EDB-135F-C22142321A78}"/>
              </a:ext>
            </a:extLst>
          </p:cNvPr>
          <p:cNvSpPr txBox="1"/>
          <p:nvPr/>
        </p:nvSpPr>
        <p:spPr>
          <a:xfrm>
            <a:off x="711200" y="3124200"/>
            <a:ext cx="1442659" cy="553998"/>
          </a:xfrm>
          <a:prstGeom prst="rect">
            <a:avLst/>
          </a:prstGeom>
          <a:noFill/>
        </p:spPr>
        <p:txBody>
          <a:bodyPr vert="horz" wrap="square" rtlCol="0">
            <a:spAutoFit/>
          </a:bodyPr>
          <a:lstStyle/>
          <a:p>
            <a:pPr algn="ctr"/>
            <a:r>
              <a:rPr lang="en-IN" sz="1500" b="1">
                <a:solidFill>
                  <a:srgbClr val="1B2340"/>
                </a:solidFill>
                <a:latin typeface="IBM Plex Sans" panose="020B0503050203000203" pitchFamily="34" charset="0"/>
              </a:rPr>
              <a:t>User picks table + filters</a:t>
            </a:r>
          </a:p>
        </p:txBody>
      </p:sp>
      <p:sp>
        <p:nvSpPr>
          <p:cNvPr id="6" name="TextBox 5">
            <a:extLst>
              <a:ext uri="{FF2B5EF4-FFF2-40B4-BE49-F238E27FC236}">
                <a16:creationId xmlns:a16="http://schemas.microsoft.com/office/drawing/2014/main" id="{A0336ADF-372B-10DC-BB33-1DBFBB719736}"/>
              </a:ext>
            </a:extLst>
          </p:cNvPr>
          <p:cNvSpPr txBox="1"/>
          <p:nvPr/>
        </p:nvSpPr>
        <p:spPr>
          <a:xfrm>
            <a:off x="711200" y="3556000"/>
            <a:ext cx="1442659" cy="600164"/>
          </a:xfrm>
          <a:prstGeom prst="rect">
            <a:avLst/>
          </a:prstGeom>
          <a:noFill/>
        </p:spPr>
        <p:txBody>
          <a:bodyPr vert="horz" wrap="square" rtlCol="0">
            <a:spAutoFit/>
          </a:bodyPr>
          <a:lstStyle/>
          <a:p>
            <a:pPr algn="ctr"/>
            <a:r>
              <a:rPr lang="en-IN" sz="1100">
                <a:solidFill>
                  <a:srgbClr val="5B6182"/>
                </a:solidFill>
                <a:latin typeface="IBM Plex Sans" panose="020B0503050203000203" pitchFamily="34" charset="0"/>
              </a:rPr>
              <a:t>selectInput, checkboxGroupInput</a:t>
            </a:r>
          </a:p>
        </p:txBody>
      </p:sp>
      <p:sp>
        <p:nvSpPr>
          <p:cNvPr id="7" name="TextBox 6">
            <a:extLst>
              <a:ext uri="{FF2B5EF4-FFF2-40B4-BE49-F238E27FC236}">
                <a16:creationId xmlns:a16="http://schemas.microsoft.com/office/drawing/2014/main" id="{85451B1B-613D-ED18-7245-BDF3AB96A7AD}"/>
              </a:ext>
            </a:extLst>
          </p:cNvPr>
          <p:cNvSpPr txBox="1"/>
          <p:nvPr/>
        </p:nvSpPr>
        <p:spPr>
          <a:xfrm>
            <a:off x="2280859" y="3606800"/>
            <a:ext cx="635000" cy="430887"/>
          </a:xfrm>
          <a:prstGeom prst="rect">
            <a:avLst/>
          </a:prstGeom>
          <a:noFill/>
        </p:spPr>
        <p:txBody>
          <a:bodyPr vert="horz" wrap="square" rtlCol="0">
            <a:spAutoFit/>
          </a:bodyPr>
          <a:lstStyle/>
          <a:p>
            <a:pPr algn="ctr"/>
            <a:r>
              <a:rPr lang="en-IN" sz="2200" b="1">
                <a:solidFill>
                  <a:srgbClr val="5B6182"/>
                </a:solidFill>
                <a:latin typeface="IBM Plex Sans" panose="020B0503050203000203" pitchFamily="34" charset="0"/>
              </a:rPr>
              <a:t>-&gt;</a:t>
            </a:r>
          </a:p>
        </p:txBody>
      </p:sp>
      <p:sp>
        <p:nvSpPr>
          <p:cNvPr id="8" name="Rectangle: Rounded Corners 7">
            <a:extLst>
              <a:ext uri="{FF2B5EF4-FFF2-40B4-BE49-F238E27FC236}">
                <a16:creationId xmlns:a16="http://schemas.microsoft.com/office/drawing/2014/main" id="{7CF6C93E-D3E5-A391-81C0-070062D12761}"/>
              </a:ext>
            </a:extLst>
          </p:cNvPr>
          <p:cNvSpPr/>
          <p:nvPr/>
        </p:nvSpPr>
        <p:spPr>
          <a:xfrm>
            <a:off x="2915859" y="2921000"/>
            <a:ext cx="1696659" cy="1778000"/>
          </a:xfrm>
          <a:prstGeom prst="roundRect">
            <a:avLst/>
          </a:prstGeom>
          <a:solidFill>
            <a:srgbClr val="DCE3F5"/>
          </a:solidFill>
          <a:ln w="12700">
            <a:solidFill>
              <a:srgbClr val="2C3E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910924B-854F-8BB6-738C-C34A0C892580}"/>
              </a:ext>
            </a:extLst>
          </p:cNvPr>
          <p:cNvSpPr txBox="1"/>
          <p:nvPr/>
        </p:nvSpPr>
        <p:spPr>
          <a:xfrm>
            <a:off x="3042859" y="3124200"/>
            <a:ext cx="1442659" cy="323165"/>
          </a:xfrm>
          <a:prstGeom prst="rect">
            <a:avLst/>
          </a:prstGeom>
          <a:noFill/>
        </p:spPr>
        <p:txBody>
          <a:bodyPr vert="horz" wrap="square" rtlCol="0">
            <a:spAutoFit/>
          </a:bodyPr>
          <a:lstStyle/>
          <a:p>
            <a:pPr algn="ctr"/>
            <a:r>
              <a:rPr lang="en-IN" sz="1500" b="1">
                <a:solidFill>
                  <a:srgbClr val="1B2340"/>
                </a:solidFill>
                <a:latin typeface="IBM Plex Sans" panose="020B0503050203000203" pitchFamily="34" charset="0"/>
              </a:rPr>
              <a:t>table_data()</a:t>
            </a:r>
          </a:p>
        </p:txBody>
      </p:sp>
      <p:sp>
        <p:nvSpPr>
          <p:cNvPr id="10" name="TextBox 9">
            <a:extLst>
              <a:ext uri="{FF2B5EF4-FFF2-40B4-BE49-F238E27FC236}">
                <a16:creationId xmlns:a16="http://schemas.microsoft.com/office/drawing/2014/main" id="{A58803CD-96DC-41F8-26D3-004F4F3DC5C0}"/>
              </a:ext>
            </a:extLst>
          </p:cNvPr>
          <p:cNvSpPr txBox="1"/>
          <p:nvPr/>
        </p:nvSpPr>
        <p:spPr>
          <a:xfrm>
            <a:off x="3042859" y="3556000"/>
            <a:ext cx="1442659" cy="430887"/>
          </a:xfrm>
          <a:prstGeom prst="rect">
            <a:avLst/>
          </a:prstGeom>
          <a:noFill/>
        </p:spPr>
        <p:txBody>
          <a:bodyPr vert="horz" wrap="square" rtlCol="0">
            <a:spAutoFit/>
          </a:bodyPr>
          <a:lstStyle/>
          <a:p>
            <a:pPr algn="ctr"/>
            <a:r>
              <a:rPr lang="en-IN" sz="1100">
                <a:solidFill>
                  <a:srgbClr val="5B6182"/>
                </a:solidFill>
                <a:latin typeface="IBM Plex Sans" panose="020B0503050203000203" pitchFamily="34" charset="0"/>
              </a:rPr>
              <a:t>switch() dispatches to build_*()</a:t>
            </a:r>
          </a:p>
        </p:txBody>
      </p:sp>
      <p:sp>
        <p:nvSpPr>
          <p:cNvPr id="11" name="TextBox 10">
            <a:extLst>
              <a:ext uri="{FF2B5EF4-FFF2-40B4-BE49-F238E27FC236}">
                <a16:creationId xmlns:a16="http://schemas.microsoft.com/office/drawing/2014/main" id="{CE8ACAC5-08AE-0DED-1EB9-002C2D470166}"/>
              </a:ext>
            </a:extLst>
          </p:cNvPr>
          <p:cNvSpPr txBox="1"/>
          <p:nvPr/>
        </p:nvSpPr>
        <p:spPr>
          <a:xfrm>
            <a:off x="4612518" y="3606800"/>
            <a:ext cx="635000" cy="430887"/>
          </a:xfrm>
          <a:prstGeom prst="rect">
            <a:avLst/>
          </a:prstGeom>
          <a:noFill/>
        </p:spPr>
        <p:txBody>
          <a:bodyPr vert="horz" wrap="square" rtlCol="0">
            <a:spAutoFit/>
          </a:bodyPr>
          <a:lstStyle/>
          <a:p>
            <a:pPr algn="ctr"/>
            <a:r>
              <a:rPr lang="en-IN" sz="2200" b="1">
                <a:solidFill>
                  <a:srgbClr val="5B6182"/>
                </a:solidFill>
                <a:latin typeface="IBM Plex Sans" panose="020B0503050203000203" pitchFamily="34" charset="0"/>
              </a:rPr>
              <a:t>-&gt;</a:t>
            </a:r>
          </a:p>
        </p:txBody>
      </p:sp>
      <p:sp>
        <p:nvSpPr>
          <p:cNvPr id="12" name="Rectangle: Rounded Corners 11">
            <a:extLst>
              <a:ext uri="{FF2B5EF4-FFF2-40B4-BE49-F238E27FC236}">
                <a16:creationId xmlns:a16="http://schemas.microsoft.com/office/drawing/2014/main" id="{714BE1A1-5164-41ED-E372-E6508D021594}"/>
              </a:ext>
            </a:extLst>
          </p:cNvPr>
          <p:cNvSpPr/>
          <p:nvPr/>
        </p:nvSpPr>
        <p:spPr>
          <a:xfrm>
            <a:off x="5247518" y="2921000"/>
            <a:ext cx="1696659" cy="1778000"/>
          </a:xfrm>
          <a:prstGeom prst="roundRect">
            <a:avLst/>
          </a:prstGeom>
          <a:solidFill>
            <a:srgbClr val="DCE3F5"/>
          </a:solidFill>
          <a:ln w="12700">
            <a:solidFill>
              <a:srgbClr val="2C3E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87C322BD-48EF-E4B2-E528-21BA6B109CA7}"/>
              </a:ext>
            </a:extLst>
          </p:cNvPr>
          <p:cNvSpPr txBox="1"/>
          <p:nvPr/>
        </p:nvSpPr>
        <p:spPr>
          <a:xfrm>
            <a:off x="5374518" y="3124200"/>
            <a:ext cx="1442659" cy="553998"/>
          </a:xfrm>
          <a:prstGeom prst="rect">
            <a:avLst/>
          </a:prstGeom>
          <a:noFill/>
        </p:spPr>
        <p:txBody>
          <a:bodyPr vert="horz" wrap="square" rtlCol="0">
            <a:spAutoFit/>
          </a:bodyPr>
          <a:lstStyle/>
          <a:p>
            <a:pPr algn="ctr"/>
            <a:r>
              <a:rPr lang="en-IN" sz="1500" b="1">
                <a:solidFill>
                  <a:srgbClr val="1B2340"/>
                </a:solidFill>
                <a:latin typeface="IBM Plex Sans" panose="020B0503050203000203" pitchFamily="34" charset="0"/>
              </a:rPr>
              <a:t>build_ae_socpt() etc.</a:t>
            </a:r>
          </a:p>
        </p:txBody>
      </p:sp>
      <p:sp>
        <p:nvSpPr>
          <p:cNvPr id="14" name="TextBox 13">
            <a:extLst>
              <a:ext uri="{FF2B5EF4-FFF2-40B4-BE49-F238E27FC236}">
                <a16:creationId xmlns:a16="http://schemas.microsoft.com/office/drawing/2014/main" id="{4A5EE1CC-9A87-2D32-440C-66594240EC25}"/>
              </a:ext>
            </a:extLst>
          </p:cNvPr>
          <p:cNvSpPr txBox="1"/>
          <p:nvPr/>
        </p:nvSpPr>
        <p:spPr>
          <a:xfrm>
            <a:off x="5374518" y="3556000"/>
            <a:ext cx="1442659" cy="600164"/>
          </a:xfrm>
          <a:prstGeom prst="rect">
            <a:avLst/>
          </a:prstGeom>
          <a:noFill/>
        </p:spPr>
        <p:txBody>
          <a:bodyPr vert="horz" wrap="square" rtlCol="0">
            <a:spAutoFit/>
          </a:bodyPr>
          <a:lstStyle/>
          <a:p>
            <a:pPr algn="ctr"/>
            <a:r>
              <a:rPr lang="en-US" sz="1100">
                <a:solidFill>
                  <a:srgbClr val="5B6182"/>
                </a:solidFill>
                <a:latin typeface="IBM Plex Sans" panose="020B0503050203000203" pitchFamily="34" charset="0"/>
              </a:rPr>
              <a:t>prep_adsl() -&gt; wide_counts() -&gt; rows</a:t>
            </a:r>
            <a:endParaRPr lang="en-IN" sz="1100">
              <a:solidFill>
                <a:srgbClr val="5B6182"/>
              </a:solidFill>
              <a:latin typeface="IBM Plex Sans" panose="020B0503050203000203" pitchFamily="34" charset="0"/>
            </a:endParaRPr>
          </a:p>
        </p:txBody>
      </p:sp>
      <p:sp>
        <p:nvSpPr>
          <p:cNvPr id="15" name="TextBox 14">
            <a:extLst>
              <a:ext uri="{FF2B5EF4-FFF2-40B4-BE49-F238E27FC236}">
                <a16:creationId xmlns:a16="http://schemas.microsoft.com/office/drawing/2014/main" id="{C2E1FF94-2E05-8B0B-3006-048C33E1BE9B}"/>
              </a:ext>
            </a:extLst>
          </p:cNvPr>
          <p:cNvSpPr txBox="1"/>
          <p:nvPr/>
        </p:nvSpPr>
        <p:spPr>
          <a:xfrm>
            <a:off x="6944177" y="3606800"/>
            <a:ext cx="635000" cy="430887"/>
          </a:xfrm>
          <a:prstGeom prst="rect">
            <a:avLst/>
          </a:prstGeom>
          <a:noFill/>
        </p:spPr>
        <p:txBody>
          <a:bodyPr vert="horz" wrap="square" rtlCol="0">
            <a:spAutoFit/>
          </a:bodyPr>
          <a:lstStyle/>
          <a:p>
            <a:pPr algn="ctr"/>
            <a:r>
              <a:rPr lang="en-IN" sz="2200" b="1">
                <a:solidFill>
                  <a:srgbClr val="5B6182"/>
                </a:solidFill>
                <a:latin typeface="IBM Plex Sans" panose="020B0503050203000203" pitchFamily="34" charset="0"/>
              </a:rPr>
              <a:t>-&gt;</a:t>
            </a:r>
          </a:p>
        </p:txBody>
      </p:sp>
      <p:sp>
        <p:nvSpPr>
          <p:cNvPr id="16" name="Rectangle: Rounded Corners 15">
            <a:extLst>
              <a:ext uri="{FF2B5EF4-FFF2-40B4-BE49-F238E27FC236}">
                <a16:creationId xmlns:a16="http://schemas.microsoft.com/office/drawing/2014/main" id="{507EAEF3-7DA9-6D38-A7CE-5A4E73DEA2C6}"/>
              </a:ext>
            </a:extLst>
          </p:cNvPr>
          <p:cNvSpPr/>
          <p:nvPr/>
        </p:nvSpPr>
        <p:spPr>
          <a:xfrm>
            <a:off x="7579177" y="2921000"/>
            <a:ext cx="1696659" cy="1778000"/>
          </a:xfrm>
          <a:prstGeom prst="roundRect">
            <a:avLst/>
          </a:prstGeom>
          <a:solidFill>
            <a:srgbClr val="DCE3F5"/>
          </a:solidFill>
          <a:ln w="12700">
            <a:solidFill>
              <a:srgbClr val="2C3E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3768350B-3C56-CE64-6638-C8E9D043226D}"/>
              </a:ext>
            </a:extLst>
          </p:cNvPr>
          <p:cNvSpPr txBox="1"/>
          <p:nvPr/>
        </p:nvSpPr>
        <p:spPr>
          <a:xfrm>
            <a:off x="7706177" y="3124200"/>
            <a:ext cx="1442659" cy="323165"/>
          </a:xfrm>
          <a:prstGeom prst="rect">
            <a:avLst/>
          </a:prstGeom>
          <a:noFill/>
        </p:spPr>
        <p:txBody>
          <a:bodyPr vert="horz" wrap="square" rtlCol="0">
            <a:spAutoFit/>
          </a:bodyPr>
          <a:lstStyle/>
          <a:p>
            <a:pPr algn="ctr"/>
            <a:r>
              <a:rPr lang="en-IN" sz="1500" b="1">
                <a:solidFill>
                  <a:srgbClr val="1B2340"/>
                </a:solidFill>
                <a:latin typeface="IBM Plex Sans" panose="020B0503050203000203" pitchFamily="34" charset="0"/>
              </a:rPr>
              <a:t>to_gt()</a:t>
            </a:r>
          </a:p>
        </p:txBody>
      </p:sp>
      <p:sp>
        <p:nvSpPr>
          <p:cNvPr id="18" name="TextBox 17">
            <a:extLst>
              <a:ext uri="{FF2B5EF4-FFF2-40B4-BE49-F238E27FC236}">
                <a16:creationId xmlns:a16="http://schemas.microsoft.com/office/drawing/2014/main" id="{3C81550E-A1CA-463E-C6ED-0E2B6F78BD11}"/>
              </a:ext>
            </a:extLst>
          </p:cNvPr>
          <p:cNvSpPr txBox="1"/>
          <p:nvPr/>
        </p:nvSpPr>
        <p:spPr>
          <a:xfrm>
            <a:off x="7706177" y="3556000"/>
            <a:ext cx="1442659" cy="430887"/>
          </a:xfrm>
          <a:prstGeom prst="rect">
            <a:avLst/>
          </a:prstGeom>
          <a:noFill/>
        </p:spPr>
        <p:txBody>
          <a:bodyPr vert="horz" wrap="square" rtlCol="0">
            <a:spAutoFit/>
          </a:bodyPr>
          <a:lstStyle/>
          <a:p>
            <a:pPr algn="ctr"/>
            <a:r>
              <a:rPr lang="en-IN" sz="1100">
                <a:solidFill>
                  <a:srgbClr val="5B6182"/>
                </a:solidFill>
                <a:latin typeface="IBM Plex Sans" panose="020B0503050203000203" pitchFamily="34" charset="0"/>
              </a:rPr>
              <a:t>shared renderer, styling</a:t>
            </a:r>
          </a:p>
        </p:txBody>
      </p:sp>
      <p:sp>
        <p:nvSpPr>
          <p:cNvPr id="19" name="TextBox 18">
            <a:extLst>
              <a:ext uri="{FF2B5EF4-FFF2-40B4-BE49-F238E27FC236}">
                <a16:creationId xmlns:a16="http://schemas.microsoft.com/office/drawing/2014/main" id="{60DF42E1-623A-5DE5-40FF-9B992C41492B}"/>
              </a:ext>
            </a:extLst>
          </p:cNvPr>
          <p:cNvSpPr txBox="1"/>
          <p:nvPr/>
        </p:nvSpPr>
        <p:spPr>
          <a:xfrm>
            <a:off x="9275836" y="3606800"/>
            <a:ext cx="635000" cy="430887"/>
          </a:xfrm>
          <a:prstGeom prst="rect">
            <a:avLst/>
          </a:prstGeom>
          <a:noFill/>
        </p:spPr>
        <p:txBody>
          <a:bodyPr vert="horz" wrap="square" rtlCol="0">
            <a:spAutoFit/>
          </a:bodyPr>
          <a:lstStyle/>
          <a:p>
            <a:pPr algn="ctr"/>
            <a:r>
              <a:rPr lang="en-IN" sz="2200" b="1">
                <a:solidFill>
                  <a:srgbClr val="5B6182"/>
                </a:solidFill>
                <a:latin typeface="IBM Plex Sans" panose="020B0503050203000203" pitchFamily="34" charset="0"/>
              </a:rPr>
              <a:t>-&gt;</a:t>
            </a:r>
          </a:p>
        </p:txBody>
      </p:sp>
      <p:sp>
        <p:nvSpPr>
          <p:cNvPr id="20" name="Rectangle: Rounded Corners 19">
            <a:extLst>
              <a:ext uri="{FF2B5EF4-FFF2-40B4-BE49-F238E27FC236}">
                <a16:creationId xmlns:a16="http://schemas.microsoft.com/office/drawing/2014/main" id="{D4FACD3F-1927-4032-DD58-6FBCD7595BDB}"/>
              </a:ext>
            </a:extLst>
          </p:cNvPr>
          <p:cNvSpPr/>
          <p:nvPr/>
        </p:nvSpPr>
        <p:spPr>
          <a:xfrm>
            <a:off x="9910836" y="2921000"/>
            <a:ext cx="1696659" cy="1778000"/>
          </a:xfrm>
          <a:prstGeom prst="roundRect">
            <a:avLst/>
          </a:prstGeom>
          <a:solidFill>
            <a:srgbClr val="DCE3F5"/>
          </a:solidFill>
          <a:ln w="12700">
            <a:solidFill>
              <a:srgbClr val="2C3E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C7C7B799-F9E3-EF46-C6C4-1DDA413DBF3A}"/>
              </a:ext>
            </a:extLst>
          </p:cNvPr>
          <p:cNvSpPr txBox="1"/>
          <p:nvPr/>
        </p:nvSpPr>
        <p:spPr>
          <a:xfrm>
            <a:off x="10037836" y="3124200"/>
            <a:ext cx="1442659" cy="784830"/>
          </a:xfrm>
          <a:prstGeom prst="rect">
            <a:avLst/>
          </a:prstGeom>
          <a:noFill/>
        </p:spPr>
        <p:txBody>
          <a:bodyPr vert="horz" wrap="square" rtlCol="0">
            <a:spAutoFit/>
          </a:bodyPr>
          <a:lstStyle/>
          <a:p>
            <a:pPr algn="ctr"/>
            <a:r>
              <a:rPr lang="en-IN" sz="1500" b="1">
                <a:solidFill>
                  <a:srgbClr val="1B2340"/>
                </a:solidFill>
                <a:latin typeface="IBM Plex Sans" panose="020B0503050203000203" pitchFamily="34" charset="0"/>
              </a:rPr>
              <a:t>render_gt() / downloadHandler</a:t>
            </a:r>
          </a:p>
        </p:txBody>
      </p:sp>
      <p:sp>
        <p:nvSpPr>
          <p:cNvPr id="22" name="TextBox 21">
            <a:extLst>
              <a:ext uri="{FF2B5EF4-FFF2-40B4-BE49-F238E27FC236}">
                <a16:creationId xmlns:a16="http://schemas.microsoft.com/office/drawing/2014/main" id="{FFC0065D-8F74-5864-3667-CEBA580FF4F3}"/>
              </a:ext>
            </a:extLst>
          </p:cNvPr>
          <p:cNvSpPr txBox="1"/>
          <p:nvPr/>
        </p:nvSpPr>
        <p:spPr>
          <a:xfrm>
            <a:off x="10037836" y="3556000"/>
            <a:ext cx="1442659" cy="600164"/>
          </a:xfrm>
          <a:prstGeom prst="rect">
            <a:avLst/>
          </a:prstGeom>
          <a:noFill/>
        </p:spPr>
        <p:txBody>
          <a:bodyPr vert="horz" wrap="square" rtlCol="0">
            <a:spAutoFit/>
          </a:bodyPr>
          <a:lstStyle/>
          <a:p>
            <a:pPr algn="ctr"/>
            <a:r>
              <a:rPr lang="en-US" sz="1100">
                <a:solidFill>
                  <a:srgbClr val="5B6182"/>
                </a:solidFill>
                <a:latin typeface="IBM Plex Sans" panose="020B0503050203000203" pitchFamily="34" charset="0"/>
              </a:rPr>
              <a:t>screen or HTML/Word/CSV export</a:t>
            </a:r>
            <a:endParaRPr lang="en-IN" sz="1100">
              <a:solidFill>
                <a:srgbClr val="5B6182"/>
              </a:solidFill>
              <a:latin typeface="IBM Plex Sans" panose="020B0503050203000203" pitchFamily="34" charset="0"/>
            </a:endParaRPr>
          </a:p>
        </p:txBody>
      </p:sp>
      <p:sp>
        <p:nvSpPr>
          <p:cNvPr id="23" name="TextBox 22">
            <a:extLst>
              <a:ext uri="{FF2B5EF4-FFF2-40B4-BE49-F238E27FC236}">
                <a16:creationId xmlns:a16="http://schemas.microsoft.com/office/drawing/2014/main" id="{A47A9E40-CDE8-A3EF-FAEA-BACC57712507}"/>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Code Walkthrough Ã‚Â· Server Layer</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8744855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2C3E7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468628-EF82-21F3-4CC8-F801B6244469}"/>
              </a:ext>
            </a:extLst>
          </p:cNvPr>
          <p:cNvSpPr txBox="1"/>
          <p:nvPr/>
        </p:nvSpPr>
        <p:spPr>
          <a:xfrm>
            <a:off x="8889695" y="254000"/>
            <a:ext cx="2794000" cy="1938992"/>
          </a:xfrm>
          <a:prstGeom prst="rect">
            <a:avLst/>
          </a:prstGeom>
          <a:noFill/>
        </p:spPr>
        <p:txBody>
          <a:bodyPr vert="horz" wrap="square" rtlCol="0">
            <a:spAutoFit/>
          </a:bodyPr>
          <a:lstStyle/>
          <a:p>
            <a:pPr algn="ctr"/>
            <a:r>
              <a:rPr lang="en-IN" sz="12000" b="1">
                <a:solidFill>
                  <a:srgbClr val="5A69AA"/>
                </a:solidFill>
                <a:latin typeface="IBM Plex Sans" panose="020B0503050203000203" pitchFamily="34" charset="0"/>
              </a:rPr>
              <a:t>04</a:t>
            </a:r>
          </a:p>
        </p:txBody>
      </p:sp>
      <p:sp>
        <p:nvSpPr>
          <p:cNvPr id="3" name="TextBox 2">
            <a:extLst>
              <a:ext uri="{FF2B5EF4-FFF2-40B4-BE49-F238E27FC236}">
                <a16:creationId xmlns:a16="http://schemas.microsoft.com/office/drawing/2014/main" id="{75C006F9-85CD-6227-E721-9C5D8329DDF1}"/>
              </a:ext>
            </a:extLst>
          </p:cNvPr>
          <p:cNvSpPr txBox="1"/>
          <p:nvPr/>
        </p:nvSpPr>
        <p:spPr>
          <a:xfrm>
            <a:off x="584200" y="762000"/>
            <a:ext cx="6350000" cy="292388"/>
          </a:xfrm>
          <a:prstGeom prst="rect">
            <a:avLst/>
          </a:prstGeom>
          <a:noFill/>
        </p:spPr>
        <p:txBody>
          <a:bodyPr vert="horz" wrap="square" rtlCol="0">
            <a:spAutoFit/>
          </a:bodyPr>
          <a:lstStyle/>
          <a:p>
            <a:r>
              <a:rPr lang="en-US" sz="1300" b="1">
                <a:solidFill>
                  <a:srgbClr val="D6EEEC"/>
                </a:solidFill>
                <a:latin typeface="IBM Plex Sans" panose="020B0503050203000203" pitchFamily="34" charset="0"/>
              </a:rPr>
              <a:t>SESSION 4 Ã‚Â· HANDS-ON BUILD</a:t>
            </a:r>
            <a:endParaRPr lang="en-IN" sz="1300" b="1">
              <a:solidFill>
                <a:srgbClr val="D6EEEC"/>
              </a:solidFill>
              <a:latin typeface="IBM Plex Sans" panose="020B0503050203000203" pitchFamily="34" charset="0"/>
            </a:endParaRPr>
          </a:p>
        </p:txBody>
      </p:sp>
      <p:sp>
        <p:nvSpPr>
          <p:cNvPr id="4" name="TextBox 3">
            <a:extLst>
              <a:ext uri="{FF2B5EF4-FFF2-40B4-BE49-F238E27FC236}">
                <a16:creationId xmlns:a16="http://schemas.microsoft.com/office/drawing/2014/main" id="{0C70714A-D085-3D2D-C090-62127550F432}"/>
              </a:ext>
            </a:extLst>
          </p:cNvPr>
          <p:cNvSpPr txBox="1"/>
          <p:nvPr/>
        </p:nvSpPr>
        <p:spPr>
          <a:xfrm>
            <a:off x="584200" y="1397000"/>
            <a:ext cx="12065000" cy="615553"/>
          </a:xfrm>
          <a:prstGeom prst="rect">
            <a:avLst/>
          </a:prstGeom>
          <a:noFill/>
        </p:spPr>
        <p:txBody>
          <a:bodyPr vert="horz" wrap="square" rtlCol="0">
            <a:spAutoFit/>
          </a:bodyPr>
          <a:lstStyle/>
          <a:p>
            <a:r>
              <a:rPr lang="en-US" sz="3400" b="1">
                <a:solidFill>
                  <a:srgbClr val="FFFFFF"/>
                </a:solidFill>
                <a:latin typeface="IBM Plex Sans" panose="020B0503050203000203" pitchFamily="34" charset="0"/>
              </a:rPr>
              <a:t>Mini TFL Builder, Interactivity, and Output Exports</a:t>
            </a:r>
            <a:endParaRPr lang="en-IN" sz="3400" b="1">
              <a:solidFill>
                <a:srgbClr val="FFFFFF"/>
              </a:solidFill>
              <a:latin typeface="IBM Plex Sans" panose="020B0503050203000203" pitchFamily="34" charset="0"/>
            </a:endParaRPr>
          </a:p>
        </p:txBody>
      </p:sp>
      <p:sp>
        <p:nvSpPr>
          <p:cNvPr id="5" name="TextBox 4">
            <a:extLst>
              <a:ext uri="{FF2B5EF4-FFF2-40B4-BE49-F238E27FC236}">
                <a16:creationId xmlns:a16="http://schemas.microsoft.com/office/drawing/2014/main" id="{3F59EF34-8A73-E198-B429-0C768CA9C515}"/>
              </a:ext>
            </a:extLst>
          </p:cNvPr>
          <p:cNvSpPr txBox="1"/>
          <p:nvPr/>
        </p:nvSpPr>
        <p:spPr>
          <a:xfrm>
            <a:off x="584200" y="3556000"/>
            <a:ext cx="10795000" cy="338554"/>
          </a:xfrm>
          <a:prstGeom prst="rect">
            <a:avLst/>
          </a:prstGeom>
          <a:noFill/>
        </p:spPr>
        <p:txBody>
          <a:bodyPr vert="horz" wrap="square" rtlCol="0">
            <a:spAutoFit/>
          </a:bodyPr>
          <a:lstStyle/>
          <a:p>
            <a:r>
              <a:rPr lang="en-US" sz="1600">
                <a:solidFill>
                  <a:srgbClr val="DCE3F5"/>
                </a:solidFill>
                <a:latin typeface="IBM Plex Sans" panose="020B0503050203000203" pitchFamily="34" charset="0"/>
              </a:rPr>
              <a:t>Hands-on development of a mini TFL builder in R Shiny, with the audience building alongside.</a:t>
            </a:r>
            <a:endParaRPr lang="en-IN" sz="1600">
              <a:solidFill>
                <a:srgbClr val="DCE3F5"/>
              </a:solidFill>
              <a:latin typeface="IBM Plex Sans" panose="020B0503050203000203" pitchFamily="34" charset="0"/>
            </a:endParaRPr>
          </a:p>
        </p:txBody>
      </p:sp>
      <p:sp>
        <p:nvSpPr>
          <p:cNvPr id="6" name="TextBox 5">
            <a:extLst>
              <a:ext uri="{FF2B5EF4-FFF2-40B4-BE49-F238E27FC236}">
                <a16:creationId xmlns:a16="http://schemas.microsoft.com/office/drawing/2014/main" id="{025BB463-96F3-3C9C-1523-38A05B510559}"/>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Session 4 Ã‚Â· Hands-On Build</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186273162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BCB79E-7578-5FC2-2C27-55B304F24575}"/>
              </a:ext>
            </a:extLst>
          </p:cNvPr>
          <p:cNvSpPr txBox="1"/>
          <p:nvPr/>
        </p:nvSpPr>
        <p:spPr>
          <a:xfrm>
            <a:off x="584200" y="330200"/>
            <a:ext cx="11430000" cy="292388"/>
          </a:xfrm>
          <a:prstGeom prst="rect">
            <a:avLst/>
          </a:prstGeom>
          <a:noFill/>
        </p:spPr>
        <p:txBody>
          <a:bodyPr vert="horz" wrap="square" rtlCol="0">
            <a:spAutoFit/>
          </a:bodyPr>
          <a:lstStyle/>
          <a:p>
            <a:r>
              <a:rPr lang="en-US" sz="1300" b="1">
                <a:solidFill>
                  <a:srgbClr val="0F7A7A"/>
                </a:solidFill>
                <a:latin typeface="IBM Plex Sans" panose="020B0503050203000203" pitchFamily="34" charset="0"/>
              </a:rPr>
              <a:t>13:30 Ã¢ 14:15 Ã‚Â· SPEAKER, VENKATESH + AUDIENCE</a:t>
            </a:r>
            <a:endParaRPr lang="en-IN" sz="1300" b="1">
              <a:solidFill>
                <a:srgbClr val="0F7A7A"/>
              </a:solidFill>
              <a:latin typeface="IBM Plex Sans" panose="020B0503050203000203" pitchFamily="34" charset="0"/>
            </a:endParaRPr>
          </a:p>
        </p:txBody>
      </p:sp>
      <p:sp>
        <p:nvSpPr>
          <p:cNvPr id="3" name="TextBox 2">
            <a:extLst>
              <a:ext uri="{FF2B5EF4-FFF2-40B4-BE49-F238E27FC236}">
                <a16:creationId xmlns:a16="http://schemas.microsoft.com/office/drawing/2014/main" id="{C0664463-DF90-BD4D-0792-1A4C228F241E}"/>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Dashboard layout, navigation, and AE summary table generation</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DE238B1C-3A92-E3BE-DEAC-48E8BB655E91}"/>
              </a:ext>
            </a:extLst>
          </p:cNvPr>
          <p:cNvSpPr/>
          <p:nvPr/>
        </p:nvSpPr>
        <p:spPr>
          <a:xfrm>
            <a:off x="584200" y="2921000"/>
            <a:ext cx="3251098" cy="1778000"/>
          </a:xfrm>
          <a:prstGeom prst="roundRect">
            <a:avLst/>
          </a:prstGeom>
          <a:solidFill>
            <a:srgbClr val="DCE3F5"/>
          </a:solidFill>
          <a:ln w="12700">
            <a:solidFill>
              <a:srgbClr val="2C3E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BCA40C8A-91A7-8431-928A-3B04EBEA8A0D}"/>
              </a:ext>
            </a:extLst>
          </p:cNvPr>
          <p:cNvSpPr txBox="1"/>
          <p:nvPr/>
        </p:nvSpPr>
        <p:spPr>
          <a:xfrm>
            <a:off x="711200" y="3124200"/>
            <a:ext cx="2997098" cy="323165"/>
          </a:xfrm>
          <a:prstGeom prst="rect">
            <a:avLst/>
          </a:prstGeom>
          <a:noFill/>
        </p:spPr>
        <p:txBody>
          <a:bodyPr vert="horz" wrap="square" rtlCol="0">
            <a:spAutoFit/>
          </a:bodyPr>
          <a:lstStyle/>
          <a:p>
            <a:pPr algn="ctr"/>
            <a:r>
              <a:rPr lang="en-IN" sz="1500" b="1">
                <a:solidFill>
                  <a:srgbClr val="1B2340"/>
                </a:solidFill>
                <a:latin typeface="IBM Plex Sans" panose="020B0503050203000203" pitchFamily="34" charset="0"/>
              </a:rPr>
              <a:t>1. Select Treatment Arm</a:t>
            </a:r>
          </a:p>
        </p:txBody>
      </p:sp>
      <p:sp>
        <p:nvSpPr>
          <p:cNvPr id="6" name="TextBox 5">
            <a:extLst>
              <a:ext uri="{FF2B5EF4-FFF2-40B4-BE49-F238E27FC236}">
                <a16:creationId xmlns:a16="http://schemas.microsoft.com/office/drawing/2014/main" id="{1FBCA2E3-6502-DF17-AD6A-EF23B2F2BFDC}"/>
              </a:ext>
            </a:extLst>
          </p:cNvPr>
          <p:cNvSpPr txBox="1"/>
          <p:nvPr/>
        </p:nvSpPr>
        <p:spPr>
          <a:xfrm>
            <a:off x="711200" y="3556000"/>
            <a:ext cx="2997098" cy="261610"/>
          </a:xfrm>
          <a:prstGeom prst="rect">
            <a:avLst/>
          </a:prstGeom>
          <a:noFill/>
        </p:spPr>
        <p:txBody>
          <a:bodyPr vert="horz" wrap="square" rtlCol="0">
            <a:spAutoFit/>
          </a:bodyPr>
          <a:lstStyle/>
          <a:p>
            <a:pPr algn="ctr"/>
            <a:r>
              <a:rPr lang="en-IN" sz="1100">
                <a:solidFill>
                  <a:srgbClr val="5B6182"/>
                </a:solidFill>
                <a:latin typeface="IBM Plex Sans" panose="020B0503050203000203" pitchFamily="34" charset="0"/>
              </a:rPr>
              <a:t>checkboxGroupInput</a:t>
            </a:r>
          </a:p>
        </p:txBody>
      </p:sp>
      <p:sp>
        <p:nvSpPr>
          <p:cNvPr id="7" name="TextBox 6">
            <a:extLst>
              <a:ext uri="{FF2B5EF4-FFF2-40B4-BE49-F238E27FC236}">
                <a16:creationId xmlns:a16="http://schemas.microsoft.com/office/drawing/2014/main" id="{C74D1295-8F44-9ECD-104B-B4350EA09044}"/>
              </a:ext>
            </a:extLst>
          </p:cNvPr>
          <p:cNvSpPr txBox="1"/>
          <p:nvPr/>
        </p:nvSpPr>
        <p:spPr>
          <a:xfrm>
            <a:off x="3835298" y="3606800"/>
            <a:ext cx="635000" cy="430887"/>
          </a:xfrm>
          <a:prstGeom prst="rect">
            <a:avLst/>
          </a:prstGeom>
          <a:noFill/>
        </p:spPr>
        <p:txBody>
          <a:bodyPr vert="horz" wrap="square" rtlCol="0">
            <a:spAutoFit/>
          </a:bodyPr>
          <a:lstStyle/>
          <a:p>
            <a:pPr algn="ctr"/>
            <a:r>
              <a:rPr lang="en-IN" sz="2200" b="1">
                <a:solidFill>
                  <a:srgbClr val="5B6182"/>
                </a:solidFill>
                <a:latin typeface="IBM Plex Sans" panose="020B0503050203000203" pitchFamily="34" charset="0"/>
              </a:rPr>
              <a:t>-&gt;</a:t>
            </a:r>
          </a:p>
        </p:txBody>
      </p:sp>
      <p:sp>
        <p:nvSpPr>
          <p:cNvPr id="8" name="Rectangle: Rounded Corners 7">
            <a:extLst>
              <a:ext uri="{FF2B5EF4-FFF2-40B4-BE49-F238E27FC236}">
                <a16:creationId xmlns:a16="http://schemas.microsoft.com/office/drawing/2014/main" id="{4E4DF943-686F-ED5B-61C5-14BC862DBE35}"/>
              </a:ext>
            </a:extLst>
          </p:cNvPr>
          <p:cNvSpPr/>
          <p:nvPr/>
        </p:nvSpPr>
        <p:spPr>
          <a:xfrm>
            <a:off x="4470298" y="2921000"/>
            <a:ext cx="3251099" cy="1778000"/>
          </a:xfrm>
          <a:prstGeom prst="roundRect">
            <a:avLst/>
          </a:prstGeom>
          <a:solidFill>
            <a:srgbClr val="DCE3F5"/>
          </a:solidFill>
          <a:ln w="12700">
            <a:solidFill>
              <a:srgbClr val="2C3E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DD574B7E-5E09-7A99-81DF-A55E4B65D7B3}"/>
              </a:ext>
            </a:extLst>
          </p:cNvPr>
          <p:cNvSpPr txBox="1"/>
          <p:nvPr/>
        </p:nvSpPr>
        <p:spPr>
          <a:xfrm>
            <a:off x="4597298" y="3124200"/>
            <a:ext cx="2997098" cy="323165"/>
          </a:xfrm>
          <a:prstGeom prst="rect">
            <a:avLst/>
          </a:prstGeom>
          <a:noFill/>
        </p:spPr>
        <p:txBody>
          <a:bodyPr vert="horz" wrap="square" rtlCol="0">
            <a:spAutoFit/>
          </a:bodyPr>
          <a:lstStyle/>
          <a:p>
            <a:pPr algn="ctr"/>
            <a:r>
              <a:rPr lang="en-IN" sz="1500" b="1">
                <a:solidFill>
                  <a:srgbClr val="1B2340"/>
                </a:solidFill>
                <a:latin typeface="IBM Plex Sans" panose="020B0503050203000203" pitchFamily="34" charset="0"/>
              </a:rPr>
              <a:t>2. Select Safety Population</a:t>
            </a:r>
          </a:p>
        </p:txBody>
      </p:sp>
      <p:sp>
        <p:nvSpPr>
          <p:cNvPr id="10" name="TextBox 9">
            <a:extLst>
              <a:ext uri="{FF2B5EF4-FFF2-40B4-BE49-F238E27FC236}">
                <a16:creationId xmlns:a16="http://schemas.microsoft.com/office/drawing/2014/main" id="{F9117E76-99EA-69B8-9C8E-7C624B271FE1}"/>
              </a:ext>
            </a:extLst>
          </p:cNvPr>
          <p:cNvSpPr txBox="1"/>
          <p:nvPr/>
        </p:nvSpPr>
        <p:spPr>
          <a:xfrm>
            <a:off x="4597298" y="3556000"/>
            <a:ext cx="2997098" cy="261610"/>
          </a:xfrm>
          <a:prstGeom prst="rect">
            <a:avLst/>
          </a:prstGeom>
          <a:noFill/>
        </p:spPr>
        <p:txBody>
          <a:bodyPr vert="horz" wrap="square" rtlCol="0">
            <a:spAutoFit/>
          </a:bodyPr>
          <a:lstStyle/>
          <a:p>
            <a:pPr algn="ctr"/>
            <a:r>
              <a:rPr lang="en-IN" sz="1100">
                <a:solidFill>
                  <a:srgbClr val="5B6182"/>
                </a:solidFill>
                <a:latin typeface="IBM Plex Sans" panose="020B0503050203000203" pitchFamily="34" charset="0"/>
              </a:rPr>
              <a:t>population-flag dropdown</a:t>
            </a:r>
          </a:p>
        </p:txBody>
      </p:sp>
      <p:sp>
        <p:nvSpPr>
          <p:cNvPr id="11" name="TextBox 10">
            <a:extLst>
              <a:ext uri="{FF2B5EF4-FFF2-40B4-BE49-F238E27FC236}">
                <a16:creationId xmlns:a16="http://schemas.microsoft.com/office/drawing/2014/main" id="{87A5EB7B-E37E-8CFD-DA2F-E6B4C91A002B}"/>
              </a:ext>
            </a:extLst>
          </p:cNvPr>
          <p:cNvSpPr txBox="1"/>
          <p:nvPr/>
        </p:nvSpPr>
        <p:spPr>
          <a:xfrm>
            <a:off x="7721397" y="3606800"/>
            <a:ext cx="635000" cy="430887"/>
          </a:xfrm>
          <a:prstGeom prst="rect">
            <a:avLst/>
          </a:prstGeom>
          <a:noFill/>
        </p:spPr>
        <p:txBody>
          <a:bodyPr vert="horz" wrap="square" rtlCol="0">
            <a:spAutoFit/>
          </a:bodyPr>
          <a:lstStyle/>
          <a:p>
            <a:pPr algn="ctr"/>
            <a:r>
              <a:rPr lang="en-IN" sz="2200" b="1">
                <a:solidFill>
                  <a:srgbClr val="5B6182"/>
                </a:solidFill>
                <a:latin typeface="IBM Plex Sans" panose="020B0503050203000203" pitchFamily="34" charset="0"/>
              </a:rPr>
              <a:t>-&gt;</a:t>
            </a:r>
          </a:p>
        </p:txBody>
      </p:sp>
      <p:sp>
        <p:nvSpPr>
          <p:cNvPr id="12" name="Rectangle: Rounded Corners 11">
            <a:extLst>
              <a:ext uri="{FF2B5EF4-FFF2-40B4-BE49-F238E27FC236}">
                <a16:creationId xmlns:a16="http://schemas.microsoft.com/office/drawing/2014/main" id="{E5685A1F-5709-4DB8-85E8-38891F2B11DF}"/>
              </a:ext>
            </a:extLst>
          </p:cNvPr>
          <p:cNvSpPr/>
          <p:nvPr/>
        </p:nvSpPr>
        <p:spPr>
          <a:xfrm>
            <a:off x="8356397" y="2921000"/>
            <a:ext cx="3251098" cy="1778000"/>
          </a:xfrm>
          <a:prstGeom prst="roundRect">
            <a:avLst/>
          </a:prstGeom>
          <a:solidFill>
            <a:srgbClr val="DCE3F5"/>
          </a:solidFill>
          <a:ln w="12700">
            <a:solidFill>
              <a:srgbClr val="2C3E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8E2CD6F4-98B5-340C-0FD6-FA226A55140C}"/>
              </a:ext>
            </a:extLst>
          </p:cNvPr>
          <p:cNvSpPr txBox="1"/>
          <p:nvPr/>
        </p:nvSpPr>
        <p:spPr>
          <a:xfrm>
            <a:off x="8483397" y="3124200"/>
            <a:ext cx="2997098" cy="323165"/>
          </a:xfrm>
          <a:prstGeom prst="rect">
            <a:avLst/>
          </a:prstGeom>
          <a:noFill/>
        </p:spPr>
        <p:txBody>
          <a:bodyPr vert="horz" wrap="square" rtlCol="0">
            <a:spAutoFit/>
          </a:bodyPr>
          <a:lstStyle/>
          <a:p>
            <a:pPr algn="ctr"/>
            <a:r>
              <a:rPr lang="en-US" sz="1500" b="1">
                <a:solidFill>
                  <a:srgbClr val="1B2340"/>
                </a:solidFill>
                <a:latin typeface="IBM Plex Sans" panose="020B0503050203000203" pitchFamily="34" charset="0"/>
              </a:rPr>
              <a:t>3. Generate AE Summary Table</a:t>
            </a:r>
            <a:endParaRPr lang="en-IN" sz="1500" b="1">
              <a:solidFill>
                <a:srgbClr val="1B2340"/>
              </a:solidFill>
              <a:latin typeface="IBM Plex Sans" panose="020B0503050203000203" pitchFamily="34" charset="0"/>
            </a:endParaRPr>
          </a:p>
        </p:txBody>
      </p:sp>
      <p:sp>
        <p:nvSpPr>
          <p:cNvPr id="14" name="TextBox 13">
            <a:extLst>
              <a:ext uri="{FF2B5EF4-FFF2-40B4-BE49-F238E27FC236}">
                <a16:creationId xmlns:a16="http://schemas.microsoft.com/office/drawing/2014/main" id="{88886A00-2C2F-9459-C01B-7322563DD327}"/>
              </a:ext>
            </a:extLst>
          </p:cNvPr>
          <p:cNvSpPr txBox="1"/>
          <p:nvPr/>
        </p:nvSpPr>
        <p:spPr>
          <a:xfrm>
            <a:off x="8483397" y="3556000"/>
            <a:ext cx="2997098" cy="261610"/>
          </a:xfrm>
          <a:prstGeom prst="rect">
            <a:avLst/>
          </a:prstGeom>
          <a:noFill/>
        </p:spPr>
        <p:txBody>
          <a:bodyPr vert="horz" wrap="square" rtlCol="0">
            <a:spAutoFit/>
          </a:bodyPr>
          <a:lstStyle/>
          <a:p>
            <a:pPr algn="ctr"/>
            <a:r>
              <a:rPr lang="en-IN" sz="1100">
                <a:solidFill>
                  <a:srgbClr val="5B6182"/>
                </a:solidFill>
                <a:latin typeface="IBM Plex Sans" panose="020B0503050203000203" pitchFamily="34" charset="0"/>
              </a:rPr>
              <a:t>reactive gt render</a:t>
            </a:r>
          </a:p>
        </p:txBody>
      </p:sp>
      <p:sp>
        <p:nvSpPr>
          <p:cNvPr id="15" name="TextBox 14">
            <a:extLst>
              <a:ext uri="{FF2B5EF4-FFF2-40B4-BE49-F238E27FC236}">
                <a16:creationId xmlns:a16="http://schemas.microsoft.com/office/drawing/2014/main" id="{300827BA-9B05-C8A8-D264-67CF0DB8D759}"/>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Session 4 Ã‚Â· Hands-On Build</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274564159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76E82C8-FF6F-63FE-B128-A05ED39D87D5}"/>
              </a:ext>
            </a:extLst>
          </p:cNvPr>
          <p:cNvSpPr txBox="1"/>
          <p:nvPr/>
        </p:nvSpPr>
        <p:spPr>
          <a:xfrm>
            <a:off x="584200" y="330200"/>
            <a:ext cx="11430000" cy="292388"/>
          </a:xfrm>
          <a:prstGeom prst="rect">
            <a:avLst/>
          </a:prstGeom>
          <a:noFill/>
        </p:spPr>
        <p:txBody>
          <a:bodyPr vert="horz" wrap="square" rtlCol="0">
            <a:spAutoFit/>
          </a:bodyPr>
          <a:lstStyle/>
          <a:p>
            <a:r>
              <a:rPr lang="fr-FR" sz="1300" b="1">
                <a:solidFill>
                  <a:srgbClr val="0F7A7A"/>
                </a:solidFill>
                <a:latin typeface="IBM Plex Sans" panose="020B0503050203000203" pitchFamily="34" charset="0"/>
              </a:rPr>
              <a:t>14:15 Ã¢ 15:00 Ã‚Â· AUDIENCE</a:t>
            </a:r>
            <a:endParaRPr lang="en-IN" sz="1300" b="1">
              <a:solidFill>
                <a:srgbClr val="0F7A7A"/>
              </a:solidFill>
              <a:latin typeface="IBM Plex Sans" panose="020B0503050203000203" pitchFamily="34" charset="0"/>
            </a:endParaRPr>
          </a:p>
        </p:txBody>
      </p:sp>
      <p:sp>
        <p:nvSpPr>
          <p:cNvPr id="3" name="TextBox 2">
            <a:extLst>
              <a:ext uri="{FF2B5EF4-FFF2-40B4-BE49-F238E27FC236}">
                <a16:creationId xmlns:a16="http://schemas.microsoft.com/office/drawing/2014/main" id="{3C6863D9-502D-34EB-D583-2E534CE7CE16}"/>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Adding interactivity for reviewing and exploring outputs</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F71EF7A9-35AE-7431-342D-0D4D0B51DAA7}"/>
              </a:ext>
            </a:extLst>
          </p:cNvPr>
          <p:cNvSpPr/>
          <p:nvPr/>
        </p:nvSpPr>
        <p:spPr>
          <a:xfrm>
            <a:off x="584200" y="1651000"/>
            <a:ext cx="5359248"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F30915A9-5D4B-7DBC-04C5-90C028716FCB}"/>
              </a:ext>
            </a:extLst>
          </p:cNvPr>
          <p:cNvSpPr txBox="1"/>
          <p:nvPr/>
        </p:nvSpPr>
        <p:spPr>
          <a:xfrm>
            <a:off x="863600" y="1879600"/>
            <a:ext cx="4800448" cy="353943"/>
          </a:xfrm>
          <a:prstGeom prst="rect">
            <a:avLst/>
          </a:prstGeom>
          <a:noFill/>
        </p:spPr>
        <p:txBody>
          <a:bodyPr vert="horz" wrap="square" rtlCol="0">
            <a:spAutoFit/>
          </a:bodyPr>
          <a:lstStyle/>
          <a:p>
            <a:r>
              <a:rPr lang="en-IN" sz="1700" b="1">
                <a:solidFill>
                  <a:srgbClr val="1B2340"/>
                </a:solidFill>
                <a:latin typeface="IBM Plex Sans" panose="020B0503050203000203" pitchFamily="34" charset="0"/>
              </a:rPr>
              <a:t>AE incidence visualization</a:t>
            </a:r>
          </a:p>
        </p:txBody>
      </p:sp>
      <p:sp>
        <p:nvSpPr>
          <p:cNvPr id="6" name="TextBox 5">
            <a:extLst>
              <a:ext uri="{FF2B5EF4-FFF2-40B4-BE49-F238E27FC236}">
                <a16:creationId xmlns:a16="http://schemas.microsoft.com/office/drawing/2014/main" id="{A4FB659B-0A37-D5E3-534B-9B82E41F636E}"/>
              </a:ext>
            </a:extLst>
          </p:cNvPr>
          <p:cNvSpPr txBox="1"/>
          <p:nvPr/>
        </p:nvSpPr>
        <p:spPr>
          <a:xfrm>
            <a:off x="863600" y="2311400"/>
            <a:ext cx="4800448" cy="369332"/>
          </a:xfrm>
          <a:prstGeom prst="rect">
            <a:avLst/>
          </a:prstGeom>
          <a:noFill/>
        </p:spPr>
        <p:txBody>
          <a:bodyPr vert="horz" wrap="square" rtlCol="0">
            <a:noAutofit/>
          </a:bodyPr>
          <a:lstStyle/>
          <a:p>
            <a:pPr marL="342900" indent="-342900">
              <a:buFont typeface="+mj-lt"/>
              <a:buChar char="•"/>
            </a:pPr>
            <a:r>
              <a:rPr lang="en-US" sz="1500">
                <a:solidFill>
                  <a:srgbClr val="5B6182"/>
                </a:solidFill>
                <a:latin typeface="IBM Plex Sans" panose="020B0503050203000203" pitchFamily="34" charset="0"/>
              </a:rPr>
              <a:t>Bar charts ranked by incidence, matching the build_ae_bar() pattern from the code walkthrough
Treatment comparison via grouped/dodged bars, same TRT_PALETTE as every table
Dynamic figure updates as the top-N slider or treatment arm selection changes</a:t>
            </a:r>
            <a:endParaRPr lang="en-IN" sz="1500">
              <a:solidFill>
                <a:srgbClr val="5B6182"/>
              </a:solidFill>
              <a:latin typeface="IBM Plex Sans" panose="020B0503050203000203" pitchFamily="34" charset="0"/>
            </a:endParaRPr>
          </a:p>
        </p:txBody>
      </p:sp>
      <p:sp>
        <p:nvSpPr>
          <p:cNvPr id="7" name="Rectangle: Rounded Corners 6">
            <a:extLst>
              <a:ext uri="{FF2B5EF4-FFF2-40B4-BE49-F238E27FC236}">
                <a16:creationId xmlns:a16="http://schemas.microsoft.com/office/drawing/2014/main" id="{0D2DE106-3C6E-8189-FBFE-5411907E3147}"/>
              </a:ext>
            </a:extLst>
          </p:cNvPr>
          <p:cNvSpPr/>
          <p:nvPr/>
        </p:nvSpPr>
        <p:spPr>
          <a:xfrm>
            <a:off x="6248248" y="1651000"/>
            <a:ext cx="5359247"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8C509FED-CDC3-B700-1463-D1D9007B9A19}"/>
              </a:ext>
            </a:extLst>
          </p:cNvPr>
          <p:cNvSpPr txBox="1"/>
          <p:nvPr/>
        </p:nvSpPr>
        <p:spPr>
          <a:xfrm>
            <a:off x="6527647" y="1879600"/>
            <a:ext cx="4800448" cy="353943"/>
          </a:xfrm>
          <a:prstGeom prst="rect">
            <a:avLst/>
          </a:prstGeom>
          <a:noFill/>
        </p:spPr>
        <p:txBody>
          <a:bodyPr vert="horz" wrap="square" rtlCol="0">
            <a:spAutoFit/>
          </a:bodyPr>
          <a:lstStyle/>
          <a:p>
            <a:r>
              <a:rPr lang="en-IN" sz="1700" b="1">
                <a:solidFill>
                  <a:srgbClr val="1B2340"/>
                </a:solidFill>
                <a:latin typeface="IBM Plex Sans" panose="020B0503050203000203" pitchFamily="34" charset="0"/>
              </a:rPr>
              <a:t>Data filtering &amp; reactive expressions</a:t>
            </a:r>
          </a:p>
        </p:txBody>
      </p:sp>
      <p:sp>
        <p:nvSpPr>
          <p:cNvPr id="9" name="TextBox 8">
            <a:extLst>
              <a:ext uri="{FF2B5EF4-FFF2-40B4-BE49-F238E27FC236}">
                <a16:creationId xmlns:a16="http://schemas.microsoft.com/office/drawing/2014/main" id="{BAB494EE-56F5-0E9A-CD15-8BCD85D15C02}"/>
              </a:ext>
            </a:extLst>
          </p:cNvPr>
          <p:cNvSpPr txBox="1"/>
          <p:nvPr/>
        </p:nvSpPr>
        <p:spPr>
          <a:xfrm>
            <a:off x="6527647" y="2311400"/>
            <a:ext cx="4800448" cy="369332"/>
          </a:xfrm>
          <a:prstGeom prst="rect">
            <a:avLst/>
          </a:prstGeom>
          <a:noFill/>
        </p:spPr>
        <p:txBody>
          <a:bodyPr vert="horz" wrap="square" rtlCol="0">
            <a:noAutofit/>
          </a:bodyPr>
          <a:lstStyle/>
          <a:p>
            <a:pPr marL="342900" indent="-342900">
              <a:buFont typeface="+mj-lt"/>
              <a:buChar char="•"/>
            </a:pPr>
            <a:r>
              <a:rPr lang="en-US" sz="1500">
                <a:solidFill>
                  <a:srgbClr val="5B6182"/>
                </a:solidFill>
                <a:latin typeface="IBM Plex Sans" panose="020B0503050203000203" pitchFamily="34" charset="0"/>
              </a:rPr>
              <a:t>Practice writing a reactive() that depends on 2-3 inputs at once
See what happens when a dependency is missing and how req() handles it gracefully
Discuss why computation lives in the reactive, not inside render*(), for reuse across screen and export</a:t>
            </a:r>
            <a:endParaRPr lang="en-IN" sz="1500">
              <a:solidFill>
                <a:srgbClr val="5B6182"/>
              </a:solidFill>
              <a:latin typeface="IBM Plex Sans" panose="020B0503050203000203" pitchFamily="34" charset="0"/>
            </a:endParaRPr>
          </a:p>
        </p:txBody>
      </p:sp>
      <p:sp>
        <p:nvSpPr>
          <p:cNvPr id="10" name="TextBox 9">
            <a:extLst>
              <a:ext uri="{FF2B5EF4-FFF2-40B4-BE49-F238E27FC236}">
                <a16:creationId xmlns:a16="http://schemas.microsoft.com/office/drawing/2014/main" id="{64FE40A6-57CE-6EC3-1242-E87B8981C887}"/>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Session 4 Ã‚Â· Hands-On Build</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146368186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CB3DECA-1975-7A5E-74A1-D780A0104FB8}"/>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15:00 Ã¢ 15:30 Ã‚Â· AUDIENCE + MAHESH</a:t>
            </a:r>
          </a:p>
        </p:txBody>
      </p:sp>
      <p:sp>
        <p:nvSpPr>
          <p:cNvPr id="3" name="TextBox 2">
            <a:extLst>
              <a:ext uri="{FF2B5EF4-FFF2-40B4-BE49-F238E27FC236}">
                <a16:creationId xmlns:a16="http://schemas.microsoft.com/office/drawing/2014/main" id="{A6674DEA-D4B4-348D-99C3-FAF16ABBAC14}"/>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Exporting outputs to PDF and Word at a high level</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08397D9A-EE4B-D644-D486-9B7B64580C8C}"/>
              </a:ext>
            </a:extLst>
          </p:cNvPr>
          <p:cNvSpPr/>
          <p:nvPr/>
        </p:nvSpPr>
        <p:spPr>
          <a:xfrm>
            <a:off x="584200" y="1905000"/>
            <a:ext cx="3505098" cy="4191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535FCEF5-D15D-6744-1E03-20DB940BA001}"/>
              </a:ext>
            </a:extLst>
          </p:cNvPr>
          <p:cNvSpPr/>
          <p:nvPr/>
        </p:nvSpPr>
        <p:spPr>
          <a:xfrm>
            <a:off x="584200" y="1905000"/>
            <a:ext cx="3505098" cy="76200"/>
          </a:xfrm>
          <a:prstGeom prst="rect">
            <a:avLst/>
          </a:prstGeom>
          <a:solidFill>
            <a:srgbClr val="0F7A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F52DC40A-D88F-D2B8-3097-A51672C79303}"/>
              </a:ext>
            </a:extLst>
          </p:cNvPr>
          <p:cNvSpPr txBox="1"/>
          <p:nvPr/>
        </p:nvSpPr>
        <p:spPr>
          <a:xfrm>
            <a:off x="787400" y="2133600"/>
            <a:ext cx="3098698" cy="323165"/>
          </a:xfrm>
          <a:prstGeom prst="rect">
            <a:avLst/>
          </a:prstGeom>
          <a:noFill/>
        </p:spPr>
        <p:txBody>
          <a:bodyPr vert="horz" wrap="square" rtlCol="0">
            <a:spAutoFit/>
          </a:bodyPr>
          <a:lstStyle/>
          <a:p>
            <a:r>
              <a:rPr lang="en-IN" sz="1500" b="1">
                <a:solidFill>
                  <a:srgbClr val="1B2340"/>
                </a:solidFill>
                <a:latin typeface="IBM Plex Sans" panose="020B0503050203000203" pitchFamily="34" charset="0"/>
              </a:rPr>
              <a:t>Download/export functionality</a:t>
            </a:r>
          </a:p>
        </p:txBody>
      </p:sp>
      <p:sp>
        <p:nvSpPr>
          <p:cNvPr id="7" name="TextBox 6">
            <a:extLst>
              <a:ext uri="{FF2B5EF4-FFF2-40B4-BE49-F238E27FC236}">
                <a16:creationId xmlns:a16="http://schemas.microsoft.com/office/drawing/2014/main" id="{CECC5E54-8202-B557-4D88-E21DB17DF497}"/>
              </a:ext>
            </a:extLst>
          </p:cNvPr>
          <p:cNvSpPr txBox="1"/>
          <p:nvPr/>
        </p:nvSpPr>
        <p:spPr>
          <a:xfrm>
            <a:off x="787400" y="2743200"/>
            <a:ext cx="3098698" cy="369332"/>
          </a:xfrm>
          <a:prstGeom prst="rect">
            <a:avLst/>
          </a:prstGeom>
          <a:noFill/>
        </p:spPr>
        <p:txBody>
          <a:bodyPr vert="horz" wrap="square" rtlCol="0">
            <a:noAutofit/>
          </a:bodyPr>
          <a:lstStyle/>
          <a:p>
            <a:pPr marL="342900" indent="-342900">
              <a:buFont typeface="+mj-lt"/>
              <a:buChar char="•"/>
            </a:pPr>
            <a:r>
              <a:rPr lang="en-US" sz="1300">
                <a:solidFill>
                  <a:srgbClr val="5B6182"/>
                </a:solidFill>
                <a:latin typeface="IBM Plex Sans" panose="020B0503050203000203" pitchFamily="34" charset="0"/>
              </a:rPr>
              <a:t>Wiring a downloadHandler() to an existing reactive the pattern is identical whether the target format is HTML, DOCX, PNG, or SVG.</a:t>
            </a:r>
            <a:endParaRPr lang="en-IN" sz="1300">
              <a:solidFill>
                <a:srgbClr val="5B6182"/>
              </a:solidFill>
              <a:latin typeface="IBM Plex Sans" panose="020B0503050203000203" pitchFamily="34" charset="0"/>
            </a:endParaRPr>
          </a:p>
        </p:txBody>
      </p:sp>
      <p:sp>
        <p:nvSpPr>
          <p:cNvPr id="8" name="Rectangle: Rounded Corners 7">
            <a:extLst>
              <a:ext uri="{FF2B5EF4-FFF2-40B4-BE49-F238E27FC236}">
                <a16:creationId xmlns:a16="http://schemas.microsoft.com/office/drawing/2014/main" id="{0C77CC18-44FA-1D25-4518-E06A9D7EC0D6}"/>
              </a:ext>
            </a:extLst>
          </p:cNvPr>
          <p:cNvSpPr/>
          <p:nvPr/>
        </p:nvSpPr>
        <p:spPr>
          <a:xfrm>
            <a:off x="4343298" y="1905000"/>
            <a:ext cx="3505099" cy="4191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AE896963-257B-D159-74E2-23ACC1CD267B}"/>
              </a:ext>
            </a:extLst>
          </p:cNvPr>
          <p:cNvSpPr/>
          <p:nvPr/>
        </p:nvSpPr>
        <p:spPr>
          <a:xfrm>
            <a:off x="4343298" y="1905000"/>
            <a:ext cx="3505099" cy="76200"/>
          </a:xfrm>
          <a:prstGeom prst="rect">
            <a:avLst/>
          </a:prstGeom>
          <a:solidFill>
            <a:srgbClr val="0F7A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0DDC0204-8276-C370-CD22-E5D97AFB3156}"/>
              </a:ext>
            </a:extLst>
          </p:cNvPr>
          <p:cNvSpPr txBox="1"/>
          <p:nvPr/>
        </p:nvSpPr>
        <p:spPr>
          <a:xfrm>
            <a:off x="4546498" y="2133600"/>
            <a:ext cx="3098698" cy="323165"/>
          </a:xfrm>
          <a:prstGeom prst="rect">
            <a:avLst/>
          </a:prstGeom>
          <a:noFill/>
        </p:spPr>
        <p:txBody>
          <a:bodyPr vert="horz" wrap="square" rtlCol="0">
            <a:spAutoFit/>
          </a:bodyPr>
          <a:lstStyle/>
          <a:p>
            <a:r>
              <a:rPr lang="en-IN" sz="1500" b="1">
                <a:solidFill>
                  <a:srgbClr val="1B2340"/>
                </a:solidFill>
                <a:latin typeface="IBM Plex Sans" panose="020B0503050203000203" pitchFamily="34" charset="0"/>
              </a:rPr>
              <a:t>Reusability considerations</a:t>
            </a:r>
          </a:p>
        </p:txBody>
      </p:sp>
      <p:sp>
        <p:nvSpPr>
          <p:cNvPr id="11" name="TextBox 10">
            <a:extLst>
              <a:ext uri="{FF2B5EF4-FFF2-40B4-BE49-F238E27FC236}">
                <a16:creationId xmlns:a16="http://schemas.microsoft.com/office/drawing/2014/main" id="{26473125-B2F0-1805-9388-C3B5EB822FEA}"/>
              </a:ext>
            </a:extLst>
          </p:cNvPr>
          <p:cNvSpPr txBox="1"/>
          <p:nvPr/>
        </p:nvSpPr>
        <p:spPr>
          <a:xfrm>
            <a:off x="4546498" y="2743200"/>
            <a:ext cx="3098698" cy="369332"/>
          </a:xfrm>
          <a:prstGeom prst="rect">
            <a:avLst/>
          </a:prstGeom>
          <a:noFill/>
        </p:spPr>
        <p:txBody>
          <a:bodyPr vert="horz" wrap="square" rtlCol="0">
            <a:noAutofit/>
          </a:bodyPr>
          <a:lstStyle/>
          <a:p>
            <a:pPr marL="342900" indent="-342900">
              <a:buFont typeface="+mj-lt"/>
              <a:buChar char="•"/>
            </a:pPr>
            <a:r>
              <a:rPr lang="en-US" sz="1300">
                <a:solidFill>
                  <a:srgbClr val="5B6182"/>
                </a:solidFill>
                <a:latin typeface="IBM Plex Sans" panose="020B0503050203000203" pitchFamily="34" charset="0"/>
              </a:rPr>
              <a:t>Because export handlers call the same reactive as the on-screen render, adding a new export format never means re-deriving the underlying data.</a:t>
            </a:r>
            <a:endParaRPr lang="en-IN" sz="1300">
              <a:solidFill>
                <a:srgbClr val="5B6182"/>
              </a:solidFill>
              <a:latin typeface="IBM Plex Sans" panose="020B0503050203000203" pitchFamily="34" charset="0"/>
            </a:endParaRPr>
          </a:p>
        </p:txBody>
      </p:sp>
      <p:sp>
        <p:nvSpPr>
          <p:cNvPr id="12" name="Rectangle: Rounded Corners 11">
            <a:extLst>
              <a:ext uri="{FF2B5EF4-FFF2-40B4-BE49-F238E27FC236}">
                <a16:creationId xmlns:a16="http://schemas.microsoft.com/office/drawing/2014/main" id="{13AF925A-7A2B-F1E4-17BE-0828E8C5F03F}"/>
              </a:ext>
            </a:extLst>
          </p:cNvPr>
          <p:cNvSpPr/>
          <p:nvPr/>
        </p:nvSpPr>
        <p:spPr>
          <a:xfrm>
            <a:off x="8102397" y="1905000"/>
            <a:ext cx="3505098" cy="4191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C6FEE0D9-8CCA-7696-9E78-B74F4630B3C5}"/>
              </a:ext>
            </a:extLst>
          </p:cNvPr>
          <p:cNvSpPr/>
          <p:nvPr/>
        </p:nvSpPr>
        <p:spPr>
          <a:xfrm>
            <a:off x="8102397" y="1905000"/>
            <a:ext cx="3505098" cy="76200"/>
          </a:xfrm>
          <a:prstGeom prst="rect">
            <a:avLst/>
          </a:prstGeom>
          <a:solidFill>
            <a:srgbClr val="0F7A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190444A0-33C5-B317-23D4-D5D4E6CE7947}"/>
              </a:ext>
            </a:extLst>
          </p:cNvPr>
          <p:cNvSpPr txBox="1"/>
          <p:nvPr/>
        </p:nvSpPr>
        <p:spPr>
          <a:xfrm>
            <a:off x="8305597" y="2133600"/>
            <a:ext cx="3098698" cy="323165"/>
          </a:xfrm>
          <a:prstGeom prst="rect">
            <a:avLst/>
          </a:prstGeom>
          <a:noFill/>
        </p:spPr>
        <p:txBody>
          <a:bodyPr vert="horz" wrap="square" rtlCol="0">
            <a:spAutoFit/>
          </a:bodyPr>
          <a:lstStyle/>
          <a:p>
            <a:r>
              <a:rPr lang="en-IN" sz="1500" b="1">
                <a:solidFill>
                  <a:srgbClr val="1B2340"/>
                </a:solidFill>
                <a:latin typeface="IBM Plex Sans" panose="020B0503050203000203" pitchFamily="34" charset="0"/>
              </a:rPr>
              <a:t>Automation considerations</a:t>
            </a:r>
          </a:p>
        </p:txBody>
      </p:sp>
      <p:sp>
        <p:nvSpPr>
          <p:cNvPr id="15" name="TextBox 14">
            <a:extLst>
              <a:ext uri="{FF2B5EF4-FFF2-40B4-BE49-F238E27FC236}">
                <a16:creationId xmlns:a16="http://schemas.microsoft.com/office/drawing/2014/main" id="{7F7E8974-4829-DFFB-5261-B800E42A1D9F}"/>
              </a:ext>
            </a:extLst>
          </p:cNvPr>
          <p:cNvSpPr txBox="1"/>
          <p:nvPr/>
        </p:nvSpPr>
        <p:spPr>
          <a:xfrm>
            <a:off x="8305597" y="2743200"/>
            <a:ext cx="3098698" cy="369332"/>
          </a:xfrm>
          <a:prstGeom prst="rect">
            <a:avLst/>
          </a:prstGeom>
          <a:noFill/>
        </p:spPr>
        <p:txBody>
          <a:bodyPr vert="horz" wrap="square" rtlCol="0">
            <a:noAutofit/>
          </a:bodyPr>
          <a:lstStyle/>
          <a:p>
            <a:pPr marL="342900" indent="-342900">
              <a:buFont typeface="+mj-lt"/>
              <a:buChar char="•"/>
            </a:pPr>
            <a:r>
              <a:rPr lang="en-US" sz="1300">
                <a:solidFill>
                  <a:srgbClr val="5B6182"/>
                </a:solidFill>
                <a:latin typeface="IBM Plex Sans" panose="020B0503050203000203" pitchFamily="34" charset="0"/>
              </a:rPr>
              <a:t>The same build_*() functions could run outside Shiny entirely e.g. batch-rendered nightly since they take plain data frames, not reactive objects.</a:t>
            </a:r>
            <a:endParaRPr lang="en-IN" sz="1300">
              <a:solidFill>
                <a:srgbClr val="5B6182"/>
              </a:solidFill>
              <a:latin typeface="IBM Plex Sans" panose="020B0503050203000203" pitchFamily="34" charset="0"/>
            </a:endParaRPr>
          </a:p>
        </p:txBody>
      </p:sp>
      <p:sp>
        <p:nvSpPr>
          <p:cNvPr id="16" name="TextBox 15">
            <a:extLst>
              <a:ext uri="{FF2B5EF4-FFF2-40B4-BE49-F238E27FC236}">
                <a16:creationId xmlns:a16="http://schemas.microsoft.com/office/drawing/2014/main" id="{A5E89D2C-5A32-450A-3985-10348B8541FC}"/>
              </a:ext>
            </a:extLst>
          </p:cNvPr>
          <p:cNvSpPr txBox="1"/>
          <p:nvPr/>
        </p:nvSpPr>
        <p:spPr>
          <a:xfrm>
            <a:off x="304800" y="6553200"/>
            <a:ext cx="6350000" cy="276999"/>
          </a:xfrm>
          <a:prstGeom prst="rect">
            <a:avLst/>
          </a:prstGeom>
          <a:noFill/>
        </p:spPr>
        <p:txBody>
          <a:bodyPr vert="horz" wrap="square" rtlCol="0">
            <a:spAutoFit/>
          </a:bodyPr>
          <a:lstStyle/>
          <a:p>
            <a:r>
              <a:rPr lang="en-US" sz="1200" i="1">
                <a:solidFill>
                  <a:srgbClr val="5B6182"/>
                </a:solidFill>
                <a:latin typeface="IBM Plex Sans" panose="020B0503050203000203" pitchFamily="34" charset="0"/>
              </a:rPr>
              <a:t>Session 4 Ã‚Â· Hands-On Build</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29961883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2C3E7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22E510-D0D9-B799-7A90-5CE4F9527D77}"/>
              </a:ext>
            </a:extLst>
          </p:cNvPr>
          <p:cNvSpPr txBox="1"/>
          <p:nvPr/>
        </p:nvSpPr>
        <p:spPr>
          <a:xfrm>
            <a:off x="8889695" y="254000"/>
            <a:ext cx="2794000" cy="1938992"/>
          </a:xfrm>
          <a:prstGeom prst="rect">
            <a:avLst/>
          </a:prstGeom>
          <a:noFill/>
        </p:spPr>
        <p:txBody>
          <a:bodyPr vert="horz" wrap="square" rtlCol="0">
            <a:spAutoFit/>
          </a:bodyPr>
          <a:lstStyle/>
          <a:p>
            <a:pPr algn="ctr"/>
            <a:r>
              <a:rPr lang="en-IN" sz="12000" b="1">
                <a:solidFill>
                  <a:srgbClr val="5A69AA"/>
                </a:solidFill>
                <a:latin typeface="IBM Plex Sans" panose="020B0503050203000203" pitchFamily="34" charset="0"/>
              </a:rPr>
              <a:t>05</a:t>
            </a:r>
          </a:p>
        </p:txBody>
      </p:sp>
      <p:sp>
        <p:nvSpPr>
          <p:cNvPr id="3" name="TextBox 2">
            <a:extLst>
              <a:ext uri="{FF2B5EF4-FFF2-40B4-BE49-F238E27FC236}">
                <a16:creationId xmlns:a16="http://schemas.microsoft.com/office/drawing/2014/main" id="{C402688F-C79E-21EB-D546-D261DDC9DAE6}"/>
              </a:ext>
            </a:extLst>
          </p:cNvPr>
          <p:cNvSpPr txBox="1"/>
          <p:nvPr/>
        </p:nvSpPr>
        <p:spPr>
          <a:xfrm>
            <a:off x="584200" y="762000"/>
            <a:ext cx="6350000" cy="292388"/>
          </a:xfrm>
          <a:prstGeom prst="rect">
            <a:avLst/>
          </a:prstGeom>
          <a:noFill/>
        </p:spPr>
        <p:txBody>
          <a:bodyPr vert="horz" wrap="square" rtlCol="0">
            <a:spAutoFit/>
          </a:bodyPr>
          <a:lstStyle/>
          <a:p>
            <a:r>
              <a:rPr lang="it-IT" sz="1300" b="1">
                <a:solidFill>
                  <a:srgbClr val="D6EEEC"/>
                </a:solidFill>
                <a:latin typeface="IBM Plex Sans" panose="020B0503050203000203" pitchFamily="34" charset="0"/>
              </a:rPr>
              <a:t>SESSION 5 Ã‚Â· AI &amp; LLM INTEGRATION</a:t>
            </a:r>
            <a:endParaRPr lang="en-IN" sz="1300" b="1">
              <a:solidFill>
                <a:srgbClr val="D6EEEC"/>
              </a:solidFill>
              <a:latin typeface="IBM Plex Sans" panose="020B0503050203000203" pitchFamily="34" charset="0"/>
            </a:endParaRPr>
          </a:p>
        </p:txBody>
      </p:sp>
      <p:sp>
        <p:nvSpPr>
          <p:cNvPr id="4" name="TextBox 3">
            <a:extLst>
              <a:ext uri="{FF2B5EF4-FFF2-40B4-BE49-F238E27FC236}">
                <a16:creationId xmlns:a16="http://schemas.microsoft.com/office/drawing/2014/main" id="{24FC59EB-806C-B368-64B8-3CB662BC8DE1}"/>
              </a:ext>
            </a:extLst>
          </p:cNvPr>
          <p:cNvSpPr txBox="1"/>
          <p:nvPr/>
        </p:nvSpPr>
        <p:spPr>
          <a:xfrm>
            <a:off x="584200" y="1397000"/>
            <a:ext cx="12065000" cy="615553"/>
          </a:xfrm>
          <a:prstGeom prst="rect">
            <a:avLst/>
          </a:prstGeom>
          <a:noFill/>
        </p:spPr>
        <p:txBody>
          <a:bodyPr vert="horz" wrap="square" rtlCol="0">
            <a:spAutoFit/>
          </a:bodyPr>
          <a:lstStyle/>
          <a:p>
            <a:r>
              <a:rPr lang="en-US" sz="3400" b="1">
                <a:solidFill>
                  <a:srgbClr val="FFFFFF"/>
                </a:solidFill>
                <a:latin typeface="IBM Plex Sans" panose="020B0503050203000203" pitchFamily="34" charset="0"/>
              </a:rPr>
              <a:t>AI and LLM Integration in R Shiny and TFL Apps</a:t>
            </a:r>
            <a:endParaRPr lang="en-IN" sz="3400" b="1">
              <a:solidFill>
                <a:srgbClr val="FFFFFF"/>
              </a:solidFill>
              <a:latin typeface="IBM Plex Sans" panose="020B0503050203000203" pitchFamily="34" charset="0"/>
            </a:endParaRPr>
          </a:p>
        </p:txBody>
      </p:sp>
      <p:sp>
        <p:nvSpPr>
          <p:cNvPr id="5" name="TextBox 4">
            <a:extLst>
              <a:ext uri="{FF2B5EF4-FFF2-40B4-BE49-F238E27FC236}">
                <a16:creationId xmlns:a16="http://schemas.microsoft.com/office/drawing/2014/main" id="{10B4D8AE-B4DE-32D3-F842-60158D4FA3E4}"/>
              </a:ext>
            </a:extLst>
          </p:cNvPr>
          <p:cNvSpPr txBox="1"/>
          <p:nvPr/>
        </p:nvSpPr>
        <p:spPr>
          <a:xfrm>
            <a:off x="584200" y="3556000"/>
            <a:ext cx="10795000" cy="584775"/>
          </a:xfrm>
          <a:prstGeom prst="rect">
            <a:avLst/>
          </a:prstGeom>
          <a:noFill/>
        </p:spPr>
        <p:txBody>
          <a:bodyPr vert="horz" wrap="square" rtlCol="0">
            <a:spAutoFit/>
          </a:bodyPr>
          <a:lstStyle/>
          <a:p>
            <a:r>
              <a:rPr lang="en-US" sz="1600">
                <a:solidFill>
                  <a:srgbClr val="DCE3F5"/>
                </a:solidFill>
                <a:latin typeface="IBM Plex Sans" panose="020B0503050203000203" pitchFamily="34" charset="0"/>
              </a:rPr>
              <a:t>The next evolution of the TFL Builder: describe the output you need in plain language, and let an LLM route the request to the same validated functions.</a:t>
            </a:r>
            <a:endParaRPr lang="en-IN" sz="1600">
              <a:solidFill>
                <a:srgbClr val="DCE3F5"/>
              </a:solidFill>
              <a:latin typeface="IBM Plex Sans" panose="020B0503050203000203" pitchFamily="34" charset="0"/>
            </a:endParaRPr>
          </a:p>
        </p:txBody>
      </p:sp>
      <p:sp>
        <p:nvSpPr>
          <p:cNvPr id="6" name="TextBox 5">
            <a:extLst>
              <a:ext uri="{FF2B5EF4-FFF2-40B4-BE49-F238E27FC236}">
                <a16:creationId xmlns:a16="http://schemas.microsoft.com/office/drawing/2014/main" id="{01A56105-AF31-79F8-E7FF-440C321D25F5}"/>
              </a:ext>
            </a:extLst>
          </p:cNvPr>
          <p:cNvSpPr txBox="1"/>
          <p:nvPr/>
        </p:nvSpPr>
        <p:spPr>
          <a:xfrm>
            <a:off x="304800" y="6553200"/>
            <a:ext cx="6350000" cy="276999"/>
          </a:xfrm>
          <a:prstGeom prst="rect">
            <a:avLst/>
          </a:prstGeom>
          <a:noFill/>
        </p:spPr>
        <p:txBody>
          <a:bodyPr vert="horz" wrap="square" rtlCol="0">
            <a:spAutoFit/>
          </a:bodyPr>
          <a:lstStyle/>
          <a:p>
            <a:r>
              <a:rPr lang="it-IT" sz="1200" i="1">
                <a:solidFill>
                  <a:srgbClr val="5B6182"/>
                </a:solidFill>
                <a:latin typeface="IBM Plex Sans" panose="020B0503050203000203" pitchFamily="34" charset="0"/>
              </a:rPr>
              <a:t>Session 5 Ã‚Â· AI &amp; LLM Integration</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228394463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BAF2FA4-08C7-93FC-75CF-74E544D8200D}"/>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15:45 Ã¢ 16:15 Ã‚Â· VENKATESH</a:t>
            </a:r>
          </a:p>
        </p:txBody>
      </p:sp>
      <p:sp>
        <p:nvSpPr>
          <p:cNvPr id="3" name="TextBox 2">
            <a:extLst>
              <a:ext uri="{FF2B5EF4-FFF2-40B4-BE49-F238E27FC236}">
                <a16:creationId xmlns:a16="http://schemas.microsoft.com/office/drawing/2014/main" id="{A65A7899-6EBA-7139-3FB8-1130901C439B}"/>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High-level AI/LLM integration patterns for R Shiny (with Ollama or OpenAI API)</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DF2791B6-AE97-607D-5F98-FF2336EEF049}"/>
              </a:ext>
            </a:extLst>
          </p:cNvPr>
          <p:cNvSpPr/>
          <p:nvPr/>
        </p:nvSpPr>
        <p:spPr>
          <a:xfrm>
            <a:off x="584200" y="1905000"/>
            <a:ext cx="3505098" cy="4191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18D3BE8A-4746-3989-3FEF-28FFA44C8D6D}"/>
              </a:ext>
            </a:extLst>
          </p:cNvPr>
          <p:cNvSpPr/>
          <p:nvPr/>
        </p:nvSpPr>
        <p:spPr>
          <a:xfrm>
            <a:off x="584200" y="1905000"/>
            <a:ext cx="3505098" cy="76200"/>
          </a:xfrm>
          <a:prstGeom prst="rect">
            <a:avLst/>
          </a:prstGeom>
          <a:solidFill>
            <a:srgbClr val="0F7A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963AA982-9FBF-1AB3-20AD-50D1B3905D9C}"/>
              </a:ext>
            </a:extLst>
          </p:cNvPr>
          <p:cNvSpPr txBox="1"/>
          <p:nvPr/>
        </p:nvSpPr>
        <p:spPr>
          <a:xfrm>
            <a:off x="787400" y="2133600"/>
            <a:ext cx="3098698" cy="553998"/>
          </a:xfrm>
          <a:prstGeom prst="rect">
            <a:avLst/>
          </a:prstGeom>
          <a:noFill/>
        </p:spPr>
        <p:txBody>
          <a:bodyPr vert="horz" wrap="square" rtlCol="0">
            <a:spAutoFit/>
          </a:bodyPr>
          <a:lstStyle/>
          <a:p>
            <a:r>
              <a:rPr lang="en-IN" sz="1500" b="1">
                <a:solidFill>
                  <a:srgbClr val="1B2340"/>
                </a:solidFill>
                <a:latin typeface="IBM Plex Sans" panose="020B0503050203000203" pitchFamily="34" charset="0"/>
              </a:rPr>
              <a:t>Pattern A Ã¢ Intent router (chosen)</a:t>
            </a:r>
          </a:p>
        </p:txBody>
      </p:sp>
      <p:sp>
        <p:nvSpPr>
          <p:cNvPr id="7" name="TextBox 6">
            <a:extLst>
              <a:ext uri="{FF2B5EF4-FFF2-40B4-BE49-F238E27FC236}">
                <a16:creationId xmlns:a16="http://schemas.microsoft.com/office/drawing/2014/main" id="{39CBD5AD-0F7A-BE24-2B93-97992263525A}"/>
              </a:ext>
            </a:extLst>
          </p:cNvPr>
          <p:cNvSpPr txBox="1"/>
          <p:nvPr/>
        </p:nvSpPr>
        <p:spPr>
          <a:xfrm>
            <a:off x="787400" y="2743200"/>
            <a:ext cx="3098698" cy="369332"/>
          </a:xfrm>
          <a:prstGeom prst="rect">
            <a:avLst/>
          </a:prstGeom>
          <a:noFill/>
        </p:spPr>
        <p:txBody>
          <a:bodyPr vert="horz" wrap="square" rtlCol="0">
            <a:noAutofit/>
          </a:bodyPr>
          <a:lstStyle/>
          <a:p>
            <a:pPr marL="342900" indent="-342900">
              <a:buFont typeface="+mj-lt"/>
              <a:buChar char="•"/>
            </a:pPr>
            <a:r>
              <a:rPr lang="en-US" sz="1300">
                <a:solidFill>
                  <a:srgbClr val="5B6182"/>
                </a:solidFill>
                <a:latin typeface="IBM Plex Sans" panose="020B0503050203000203" pitchFamily="34" charset="0"/>
              </a:rPr>
              <a:t>LLM maps a natural-language request to a validated function call and its arguments. No LLM-generated code ever executes.</a:t>
            </a:r>
            <a:endParaRPr lang="en-IN" sz="1300">
              <a:solidFill>
                <a:srgbClr val="5B6182"/>
              </a:solidFill>
              <a:latin typeface="IBM Plex Sans" panose="020B0503050203000203" pitchFamily="34" charset="0"/>
            </a:endParaRPr>
          </a:p>
        </p:txBody>
      </p:sp>
      <p:sp>
        <p:nvSpPr>
          <p:cNvPr id="8" name="Rectangle: Rounded Corners 7">
            <a:extLst>
              <a:ext uri="{FF2B5EF4-FFF2-40B4-BE49-F238E27FC236}">
                <a16:creationId xmlns:a16="http://schemas.microsoft.com/office/drawing/2014/main" id="{71A4CB29-6C1E-828E-3581-F2934F3CEB07}"/>
              </a:ext>
            </a:extLst>
          </p:cNvPr>
          <p:cNvSpPr/>
          <p:nvPr/>
        </p:nvSpPr>
        <p:spPr>
          <a:xfrm>
            <a:off x="4343298" y="1905000"/>
            <a:ext cx="3505099" cy="4191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22819F99-23FD-2418-5C80-C21DA3AFFF61}"/>
              </a:ext>
            </a:extLst>
          </p:cNvPr>
          <p:cNvSpPr/>
          <p:nvPr/>
        </p:nvSpPr>
        <p:spPr>
          <a:xfrm>
            <a:off x="4343298" y="1905000"/>
            <a:ext cx="3505099" cy="76200"/>
          </a:xfrm>
          <a:prstGeom prst="rect">
            <a:avLst/>
          </a:prstGeom>
          <a:solidFill>
            <a:srgbClr val="0F7A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3CE2D9BB-0A26-E4E2-C444-C6992A89B6A1}"/>
              </a:ext>
            </a:extLst>
          </p:cNvPr>
          <p:cNvSpPr txBox="1"/>
          <p:nvPr/>
        </p:nvSpPr>
        <p:spPr>
          <a:xfrm>
            <a:off x="4546498" y="2133600"/>
            <a:ext cx="3098698" cy="553998"/>
          </a:xfrm>
          <a:prstGeom prst="rect">
            <a:avLst/>
          </a:prstGeom>
          <a:noFill/>
        </p:spPr>
        <p:txBody>
          <a:bodyPr vert="horz" wrap="square" rtlCol="0">
            <a:spAutoFit/>
          </a:bodyPr>
          <a:lstStyle/>
          <a:p>
            <a:r>
              <a:rPr lang="en-IN" sz="1500" b="1">
                <a:solidFill>
                  <a:srgbClr val="1B2340"/>
                </a:solidFill>
                <a:latin typeface="IBM Plex Sans" panose="020B0503050203000203" pitchFamily="34" charset="0"/>
              </a:rPr>
              <a:t>Pattern B Ã¢ Narrative generator</a:t>
            </a:r>
          </a:p>
        </p:txBody>
      </p:sp>
      <p:sp>
        <p:nvSpPr>
          <p:cNvPr id="11" name="TextBox 10">
            <a:extLst>
              <a:ext uri="{FF2B5EF4-FFF2-40B4-BE49-F238E27FC236}">
                <a16:creationId xmlns:a16="http://schemas.microsoft.com/office/drawing/2014/main" id="{98F3E05A-E3C4-3505-D14A-27F37B5C90DA}"/>
              </a:ext>
            </a:extLst>
          </p:cNvPr>
          <p:cNvSpPr txBox="1"/>
          <p:nvPr/>
        </p:nvSpPr>
        <p:spPr>
          <a:xfrm>
            <a:off x="4546498" y="2743200"/>
            <a:ext cx="3098698" cy="369332"/>
          </a:xfrm>
          <a:prstGeom prst="rect">
            <a:avLst/>
          </a:prstGeom>
          <a:noFill/>
        </p:spPr>
        <p:txBody>
          <a:bodyPr vert="horz" wrap="square" rtlCol="0">
            <a:noAutofit/>
          </a:bodyPr>
          <a:lstStyle/>
          <a:p>
            <a:pPr marL="342900" indent="-342900">
              <a:buFont typeface="+mj-lt"/>
              <a:buChar char="•"/>
            </a:pPr>
            <a:r>
              <a:rPr lang="en-US" sz="1300">
                <a:solidFill>
                  <a:srgbClr val="5B6182"/>
                </a:solidFill>
                <a:latin typeface="IBM Plex Sans" panose="020B0503050203000203" pitchFamily="34" charset="0"/>
              </a:rPr>
              <a:t>LLM summarizes an already-computed table or figure into plain-language commentary for a reviewer output, not computation.</a:t>
            </a:r>
            <a:endParaRPr lang="en-IN" sz="1300">
              <a:solidFill>
                <a:srgbClr val="5B6182"/>
              </a:solidFill>
              <a:latin typeface="IBM Plex Sans" panose="020B0503050203000203" pitchFamily="34" charset="0"/>
            </a:endParaRPr>
          </a:p>
        </p:txBody>
      </p:sp>
      <p:sp>
        <p:nvSpPr>
          <p:cNvPr id="12" name="Rectangle: Rounded Corners 11">
            <a:extLst>
              <a:ext uri="{FF2B5EF4-FFF2-40B4-BE49-F238E27FC236}">
                <a16:creationId xmlns:a16="http://schemas.microsoft.com/office/drawing/2014/main" id="{A30CB427-E6C6-01BF-A925-18851E41EF2D}"/>
              </a:ext>
            </a:extLst>
          </p:cNvPr>
          <p:cNvSpPr/>
          <p:nvPr/>
        </p:nvSpPr>
        <p:spPr>
          <a:xfrm>
            <a:off x="8102397" y="1905000"/>
            <a:ext cx="3505098" cy="4191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BE44DEEB-20A2-9F21-6D1F-3C83ED3DB316}"/>
              </a:ext>
            </a:extLst>
          </p:cNvPr>
          <p:cNvSpPr/>
          <p:nvPr/>
        </p:nvSpPr>
        <p:spPr>
          <a:xfrm>
            <a:off x="8102397" y="1905000"/>
            <a:ext cx="3505098" cy="76200"/>
          </a:xfrm>
          <a:prstGeom prst="rect">
            <a:avLst/>
          </a:prstGeom>
          <a:solidFill>
            <a:srgbClr val="0F7A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14BFD13B-163E-8332-EF60-A750E12C63A8}"/>
              </a:ext>
            </a:extLst>
          </p:cNvPr>
          <p:cNvSpPr txBox="1"/>
          <p:nvPr/>
        </p:nvSpPr>
        <p:spPr>
          <a:xfrm>
            <a:off x="8305597" y="2133600"/>
            <a:ext cx="3098698" cy="553998"/>
          </a:xfrm>
          <a:prstGeom prst="rect">
            <a:avLst/>
          </a:prstGeom>
          <a:noFill/>
        </p:spPr>
        <p:txBody>
          <a:bodyPr vert="horz" wrap="square" rtlCol="0">
            <a:spAutoFit/>
          </a:bodyPr>
          <a:lstStyle/>
          <a:p>
            <a:r>
              <a:rPr lang="it-IT" sz="1500" b="1">
                <a:solidFill>
                  <a:srgbClr val="1B2340"/>
                </a:solidFill>
                <a:latin typeface="IBM Plex Sans" panose="020B0503050203000203" pitchFamily="34" charset="0"/>
              </a:rPr>
              <a:t>Pattern C Ã¢ Local model via Ollama</a:t>
            </a:r>
            <a:endParaRPr lang="en-IN" sz="1500" b="1">
              <a:solidFill>
                <a:srgbClr val="1B2340"/>
              </a:solidFill>
              <a:latin typeface="IBM Plex Sans" panose="020B0503050203000203" pitchFamily="34" charset="0"/>
            </a:endParaRPr>
          </a:p>
        </p:txBody>
      </p:sp>
      <p:sp>
        <p:nvSpPr>
          <p:cNvPr id="15" name="TextBox 14">
            <a:extLst>
              <a:ext uri="{FF2B5EF4-FFF2-40B4-BE49-F238E27FC236}">
                <a16:creationId xmlns:a16="http://schemas.microsoft.com/office/drawing/2014/main" id="{95818A4D-E6FA-C9A2-56C1-931D769D328A}"/>
              </a:ext>
            </a:extLst>
          </p:cNvPr>
          <p:cNvSpPr txBox="1"/>
          <p:nvPr/>
        </p:nvSpPr>
        <p:spPr>
          <a:xfrm>
            <a:off x="8305597" y="2743200"/>
            <a:ext cx="3098698" cy="369332"/>
          </a:xfrm>
          <a:prstGeom prst="rect">
            <a:avLst/>
          </a:prstGeom>
          <a:noFill/>
        </p:spPr>
        <p:txBody>
          <a:bodyPr vert="horz" wrap="square" rtlCol="0">
            <a:noAutofit/>
          </a:bodyPr>
          <a:lstStyle/>
          <a:p>
            <a:pPr marL="342900" indent="-342900">
              <a:buFont typeface="+mj-lt"/>
              <a:buChar char="•"/>
            </a:pPr>
            <a:r>
              <a:rPr lang="en-US" sz="1300">
                <a:solidFill>
                  <a:srgbClr val="5B6182"/>
                </a:solidFill>
                <a:latin typeface="IBM Plex Sans" panose="020B0503050203000203" pitchFamily="34" charset="0"/>
              </a:rPr>
              <a:t>Runs entirely on-prem for compliance-sensitive settings same intent-router pattern, no data leaves the network.</a:t>
            </a:r>
            <a:endParaRPr lang="en-IN" sz="1300">
              <a:solidFill>
                <a:srgbClr val="5B6182"/>
              </a:solidFill>
              <a:latin typeface="IBM Plex Sans" panose="020B0503050203000203" pitchFamily="34" charset="0"/>
            </a:endParaRPr>
          </a:p>
        </p:txBody>
      </p:sp>
      <p:sp>
        <p:nvSpPr>
          <p:cNvPr id="16" name="TextBox 15">
            <a:extLst>
              <a:ext uri="{FF2B5EF4-FFF2-40B4-BE49-F238E27FC236}">
                <a16:creationId xmlns:a16="http://schemas.microsoft.com/office/drawing/2014/main" id="{DE785A4C-27B7-2D7D-4E80-2AE314CB4350}"/>
              </a:ext>
            </a:extLst>
          </p:cNvPr>
          <p:cNvSpPr txBox="1"/>
          <p:nvPr/>
        </p:nvSpPr>
        <p:spPr>
          <a:xfrm>
            <a:off x="304800" y="6553200"/>
            <a:ext cx="6350000" cy="276999"/>
          </a:xfrm>
          <a:prstGeom prst="rect">
            <a:avLst/>
          </a:prstGeom>
          <a:noFill/>
        </p:spPr>
        <p:txBody>
          <a:bodyPr vert="horz" wrap="square" rtlCol="0">
            <a:spAutoFit/>
          </a:bodyPr>
          <a:lstStyle/>
          <a:p>
            <a:r>
              <a:rPr lang="it-IT" sz="1200" i="1">
                <a:solidFill>
                  <a:srgbClr val="5B6182"/>
                </a:solidFill>
                <a:latin typeface="IBM Plex Sans" panose="020B0503050203000203" pitchFamily="34" charset="0"/>
              </a:rPr>
              <a:t>Session 5 Ã‚Â· AI &amp; LLM Integration</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168366862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10F25C-C889-8090-3300-C21559CC9AE0}"/>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15:45 Ã¢ 16:15 Ã‚Â· VENKATESH</a:t>
            </a:r>
          </a:p>
        </p:txBody>
      </p:sp>
      <p:sp>
        <p:nvSpPr>
          <p:cNvPr id="3" name="TextBox 2">
            <a:extLst>
              <a:ext uri="{FF2B5EF4-FFF2-40B4-BE49-F238E27FC236}">
                <a16:creationId xmlns:a16="http://schemas.microsoft.com/office/drawing/2014/main" id="{CD61C948-3667-B318-F8FA-753D29AABBAB}"/>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Why Pattern A: LLM as intent router, not code generator</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F4A7B06D-0A7F-6135-791F-B5B31552146E}"/>
              </a:ext>
            </a:extLst>
          </p:cNvPr>
          <p:cNvSpPr/>
          <p:nvPr/>
        </p:nvSpPr>
        <p:spPr>
          <a:xfrm>
            <a:off x="584200" y="1651000"/>
            <a:ext cx="11023295"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0CE4DCBE-F0ED-FED3-0ABE-25C0311DA767}"/>
              </a:ext>
            </a:extLst>
          </p:cNvPr>
          <p:cNvSpPr txBox="1"/>
          <p:nvPr/>
        </p:nvSpPr>
        <p:spPr>
          <a:xfrm>
            <a:off x="889000" y="1930400"/>
            <a:ext cx="10413695" cy="369332"/>
          </a:xfrm>
          <a:prstGeom prst="rect">
            <a:avLst/>
          </a:prstGeom>
          <a:noFill/>
        </p:spPr>
        <p:txBody>
          <a:bodyPr vert="horz" wrap="square" rtlCol="0">
            <a:noAutofit/>
          </a:bodyPr>
          <a:lstStyle/>
          <a:p>
            <a:pPr marL="342900" indent="-342900">
              <a:buFont typeface="+mj-lt"/>
              <a:buChar char="•"/>
            </a:pPr>
            <a:r>
              <a:rPr lang="en-US" sz="1600">
                <a:solidFill>
                  <a:srgbClr val="5B6182"/>
                </a:solidFill>
                <a:latin typeface="IBM Plex Sans" panose="020B0503050203000203" pitchFamily="34" charset="0"/>
              </a:rPr>
              <a:t>`
 The LLM never writes or executes arbitrary R. Instead, its job is narrow: read a request, and return a structured decision which existing, validated build_*() function to call and with what arguments. This is the same "function calling" capability both OpenAI's and Anthropic's Claude APIs expose natively.
 structured outputfunction callingJSON schemadeterministic execution
`</a:t>
            </a:r>
            <a:endParaRPr lang="en-IN" sz="1600">
              <a:solidFill>
                <a:srgbClr val="5B6182"/>
              </a:solidFill>
              <a:latin typeface="IBM Plex Sans" panose="020B0503050203000203" pitchFamily="34" charset="0"/>
            </a:endParaRPr>
          </a:p>
        </p:txBody>
      </p:sp>
      <p:sp>
        <p:nvSpPr>
          <p:cNvPr id="6" name="TextBox 5">
            <a:extLst>
              <a:ext uri="{FF2B5EF4-FFF2-40B4-BE49-F238E27FC236}">
                <a16:creationId xmlns:a16="http://schemas.microsoft.com/office/drawing/2014/main" id="{1A083BE6-E08B-C8B6-FE94-773964839765}"/>
              </a:ext>
            </a:extLst>
          </p:cNvPr>
          <p:cNvSpPr txBox="1"/>
          <p:nvPr/>
        </p:nvSpPr>
        <p:spPr>
          <a:xfrm>
            <a:off x="304800" y="6553200"/>
            <a:ext cx="6350000" cy="276999"/>
          </a:xfrm>
          <a:prstGeom prst="rect">
            <a:avLst/>
          </a:prstGeom>
          <a:noFill/>
        </p:spPr>
        <p:txBody>
          <a:bodyPr vert="horz" wrap="square" rtlCol="0">
            <a:spAutoFit/>
          </a:bodyPr>
          <a:lstStyle/>
          <a:p>
            <a:r>
              <a:rPr lang="it-IT" sz="1200" i="1">
                <a:solidFill>
                  <a:srgbClr val="5B6182"/>
                </a:solidFill>
                <a:latin typeface="IBM Plex Sans" panose="020B0503050203000203" pitchFamily="34" charset="0"/>
              </a:rPr>
              <a:t>Session 5 Ã‚Â· AI &amp; LLM Integration</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257828560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5D6E6A-04F0-162F-1FEF-AB32A90E56C1}"/>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PLANNED ARCHITECTURE</a:t>
            </a:r>
          </a:p>
        </p:txBody>
      </p:sp>
      <p:sp>
        <p:nvSpPr>
          <p:cNvPr id="3" name="TextBox 2">
            <a:extLst>
              <a:ext uri="{FF2B5EF4-FFF2-40B4-BE49-F238E27FC236}">
                <a16:creationId xmlns:a16="http://schemas.microsoft.com/office/drawing/2014/main" id="{6AD103A7-3507-85A4-20A7-F621A3D7E96A}"/>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From natural-language request to rendered TFL</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E4A52BF0-E061-543A-C6B6-316872E9C680}"/>
              </a:ext>
            </a:extLst>
          </p:cNvPr>
          <p:cNvSpPr/>
          <p:nvPr/>
        </p:nvSpPr>
        <p:spPr>
          <a:xfrm>
            <a:off x="584200" y="2921000"/>
            <a:ext cx="1696659" cy="1778000"/>
          </a:xfrm>
          <a:prstGeom prst="roundRect">
            <a:avLst/>
          </a:prstGeom>
          <a:solidFill>
            <a:srgbClr val="DCE3F5"/>
          </a:solidFill>
          <a:ln w="12700">
            <a:solidFill>
              <a:srgbClr val="2C3E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7C5434F9-C278-F67F-D894-D07FC2EF4490}"/>
              </a:ext>
            </a:extLst>
          </p:cNvPr>
          <p:cNvSpPr txBox="1"/>
          <p:nvPr/>
        </p:nvSpPr>
        <p:spPr>
          <a:xfrm>
            <a:off x="711200" y="3124200"/>
            <a:ext cx="1442659" cy="553998"/>
          </a:xfrm>
          <a:prstGeom prst="rect">
            <a:avLst/>
          </a:prstGeom>
          <a:noFill/>
        </p:spPr>
        <p:txBody>
          <a:bodyPr vert="horz" wrap="square" rtlCol="0">
            <a:spAutoFit/>
          </a:bodyPr>
          <a:lstStyle/>
          <a:p>
            <a:pPr algn="ctr"/>
            <a:r>
              <a:rPr lang="en-IN" sz="1500" b="1">
                <a:solidFill>
                  <a:srgbClr val="1B2340"/>
                </a:solidFill>
                <a:latin typeface="IBM Plex Sans" panose="020B0503050203000203" pitchFamily="34" charset="0"/>
              </a:rPr>
              <a:t>Analyst prompt</a:t>
            </a:r>
          </a:p>
        </p:txBody>
      </p:sp>
      <p:sp>
        <p:nvSpPr>
          <p:cNvPr id="6" name="TextBox 5">
            <a:extLst>
              <a:ext uri="{FF2B5EF4-FFF2-40B4-BE49-F238E27FC236}">
                <a16:creationId xmlns:a16="http://schemas.microsoft.com/office/drawing/2014/main" id="{DA313C4E-5320-F755-40BF-8D8D7E5C801F}"/>
              </a:ext>
            </a:extLst>
          </p:cNvPr>
          <p:cNvSpPr txBox="1"/>
          <p:nvPr/>
        </p:nvSpPr>
        <p:spPr>
          <a:xfrm>
            <a:off x="711200" y="3556000"/>
            <a:ext cx="1442659" cy="261610"/>
          </a:xfrm>
          <a:prstGeom prst="rect">
            <a:avLst/>
          </a:prstGeom>
          <a:noFill/>
        </p:spPr>
        <p:txBody>
          <a:bodyPr vert="horz" wrap="square" rtlCol="0">
            <a:spAutoFit/>
          </a:bodyPr>
          <a:lstStyle/>
          <a:p>
            <a:pPr algn="ctr"/>
            <a:r>
              <a:rPr lang="en-IN" sz="1100">
                <a:solidFill>
                  <a:srgbClr val="5B6182"/>
                </a:solidFill>
                <a:latin typeface="IBM Plex Sans" panose="020B0503050203000203" pitchFamily="34" charset="0"/>
              </a:rPr>
              <a:t>\</a:t>
            </a:r>
          </a:p>
        </p:txBody>
      </p:sp>
      <p:sp>
        <p:nvSpPr>
          <p:cNvPr id="7" name="TextBox 6">
            <a:extLst>
              <a:ext uri="{FF2B5EF4-FFF2-40B4-BE49-F238E27FC236}">
                <a16:creationId xmlns:a16="http://schemas.microsoft.com/office/drawing/2014/main" id="{9BA4D0B8-0184-421C-5A63-94D3DC8C55F6}"/>
              </a:ext>
            </a:extLst>
          </p:cNvPr>
          <p:cNvSpPr txBox="1"/>
          <p:nvPr/>
        </p:nvSpPr>
        <p:spPr>
          <a:xfrm>
            <a:off x="2280859" y="3606800"/>
            <a:ext cx="635000" cy="430887"/>
          </a:xfrm>
          <a:prstGeom prst="rect">
            <a:avLst/>
          </a:prstGeom>
          <a:noFill/>
        </p:spPr>
        <p:txBody>
          <a:bodyPr vert="horz" wrap="square" rtlCol="0">
            <a:spAutoFit/>
          </a:bodyPr>
          <a:lstStyle/>
          <a:p>
            <a:pPr algn="ctr"/>
            <a:r>
              <a:rPr lang="en-IN" sz="2200" b="1">
                <a:solidFill>
                  <a:srgbClr val="5B6182"/>
                </a:solidFill>
                <a:latin typeface="IBM Plex Sans" panose="020B0503050203000203" pitchFamily="34" charset="0"/>
              </a:rPr>
              <a:t>-&gt;</a:t>
            </a:r>
          </a:p>
        </p:txBody>
      </p:sp>
      <p:sp>
        <p:nvSpPr>
          <p:cNvPr id="8" name="Rectangle: Rounded Corners 7">
            <a:extLst>
              <a:ext uri="{FF2B5EF4-FFF2-40B4-BE49-F238E27FC236}">
                <a16:creationId xmlns:a16="http://schemas.microsoft.com/office/drawing/2014/main" id="{3ECF3EBF-CA44-81E9-AFC1-A457532EC342}"/>
              </a:ext>
            </a:extLst>
          </p:cNvPr>
          <p:cNvSpPr/>
          <p:nvPr/>
        </p:nvSpPr>
        <p:spPr>
          <a:xfrm>
            <a:off x="2915859" y="2921000"/>
            <a:ext cx="1696659" cy="1778000"/>
          </a:xfrm>
          <a:prstGeom prst="roundRect">
            <a:avLst/>
          </a:prstGeom>
          <a:solidFill>
            <a:srgbClr val="DCE3F5"/>
          </a:solidFill>
          <a:ln w="12700">
            <a:solidFill>
              <a:srgbClr val="2C3E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DF503DCB-8D82-834F-2EC3-B66655C65597}"/>
              </a:ext>
            </a:extLst>
          </p:cNvPr>
          <p:cNvSpPr txBox="1"/>
          <p:nvPr/>
        </p:nvSpPr>
        <p:spPr>
          <a:xfrm>
            <a:off x="3042859" y="3124200"/>
            <a:ext cx="1442659" cy="553998"/>
          </a:xfrm>
          <a:prstGeom prst="rect">
            <a:avLst/>
          </a:prstGeom>
          <a:noFill/>
        </p:spPr>
        <p:txBody>
          <a:bodyPr vert="horz" wrap="square" rtlCol="0">
            <a:spAutoFit/>
          </a:bodyPr>
          <a:lstStyle/>
          <a:p>
            <a:pPr algn="ctr"/>
            <a:r>
              <a:rPr lang="en-IN" sz="1500" b="1">
                <a:solidFill>
                  <a:srgbClr val="1B2340"/>
                </a:solidFill>
                <a:latin typeface="IBM Plex Sans" panose="020B0503050203000203" pitchFamily="34" charset="0"/>
              </a:rPr>
              <a:t>Shiny chat module</a:t>
            </a:r>
          </a:p>
        </p:txBody>
      </p:sp>
      <p:sp>
        <p:nvSpPr>
          <p:cNvPr id="10" name="TextBox 9">
            <a:extLst>
              <a:ext uri="{FF2B5EF4-FFF2-40B4-BE49-F238E27FC236}">
                <a16:creationId xmlns:a16="http://schemas.microsoft.com/office/drawing/2014/main" id="{93B7529D-13EF-4849-73A8-E726228B0695}"/>
              </a:ext>
            </a:extLst>
          </p:cNvPr>
          <p:cNvSpPr txBox="1"/>
          <p:nvPr/>
        </p:nvSpPr>
        <p:spPr>
          <a:xfrm>
            <a:off x="3042859" y="3556000"/>
            <a:ext cx="1442659" cy="600164"/>
          </a:xfrm>
          <a:prstGeom prst="rect">
            <a:avLst/>
          </a:prstGeom>
          <a:noFill/>
        </p:spPr>
        <p:txBody>
          <a:bodyPr vert="horz" wrap="square" rtlCol="0">
            <a:spAutoFit/>
          </a:bodyPr>
          <a:lstStyle/>
          <a:p>
            <a:pPr algn="ctr"/>
            <a:r>
              <a:rPr lang="en-US" sz="1100">
                <a:solidFill>
                  <a:srgbClr val="5B6182"/>
                </a:solidFill>
                <a:latin typeface="IBM Plex Sans" panose="020B0503050203000203" pitchFamily="34" charset="0"/>
              </a:rPr>
              <a:t>captures context: loaded ADaM, current filters</a:t>
            </a:r>
            <a:endParaRPr lang="en-IN" sz="1100">
              <a:solidFill>
                <a:srgbClr val="5B6182"/>
              </a:solidFill>
              <a:latin typeface="IBM Plex Sans" panose="020B0503050203000203" pitchFamily="34" charset="0"/>
            </a:endParaRPr>
          </a:p>
        </p:txBody>
      </p:sp>
      <p:sp>
        <p:nvSpPr>
          <p:cNvPr id="11" name="TextBox 10">
            <a:extLst>
              <a:ext uri="{FF2B5EF4-FFF2-40B4-BE49-F238E27FC236}">
                <a16:creationId xmlns:a16="http://schemas.microsoft.com/office/drawing/2014/main" id="{AC3DBC5B-B019-3D49-ACDE-F38EBFC06B2B}"/>
              </a:ext>
            </a:extLst>
          </p:cNvPr>
          <p:cNvSpPr txBox="1"/>
          <p:nvPr/>
        </p:nvSpPr>
        <p:spPr>
          <a:xfrm>
            <a:off x="4612518" y="3606800"/>
            <a:ext cx="635000" cy="430887"/>
          </a:xfrm>
          <a:prstGeom prst="rect">
            <a:avLst/>
          </a:prstGeom>
          <a:noFill/>
        </p:spPr>
        <p:txBody>
          <a:bodyPr vert="horz" wrap="square" rtlCol="0">
            <a:spAutoFit/>
          </a:bodyPr>
          <a:lstStyle/>
          <a:p>
            <a:pPr algn="ctr"/>
            <a:r>
              <a:rPr lang="en-IN" sz="2200" b="1">
                <a:solidFill>
                  <a:srgbClr val="5B6182"/>
                </a:solidFill>
                <a:latin typeface="IBM Plex Sans" panose="020B0503050203000203" pitchFamily="34" charset="0"/>
              </a:rPr>
              <a:t>-&gt;</a:t>
            </a:r>
          </a:p>
        </p:txBody>
      </p:sp>
      <p:sp>
        <p:nvSpPr>
          <p:cNvPr id="12" name="Rectangle: Rounded Corners 11">
            <a:extLst>
              <a:ext uri="{FF2B5EF4-FFF2-40B4-BE49-F238E27FC236}">
                <a16:creationId xmlns:a16="http://schemas.microsoft.com/office/drawing/2014/main" id="{46835722-0B8E-C6F6-5C77-FE518ED3700F}"/>
              </a:ext>
            </a:extLst>
          </p:cNvPr>
          <p:cNvSpPr/>
          <p:nvPr/>
        </p:nvSpPr>
        <p:spPr>
          <a:xfrm>
            <a:off x="5247518" y="2921000"/>
            <a:ext cx="1696659" cy="1778000"/>
          </a:xfrm>
          <a:prstGeom prst="roundRect">
            <a:avLst/>
          </a:prstGeom>
          <a:solidFill>
            <a:srgbClr val="DCE3F5"/>
          </a:solidFill>
          <a:ln w="12700">
            <a:solidFill>
              <a:srgbClr val="2C3E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1E95AE06-1EB4-4D33-443E-C1B99C82BB74}"/>
              </a:ext>
            </a:extLst>
          </p:cNvPr>
          <p:cNvSpPr txBox="1"/>
          <p:nvPr/>
        </p:nvSpPr>
        <p:spPr>
          <a:xfrm>
            <a:off x="5374518" y="3124200"/>
            <a:ext cx="1442659" cy="323165"/>
          </a:xfrm>
          <a:prstGeom prst="rect">
            <a:avLst/>
          </a:prstGeom>
          <a:noFill/>
        </p:spPr>
        <p:txBody>
          <a:bodyPr vert="horz" wrap="square" rtlCol="0">
            <a:spAutoFit/>
          </a:bodyPr>
          <a:lstStyle/>
          <a:p>
            <a:pPr algn="ctr"/>
            <a:r>
              <a:rPr lang="en-IN" sz="1500" b="1">
                <a:solidFill>
                  <a:srgbClr val="1B2340"/>
                </a:solidFill>
                <a:latin typeface="IBM Plex Sans" panose="020B0503050203000203" pitchFamily="34" charset="0"/>
              </a:rPr>
              <a:t>LLM API call</a:t>
            </a:r>
          </a:p>
        </p:txBody>
      </p:sp>
      <p:sp>
        <p:nvSpPr>
          <p:cNvPr id="14" name="TextBox 13">
            <a:extLst>
              <a:ext uri="{FF2B5EF4-FFF2-40B4-BE49-F238E27FC236}">
                <a16:creationId xmlns:a16="http://schemas.microsoft.com/office/drawing/2014/main" id="{F71BF818-F96B-B086-3115-BD47B6245DD1}"/>
              </a:ext>
            </a:extLst>
          </p:cNvPr>
          <p:cNvSpPr txBox="1"/>
          <p:nvPr/>
        </p:nvSpPr>
        <p:spPr>
          <a:xfrm>
            <a:off x="5374518" y="3556000"/>
            <a:ext cx="1442659" cy="600164"/>
          </a:xfrm>
          <a:prstGeom prst="rect">
            <a:avLst/>
          </a:prstGeom>
          <a:noFill/>
        </p:spPr>
        <p:txBody>
          <a:bodyPr vert="horz" wrap="square" rtlCol="0">
            <a:spAutoFit/>
          </a:bodyPr>
          <a:lstStyle/>
          <a:p>
            <a:pPr algn="ctr"/>
            <a:r>
              <a:rPr lang="en-US" sz="1100">
                <a:solidFill>
                  <a:srgbClr val="5B6182"/>
                </a:solidFill>
                <a:latin typeface="IBM Plex Sans" panose="020B0503050203000203" pitchFamily="34" charset="0"/>
              </a:rPr>
              <a:t>OpenAI / Claude structured function-call response</a:t>
            </a:r>
            <a:endParaRPr lang="en-IN" sz="1100">
              <a:solidFill>
                <a:srgbClr val="5B6182"/>
              </a:solidFill>
              <a:latin typeface="IBM Plex Sans" panose="020B0503050203000203" pitchFamily="34" charset="0"/>
            </a:endParaRPr>
          </a:p>
        </p:txBody>
      </p:sp>
      <p:sp>
        <p:nvSpPr>
          <p:cNvPr id="15" name="TextBox 14">
            <a:extLst>
              <a:ext uri="{FF2B5EF4-FFF2-40B4-BE49-F238E27FC236}">
                <a16:creationId xmlns:a16="http://schemas.microsoft.com/office/drawing/2014/main" id="{7CF69C6F-04F6-8B2B-1F86-EA1B4C651536}"/>
              </a:ext>
            </a:extLst>
          </p:cNvPr>
          <p:cNvSpPr txBox="1"/>
          <p:nvPr/>
        </p:nvSpPr>
        <p:spPr>
          <a:xfrm>
            <a:off x="6944177" y="3606800"/>
            <a:ext cx="635000" cy="430887"/>
          </a:xfrm>
          <a:prstGeom prst="rect">
            <a:avLst/>
          </a:prstGeom>
          <a:noFill/>
        </p:spPr>
        <p:txBody>
          <a:bodyPr vert="horz" wrap="square" rtlCol="0">
            <a:spAutoFit/>
          </a:bodyPr>
          <a:lstStyle/>
          <a:p>
            <a:pPr algn="ctr"/>
            <a:r>
              <a:rPr lang="en-IN" sz="2200" b="1">
                <a:solidFill>
                  <a:srgbClr val="5B6182"/>
                </a:solidFill>
                <a:latin typeface="IBM Plex Sans" panose="020B0503050203000203" pitchFamily="34" charset="0"/>
              </a:rPr>
              <a:t>-&gt;</a:t>
            </a:r>
          </a:p>
        </p:txBody>
      </p:sp>
      <p:sp>
        <p:nvSpPr>
          <p:cNvPr id="16" name="Rectangle: Rounded Corners 15">
            <a:extLst>
              <a:ext uri="{FF2B5EF4-FFF2-40B4-BE49-F238E27FC236}">
                <a16:creationId xmlns:a16="http://schemas.microsoft.com/office/drawing/2014/main" id="{F8FE8F65-7CA2-6688-5AD8-B836CA4EF9D1}"/>
              </a:ext>
            </a:extLst>
          </p:cNvPr>
          <p:cNvSpPr/>
          <p:nvPr/>
        </p:nvSpPr>
        <p:spPr>
          <a:xfrm>
            <a:off x="7579177" y="2921000"/>
            <a:ext cx="1696659" cy="1778000"/>
          </a:xfrm>
          <a:prstGeom prst="roundRect">
            <a:avLst/>
          </a:prstGeom>
          <a:solidFill>
            <a:srgbClr val="DCE3F5"/>
          </a:solidFill>
          <a:ln w="12700">
            <a:solidFill>
              <a:srgbClr val="2C3E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F99EAEEE-176E-4843-6358-C986A3735F6D}"/>
              </a:ext>
            </a:extLst>
          </p:cNvPr>
          <p:cNvSpPr txBox="1"/>
          <p:nvPr/>
        </p:nvSpPr>
        <p:spPr>
          <a:xfrm>
            <a:off x="7706177" y="3124200"/>
            <a:ext cx="1442659" cy="553998"/>
          </a:xfrm>
          <a:prstGeom prst="rect">
            <a:avLst/>
          </a:prstGeom>
          <a:noFill/>
        </p:spPr>
        <p:txBody>
          <a:bodyPr vert="horz" wrap="square" rtlCol="0">
            <a:spAutoFit/>
          </a:bodyPr>
          <a:lstStyle/>
          <a:p>
            <a:pPr algn="ctr"/>
            <a:r>
              <a:rPr lang="en-IN" sz="1500" b="1">
                <a:solidFill>
                  <a:srgbClr val="1B2340"/>
                </a:solidFill>
                <a:latin typeface="IBM Plex Sans" panose="020B0503050203000203" pitchFamily="34" charset="0"/>
              </a:rPr>
              <a:t>Parameter mapping</a:t>
            </a:r>
          </a:p>
        </p:txBody>
      </p:sp>
      <p:sp>
        <p:nvSpPr>
          <p:cNvPr id="18" name="TextBox 17">
            <a:extLst>
              <a:ext uri="{FF2B5EF4-FFF2-40B4-BE49-F238E27FC236}">
                <a16:creationId xmlns:a16="http://schemas.microsoft.com/office/drawing/2014/main" id="{4DCA2636-63EA-16A7-150C-D962487B7336}"/>
              </a:ext>
            </a:extLst>
          </p:cNvPr>
          <p:cNvSpPr txBox="1"/>
          <p:nvPr/>
        </p:nvSpPr>
        <p:spPr>
          <a:xfrm>
            <a:off x="7706177" y="3556000"/>
            <a:ext cx="1442659" cy="769441"/>
          </a:xfrm>
          <a:prstGeom prst="rect">
            <a:avLst/>
          </a:prstGeom>
          <a:noFill/>
        </p:spPr>
        <p:txBody>
          <a:bodyPr vert="horz" wrap="square" rtlCol="0">
            <a:spAutoFit/>
          </a:bodyPr>
          <a:lstStyle/>
          <a:p>
            <a:pPr algn="ctr"/>
            <a:r>
              <a:rPr lang="en-US" sz="1100">
                <a:solidFill>
                  <a:srgbClr val="5B6182"/>
                </a:solidFill>
                <a:latin typeface="IBM Plex Sans" panose="020B0503050203000203" pitchFamily="34" charset="0"/>
              </a:rPr>
              <a:t>maps to existing build_*() functions not free-form R execution</a:t>
            </a:r>
            <a:endParaRPr lang="en-IN" sz="1100">
              <a:solidFill>
                <a:srgbClr val="5B6182"/>
              </a:solidFill>
              <a:latin typeface="IBM Plex Sans" panose="020B0503050203000203" pitchFamily="34" charset="0"/>
            </a:endParaRPr>
          </a:p>
        </p:txBody>
      </p:sp>
      <p:sp>
        <p:nvSpPr>
          <p:cNvPr id="19" name="TextBox 18">
            <a:extLst>
              <a:ext uri="{FF2B5EF4-FFF2-40B4-BE49-F238E27FC236}">
                <a16:creationId xmlns:a16="http://schemas.microsoft.com/office/drawing/2014/main" id="{23BF9944-779B-3585-598F-C9AC7409DC17}"/>
              </a:ext>
            </a:extLst>
          </p:cNvPr>
          <p:cNvSpPr txBox="1"/>
          <p:nvPr/>
        </p:nvSpPr>
        <p:spPr>
          <a:xfrm>
            <a:off x="9275836" y="3606800"/>
            <a:ext cx="635000" cy="430887"/>
          </a:xfrm>
          <a:prstGeom prst="rect">
            <a:avLst/>
          </a:prstGeom>
          <a:noFill/>
        </p:spPr>
        <p:txBody>
          <a:bodyPr vert="horz" wrap="square" rtlCol="0">
            <a:spAutoFit/>
          </a:bodyPr>
          <a:lstStyle/>
          <a:p>
            <a:pPr algn="ctr"/>
            <a:r>
              <a:rPr lang="en-IN" sz="2200" b="1">
                <a:solidFill>
                  <a:srgbClr val="5B6182"/>
                </a:solidFill>
                <a:latin typeface="IBM Plex Sans" panose="020B0503050203000203" pitchFamily="34" charset="0"/>
              </a:rPr>
              <a:t>-&gt;</a:t>
            </a:r>
          </a:p>
        </p:txBody>
      </p:sp>
      <p:sp>
        <p:nvSpPr>
          <p:cNvPr id="20" name="Rectangle: Rounded Corners 19">
            <a:extLst>
              <a:ext uri="{FF2B5EF4-FFF2-40B4-BE49-F238E27FC236}">
                <a16:creationId xmlns:a16="http://schemas.microsoft.com/office/drawing/2014/main" id="{428CFDD1-12E7-FFC8-AE78-D221B19E2C74}"/>
              </a:ext>
            </a:extLst>
          </p:cNvPr>
          <p:cNvSpPr/>
          <p:nvPr/>
        </p:nvSpPr>
        <p:spPr>
          <a:xfrm>
            <a:off x="9910836" y="2921000"/>
            <a:ext cx="1696659" cy="1778000"/>
          </a:xfrm>
          <a:prstGeom prst="roundRect">
            <a:avLst/>
          </a:prstGeom>
          <a:solidFill>
            <a:srgbClr val="DCE3F5"/>
          </a:solidFill>
          <a:ln w="12700">
            <a:solidFill>
              <a:srgbClr val="2C3E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35A84F9E-54AD-5718-94B0-BA9973403276}"/>
              </a:ext>
            </a:extLst>
          </p:cNvPr>
          <p:cNvSpPr txBox="1"/>
          <p:nvPr/>
        </p:nvSpPr>
        <p:spPr>
          <a:xfrm>
            <a:off x="10037836" y="3124200"/>
            <a:ext cx="1442659" cy="553998"/>
          </a:xfrm>
          <a:prstGeom prst="rect">
            <a:avLst/>
          </a:prstGeom>
          <a:noFill/>
        </p:spPr>
        <p:txBody>
          <a:bodyPr vert="horz" wrap="square" rtlCol="0">
            <a:spAutoFit/>
          </a:bodyPr>
          <a:lstStyle/>
          <a:p>
            <a:pPr algn="ctr"/>
            <a:r>
              <a:rPr lang="en-IN" sz="1500" b="1">
                <a:solidFill>
                  <a:srgbClr val="1B2340"/>
                </a:solidFill>
                <a:latin typeface="IBM Plex Sans" panose="020B0503050203000203" pitchFamily="34" charset="0"/>
              </a:rPr>
              <a:t>Rendered gt / ggplot</a:t>
            </a:r>
          </a:p>
        </p:txBody>
      </p:sp>
      <p:sp>
        <p:nvSpPr>
          <p:cNvPr id="22" name="TextBox 21">
            <a:extLst>
              <a:ext uri="{FF2B5EF4-FFF2-40B4-BE49-F238E27FC236}">
                <a16:creationId xmlns:a16="http://schemas.microsoft.com/office/drawing/2014/main" id="{8FC32BE0-8C90-24CF-CDE2-35187E40272F}"/>
              </a:ext>
            </a:extLst>
          </p:cNvPr>
          <p:cNvSpPr txBox="1"/>
          <p:nvPr/>
        </p:nvSpPr>
        <p:spPr>
          <a:xfrm>
            <a:off x="10037836" y="3556000"/>
            <a:ext cx="1442659" cy="600164"/>
          </a:xfrm>
          <a:prstGeom prst="rect">
            <a:avLst/>
          </a:prstGeom>
          <a:noFill/>
        </p:spPr>
        <p:txBody>
          <a:bodyPr vert="horz" wrap="square" rtlCol="0">
            <a:spAutoFit/>
          </a:bodyPr>
          <a:lstStyle/>
          <a:p>
            <a:pPr algn="ctr"/>
            <a:r>
              <a:rPr lang="en-US" sz="1100">
                <a:solidFill>
                  <a:srgbClr val="5B6182"/>
                </a:solidFill>
                <a:latin typeface="IBM Plex Sans" panose="020B0503050203000203" pitchFamily="34" charset="0"/>
              </a:rPr>
              <a:t>same review + export path as manual selection</a:t>
            </a:r>
            <a:endParaRPr lang="en-IN" sz="1100">
              <a:solidFill>
                <a:srgbClr val="5B6182"/>
              </a:solidFill>
              <a:latin typeface="IBM Plex Sans" panose="020B0503050203000203" pitchFamily="34" charset="0"/>
            </a:endParaRPr>
          </a:p>
        </p:txBody>
      </p:sp>
      <p:sp>
        <p:nvSpPr>
          <p:cNvPr id="23" name="TextBox 22">
            <a:extLst>
              <a:ext uri="{FF2B5EF4-FFF2-40B4-BE49-F238E27FC236}">
                <a16:creationId xmlns:a16="http://schemas.microsoft.com/office/drawing/2014/main" id="{960C191C-F1FF-CB9B-5118-7A29E2BD026C}"/>
              </a:ext>
            </a:extLst>
          </p:cNvPr>
          <p:cNvSpPr txBox="1"/>
          <p:nvPr/>
        </p:nvSpPr>
        <p:spPr>
          <a:xfrm>
            <a:off x="304800" y="6553200"/>
            <a:ext cx="6350000" cy="276999"/>
          </a:xfrm>
          <a:prstGeom prst="rect">
            <a:avLst/>
          </a:prstGeom>
          <a:noFill/>
        </p:spPr>
        <p:txBody>
          <a:bodyPr vert="horz" wrap="square" rtlCol="0">
            <a:spAutoFit/>
          </a:bodyPr>
          <a:lstStyle/>
          <a:p>
            <a:r>
              <a:rPr lang="it-IT" sz="1200" i="1">
                <a:solidFill>
                  <a:srgbClr val="5B6182"/>
                </a:solidFill>
                <a:latin typeface="IBM Plex Sans" panose="020B0503050203000203" pitchFamily="34" charset="0"/>
              </a:rPr>
              <a:t>Session 5 Ã‚Â· AI &amp; LLM Integration</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319070403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BBC867-60A2-C9DE-E4DD-B22F710350CF}"/>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16:15 Ã¢ 16:45 Ã‚Â· VENKATESH</a:t>
            </a:r>
          </a:p>
        </p:txBody>
      </p:sp>
      <p:sp>
        <p:nvSpPr>
          <p:cNvPr id="3" name="TextBox 2">
            <a:extLst>
              <a:ext uri="{FF2B5EF4-FFF2-40B4-BE49-F238E27FC236}">
                <a16:creationId xmlns:a16="http://schemas.microsoft.com/office/drawing/2014/main" id="{53F49019-E880-07B2-C9F0-FC89846BFA97}"/>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Using a chatbot interface in R Shiny</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85FE5381-11F2-74AF-5669-F424D1FDD196}"/>
              </a:ext>
            </a:extLst>
          </p:cNvPr>
          <p:cNvSpPr/>
          <p:nvPr/>
        </p:nvSpPr>
        <p:spPr>
          <a:xfrm>
            <a:off x="584200" y="1651000"/>
            <a:ext cx="11023295"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421EAAC9-DCFA-6EC7-17F1-037B9EC43158}"/>
              </a:ext>
            </a:extLst>
          </p:cNvPr>
          <p:cNvSpPr txBox="1"/>
          <p:nvPr/>
        </p:nvSpPr>
        <p:spPr>
          <a:xfrm>
            <a:off x="889000" y="1930400"/>
            <a:ext cx="10413695" cy="369332"/>
          </a:xfrm>
          <a:prstGeom prst="rect">
            <a:avLst/>
          </a:prstGeom>
          <a:noFill/>
        </p:spPr>
        <p:txBody>
          <a:bodyPr vert="horz" wrap="square" rtlCol="0">
            <a:noAutofit/>
          </a:bodyPr>
          <a:lstStyle/>
          <a:p>
            <a:pPr marL="342900" indent="-342900">
              <a:buFont typeface="+mj-lt"/>
              <a:buChar char="•"/>
            </a:pPr>
            <a:r>
              <a:rPr lang="en-US" sz="1600">
                <a:solidFill>
                  <a:srgbClr val="5B6182"/>
                </a:solidFill>
                <a:latin typeface="IBM Plex Sans" panose="020B0503050203000203" pitchFamily="34" charset="0"/>
              </a:rPr>
              <a:t>`
 A chat panel added alongside the existing Tables/Figures tabs. Internally it's just one more Shiny module: a scrollable message history built from a reactiveVal() list, a textAreaInput for the next message, and an observeEvent() on the send button that calls the LLM API and appends the response.
 Message history stored client-session-side, never persisted beyond the session by defaultEach response can render either plain text or trigger a table/figure update in the adjoining tabA visible "thinking / calling API..." state uses the same withProgress() pattern already used for data loading
`</a:t>
            </a:r>
            <a:endParaRPr lang="en-IN" sz="1600">
              <a:solidFill>
                <a:srgbClr val="5B6182"/>
              </a:solidFill>
              <a:latin typeface="IBM Plex Sans" panose="020B0503050203000203" pitchFamily="34" charset="0"/>
            </a:endParaRPr>
          </a:p>
        </p:txBody>
      </p:sp>
      <p:sp>
        <p:nvSpPr>
          <p:cNvPr id="6" name="TextBox 5">
            <a:extLst>
              <a:ext uri="{FF2B5EF4-FFF2-40B4-BE49-F238E27FC236}">
                <a16:creationId xmlns:a16="http://schemas.microsoft.com/office/drawing/2014/main" id="{A6C2603D-7B2D-BA39-109F-9FE93C68C566}"/>
              </a:ext>
            </a:extLst>
          </p:cNvPr>
          <p:cNvSpPr txBox="1"/>
          <p:nvPr/>
        </p:nvSpPr>
        <p:spPr>
          <a:xfrm>
            <a:off x="304800" y="6553200"/>
            <a:ext cx="6350000" cy="276999"/>
          </a:xfrm>
          <a:prstGeom prst="rect">
            <a:avLst/>
          </a:prstGeom>
          <a:noFill/>
        </p:spPr>
        <p:txBody>
          <a:bodyPr vert="horz" wrap="square" rtlCol="0">
            <a:spAutoFit/>
          </a:bodyPr>
          <a:lstStyle/>
          <a:p>
            <a:r>
              <a:rPr lang="it-IT" sz="1200" i="1">
                <a:solidFill>
                  <a:srgbClr val="5B6182"/>
                </a:solidFill>
                <a:latin typeface="IBM Plex Sans" panose="020B0503050203000203" pitchFamily="34" charset="0"/>
              </a:rPr>
              <a:t>Session 5 Ã‚Â· AI &amp; LLM Integration</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399162098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AC4CE1-3721-2078-A9FC-D43B27130051}"/>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16:15 Ã¢ 16:45 Ã‚Â· VENKATESH</a:t>
            </a:r>
          </a:p>
        </p:txBody>
      </p:sp>
      <p:sp>
        <p:nvSpPr>
          <p:cNvPr id="3" name="TextBox 2">
            <a:extLst>
              <a:ext uri="{FF2B5EF4-FFF2-40B4-BE49-F238E27FC236}">
                <a16:creationId xmlns:a16="http://schemas.microsoft.com/office/drawing/2014/main" id="{16C08398-1E2C-6C6B-47B2-3486C3805F0F}"/>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Chat module Ã¢ the shape of the server-side call</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7BA11BF7-09FE-C11B-E3DB-EB3E863F68CE}"/>
              </a:ext>
            </a:extLst>
          </p:cNvPr>
          <p:cNvSpPr/>
          <p:nvPr/>
        </p:nvSpPr>
        <p:spPr>
          <a:xfrm>
            <a:off x="584200" y="1651000"/>
            <a:ext cx="5359248" cy="4699000"/>
          </a:xfrm>
          <a:prstGeom prst="roundRect">
            <a:avLst/>
          </a:prstGeom>
          <a:solidFill>
            <a:srgbClr val="161C3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747240A1-C42D-7491-E00B-5D5806337278}"/>
              </a:ext>
            </a:extLst>
          </p:cNvPr>
          <p:cNvSpPr txBox="1"/>
          <p:nvPr/>
        </p:nvSpPr>
        <p:spPr>
          <a:xfrm>
            <a:off x="787400" y="1854200"/>
            <a:ext cx="4952848" cy="2492990"/>
          </a:xfrm>
          <a:prstGeom prst="rect">
            <a:avLst/>
          </a:prstGeom>
          <a:noFill/>
        </p:spPr>
        <p:txBody>
          <a:bodyPr vert="horz" wrap="square" rtlCol="0">
            <a:spAutoFit/>
          </a:bodyPr>
          <a:lstStyle/>
          <a:p>
            <a:r>
              <a:rPr lang="en-IN" sz="1200">
                <a:solidFill>
                  <a:srgbClr val="DCE1F5"/>
                </a:solidFill>
                <a:latin typeface="Consolas" panose="020B0609020204030204" pitchFamily="49" charset="0"/>
              </a:rPr>
              <a:t>`observeEvent(input$send, {
 req(input$chat_msg)
 reply &lt;- call_llm(
 system = SYSTEM_PROMPT,
 tools = TFL_FUNCTION_SCHEMA,
 user = input$chat_msg,
 context = list(datasets = names(datasets()),
 trt_arms = tbl_trt_levels())
 )
 if (reply$type == "function_call")
 do.call(reply$fn, reply$args) # e.g. build_ae_socpt(...)
})`</a:t>
            </a:r>
          </a:p>
        </p:txBody>
      </p:sp>
      <p:sp>
        <p:nvSpPr>
          <p:cNvPr id="6" name="TextBox 5">
            <a:extLst>
              <a:ext uri="{FF2B5EF4-FFF2-40B4-BE49-F238E27FC236}">
                <a16:creationId xmlns:a16="http://schemas.microsoft.com/office/drawing/2014/main" id="{055CAEAB-ED3C-BAC0-4712-A726339E81F3}"/>
              </a:ext>
            </a:extLst>
          </p:cNvPr>
          <p:cNvSpPr txBox="1"/>
          <p:nvPr/>
        </p:nvSpPr>
        <p:spPr>
          <a:xfrm>
            <a:off x="6248248" y="1752600"/>
            <a:ext cx="5359248" cy="369332"/>
          </a:xfrm>
          <a:prstGeom prst="rect">
            <a:avLst/>
          </a:prstGeom>
          <a:noFill/>
        </p:spPr>
        <p:txBody>
          <a:bodyPr vert="horz" wrap="square" rtlCol="0">
            <a:noAutofit/>
          </a:bodyPr>
          <a:lstStyle/>
          <a:p>
            <a:pPr marL="342900" indent="-342900">
              <a:buFont typeface="+mj-lt"/>
              <a:buChar char="•"/>
            </a:pPr>
            <a:r>
              <a:rPr lang="en-US" sz="1400">
                <a:solidFill>
                  <a:srgbClr val="5B6182"/>
                </a:solidFill>
                <a:latin typeface="IBM Plex Sans" panose="020B0503050203000203" pitchFamily="34" charset="0"/>
              </a:rPr>
              <a:t>tools = TFL_FUNCTION_SCHEMA is where the guardrail lives the LLM is only offered the app's existing build_*() function signatures as callable "tools", nothing more general
context passes the currently loaded dataset names and available treatment arms, so the model can't propose an arm that doesn't exist in the loaded data
do.call(reply$fn, reply$args) is the only place a model's output touches execution and reply$fn is validated against an allow-list before this line runs</a:t>
            </a:r>
            <a:endParaRPr lang="en-IN" sz="1400">
              <a:solidFill>
                <a:srgbClr val="5B6182"/>
              </a:solidFill>
              <a:latin typeface="IBM Plex Sans" panose="020B0503050203000203" pitchFamily="34" charset="0"/>
            </a:endParaRPr>
          </a:p>
        </p:txBody>
      </p:sp>
      <p:sp>
        <p:nvSpPr>
          <p:cNvPr id="7" name="TextBox 6">
            <a:extLst>
              <a:ext uri="{FF2B5EF4-FFF2-40B4-BE49-F238E27FC236}">
                <a16:creationId xmlns:a16="http://schemas.microsoft.com/office/drawing/2014/main" id="{52541E34-F84A-E927-D1FB-F8AE4DF07D4A}"/>
              </a:ext>
            </a:extLst>
          </p:cNvPr>
          <p:cNvSpPr txBox="1"/>
          <p:nvPr/>
        </p:nvSpPr>
        <p:spPr>
          <a:xfrm>
            <a:off x="304800" y="6553200"/>
            <a:ext cx="6350000" cy="276999"/>
          </a:xfrm>
          <a:prstGeom prst="rect">
            <a:avLst/>
          </a:prstGeom>
          <a:noFill/>
        </p:spPr>
        <p:txBody>
          <a:bodyPr vert="horz" wrap="square" rtlCol="0">
            <a:spAutoFit/>
          </a:bodyPr>
          <a:lstStyle/>
          <a:p>
            <a:r>
              <a:rPr lang="it-IT" sz="1200" i="1">
                <a:solidFill>
                  <a:srgbClr val="5B6182"/>
                </a:solidFill>
                <a:latin typeface="IBM Plex Sans" panose="020B0503050203000203" pitchFamily="34" charset="0"/>
              </a:rPr>
              <a:t>Session 5 Ã‚Â· AI &amp; LLM Integration</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150198048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73C798-1D57-21FB-EABA-2CF0D3166635}"/>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16:15 Ã¢ 16:45 Ã‚Â· VENKATESH</a:t>
            </a:r>
          </a:p>
        </p:txBody>
      </p:sp>
      <p:sp>
        <p:nvSpPr>
          <p:cNvPr id="3" name="TextBox 2">
            <a:extLst>
              <a:ext uri="{FF2B5EF4-FFF2-40B4-BE49-F238E27FC236}">
                <a16:creationId xmlns:a16="http://schemas.microsoft.com/office/drawing/2014/main" id="{DB5BCF84-35BD-BF9A-0F37-E09DD6DB02E3}"/>
              </a:ext>
            </a:extLst>
          </p:cNvPr>
          <p:cNvSpPr txBox="1"/>
          <p:nvPr/>
        </p:nvSpPr>
        <p:spPr>
          <a:xfrm>
            <a:off x="584200" y="609600"/>
            <a:ext cx="14605000" cy="492443"/>
          </a:xfrm>
          <a:prstGeom prst="rect">
            <a:avLst/>
          </a:prstGeom>
          <a:noFill/>
        </p:spPr>
        <p:txBody>
          <a:bodyPr vert="horz" wrap="square" rtlCol="0">
            <a:spAutoFit/>
          </a:bodyPr>
          <a:lstStyle/>
          <a:p>
            <a:r>
              <a:rPr lang="en-IN" sz="2600" b="1">
                <a:solidFill>
                  <a:srgbClr val="1B2340"/>
                </a:solidFill>
                <a:latin typeface="IBM Plex Sans" panose="020B0503050203000203" pitchFamily="34" charset="0"/>
              </a:rPr>
              <a:t>Prompt design: system prompt &amp; function schema</a:t>
            </a:r>
          </a:p>
        </p:txBody>
      </p:sp>
      <p:sp>
        <p:nvSpPr>
          <p:cNvPr id="4" name="Rectangle: Rounded Corners 3">
            <a:extLst>
              <a:ext uri="{FF2B5EF4-FFF2-40B4-BE49-F238E27FC236}">
                <a16:creationId xmlns:a16="http://schemas.microsoft.com/office/drawing/2014/main" id="{ABBCEDBA-DF3F-4354-0410-186E25D49BCB}"/>
              </a:ext>
            </a:extLst>
          </p:cNvPr>
          <p:cNvSpPr/>
          <p:nvPr/>
        </p:nvSpPr>
        <p:spPr>
          <a:xfrm>
            <a:off x="584200" y="1651000"/>
            <a:ext cx="5359248"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FE961C6D-4470-2B3D-5154-B9031B8914C9}"/>
              </a:ext>
            </a:extLst>
          </p:cNvPr>
          <p:cNvSpPr txBox="1"/>
          <p:nvPr/>
        </p:nvSpPr>
        <p:spPr>
          <a:xfrm>
            <a:off x="863600" y="1879600"/>
            <a:ext cx="4800448" cy="353943"/>
          </a:xfrm>
          <a:prstGeom prst="rect">
            <a:avLst/>
          </a:prstGeom>
          <a:noFill/>
        </p:spPr>
        <p:txBody>
          <a:bodyPr vert="horz" wrap="square" rtlCol="0">
            <a:spAutoFit/>
          </a:bodyPr>
          <a:lstStyle/>
          <a:p>
            <a:r>
              <a:rPr lang="en-IN" sz="1700" b="1">
                <a:solidFill>
                  <a:srgbClr val="1B2340"/>
                </a:solidFill>
                <a:latin typeface="IBM Plex Sans" panose="020B0503050203000203" pitchFamily="34" charset="0"/>
              </a:rPr>
              <a:t>System prompt covers</a:t>
            </a:r>
          </a:p>
        </p:txBody>
      </p:sp>
      <p:sp>
        <p:nvSpPr>
          <p:cNvPr id="6" name="TextBox 5">
            <a:extLst>
              <a:ext uri="{FF2B5EF4-FFF2-40B4-BE49-F238E27FC236}">
                <a16:creationId xmlns:a16="http://schemas.microsoft.com/office/drawing/2014/main" id="{B9D6DE48-9C7D-CC62-7541-B83FD2FB93F8}"/>
              </a:ext>
            </a:extLst>
          </p:cNvPr>
          <p:cNvSpPr txBox="1"/>
          <p:nvPr/>
        </p:nvSpPr>
        <p:spPr>
          <a:xfrm>
            <a:off x="863600" y="2311400"/>
            <a:ext cx="4800448" cy="369332"/>
          </a:xfrm>
          <a:prstGeom prst="rect">
            <a:avLst/>
          </a:prstGeom>
          <a:noFill/>
        </p:spPr>
        <p:txBody>
          <a:bodyPr vert="horz" wrap="square" rtlCol="0">
            <a:noAutofit/>
          </a:bodyPr>
          <a:lstStyle/>
          <a:p>
            <a:pPr marL="342900" indent="-342900">
              <a:buFont typeface="+mj-lt"/>
              <a:buChar char="•"/>
            </a:pPr>
            <a:r>
              <a:rPr lang="en-US" sz="1500">
                <a:solidFill>
                  <a:srgbClr val="5B6182"/>
                </a:solidFill>
                <a:latin typeface="IBM Plex Sans" panose="020B0503050203000203" pitchFamily="34" charset="0"/>
              </a:rPr>
              <a:t>The app's domain: clinical TFLs, ADaM structure, population flags, treatment arms
An explicit instruction to always resolve ambiguity by asking a follow-up, never guessing a filter
The exact list of callable functions and what each argument means</a:t>
            </a:r>
            <a:endParaRPr lang="en-IN" sz="1500">
              <a:solidFill>
                <a:srgbClr val="5B6182"/>
              </a:solidFill>
              <a:latin typeface="IBM Plex Sans" panose="020B0503050203000203" pitchFamily="34" charset="0"/>
            </a:endParaRPr>
          </a:p>
        </p:txBody>
      </p:sp>
      <p:sp>
        <p:nvSpPr>
          <p:cNvPr id="7" name="Rectangle: Rounded Corners 6">
            <a:extLst>
              <a:ext uri="{FF2B5EF4-FFF2-40B4-BE49-F238E27FC236}">
                <a16:creationId xmlns:a16="http://schemas.microsoft.com/office/drawing/2014/main" id="{94E4D630-6586-E344-74C3-CB90673EB76C}"/>
              </a:ext>
            </a:extLst>
          </p:cNvPr>
          <p:cNvSpPr/>
          <p:nvPr/>
        </p:nvSpPr>
        <p:spPr>
          <a:xfrm>
            <a:off x="6248248" y="1651000"/>
            <a:ext cx="5359247"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5516AB01-BF1E-A72F-24A4-52C633D5006E}"/>
              </a:ext>
            </a:extLst>
          </p:cNvPr>
          <p:cNvSpPr txBox="1"/>
          <p:nvPr/>
        </p:nvSpPr>
        <p:spPr>
          <a:xfrm>
            <a:off x="6527647" y="1879600"/>
            <a:ext cx="4800448" cy="353943"/>
          </a:xfrm>
          <a:prstGeom prst="rect">
            <a:avLst/>
          </a:prstGeom>
          <a:noFill/>
        </p:spPr>
        <p:txBody>
          <a:bodyPr vert="horz" wrap="square" rtlCol="0">
            <a:spAutoFit/>
          </a:bodyPr>
          <a:lstStyle/>
          <a:p>
            <a:r>
              <a:rPr lang="en-US" sz="1700" b="1">
                <a:solidFill>
                  <a:srgbClr val="1B2340"/>
                </a:solidFill>
                <a:latin typeface="IBM Plex Sans" panose="020B0503050203000203" pitchFamily="34" charset="0"/>
              </a:rPr>
              <a:t>Function schema mirrors app.R</a:t>
            </a:r>
            <a:endParaRPr lang="en-IN" sz="1700" b="1">
              <a:solidFill>
                <a:srgbClr val="1B2340"/>
              </a:solidFill>
              <a:latin typeface="IBM Plex Sans" panose="020B0503050203000203" pitchFamily="34" charset="0"/>
            </a:endParaRPr>
          </a:p>
        </p:txBody>
      </p:sp>
      <p:sp>
        <p:nvSpPr>
          <p:cNvPr id="9" name="TextBox 8">
            <a:extLst>
              <a:ext uri="{FF2B5EF4-FFF2-40B4-BE49-F238E27FC236}">
                <a16:creationId xmlns:a16="http://schemas.microsoft.com/office/drawing/2014/main" id="{181FABD1-DB9B-13B9-1873-3088849B998E}"/>
              </a:ext>
            </a:extLst>
          </p:cNvPr>
          <p:cNvSpPr txBox="1"/>
          <p:nvPr/>
        </p:nvSpPr>
        <p:spPr>
          <a:xfrm>
            <a:off x="6527647" y="2311400"/>
            <a:ext cx="4800448" cy="369332"/>
          </a:xfrm>
          <a:prstGeom prst="rect">
            <a:avLst/>
          </a:prstGeom>
          <a:noFill/>
        </p:spPr>
        <p:txBody>
          <a:bodyPr vert="horz" wrap="square" rtlCol="0">
            <a:noAutofit/>
          </a:bodyPr>
          <a:lstStyle/>
          <a:p>
            <a:pPr marL="342900" indent="-342900">
              <a:buFont typeface="+mj-lt"/>
              <a:buChar char="•"/>
            </a:pPr>
            <a:r>
              <a:rPr lang="en-US" sz="1500">
                <a:solidFill>
                  <a:srgbClr val="5B6182"/>
                </a:solidFill>
                <a:latin typeface="IBM Plex Sans" panose="020B0503050203000203" pitchFamily="34" charset="0"/>
              </a:rPr>
              <a:t>One schema entry per build_*() function, argument names matching exactly
Enumerated values for population flag and severity, sourced live from pop_flags_available()
Schema is regenerated whenever the app's own function set changes single source of truth</a:t>
            </a:r>
            <a:endParaRPr lang="en-IN" sz="1500">
              <a:solidFill>
                <a:srgbClr val="5B6182"/>
              </a:solidFill>
              <a:latin typeface="IBM Plex Sans" panose="020B0503050203000203" pitchFamily="34" charset="0"/>
            </a:endParaRPr>
          </a:p>
        </p:txBody>
      </p:sp>
      <p:sp>
        <p:nvSpPr>
          <p:cNvPr id="10" name="TextBox 9">
            <a:extLst>
              <a:ext uri="{FF2B5EF4-FFF2-40B4-BE49-F238E27FC236}">
                <a16:creationId xmlns:a16="http://schemas.microsoft.com/office/drawing/2014/main" id="{6A35E009-0C9A-0455-8BD1-E9EEFA384A58}"/>
              </a:ext>
            </a:extLst>
          </p:cNvPr>
          <p:cNvSpPr txBox="1"/>
          <p:nvPr/>
        </p:nvSpPr>
        <p:spPr>
          <a:xfrm>
            <a:off x="304800" y="6553200"/>
            <a:ext cx="6350000" cy="276999"/>
          </a:xfrm>
          <a:prstGeom prst="rect">
            <a:avLst/>
          </a:prstGeom>
          <a:noFill/>
        </p:spPr>
        <p:txBody>
          <a:bodyPr vert="horz" wrap="square" rtlCol="0">
            <a:spAutoFit/>
          </a:bodyPr>
          <a:lstStyle/>
          <a:p>
            <a:r>
              <a:rPr lang="it-IT" sz="1200" i="1">
                <a:solidFill>
                  <a:srgbClr val="5B6182"/>
                </a:solidFill>
                <a:latin typeface="IBM Plex Sans" panose="020B0503050203000203" pitchFamily="34" charset="0"/>
              </a:rPr>
              <a:t>Session 5 Ã‚Â· AI &amp; LLM Integration</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62264605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30B926-8F36-CCE7-906A-90E608A64AD6}"/>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GUARDRAILS</a:t>
            </a:r>
          </a:p>
        </p:txBody>
      </p:sp>
      <p:sp>
        <p:nvSpPr>
          <p:cNvPr id="3" name="TextBox 2">
            <a:extLst>
              <a:ext uri="{FF2B5EF4-FFF2-40B4-BE49-F238E27FC236}">
                <a16:creationId xmlns:a16="http://schemas.microsoft.com/office/drawing/2014/main" id="{6092FA33-FCD5-5CBD-01C8-C64B87A4D189}"/>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Why we don't let the LLM write or execute R code directly</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273F03C6-ABC8-9D93-98F4-5A61629FD436}"/>
              </a:ext>
            </a:extLst>
          </p:cNvPr>
          <p:cNvSpPr/>
          <p:nvPr/>
        </p:nvSpPr>
        <p:spPr>
          <a:xfrm>
            <a:off x="584200" y="1651000"/>
            <a:ext cx="11023295"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76D6815A-F369-7AE8-52F0-39350B3E0D35}"/>
              </a:ext>
            </a:extLst>
          </p:cNvPr>
          <p:cNvSpPr txBox="1"/>
          <p:nvPr/>
        </p:nvSpPr>
        <p:spPr>
          <a:xfrm>
            <a:off x="889000" y="1930400"/>
            <a:ext cx="10413695" cy="369332"/>
          </a:xfrm>
          <a:prstGeom prst="rect">
            <a:avLst/>
          </a:prstGeom>
          <a:noFill/>
        </p:spPr>
        <p:txBody>
          <a:bodyPr vert="horz" wrap="square" rtlCol="0">
            <a:noAutofit/>
          </a:bodyPr>
          <a:lstStyle/>
          <a:p>
            <a:pPr marL="342900" indent="-342900">
              <a:buFont typeface="+mj-lt"/>
              <a:buChar char="•"/>
            </a:pPr>
            <a:r>
              <a:rPr lang="en-US" sz="1600">
                <a:solidFill>
                  <a:srgbClr val="5B6182"/>
                </a:solidFill>
                <a:latin typeface="IBM Plex Sans" panose="020B0503050203000203" pitchFamily="34" charset="0"/>
              </a:rPr>
              <a:t>`
 Determinism the same intent always maps to the same validated function, so results stay reproducible run to run
 Auditability every AI-assisted output can be traced to a specific function call and argument set, same as a manual selection
 Safety no arbitrary code execution surface inside a clinical application, regardless of what a prompt injection might attempt
 Validation reuse the build_*() functions are the same ones already reviewed in Sessions 3-4; the AI layer adds a front door, not a new computation path
`</a:t>
            </a:r>
            <a:endParaRPr lang="en-IN" sz="1600">
              <a:solidFill>
                <a:srgbClr val="5B6182"/>
              </a:solidFill>
              <a:latin typeface="IBM Plex Sans" panose="020B0503050203000203" pitchFamily="34" charset="0"/>
            </a:endParaRPr>
          </a:p>
        </p:txBody>
      </p:sp>
      <p:sp>
        <p:nvSpPr>
          <p:cNvPr id="6" name="TextBox 5">
            <a:extLst>
              <a:ext uri="{FF2B5EF4-FFF2-40B4-BE49-F238E27FC236}">
                <a16:creationId xmlns:a16="http://schemas.microsoft.com/office/drawing/2014/main" id="{ABD7B811-6DCC-F5C2-BAB8-EB0AAE5FA6EA}"/>
              </a:ext>
            </a:extLst>
          </p:cNvPr>
          <p:cNvSpPr txBox="1"/>
          <p:nvPr/>
        </p:nvSpPr>
        <p:spPr>
          <a:xfrm>
            <a:off x="304800" y="6553200"/>
            <a:ext cx="6350000" cy="276999"/>
          </a:xfrm>
          <a:prstGeom prst="rect">
            <a:avLst/>
          </a:prstGeom>
          <a:noFill/>
        </p:spPr>
        <p:txBody>
          <a:bodyPr vert="horz" wrap="square" rtlCol="0">
            <a:spAutoFit/>
          </a:bodyPr>
          <a:lstStyle/>
          <a:p>
            <a:r>
              <a:rPr lang="it-IT" sz="1200" i="1">
                <a:solidFill>
                  <a:srgbClr val="5B6182"/>
                </a:solidFill>
                <a:latin typeface="IBM Plex Sans" panose="020B0503050203000203" pitchFamily="34" charset="0"/>
              </a:rPr>
              <a:t>Session 5 Ã‚Â· AI &amp; LLM Integration</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292016148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9CF6C9-9EEF-6DA6-E38C-1B10F75BCA56}"/>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16:45 Ã¢ 17:15 Ã‚Â· VENKATESH + MAHESH</a:t>
            </a:r>
          </a:p>
        </p:txBody>
      </p:sp>
      <p:sp>
        <p:nvSpPr>
          <p:cNvPr id="3" name="TextBox 2">
            <a:extLst>
              <a:ext uri="{FF2B5EF4-FFF2-40B4-BE49-F238E27FC236}">
                <a16:creationId xmlns:a16="http://schemas.microsoft.com/office/drawing/2014/main" id="{190CD691-BA3E-7BD7-5D07-1816E86C8A58}"/>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Illustrative use case with the mini TFL app</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70F50DD5-E98A-441D-5DD5-818991B8025D}"/>
              </a:ext>
            </a:extLst>
          </p:cNvPr>
          <p:cNvSpPr/>
          <p:nvPr/>
        </p:nvSpPr>
        <p:spPr>
          <a:xfrm>
            <a:off x="584200" y="1905000"/>
            <a:ext cx="3505098" cy="4191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79C0E427-299C-3CAF-7131-E944FD894B91}"/>
              </a:ext>
            </a:extLst>
          </p:cNvPr>
          <p:cNvSpPr/>
          <p:nvPr/>
        </p:nvSpPr>
        <p:spPr>
          <a:xfrm>
            <a:off x="584200" y="1905000"/>
            <a:ext cx="3505098" cy="76200"/>
          </a:xfrm>
          <a:prstGeom prst="rect">
            <a:avLst/>
          </a:prstGeom>
          <a:solidFill>
            <a:srgbClr val="0F7A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D53B7887-7507-5137-4284-EFFD79594934}"/>
              </a:ext>
            </a:extLst>
          </p:cNvPr>
          <p:cNvSpPr txBox="1"/>
          <p:nvPr/>
        </p:nvSpPr>
        <p:spPr>
          <a:xfrm>
            <a:off x="787400" y="2133600"/>
            <a:ext cx="3098698" cy="323165"/>
          </a:xfrm>
          <a:prstGeom prst="rect">
            <a:avLst/>
          </a:prstGeom>
          <a:noFill/>
        </p:spPr>
        <p:txBody>
          <a:bodyPr vert="horz" wrap="square" rtlCol="0">
            <a:spAutoFit/>
          </a:bodyPr>
          <a:lstStyle/>
          <a:p>
            <a:r>
              <a:rPr lang="fr-FR" sz="1500" b="1">
                <a:solidFill>
                  <a:srgbClr val="1B2340"/>
                </a:solidFill>
                <a:latin typeface="IBM Plex Sans" panose="020B0503050203000203" pitchFamily="34" charset="0"/>
              </a:rPr>
              <a:t>1 Ã‚Â· User prompt intent</a:t>
            </a:r>
            <a:endParaRPr lang="en-IN" sz="1500" b="1">
              <a:solidFill>
                <a:srgbClr val="1B2340"/>
              </a:solidFill>
              <a:latin typeface="IBM Plex Sans" panose="020B0503050203000203" pitchFamily="34" charset="0"/>
            </a:endParaRPr>
          </a:p>
        </p:txBody>
      </p:sp>
      <p:sp>
        <p:nvSpPr>
          <p:cNvPr id="7" name="TextBox 6">
            <a:extLst>
              <a:ext uri="{FF2B5EF4-FFF2-40B4-BE49-F238E27FC236}">
                <a16:creationId xmlns:a16="http://schemas.microsoft.com/office/drawing/2014/main" id="{E64EFE69-D4E2-CF94-46C5-B2A5B841171C}"/>
              </a:ext>
            </a:extLst>
          </p:cNvPr>
          <p:cNvSpPr txBox="1"/>
          <p:nvPr/>
        </p:nvSpPr>
        <p:spPr>
          <a:xfrm>
            <a:off x="787400" y="2743200"/>
            <a:ext cx="3098698" cy="369332"/>
          </a:xfrm>
          <a:prstGeom prst="rect">
            <a:avLst/>
          </a:prstGeom>
          <a:noFill/>
        </p:spPr>
        <p:txBody>
          <a:bodyPr vert="horz" wrap="square" rtlCol="0">
            <a:noAutofit/>
          </a:bodyPr>
          <a:lstStyle/>
          <a:p>
            <a:pPr marL="342900" indent="-342900">
              <a:buFont typeface="+mj-lt"/>
              <a:buChar char="•"/>
            </a:pPr>
            <a:r>
              <a:rPr lang="en-IN" sz="1300">
                <a:solidFill>
                  <a:srgbClr val="5B6182"/>
                </a:solidFill>
                <a:latin typeface="IBM Plex Sans" panose="020B0503050203000203" pitchFamily="34" charset="0"/>
              </a:rPr>
              <a:t>\</a:t>
            </a:r>
          </a:p>
        </p:txBody>
      </p:sp>
      <p:sp>
        <p:nvSpPr>
          <p:cNvPr id="8" name="Rectangle: Rounded Corners 7">
            <a:extLst>
              <a:ext uri="{FF2B5EF4-FFF2-40B4-BE49-F238E27FC236}">
                <a16:creationId xmlns:a16="http://schemas.microsoft.com/office/drawing/2014/main" id="{98B45F8F-0D46-8294-F173-4B69CDDAB9F7}"/>
              </a:ext>
            </a:extLst>
          </p:cNvPr>
          <p:cNvSpPr/>
          <p:nvPr/>
        </p:nvSpPr>
        <p:spPr>
          <a:xfrm>
            <a:off x="4343298" y="1905000"/>
            <a:ext cx="3505099" cy="4191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B03D3DF9-51DD-3760-A600-C17A970DBEF5}"/>
              </a:ext>
            </a:extLst>
          </p:cNvPr>
          <p:cNvSpPr/>
          <p:nvPr/>
        </p:nvSpPr>
        <p:spPr>
          <a:xfrm>
            <a:off x="4343298" y="1905000"/>
            <a:ext cx="3505099" cy="76200"/>
          </a:xfrm>
          <a:prstGeom prst="rect">
            <a:avLst/>
          </a:prstGeom>
          <a:solidFill>
            <a:srgbClr val="0F7A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805FB34A-4268-ED67-5AE1-56103B645FDB}"/>
              </a:ext>
            </a:extLst>
          </p:cNvPr>
          <p:cNvSpPr txBox="1"/>
          <p:nvPr/>
        </p:nvSpPr>
        <p:spPr>
          <a:xfrm>
            <a:off x="4546498" y="2133600"/>
            <a:ext cx="3098698" cy="323165"/>
          </a:xfrm>
          <a:prstGeom prst="rect">
            <a:avLst/>
          </a:prstGeom>
          <a:noFill/>
        </p:spPr>
        <p:txBody>
          <a:bodyPr vert="horz" wrap="square" rtlCol="0">
            <a:spAutoFit/>
          </a:bodyPr>
          <a:lstStyle/>
          <a:p>
            <a:r>
              <a:rPr lang="en-US" sz="1500" b="1">
                <a:solidFill>
                  <a:srgbClr val="1B2340"/>
                </a:solidFill>
                <a:latin typeface="IBM Plex Sans" panose="020B0503050203000203" pitchFamily="34" charset="0"/>
              </a:rPr>
              <a:t>2 Ã‚Â· Intent function call</a:t>
            </a:r>
            <a:endParaRPr lang="en-IN" sz="1500" b="1">
              <a:solidFill>
                <a:srgbClr val="1B2340"/>
              </a:solidFill>
              <a:latin typeface="IBM Plex Sans" panose="020B0503050203000203" pitchFamily="34" charset="0"/>
            </a:endParaRPr>
          </a:p>
        </p:txBody>
      </p:sp>
      <p:sp>
        <p:nvSpPr>
          <p:cNvPr id="11" name="TextBox 10">
            <a:extLst>
              <a:ext uri="{FF2B5EF4-FFF2-40B4-BE49-F238E27FC236}">
                <a16:creationId xmlns:a16="http://schemas.microsoft.com/office/drawing/2014/main" id="{73E928F7-A635-5FF9-5790-2A1E062D78D2}"/>
              </a:ext>
            </a:extLst>
          </p:cNvPr>
          <p:cNvSpPr txBox="1"/>
          <p:nvPr/>
        </p:nvSpPr>
        <p:spPr>
          <a:xfrm>
            <a:off x="4546498" y="2743200"/>
            <a:ext cx="3098698" cy="369332"/>
          </a:xfrm>
          <a:prstGeom prst="rect">
            <a:avLst/>
          </a:prstGeom>
          <a:noFill/>
        </p:spPr>
        <p:txBody>
          <a:bodyPr vert="horz" wrap="square" rtlCol="0">
            <a:noAutofit/>
          </a:bodyPr>
          <a:lstStyle/>
          <a:p>
            <a:pPr marL="342900" indent="-342900">
              <a:buFont typeface="+mj-lt"/>
              <a:buChar char="•"/>
            </a:pPr>
            <a:r>
              <a:rPr lang="en-IN" sz="1300">
                <a:solidFill>
                  <a:srgbClr val="5B6182"/>
                </a:solidFill>
                <a:latin typeface="IBM Plex Sans" panose="020B0503050203000203" pitchFamily="34" charset="0"/>
              </a:rPr>
              <a:t>{fn: \</a:t>
            </a:r>
          </a:p>
        </p:txBody>
      </p:sp>
      <p:sp>
        <p:nvSpPr>
          <p:cNvPr id="12" name="Rectangle: Rounded Corners 11">
            <a:extLst>
              <a:ext uri="{FF2B5EF4-FFF2-40B4-BE49-F238E27FC236}">
                <a16:creationId xmlns:a16="http://schemas.microsoft.com/office/drawing/2014/main" id="{07576EDB-C3F6-D32B-524E-6B9059116F60}"/>
              </a:ext>
            </a:extLst>
          </p:cNvPr>
          <p:cNvSpPr/>
          <p:nvPr/>
        </p:nvSpPr>
        <p:spPr>
          <a:xfrm>
            <a:off x="8102397" y="1905000"/>
            <a:ext cx="3505098" cy="4191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F63B8451-88FE-73D3-A2E1-D14A7044FC2E}"/>
              </a:ext>
            </a:extLst>
          </p:cNvPr>
          <p:cNvSpPr/>
          <p:nvPr/>
        </p:nvSpPr>
        <p:spPr>
          <a:xfrm>
            <a:off x="8102397" y="1905000"/>
            <a:ext cx="3505098" cy="76200"/>
          </a:xfrm>
          <a:prstGeom prst="rect">
            <a:avLst/>
          </a:prstGeom>
          <a:solidFill>
            <a:srgbClr val="0F7A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3B9C03D7-C229-F7E7-9980-DCC99AA69F0C}"/>
              </a:ext>
            </a:extLst>
          </p:cNvPr>
          <p:cNvSpPr txBox="1"/>
          <p:nvPr/>
        </p:nvSpPr>
        <p:spPr>
          <a:xfrm>
            <a:off x="8305597" y="2133600"/>
            <a:ext cx="3098698" cy="323165"/>
          </a:xfrm>
          <a:prstGeom prst="rect">
            <a:avLst/>
          </a:prstGeom>
          <a:noFill/>
        </p:spPr>
        <p:txBody>
          <a:bodyPr vert="horz" wrap="square" rtlCol="0">
            <a:spAutoFit/>
          </a:bodyPr>
          <a:lstStyle/>
          <a:p>
            <a:r>
              <a:rPr lang="en-US" sz="1500" b="1">
                <a:solidFill>
                  <a:srgbClr val="1B2340"/>
                </a:solidFill>
                <a:latin typeface="IBM Plex Sans" panose="020B0503050203000203" pitchFamily="34" charset="0"/>
              </a:rPr>
              <a:t>3 Ã‚Â· Function call gt render</a:t>
            </a:r>
            <a:endParaRPr lang="en-IN" sz="1500" b="1">
              <a:solidFill>
                <a:srgbClr val="1B2340"/>
              </a:solidFill>
              <a:latin typeface="IBM Plex Sans" panose="020B0503050203000203" pitchFamily="34" charset="0"/>
            </a:endParaRPr>
          </a:p>
        </p:txBody>
      </p:sp>
      <p:sp>
        <p:nvSpPr>
          <p:cNvPr id="15" name="TextBox 14">
            <a:extLst>
              <a:ext uri="{FF2B5EF4-FFF2-40B4-BE49-F238E27FC236}">
                <a16:creationId xmlns:a16="http://schemas.microsoft.com/office/drawing/2014/main" id="{F5E2D828-A12F-3B9F-067A-5B6EA706B7E1}"/>
              </a:ext>
            </a:extLst>
          </p:cNvPr>
          <p:cNvSpPr txBox="1"/>
          <p:nvPr/>
        </p:nvSpPr>
        <p:spPr>
          <a:xfrm>
            <a:off x="8305597" y="2743200"/>
            <a:ext cx="3098698" cy="369332"/>
          </a:xfrm>
          <a:prstGeom prst="rect">
            <a:avLst/>
          </a:prstGeom>
          <a:noFill/>
        </p:spPr>
        <p:txBody>
          <a:bodyPr vert="horz" wrap="square" rtlCol="0">
            <a:noAutofit/>
          </a:bodyPr>
          <a:lstStyle/>
          <a:p>
            <a:pPr marL="342900" indent="-342900">
              <a:buFont typeface="+mj-lt"/>
              <a:buChar char="•"/>
            </a:pPr>
            <a:r>
              <a:rPr lang="en-US" sz="1300">
                <a:solidFill>
                  <a:srgbClr val="5B6182"/>
                </a:solidFill>
                <a:latin typeface="IBM Plex Sans" panose="020B0503050203000203" pitchFamily="34" charset="0"/>
              </a:rPr>
              <a:t>The exact same build_ae_socpt() and to_gt() from the code walkthrough render the result no new rendering path.</a:t>
            </a:r>
            <a:endParaRPr lang="en-IN" sz="1300">
              <a:solidFill>
                <a:srgbClr val="5B6182"/>
              </a:solidFill>
              <a:latin typeface="IBM Plex Sans" panose="020B0503050203000203" pitchFamily="34" charset="0"/>
            </a:endParaRPr>
          </a:p>
        </p:txBody>
      </p:sp>
      <p:sp>
        <p:nvSpPr>
          <p:cNvPr id="16" name="TextBox 15">
            <a:extLst>
              <a:ext uri="{FF2B5EF4-FFF2-40B4-BE49-F238E27FC236}">
                <a16:creationId xmlns:a16="http://schemas.microsoft.com/office/drawing/2014/main" id="{72B4BB4C-07EE-D5A8-B081-DC88777F01E6}"/>
              </a:ext>
            </a:extLst>
          </p:cNvPr>
          <p:cNvSpPr txBox="1"/>
          <p:nvPr/>
        </p:nvSpPr>
        <p:spPr>
          <a:xfrm>
            <a:off x="304800" y="6553200"/>
            <a:ext cx="6350000" cy="276999"/>
          </a:xfrm>
          <a:prstGeom prst="rect">
            <a:avLst/>
          </a:prstGeom>
          <a:noFill/>
        </p:spPr>
        <p:txBody>
          <a:bodyPr vert="horz" wrap="square" rtlCol="0">
            <a:spAutoFit/>
          </a:bodyPr>
          <a:lstStyle/>
          <a:p>
            <a:r>
              <a:rPr lang="it-IT" sz="1200" i="1">
                <a:solidFill>
                  <a:srgbClr val="5B6182"/>
                </a:solidFill>
                <a:latin typeface="IBM Plex Sans" panose="020B0503050203000203" pitchFamily="34" charset="0"/>
              </a:rPr>
              <a:t>Session 5 Ã‚Â· AI &amp; LLM Integration</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112899728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8CA5CC0-B0C4-B87F-FD46-492F8ABC5629}"/>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16:45 Ã¢ 17:15 Ã‚Â· VENKATESH + MAHESH</a:t>
            </a:r>
          </a:p>
        </p:txBody>
      </p:sp>
      <p:sp>
        <p:nvSpPr>
          <p:cNvPr id="3" name="TextBox 2">
            <a:extLst>
              <a:ext uri="{FF2B5EF4-FFF2-40B4-BE49-F238E27FC236}">
                <a16:creationId xmlns:a16="http://schemas.microsoft.com/office/drawing/2014/main" id="{FB0F225F-C8A2-F191-2410-4842345E6103}"/>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Handling ambiguity and follow-up questions</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48BD85F1-D281-BBAF-8606-FE77DB75CB1F}"/>
              </a:ext>
            </a:extLst>
          </p:cNvPr>
          <p:cNvSpPr/>
          <p:nvPr/>
        </p:nvSpPr>
        <p:spPr>
          <a:xfrm>
            <a:off x="584200" y="1651000"/>
            <a:ext cx="11023295"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814BF7C8-D576-6327-B6D9-A2EF4C94B63D}"/>
              </a:ext>
            </a:extLst>
          </p:cNvPr>
          <p:cNvSpPr txBox="1"/>
          <p:nvPr/>
        </p:nvSpPr>
        <p:spPr>
          <a:xfrm>
            <a:off x="889000" y="1930400"/>
            <a:ext cx="10413695" cy="369332"/>
          </a:xfrm>
          <a:prstGeom prst="rect">
            <a:avLst/>
          </a:prstGeom>
          <a:noFill/>
        </p:spPr>
        <p:txBody>
          <a:bodyPr vert="horz" wrap="square" rtlCol="0">
            <a:noAutofit/>
          </a:bodyPr>
          <a:lstStyle/>
          <a:p>
            <a:pPr marL="342900" indent="-342900">
              <a:buFont typeface="+mj-lt"/>
              <a:buChar char="•"/>
            </a:pPr>
            <a:r>
              <a:rPr lang="en-US" sz="1600">
                <a:solidFill>
                  <a:srgbClr val="5B6182"/>
                </a:solidFill>
                <a:latin typeface="IBM Plex Sans" panose="020B0503050203000203" pitchFamily="34" charset="0"/>
              </a:rPr>
              <a:t>`
 If a request under-specifies a required argument e.g. no population flag given the system prompt instructs the model to ask a clarifying question rather than default silently. This mirrors how a programmer would handle an ambiguous ad-hoc request from a study team: clarify before producing a number that could be misread.
`</a:t>
            </a:r>
            <a:endParaRPr lang="en-IN" sz="1600">
              <a:solidFill>
                <a:srgbClr val="5B6182"/>
              </a:solidFill>
              <a:latin typeface="IBM Plex Sans" panose="020B0503050203000203" pitchFamily="34" charset="0"/>
            </a:endParaRPr>
          </a:p>
        </p:txBody>
      </p:sp>
      <p:sp>
        <p:nvSpPr>
          <p:cNvPr id="6" name="TextBox 5">
            <a:extLst>
              <a:ext uri="{FF2B5EF4-FFF2-40B4-BE49-F238E27FC236}">
                <a16:creationId xmlns:a16="http://schemas.microsoft.com/office/drawing/2014/main" id="{12D9B3A9-2F36-F53D-C240-BC5CCBC81FBD}"/>
              </a:ext>
            </a:extLst>
          </p:cNvPr>
          <p:cNvSpPr txBox="1"/>
          <p:nvPr/>
        </p:nvSpPr>
        <p:spPr>
          <a:xfrm>
            <a:off x="304800" y="6553200"/>
            <a:ext cx="6350000" cy="276999"/>
          </a:xfrm>
          <a:prstGeom prst="rect">
            <a:avLst/>
          </a:prstGeom>
          <a:noFill/>
        </p:spPr>
        <p:txBody>
          <a:bodyPr vert="horz" wrap="square" rtlCol="0">
            <a:spAutoFit/>
          </a:bodyPr>
          <a:lstStyle/>
          <a:p>
            <a:r>
              <a:rPr lang="it-IT" sz="1200" i="1">
                <a:solidFill>
                  <a:srgbClr val="5B6182"/>
                </a:solidFill>
                <a:latin typeface="IBM Plex Sans" panose="020B0503050203000203" pitchFamily="34" charset="0"/>
              </a:rPr>
              <a:t>Session 5 Ã‚Â· AI &amp; LLM Integration</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353826344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FFA4ED-77EF-7BBD-464D-EA53DBDF0FD6}"/>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16:45 Ã¢ 17:15 Ã‚Â· VENKATESH + MAHESH</a:t>
            </a:r>
          </a:p>
        </p:txBody>
      </p:sp>
      <p:sp>
        <p:nvSpPr>
          <p:cNvPr id="3" name="TextBox 2">
            <a:extLst>
              <a:ext uri="{FF2B5EF4-FFF2-40B4-BE49-F238E27FC236}">
                <a16:creationId xmlns:a16="http://schemas.microsoft.com/office/drawing/2014/main" id="{8A4190E9-E9F3-1883-2FA6-86C8C88BB385}"/>
              </a:ext>
            </a:extLst>
          </p:cNvPr>
          <p:cNvSpPr txBox="1"/>
          <p:nvPr/>
        </p:nvSpPr>
        <p:spPr>
          <a:xfrm>
            <a:off x="584200" y="609600"/>
            <a:ext cx="14605000" cy="492443"/>
          </a:xfrm>
          <a:prstGeom prst="rect">
            <a:avLst/>
          </a:prstGeom>
          <a:noFill/>
        </p:spPr>
        <p:txBody>
          <a:bodyPr vert="horz" wrap="square" rtlCol="0">
            <a:spAutoFit/>
          </a:bodyPr>
          <a:lstStyle/>
          <a:p>
            <a:r>
              <a:rPr lang="en-IN" sz="2600" b="1">
                <a:solidFill>
                  <a:srgbClr val="1B2340"/>
                </a:solidFill>
                <a:latin typeface="IBM Plex Sans" panose="020B0503050203000203" pitchFamily="34" charset="0"/>
              </a:rPr>
              <a:t>Sample conversation transcript</a:t>
            </a:r>
          </a:p>
        </p:txBody>
      </p:sp>
      <p:sp>
        <p:nvSpPr>
          <p:cNvPr id="4" name="Rectangle: Rounded Corners 3">
            <a:extLst>
              <a:ext uri="{FF2B5EF4-FFF2-40B4-BE49-F238E27FC236}">
                <a16:creationId xmlns:a16="http://schemas.microsoft.com/office/drawing/2014/main" id="{545BF004-FA12-6B7D-90BB-1042CC7732F0}"/>
              </a:ext>
            </a:extLst>
          </p:cNvPr>
          <p:cNvSpPr/>
          <p:nvPr/>
        </p:nvSpPr>
        <p:spPr>
          <a:xfrm>
            <a:off x="584200" y="1651000"/>
            <a:ext cx="11023295"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3D7FDDA2-4566-FDA4-01BE-D75233811929}"/>
              </a:ext>
            </a:extLst>
          </p:cNvPr>
          <p:cNvSpPr txBox="1"/>
          <p:nvPr/>
        </p:nvSpPr>
        <p:spPr>
          <a:xfrm>
            <a:off x="889000" y="1930400"/>
            <a:ext cx="10413695" cy="369332"/>
          </a:xfrm>
          <a:prstGeom prst="rect">
            <a:avLst/>
          </a:prstGeom>
          <a:noFill/>
        </p:spPr>
        <p:txBody>
          <a:bodyPr vert="horz" wrap="square" rtlCol="0">
            <a:noAutofit/>
          </a:bodyPr>
          <a:lstStyle/>
          <a:p>
            <a:pPr marL="342900" indent="-342900">
              <a:buFont typeface="+mj-lt"/>
              <a:buChar char="•"/>
            </a:pPr>
            <a:r>
              <a:rPr lang="en-US" sz="1600">
                <a:solidFill>
                  <a:srgbClr val="5B6182"/>
                </a:solidFill>
                <a:latin typeface="IBM Plex Sans" panose="020B0503050203000203" pitchFamily="34" charset="0"/>
              </a:rPr>
              <a:t>`
 Analyst: Show me the AE summary by SOC and PT for the safety population, severe events only, minimum 5% incidence.
 Assistant: Building AE by SOC/PT Safety Analysis Set (SAFFL), Severe events, &gt;=5% incidence in any arm. [table renders in the Tables tab]
 Analyst: Now compare that to Moderate and Severe combined.
 Assistant: Updating severity filter to Moderate + Severe, same population and threshold. [table re-renders]
`</a:t>
            </a:r>
            <a:endParaRPr lang="en-IN" sz="1600">
              <a:solidFill>
                <a:srgbClr val="5B6182"/>
              </a:solidFill>
              <a:latin typeface="IBM Plex Sans" panose="020B0503050203000203" pitchFamily="34" charset="0"/>
            </a:endParaRPr>
          </a:p>
        </p:txBody>
      </p:sp>
      <p:sp>
        <p:nvSpPr>
          <p:cNvPr id="6" name="TextBox 5">
            <a:extLst>
              <a:ext uri="{FF2B5EF4-FFF2-40B4-BE49-F238E27FC236}">
                <a16:creationId xmlns:a16="http://schemas.microsoft.com/office/drawing/2014/main" id="{675B1414-306D-8E72-F2D4-DEFCE5534F68}"/>
              </a:ext>
            </a:extLst>
          </p:cNvPr>
          <p:cNvSpPr txBox="1"/>
          <p:nvPr/>
        </p:nvSpPr>
        <p:spPr>
          <a:xfrm>
            <a:off x="304800" y="6553200"/>
            <a:ext cx="6350000" cy="276999"/>
          </a:xfrm>
          <a:prstGeom prst="rect">
            <a:avLst/>
          </a:prstGeom>
          <a:noFill/>
        </p:spPr>
        <p:txBody>
          <a:bodyPr vert="horz" wrap="square" rtlCol="0">
            <a:spAutoFit/>
          </a:bodyPr>
          <a:lstStyle/>
          <a:p>
            <a:r>
              <a:rPr lang="it-IT" sz="1200" i="1">
                <a:solidFill>
                  <a:srgbClr val="5B6182"/>
                </a:solidFill>
                <a:latin typeface="IBM Plex Sans" panose="020B0503050203000203" pitchFamily="34" charset="0"/>
              </a:rPr>
              <a:t>Session 5 Ã‚Â· AI &amp; LLM Integration</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27371177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1D6EA1-135B-EEDF-E9AE-741B5AB4249F}"/>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DESIGN CONSIDERATIONS</a:t>
            </a:r>
          </a:p>
        </p:txBody>
      </p:sp>
      <p:sp>
        <p:nvSpPr>
          <p:cNvPr id="3" name="TextBox 2">
            <a:extLst>
              <a:ext uri="{FF2B5EF4-FFF2-40B4-BE49-F238E27FC236}">
                <a16:creationId xmlns:a16="http://schemas.microsoft.com/office/drawing/2014/main" id="{E641D88B-4BA3-8C45-1796-3C241C697837}"/>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OpenAI API Ã¢ what it brings</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A0E46261-A1E3-6721-B3CC-5B4A5534A192}"/>
              </a:ext>
            </a:extLst>
          </p:cNvPr>
          <p:cNvSpPr/>
          <p:nvPr/>
        </p:nvSpPr>
        <p:spPr>
          <a:xfrm>
            <a:off x="584200" y="1651000"/>
            <a:ext cx="5359248"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AF3CFE27-D9A8-E7AC-BFCE-B8EF3654B4B7}"/>
              </a:ext>
            </a:extLst>
          </p:cNvPr>
          <p:cNvSpPr txBox="1"/>
          <p:nvPr/>
        </p:nvSpPr>
        <p:spPr>
          <a:xfrm>
            <a:off x="863600" y="1879600"/>
            <a:ext cx="4800448" cy="353943"/>
          </a:xfrm>
          <a:prstGeom prst="rect">
            <a:avLst/>
          </a:prstGeom>
          <a:noFill/>
        </p:spPr>
        <p:txBody>
          <a:bodyPr vert="horz" wrap="square" rtlCol="0">
            <a:spAutoFit/>
          </a:bodyPr>
          <a:lstStyle/>
          <a:p>
            <a:r>
              <a:rPr lang="en-IN" sz="1700" b="1">
                <a:solidFill>
                  <a:srgbClr val="1B2340"/>
                </a:solidFill>
                <a:latin typeface="IBM Plex Sans" panose="020B0503050203000203" pitchFamily="34" charset="0"/>
              </a:rPr>
              <a:t>Strengths</a:t>
            </a:r>
          </a:p>
        </p:txBody>
      </p:sp>
      <p:sp>
        <p:nvSpPr>
          <p:cNvPr id="6" name="TextBox 5">
            <a:extLst>
              <a:ext uri="{FF2B5EF4-FFF2-40B4-BE49-F238E27FC236}">
                <a16:creationId xmlns:a16="http://schemas.microsoft.com/office/drawing/2014/main" id="{4B1981E2-4C7A-EDD0-E89D-B0498AC3A6BA}"/>
              </a:ext>
            </a:extLst>
          </p:cNvPr>
          <p:cNvSpPr txBox="1"/>
          <p:nvPr/>
        </p:nvSpPr>
        <p:spPr>
          <a:xfrm>
            <a:off x="863600" y="2311400"/>
            <a:ext cx="4800448" cy="369332"/>
          </a:xfrm>
          <a:prstGeom prst="rect">
            <a:avLst/>
          </a:prstGeom>
          <a:noFill/>
        </p:spPr>
        <p:txBody>
          <a:bodyPr vert="horz" wrap="square" rtlCol="0">
            <a:noAutofit/>
          </a:bodyPr>
          <a:lstStyle/>
          <a:p>
            <a:pPr marL="342900" indent="-342900">
              <a:buFont typeface="+mj-lt"/>
              <a:buChar char="•"/>
            </a:pPr>
            <a:r>
              <a:rPr lang="en-US" sz="1500">
                <a:solidFill>
                  <a:srgbClr val="5B6182"/>
                </a:solidFill>
                <a:latin typeface="IBM Plex Sans" panose="020B0503050203000203" pitchFamily="34" charset="0"/>
              </a:rPr>
              <a:t>Mature function-calling / structured-output support, widely documented
Broad ecosystem familiarity for engineering teams already using it elsewhere
Competitive latency for short, structured intent-parsing calls</a:t>
            </a:r>
            <a:endParaRPr lang="en-IN" sz="1500">
              <a:solidFill>
                <a:srgbClr val="5B6182"/>
              </a:solidFill>
              <a:latin typeface="IBM Plex Sans" panose="020B0503050203000203" pitchFamily="34" charset="0"/>
            </a:endParaRPr>
          </a:p>
        </p:txBody>
      </p:sp>
      <p:sp>
        <p:nvSpPr>
          <p:cNvPr id="7" name="Rectangle: Rounded Corners 6">
            <a:extLst>
              <a:ext uri="{FF2B5EF4-FFF2-40B4-BE49-F238E27FC236}">
                <a16:creationId xmlns:a16="http://schemas.microsoft.com/office/drawing/2014/main" id="{FCB8EC9C-2C5A-99D7-5394-2AE76F0C203B}"/>
              </a:ext>
            </a:extLst>
          </p:cNvPr>
          <p:cNvSpPr/>
          <p:nvPr/>
        </p:nvSpPr>
        <p:spPr>
          <a:xfrm>
            <a:off x="6248248" y="1651000"/>
            <a:ext cx="5359247"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CA3D4BCB-79F2-856B-3960-F4A29A336065}"/>
              </a:ext>
            </a:extLst>
          </p:cNvPr>
          <p:cNvSpPr txBox="1"/>
          <p:nvPr/>
        </p:nvSpPr>
        <p:spPr>
          <a:xfrm>
            <a:off x="6527647" y="1879600"/>
            <a:ext cx="4800448" cy="353943"/>
          </a:xfrm>
          <a:prstGeom prst="rect">
            <a:avLst/>
          </a:prstGeom>
          <a:noFill/>
        </p:spPr>
        <p:txBody>
          <a:bodyPr vert="horz" wrap="square" rtlCol="0">
            <a:spAutoFit/>
          </a:bodyPr>
          <a:lstStyle/>
          <a:p>
            <a:r>
              <a:rPr lang="en-IN" sz="1700" b="1">
                <a:solidFill>
                  <a:srgbClr val="1B2340"/>
                </a:solidFill>
                <a:latin typeface="IBM Plex Sans" panose="020B0503050203000203" pitchFamily="34" charset="0"/>
              </a:rPr>
              <a:t>Considerations</a:t>
            </a:r>
          </a:p>
        </p:txBody>
      </p:sp>
      <p:sp>
        <p:nvSpPr>
          <p:cNvPr id="9" name="TextBox 8">
            <a:extLst>
              <a:ext uri="{FF2B5EF4-FFF2-40B4-BE49-F238E27FC236}">
                <a16:creationId xmlns:a16="http://schemas.microsoft.com/office/drawing/2014/main" id="{61AF8D30-0DF9-3CD7-5495-81B3AB2121D0}"/>
              </a:ext>
            </a:extLst>
          </p:cNvPr>
          <p:cNvSpPr txBox="1"/>
          <p:nvPr/>
        </p:nvSpPr>
        <p:spPr>
          <a:xfrm>
            <a:off x="6527647" y="2311400"/>
            <a:ext cx="4800448" cy="369332"/>
          </a:xfrm>
          <a:prstGeom prst="rect">
            <a:avLst/>
          </a:prstGeom>
          <a:noFill/>
        </p:spPr>
        <p:txBody>
          <a:bodyPr vert="horz" wrap="square" rtlCol="0">
            <a:noAutofit/>
          </a:bodyPr>
          <a:lstStyle/>
          <a:p>
            <a:pPr marL="342900" indent="-342900">
              <a:buFont typeface="+mj-lt"/>
              <a:buChar char="•"/>
            </a:pPr>
            <a:r>
              <a:rPr lang="en-US" sz="1500">
                <a:solidFill>
                  <a:srgbClr val="5B6182"/>
                </a:solidFill>
                <a:latin typeface="IBM Plex Sans" panose="020B0503050203000203" pitchFamily="34" charset="0"/>
              </a:rPr>
              <a:t>Confirm the specific data-use and retention terms for the account tier in use
Cost scales with context size keep only schema + metadata in the prompt, never subject-level data
Model version pinning matters for a validated deployment track it like a package version</a:t>
            </a:r>
            <a:endParaRPr lang="en-IN" sz="1500">
              <a:solidFill>
                <a:srgbClr val="5B6182"/>
              </a:solidFill>
              <a:latin typeface="IBM Plex Sans" panose="020B0503050203000203" pitchFamily="34" charset="0"/>
            </a:endParaRPr>
          </a:p>
        </p:txBody>
      </p:sp>
      <p:sp>
        <p:nvSpPr>
          <p:cNvPr id="10" name="TextBox 9">
            <a:extLst>
              <a:ext uri="{FF2B5EF4-FFF2-40B4-BE49-F238E27FC236}">
                <a16:creationId xmlns:a16="http://schemas.microsoft.com/office/drawing/2014/main" id="{2ECF93D7-494F-8809-26CB-8692AECA0F03}"/>
              </a:ext>
            </a:extLst>
          </p:cNvPr>
          <p:cNvSpPr txBox="1"/>
          <p:nvPr/>
        </p:nvSpPr>
        <p:spPr>
          <a:xfrm>
            <a:off x="304800" y="6553200"/>
            <a:ext cx="6350000" cy="276999"/>
          </a:xfrm>
          <a:prstGeom prst="rect">
            <a:avLst/>
          </a:prstGeom>
          <a:noFill/>
        </p:spPr>
        <p:txBody>
          <a:bodyPr vert="horz" wrap="square" rtlCol="0">
            <a:spAutoFit/>
          </a:bodyPr>
          <a:lstStyle/>
          <a:p>
            <a:r>
              <a:rPr lang="it-IT" sz="1200" i="1">
                <a:solidFill>
                  <a:srgbClr val="5B6182"/>
                </a:solidFill>
                <a:latin typeface="IBM Plex Sans" panose="020B0503050203000203" pitchFamily="34" charset="0"/>
              </a:rPr>
              <a:t>Session 5 Ã‚Â· AI &amp; LLM Integration</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313418494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514E04-A8E5-004C-C426-929E18497A56}"/>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DESIGN CONSIDERATIONS</a:t>
            </a:r>
          </a:p>
        </p:txBody>
      </p:sp>
      <p:sp>
        <p:nvSpPr>
          <p:cNvPr id="3" name="TextBox 2">
            <a:extLst>
              <a:ext uri="{FF2B5EF4-FFF2-40B4-BE49-F238E27FC236}">
                <a16:creationId xmlns:a16="http://schemas.microsoft.com/office/drawing/2014/main" id="{762DF510-C379-B50B-166B-BAA4811C6C1D}"/>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Claude API Ã¢ what it brings</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444DC725-66C3-059A-862D-3DBD633135D5}"/>
              </a:ext>
            </a:extLst>
          </p:cNvPr>
          <p:cNvSpPr/>
          <p:nvPr/>
        </p:nvSpPr>
        <p:spPr>
          <a:xfrm>
            <a:off x="584200" y="1651000"/>
            <a:ext cx="5359248"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281EE131-3DDF-E47B-98A0-CC5DD366AA8E}"/>
              </a:ext>
            </a:extLst>
          </p:cNvPr>
          <p:cNvSpPr txBox="1"/>
          <p:nvPr/>
        </p:nvSpPr>
        <p:spPr>
          <a:xfrm>
            <a:off x="863600" y="1879600"/>
            <a:ext cx="4800448" cy="353943"/>
          </a:xfrm>
          <a:prstGeom prst="rect">
            <a:avLst/>
          </a:prstGeom>
          <a:noFill/>
        </p:spPr>
        <p:txBody>
          <a:bodyPr vert="horz" wrap="square" rtlCol="0">
            <a:spAutoFit/>
          </a:bodyPr>
          <a:lstStyle/>
          <a:p>
            <a:r>
              <a:rPr lang="en-IN" sz="1700" b="1">
                <a:solidFill>
                  <a:srgbClr val="1B2340"/>
                </a:solidFill>
                <a:latin typeface="IBM Plex Sans" panose="020B0503050203000203" pitchFamily="34" charset="0"/>
              </a:rPr>
              <a:t>Strengths</a:t>
            </a:r>
          </a:p>
        </p:txBody>
      </p:sp>
      <p:sp>
        <p:nvSpPr>
          <p:cNvPr id="6" name="TextBox 5">
            <a:extLst>
              <a:ext uri="{FF2B5EF4-FFF2-40B4-BE49-F238E27FC236}">
                <a16:creationId xmlns:a16="http://schemas.microsoft.com/office/drawing/2014/main" id="{93D2965F-5E83-37E2-28E9-3EBB7DD2F8C3}"/>
              </a:ext>
            </a:extLst>
          </p:cNvPr>
          <p:cNvSpPr txBox="1"/>
          <p:nvPr/>
        </p:nvSpPr>
        <p:spPr>
          <a:xfrm>
            <a:off x="863600" y="2311400"/>
            <a:ext cx="4800448" cy="369332"/>
          </a:xfrm>
          <a:prstGeom prst="rect">
            <a:avLst/>
          </a:prstGeom>
          <a:noFill/>
        </p:spPr>
        <p:txBody>
          <a:bodyPr vert="horz" wrap="square" rtlCol="0">
            <a:noAutofit/>
          </a:bodyPr>
          <a:lstStyle/>
          <a:p>
            <a:pPr marL="342900" indent="-342900">
              <a:buFont typeface="+mj-lt"/>
              <a:buChar char="•"/>
            </a:pPr>
            <a:r>
              <a:rPr lang="en-US" sz="1500">
                <a:solidFill>
                  <a:srgbClr val="5B6182"/>
                </a:solidFill>
                <a:latin typeface="IBM Plex Sans" panose="020B0503050203000203" pitchFamily="34" charset="0"/>
              </a:rPr>
              <a:t>Strong structured-output and tool-use behavior, well suited to the intent-router pattern
Large context window headroom if richer schema/context needs to be passed
Anthropic's enterprise terms are a natural fit for teams already governed by them</a:t>
            </a:r>
            <a:endParaRPr lang="en-IN" sz="1500">
              <a:solidFill>
                <a:srgbClr val="5B6182"/>
              </a:solidFill>
              <a:latin typeface="IBM Plex Sans" panose="020B0503050203000203" pitchFamily="34" charset="0"/>
            </a:endParaRPr>
          </a:p>
        </p:txBody>
      </p:sp>
      <p:sp>
        <p:nvSpPr>
          <p:cNvPr id="7" name="Rectangle: Rounded Corners 6">
            <a:extLst>
              <a:ext uri="{FF2B5EF4-FFF2-40B4-BE49-F238E27FC236}">
                <a16:creationId xmlns:a16="http://schemas.microsoft.com/office/drawing/2014/main" id="{58F41B16-FC62-5EC0-645A-13A2584ABE10}"/>
              </a:ext>
            </a:extLst>
          </p:cNvPr>
          <p:cNvSpPr/>
          <p:nvPr/>
        </p:nvSpPr>
        <p:spPr>
          <a:xfrm>
            <a:off x="6248248" y="1651000"/>
            <a:ext cx="5359247"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6813F757-C81E-C5A3-3EAC-E321B900D53D}"/>
              </a:ext>
            </a:extLst>
          </p:cNvPr>
          <p:cNvSpPr txBox="1"/>
          <p:nvPr/>
        </p:nvSpPr>
        <p:spPr>
          <a:xfrm>
            <a:off x="6527647" y="1879600"/>
            <a:ext cx="4800448" cy="353943"/>
          </a:xfrm>
          <a:prstGeom prst="rect">
            <a:avLst/>
          </a:prstGeom>
          <a:noFill/>
        </p:spPr>
        <p:txBody>
          <a:bodyPr vert="horz" wrap="square" rtlCol="0">
            <a:spAutoFit/>
          </a:bodyPr>
          <a:lstStyle/>
          <a:p>
            <a:r>
              <a:rPr lang="en-IN" sz="1700" b="1">
                <a:solidFill>
                  <a:srgbClr val="1B2340"/>
                </a:solidFill>
                <a:latin typeface="IBM Plex Sans" panose="020B0503050203000203" pitchFamily="34" charset="0"/>
              </a:rPr>
              <a:t>Considerations</a:t>
            </a:r>
          </a:p>
        </p:txBody>
      </p:sp>
      <p:sp>
        <p:nvSpPr>
          <p:cNvPr id="9" name="TextBox 8">
            <a:extLst>
              <a:ext uri="{FF2B5EF4-FFF2-40B4-BE49-F238E27FC236}">
                <a16:creationId xmlns:a16="http://schemas.microsoft.com/office/drawing/2014/main" id="{D07B07E3-7D73-11A4-CFCE-0603E9E1EB95}"/>
              </a:ext>
            </a:extLst>
          </p:cNvPr>
          <p:cNvSpPr txBox="1"/>
          <p:nvPr/>
        </p:nvSpPr>
        <p:spPr>
          <a:xfrm>
            <a:off x="6527647" y="2311400"/>
            <a:ext cx="4800448" cy="369332"/>
          </a:xfrm>
          <a:prstGeom prst="rect">
            <a:avLst/>
          </a:prstGeom>
          <a:noFill/>
        </p:spPr>
        <p:txBody>
          <a:bodyPr vert="horz" wrap="square" rtlCol="0">
            <a:noAutofit/>
          </a:bodyPr>
          <a:lstStyle/>
          <a:p>
            <a:pPr marL="342900" indent="-342900">
              <a:buFont typeface="+mj-lt"/>
              <a:buChar char="•"/>
            </a:pPr>
            <a:r>
              <a:rPr lang="en-US" sz="1500">
                <a:solidFill>
                  <a:srgbClr val="5B6182"/>
                </a:solidFill>
                <a:latin typeface="IBM Plex Sans" panose="020B0503050203000203" pitchFamily="34" charset="0"/>
              </a:rPr>
              <a:t>Same governance homework as any vendor API confirm data residency and retention terms
Latency and cost should be benchmarked against the actual function-schema size used here
Model version pinning applies here too, for the same validation reasons</a:t>
            </a:r>
            <a:endParaRPr lang="en-IN" sz="1500">
              <a:solidFill>
                <a:srgbClr val="5B6182"/>
              </a:solidFill>
              <a:latin typeface="IBM Plex Sans" panose="020B0503050203000203" pitchFamily="34" charset="0"/>
            </a:endParaRPr>
          </a:p>
        </p:txBody>
      </p:sp>
      <p:sp>
        <p:nvSpPr>
          <p:cNvPr id="10" name="TextBox 9">
            <a:extLst>
              <a:ext uri="{FF2B5EF4-FFF2-40B4-BE49-F238E27FC236}">
                <a16:creationId xmlns:a16="http://schemas.microsoft.com/office/drawing/2014/main" id="{19A2F9AF-F3ED-8A09-AD62-39E19F0583EA}"/>
              </a:ext>
            </a:extLst>
          </p:cNvPr>
          <p:cNvSpPr txBox="1"/>
          <p:nvPr/>
        </p:nvSpPr>
        <p:spPr>
          <a:xfrm>
            <a:off x="304800" y="6553200"/>
            <a:ext cx="6350000" cy="276999"/>
          </a:xfrm>
          <a:prstGeom prst="rect">
            <a:avLst/>
          </a:prstGeom>
          <a:noFill/>
        </p:spPr>
        <p:txBody>
          <a:bodyPr vert="horz" wrap="square" rtlCol="0">
            <a:spAutoFit/>
          </a:bodyPr>
          <a:lstStyle/>
          <a:p>
            <a:r>
              <a:rPr lang="it-IT" sz="1200" i="1">
                <a:solidFill>
                  <a:srgbClr val="5B6182"/>
                </a:solidFill>
                <a:latin typeface="IBM Plex Sans" panose="020B0503050203000203" pitchFamily="34" charset="0"/>
              </a:rPr>
              <a:t>Session 5 Ã‚Â· AI &amp; LLM Integration</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282994714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8EAF82-C72C-6905-09B8-FDD6D7FCAA53}"/>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DESIGN CONSIDERATIONS</a:t>
            </a:r>
          </a:p>
        </p:txBody>
      </p:sp>
      <p:sp>
        <p:nvSpPr>
          <p:cNvPr id="3" name="TextBox 2">
            <a:extLst>
              <a:ext uri="{FF2B5EF4-FFF2-40B4-BE49-F238E27FC236}">
                <a16:creationId xmlns:a16="http://schemas.microsoft.com/office/drawing/2014/main" id="{6A539709-984A-CBDF-5B0E-413C0A19374C}"/>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Ollama Ã¢ the on-prem fallback</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0562A2AF-EE4A-FE02-0107-970084C3CD96}"/>
              </a:ext>
            </a:extLst>
          </p:cNvPr>
          <p:cNvSpPr/>
          <p:nvPr/>
        </p:nvSpPr>
        <p:spPr>
          <a:xfrm>
            <a:off x="584200" y="1651000"/>
            <a:ext cx="11023295"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71547083-4B13-A0C1-89BA-5BF6DF239D85}"/>
              </a:ext>
            </a:extLst>
          </p:cNvPr>
          <p:cNvSpPr txBox="1"/>
          <p:nvPr/>
        </p:nvSpPr>
        <p:spPr>
          <a:xfrm>
            <a:off x="889000" y="1930400"/>
            <a:ext cx="10413695" cy="369332"/>
          </a:xfrm>
          <a:prstGeom prst="rect">
            <a:avLst/>
          </a:prstGeom>
          <a:noFill/>
        </p:spPr>
        <p:txBody>
          <a:bodyPr vert="horz" wrap="square" rtlCol="0">
            <a:noAutofit/>
          </a:bodyPr>
          <a:lstStyle/>
          <a:p>
            <a:pPr marL="342900" indent="-342900">
              <a:buFont typeface="+mj-lt"/>
              <a:buChar char="•"/>
            </a:pPr>
            <a:r>
              <a:rPr lang="en-US" sz="1600">
                <a:solidFill>
                  <a:srgbClr val="5B6182"/>
                </a:solidFill>
                <a:latin typeface="IBM Plex Sans" panose="020B0503050203000203" pitchFamily="34" charset="0"/>
              </a:rPr>
              <a:t>`
 Ollama runs an open-weight model locally or on internal infrastructure, using the same intent-router pattern a request comes in, the model returns a structured function call, app.R's existing functions execute it. No data, not even metadata, leaves the network. The trade-off is model capability: open-weight models may need more careful prompt engineering to match hosted-API reliability on structured output.
`</a:t>
            </a:r>
            <a:endParaRPr lang="en-IN" sz="1600">
              <a:solidFill>
                <a:srgbClr val="5B6182"/>
              </a:solidFill>
              <a:latin typeface="IBM Plex Sans" panose="020B0503050203000203" pitchFamily="34" charset="0"/>
            </a:endParaRPr>
          </a:p>
        </p:txBody>
      </p:sp>
      <p:sp>
        <p:nvSpPr>
          <p:cNvPr id="6" name="TextBox 5">
            <a:extLst>
              <a:ext uri="{FF2B5EF4-FFF2-40B4-BE49-F238E27FC236}">
                <a16:creationId xmlns:a16="http://schemas.microsoft.com/office/drawing/2014/main" id="{5844DBAF-D050-015A-E96D-7378BD9ED0BF}"/>
              </a:ext>
            </a:extLst>
          </p:cNvPr>
          <p:cNvSpPr txBox="1"/>
          <p:nvPr/>
        </p:nvSpPr>
        <p:spPr>
          <a:xfrm>
            <a:off x="304800" y="6553200"/>
            <a:ext cx="6350000" cy="276999"/>
          </a:xfrm>
          <a:prstGeom prst="rect">
            <a:avLst/>
          </a:prstGeom>
          <a:noFill/>
        </p:spPr>
        <p:txBody>
          <a:bodyPr vert="horz" wrap="square" rtlCol="0">
            <a:spAutoFit/>
          </a:bodyPr>
          <a:lstStyle/>
          <a:p>
            <a:r>
              <a:rPr lang="it-IT" sz="1200" i="1">
                <a:solidFill>
                  <a:srgbClr val="5B6182"/>
                </a:solidFill>
                <a:latin typeface="IBM Plex Sans" panose="020B0503050203000203" pitchFamily="34" charset="0"/>
              </a:rPr>
              <a:t>Session 5 Ã‚Â· AI &amp; LLM Integration</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199104647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A82E46-1C2B-566B-BEC6-454A4A04E900}"/>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DATA PRIVACY CONSIDERATIONS</a:t>
            </a:r>
          </a:p>
        </p:txBody>
      </p:sp>
      <p:sp>
        <p:nvSpPr>
          <p:cNvPr id="3" name="TextBox 2">
            <a:extLst>
              <a:ext uri="{FF2B5EF4-FFF2-40B4-BE49-F238E27FC236}">
                <a16:creationId xmlns:a16="http://schemas.microsoft.com/office/drawing/2014/main" id="{69F18816-BB70-490B-C3A5-68ABEC5F003D}"/>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Clinical data and LLM APIs Ã¢ what has to be true first</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DF30C415-9F67-B6B2-B775-C641D0C27084}"/>
              </a:ext>
            </a:extLst>
          </p:cNvPr>
          <p:cNvSpPr/>
          <p:nvPr/>
        </p:nvSpPr>
        <p:spPr>
          <a:xfrm>
            <a:off x="584200" y="1651000"/>
            <a:ext cx="11023295"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40CEF9D3-678F-16E6-CE67-52BC7BAD3C58}"/>
              </a:ext>
            </a:extLst>
          </p:cNvPr>
          <p:cNvSpPr txBox="1"/>
          <p:nvPr/>
        </p:nvSpPr>
        <p:spPr>
          <a:xfrm>
            <a:off x="889000" y="1930400"/>
            <a:ext cx="10413695" cy="369332"/>
          </a:xfrm>
          <a:prstGeom prst="rect">
            <a:avLst/>
          </a:prstGeom>
          <a:noFill/>
        </p:spPr>
        <p:txBody>
          <a:bodyPr vert="horz" wrap="square" rtlCol="0">
            <a:noAutofit/>
          </a:bodyPr>
          <a:lstStyle/>
          <a:p>
            <a:pPr marL="342900" indent="-342900">
              <a:buFont typeface="+mj-lt"/>
              <a:buChar char="•"/>
            </a:pPr>
            <a:r>
              <a:rPr lang="en-US" sz="1600">
                <a:solidFill>
                  <a:srgbClr val="5B6182"/>
                </a:solidFill>
                <a:latin typeface="IBM Plex Sans" panose="020B0503050203000203" pitchFamily="34" charset="0"/>
              </a:rPr>
              <a:t>`
 Only metadata column names, population flags, arm labels needs to reach the LLM API for intent parsing; subject-level PHI/PII does not need to leave the app
 Redact or aggregate before any data value (vs. schema) is ever included in a prompt
 Confirm the chosen API vendor's data-use and retention terms explicitly permit this use case before go-live
 An on-prem model via Ollama removes this question entirely for the most compliance-sensitive deployments
`</a:t>
            </a:r>
            <a:endParaRPr lang="en-IN" sz="1600">
              <a:solidFill>
                <a:srgbClr val="5B6182"/>
              </a:solidFill>
              <a:latin typeface="IBM Plex Sans" panose="020B0503050203000203" pitchFamily="34" charset="0"/>
            </a:endParaRPr>
          </a:p>
        </p:txBody>
      </p:sp>
      <p:sp>
        <p:nvSpPr>
          <p:cNvPr id="6" name="TextBox 5">
            <a:extLst>
              <a:ext uri="{FF2B5EF4-FFF2-40B4-BE49-F238E27FC236}">
                <a16:creationId xmlns:a16="http://schemas.microsoft.com/office/drawing/2014/main" id="{66655378-3228-6C16-7B57-DBDF1E531CC7}"/>
              </a:ext>
            </a:extLst>
          </p:cNvPr>
          <p:cNvSpPr txBox="1"/>
          <p:nvPr/>
        </p:nvSpPr>
        <p:spPr>
          <a:xfrm>
            <a:off x="304800" y="6553200"/>
            <a:ext cx="6350000" cy="276999"/>
          </a:xfrm>
          <a:prstGeom prst="rect">
            <a:avLst/>
          </a:prstGeom>
          <a:noFill/>
        </p:spPr>
        <p:txBody>
          <a:bodyPr vert="horz" wrap="square" rtlCol="0">
            <a:spAutoFit/>
          </a:bodyPr>
          <a:lstStyle/>
          <a:p>
            <a:r>
              <a:rPr lang="it-IT" sz="1200" i="1">
                <a:solidFill>
                  <a:srgbClr val="5B6182"/>
                </a:solidFill>
                <a:latin typeface="IBM Plex Sans" panose="020B0503050203000203" pitchFamily="34" charset="0"/>
              </a:rPr>
              <a:t>Session 5 Ã‚Â· AI &amp; LLM Integration</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181473267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45900F7-0110-42B1-07DC-3F6E45D734FA}"/>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ROADMAP</a:t>
            </a:r>
          </a:p>
        </p:txBody>
      </p:sp>
      <p:sp>
        <p:nvSpPr>
          <p:cNvPr id="3" name="TextBox 2">
            <a:extLst>
              <a:ext uri="{FF2B5EF4-FFF2-40B4-BE49-F238E27FC236}">
                <a16:creationId xmlns:a16="http://schemas.microsoft.com/office/drawing/2014/main" id="{31A8BD78-B476-B7B1-189C-0586D47C2CF8}"/>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What's next after this workshop</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7391DCC7-304E-150B-4A2A-7A898853269D}"/>
              </a:ext>
            </a:extLst>
          </p:cNvPr>
          <p:cNvSpPr/>
          <p:nvPr/>
        </p:nvSpPr>
        <p:spPr>
          <a:xfrm>
            <a:off x="584200" y="1651000"/>
            <a:ext cx="11023295"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C9D53015-5DB2-4FE7-8DE1-2B2B52B3AD20}"/>
              </a:ext>
            </a:extLst>
          </p:cNvPr>
          <p:cNvSpPr txBox="1"/>
          <p:nvPr/>
        </p:nvSpPr>
        <p:spPr>
          <a:xfrm>
            <a:off x="889000" y="1930400"/>
            <a:ext cx="10413695" cy="369332"/>
          </a:xfrm>
          <a:prstGeom prst="rect">
            <a:avLst/>
          </a:prstGeom>
          <a:noFill/>
        </p:spPr>
        <p:txBody>
          <a:bodyPr vert="horz" wrap="square" rtlCol="0">
            <a:noAutofit/>
          </a:bodyPr>
          <a:lstStyle/>
          <a:p>
            <a:pPr marL="342900" indent="-342900">
              <a:buFont typeface="+mj-lt"/>
              <a:buChar char="•"/>
            </a:pPr>
            <a:r>
              <a:rPr lang="en-US" sz="1600">
                <a:solidFill>
                  <a:srgbClr val="5B6182"/>
                </a:solidFill>
                <a:latin typeface="IBM Plex Sans" panose="020B0503050203000203" pitchFamily="34" charset="0"/>
              </a:rPr>
              <a:t>`
 Formalize the function schema for all 5 table types and 3 figure types shown today
 Prototype the chat module against a sandboxed, non-PHI dataset first
 Pilot with one study team on ad-hoc review requests before wider rollout
 Evaluate Ollama-hosted models for teams requiring fully on-prem processing
`</a:t>
            </a:r>
            <a:endParaRPr lang="en-IN" sz="1600">
              <a:solidFill>
                <a:srgbClr val="5B6182"/>
              </a:solidFill>
              <a:latin typeface="IBM Plex Sans" panose="020B0503050203000203" pitchFamily="34" charset="0"/>
            </a:endParaRPr>
          </a:p>
        </p:txBody>
      </p:sp>
      <p:sp>
        <p:nvSpPr>
          <p:cNvPr id="6" name="TextBox 5">
            <a:extLst>
              <a:ext uri="{FF2B5EF4-FFF2-40B4-BE49-F238E27FC236}">
                <a16:creationId xmlns:a16="http://schemas.microsoft.com/office/drawing/2014/main" id="{B91C8529-DB63-DFF4-BC7B-D225DE45697D}"/>
              </a:ext>
            </a:extLst>
          </p:cNvPr>
          <p:cNvSpPr txBox="1"/>
          <p:nvPr/>
        </p:nvSpPr>
        <p:spPr>
          <a:xfrm>
            <a:off x="304800" y="6553200"/>
            <a:ext cx="6350000" cy="276999"/>
          </a:xfrm>
          <a:prstGeom prst="rect">
            <a:avLst/>
          </a:prstGeom>
          <a:noFill/>
        </p:spPr>
        <p:txBody>
          <a:bodyPr vert="horz" wrap="square" rtlCol="0">
            <a:spAutoFit/>
          </a:bodyPr>
          <a:lstStyle/>
          <a:p>
            <a:r>
              <a:rPr lang="it-IT" sz="1200" i="1">
                <a:solidFill>
                  <a:srgbClr val="5B6182"/>
                </a:solidFill>
                <a:latin typeface="IBM Plex Sans" panose="020B0503050203000203" pitchFamily="34" charset="0"/>
              </a:rPr>
              <a:t>Session 5 Ã‚Â· AI &amp; LLM Integration</a:t>
            </a:r>
            <a:endParaRPr lang="en-IN" sz="1200" i="1">
              <a:solidFill>
                <a:srgbClr val="5B6182"/>
              </a:solidFill>
              <a:latin typeface="IBM Plex Sans" panose="020B0503050203000203" pitchFamily="34" charset="0"/>
            </a:endParaRPr>
          </a:p>
        </p:txBody>
      </p:sp>
    </p:spTree>
    <p:extLst>
      <p:ext uri="{BB962C8B-B14F-4D97-AF65-F5344CB8AC3E}">
        <p14:creationId xmlns:p14="http://schemas.microsoft.com/office/powerpoint/2010/main" val="142109206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C2FFCCF-D3B9-C839-01FD-2F79440D7285}"/>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APPENDIX</a:t>
            </a:r>
          </a:p>
        </p:txBody>
      </p:sp>
      <p:sp>
        <p:nvSpPr>
          <p:cNvPr id="3" name="TextBox 2">
            <a:extLst>
              <a:ext uri="{FF2B5EF4-FFF2-40B4-BE49-F238E27FC236}">
                <a16:creationId xmlns:a16="http://schemas.microsoft.com/office/drawing/2014/main" id="{DDA96B82-038C-9892-189D-9B36DDD395B5}"/>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ADaM variables this app relies on Ã¢ ADSL</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9C786466-71EF-2B5A-D885-20BDF5E9C32C}"/>
              </a:ext>
            </a:extLst>
          </p:cNvPr>
          <p:cNvSpPr/>
          <p:nvPr/>
        </p:nvSpPr>
        <p:spPr>
          <a:xfrm>
            <a:off x="584200" y="1651000"/>
            <a:ext cx="11023295"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A6BC2CBC-30F4-CB05-EB28-3E5733B50C24}"/>
              </a:ext>
            </a:extLst>
          </p:cNvPr>
          <p:cNvSpPr txBox="1"/>
          <p:nvPr/>
        </p:nvSpPr>
        <p:spPr>
          <a:xfrm>
            <a:off x="863600" y="1879600"/>
            <a:ext cx="10464495" cy="353943"/>
          </a:xfrm>
          <a:prstGeom prst="rect">
            <a:avLst/>
          </a:prstGeom>
          <a:noFill/>
        </p:spPr>
        <p:txBody>
          <a:bodyPr vert="horz" wrap="square" rtlCol="0">
            <a:spAutoFit/>
          </a:bodyPr>
          <a:lstStyle/>
          <a:p>
            <a:r>
              <a:rPr lang="en-IN" sz="1700" b="1">
                <a:solidFill>
                  <a:srgbClr val="1B2340"/>
                </a:solidFill>
                <a:latin typeface="IBM Plex Sans" panose="020B0503050203000203" pitchFamily="34" charset="0"/>
              </a:rPr>
              <a:t>Subject-level</a:t>
            </a:r>
          </a:p>
        </p:txBody>
      </p:sp>
      <p:sp>
        <p:nvSpPr>
          <p:cNvPr id="6" name="TextBox 5">
            <a:extLst>
              <a:ext uri="{FF2B5EF4-FFF2-40B4-BE49-F238E27FC236}">
                <a16:creationId xmlns:a16="http://schemas.microsoft.com/office/drawing/2014/main" id="{205AC9A3-E971-6D1E-FA5C-56E09FFC288D}"/>
              </a:ext>
            </a:extLst>
          </p:cNvPr>
          <p:cNvSpPr txBox="1"/>
          <p:nvPr/>
        </p:nvSpPr>
        <p:spPr>
          <a:xfrm>
            <a:off x="863600" y="2311400"/>
            <a:ext cx="10464495" cy="369332"/>
          </a:xfrm>
          <a:prstGeom prst="rect">
            <a:avLst/>
          </a:prstGeom>
          <a:noFill/>
        </p:spPr>
        <p:txBody>
          <a:bodyPr vert="horz" wrap="square" rtlCol="0">
            <a:noAutofit/>
          </a:bodyPr>
          <a:lstStyle/>
          <a:p>
            <a:pPr marL="342900" indent="-342900">
              <a:buFont typeface="+mj-lt"/>
              <a:buChar char="•"/>
            </a:pPr>
            <a:r>
              <a:rPr lang="en-IN" sz="1500">
                <a:solidFill>
                  <a:srgbClr val="5B6182"/>
                </a:solidFill>
                <a:latin typeface="IBM Plex Sans" panose="020B0503050203000203" pitchFamily="34" charset="0"/>
              </a:rPr>
              <a:t>USUBJID unique subject identifier, the join key to ADAE
SAFFL and other *FL flags auto-detected population flags
TRT01A / TRT01P / ARM candidate treatment variables
AGE, SEX, RACE, EOSSTT demographics &amp; disposition inputs</a:t>
            </a:r>
          </a:p>
        </p:txBody>
      </p:sp>
      <p:sp>
        <p:nvSpPr>
          <p:cNvPr id="7" name="TextBox 6">
            <a:extLst>
              <a:ext uri="{FF2B5EF4-FFF2-40B4-BE49-F238E27FC236}">
                <a16:creationId xmlns:a16="http://schemas.microsoft.com/office/drawing/2014/main" id="{B097943D-BCB2-26B1-9FD2-ACA22E4E4605}"/>
              </a:ext>
            </a:extLst>
          </p:cNvPr>
          <p:cNvSpPr txBox="1"/>
          <p:nvPr/>
        </p:nvSpPr>
        <p:spPr>
          <a:xfrm>
            <a:off x="304800" y="6553200"/>
            <a:ext cx="6350000" cy="276999"/>
          </a:xfrm>
          <a:prstGeom prst="rect">
            <a:avLst/>
          </a:prstGeom>
          <a:noFill/>
        </p:spPr>
        <p:txBody>
          <a:bodyPr vert="horz" wrap="square" rtlCol="0">
            <a:spAutoFit/>
          </a:bodyPr>
          <a:lstStyle/>
          <a:p>
            <a:r>
              <a:rPr lang="en-IN" sz="1200" i="1">
                <a:solidFill>
                  <a:srgbClr val="5B6182"/>
                </a:solidFill>
                <a:latin typeface="IBM Plex Sans" panose="020B0503050203000203" pitchFamily="34" charset="0"/>
              </a:rPr>
              <a:t>Appendix Ã‚Â· Reference</a:t>
            </a:r>
          </a:p>
        </p:txBody>
      </p:sp>
    </p:spTree>
    <p:extLst>
      <p:ext uri="{BB962C8B-B14F-4D97-AF65-F5344CB8AC3E}">
        <p14:creationId xmlns:p14="http://schemas.microsoft.com/office/powerpoint/2010/main" val="169840258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FFBAFB9-A6D6-A7F5-AA44-D706F1ED0BDB}"/>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APPENDIX</a:t>
            </a:r>
          </a:p>
        </p:txBody>
      </p:sp>
      <p:sp>
        <p:nvSpPr>
          <p:cNvPr id="3" name="TextBox 2">
            <a:extLst>
              <a:ext uri="{FF2B5EF4-FFF2-40B4-BE49-F238E27FC236}">
                <a16:creationId xmlns:a16="http://schemas.microsoft.com/office/drawing/2014/main" id="{D137B750-EB27-0B65-F904-1CDD91F271D4}"/>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ADaM variables this app relies on Ã¢ ADAE</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5BCE11C6-5780-4CDC-08CB-CEEF95C655AB}"/>
              </a:ext>
            </a:extLst>
          </p:cNvPr>
          <p:cNvSpPr/>
          <p:nvPr/>
        </p:nvSpPr>
        <p:spPr>
          <a:xfrm>
            <a:off x="584200" y="1651000"/>
            <a:ext cx="11023295"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24F1CB88-6EF4-49D6-648C-29D3277F27FE}"/>
              </a:ext>
            </a:extLst>
          </p:cNvPr>
          <p:cNvSpPr txBox="1"/>
          <p:nvPr/>
        </p:nvSpPr>
        <p:spPr>
          <a:xfrm>
            <a:off x="863600" y="1879600"/>
            <a:ext cx="10464495" cy="353943"/>
          </a:xfrm>
          <a:prstGeom prst="rect">
            <a:avLst/>
          </a:prstGeom>
          <a:noFill/>
        </p:spPr>
        <p:txBody>
          <a:bodyPr vert="horz" wrap="square" rtlCol="0">
            <a:spAutoFit/>
          </a:bodyPr>
          <a:lstStyle/>
          <a:p>
            <a:r>
              <a:rPr lang="en-IN" sz="1700" b="1">
                <a:solidFill>
                  <a:srgbClr val="1B2340"/>
                </a:solidFill>
                <a:latin typeface="IBM Plex Sans" panose="020B0503050203000203" pitchFamily="34" charset="0"/>
              </a:rPr>
              <a:t>Event-level</a:t>
            </a:r>
          </a:p>
        </p:txBody>
      </p:sp>
      <p:sp>
        <p:nvSpPr>
          <p:cNvPr id="6" name="TextBox 5">
            <a:extLst>
              <a:ext uri="{FF2B5EF4-FFF2-40B4-BE49-F238E27FC236}">
                <a16:creationId xmlns:a16="http://schemas.microsoft.com/office/drawing/2014/main" id="{35CBEFAF-AFBB-A85F-2205-ABBC13AD2F34}"/>
              </a:ext>
            </a:extLst>
          </p:cNvPr>
          <p:cNvSpPr txBox="1"/>
          <p:nvPr/>
        </p:nvSpPr>
        <p:spPr>
          <a:xfrm>
            <a:off x="863600" y="2311400"/>
            <a:ext cx="10464495" cy="369332"/>
          </a:xfrm>
          <a:prstGeom prst="rect">
            <a:avLst/>
          </a:prstGeom>
          <a:noFill/>
        </p:spPr>
        <p:txBody>
          <a:bodyPr vert="horz" wrap="square" rtlCol="0">
            <a:noAutofit/>
          </a:bodyPr>
          <a:lstStyle/>
          <a:p>
            <a:pPr marL="342900" indent="-342900">
              <a:buFont typeface="+mj-lt"/>
              <a:buChar char="•"/>
            </a:pPr>
            <a:r>
              <a:rPr lang="en-IN" sz="1500">
                <a:solidFill>
                  <a:srgbClr val="5B6182"/>
                </a:solidFill>
                <a:latin typeface="IBM Plex Sans" panose="020B0503050203000203" pitchFamily="34" charset="0"/>
              </a:rPr>
              <a:t>TRTEMFL treatment-emergent flag, filters to on-treatment events
AEBODSYS / AEDECOD System Organ Class / Preferred Term
AESEV severity (Mild/Moderate/Severe)
AESER, AESDTH, AEACN seriousness, fatality, and action-taken flags for the Overview table</a:t>
            </a:r>
          </a:p>
        </p:txBody>
      </p:sp>
      <p:sp>
        <p:nvSpPr>
          <p:cNvPr id="7" name="TextBox 6">
            <a:extLst>
              <a:ext uri="{FF2B5EF4-FFF2-40B4-BE49-F238E27FC236}">
                <a16:creationId xmlns:a16="http://schemas.microsoft.com/office/drawing/2014/main" id="{AA6734FF-EF17-59A1-BD16-7D31C9702E94}"/>
              </a:ext>
            </a:extLst>
          </p:cNvPr>
          <p:cNvSpPr txBox="1"/>
          <p:nvPr/>
        </p:nvSpPr>
        <p:spPr>
          <a:xfrm>
            <a:off x="304800" y="6553200"/>
            <a:ext cx="6350000" cy="276999"/>
          </a:xfrm>
          <a:prstGeom prst="rect">
            <a:avLst/>
          </a:prstGeom>
          <a:noFill/>
        </p:spPr>
        <p:txBody>
          <a:bodyPr vert="horz" wrap="square" rtlCol="0">
            <a:spAutoFit/>
          </a:bodyPr>
          <a:lstStyle/>
          <a:p>
            <a:r>
              <a:rPr lang="en-IN" sz="1200" i="1">
                <a:solidFill>
                  <a:srgbClr val="5B6182"/>
                </a:solidFill>
                <a:latin typeface="IBM Plex Sans" panose="020B0503050203000203" pitchFamily="34" charset="0"/>
              </a:rPr>
              <a:t>Appendix Ã‚Â· Reference</a:t>
            </a:r>
          </a:p>
        </p:txBody>
      </p:sp>
    </p:spTree>
    <p:extLst>
      <p:ext uri="{BB962C8B-B14F-4D97-AF65-F5344CB8AC3E}">
        <p14:creationId xmlns:p14="http://schemas.microsoft.com/office/powerpoint/2010/main" val="30720773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E5FB9F-F84F-A347-4452-13826CB5B749}"/>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APPENDIX Ã‚Â· FUNCTION INDEX</a:t>
            </a:r>
          </a:p>
        </p:txBody>
      </p:sp>
      <p:sp>
        <p:nvSpPr>
          <p:cNvPr id="3" name="TextBox 2">
            <a:extLst>
              <a:ext uri="{FF2B5EF4-FFF2-40B4-BE49-F238E27FC236}">
                <a16:creationId xmlns:a16="http://schemas.microsoft.com/office/drawing/2014/main" id="{EDCD2B60-DEB8-4548-3409-526A3C6E74BE}"/>
              </a:ext>
            </a:extLst>
          </p:cNvPr>
          <p:cNvSpPr txBox="1"/>
          <p:nvPr/>
        </p:nvSpPr>
        <p:spPr>
          <a:xfrm>
            <a:off x="584200" y="609600"/>
            <a:ext cx="14605000" cy="492443"/>
          </a:xfrm>
          <a:prstGeom prst="rect">
            <a:avLst/>
          </a:prstGeom>
          <a:noFill/>
        </p:spPr>
        <p:txBody>
          <a:bodyPr vert="horz" wrap="square" rtlCol="0">
            <a:spAutoFit/>
          </a:bodyPr>
          <a:lstStyle/>
          <a:p>
            <a:r>
              <a:rPr lang="en-IN" sz="2600" b="1">
                <a:solidFill>
                  <a:srgbClr val="1B2340"/>
                </a:solidFill>
                <a:latin typeface="IBM Plex Sans" panose="020B0503050203000203" pitchFamily="34" charset="0"/>
              </a:rPr>
              <a:t>Data &amp; filtering functions</a:t>
            </a:r>
          </a:p>
        </p:txBody>
      </p:sp>
      <p:sp>
        <p:nvSpPr>
          <p:cNvPr id="4" name="Rectangle: Rounded Corners 3">
            <a:extLst>
              <a:ext uri="{FF2B5EF4-FFF2-40B4-BE49-F238E27FC236}">
                <a16:creationId xmlns:a16="http://schemas.microsoft.com/office/drawing/2014/main" id="{06BB09E4-7E5F-3905-D36B-2DB282852602}"/>
              </a:ext>
            </a:extLst>
          </p:cNvPr>
          <p:cNvSpPr/>
          <p:nvPr/>
        </p:nvSpPr>
        <p:spPr>
          <a:xfrm>
            <a:off x="584200" y="1651000"/>
            <a:ext cx="11023295"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A983CD28-1F93-DD41-000C-8EE7D3FCCC4B}"/>
              </a:ext>
            </a:extLst>
          </p:cNvPr>
          <p:cNvSpPr txBox="1"/>
          <p:nvPr/>
        </p:nvSpPr>
        <p:spPr>
          <a:xfrm>
            <a:off x="889000" y="1930400"/>
            <a:ext cx="10413695" cy="369332"/>
          </a:xfrm>
          <a:prstGeom prst="rect">
            <a:avLst/>
          </a:prstGeom>
          <a:noFill/>
        </p:spPr>
        <p:txBody>
          <a:bodyPr vert="horz" wrap="square" rtlCol="0">
            <a:noAutofit/>
          </a:bodyPr>
          <a:lstStyle/>
          <a:p>
            <a:pPr marL="342900" indent="-342900">
              <a:buFont typeface="+mj-lt"/>
              <a:buChar char="•"/>
            </a:pPr>
            <a:r>
              <a:rPr lang="en-IN" sz="1600">
                <a:solidFill>
                  <a:srgbClr val="5B6182"/>
                </a:solidFill>
                <a:latin typeface="IBM Plex Sans" panose="020B0503050203000203" pitchFamily="34" charset="0"/>
              </a:rPr>
              <a:t>`
 prep_adsl() apply population + treatment filters, compute N, synthesize Total
 wide_counts() count zero-fill format pivot to wide, reused 4x
 hdr_row() build the "(N=xx)" header row
 fmt_n_pct(), fmt_mean_sd(), fmt_med_rng() display formatters
`</a:t>
            </a:r>
          </a:p>
        </p:txBody>
      </p:sp>
      <p:sp>
        <p:nvSpPr>
          <p:cNvPr id="6" name="TextBox 5">
            <a:extLst>
              <a:ext uri="{FF2B5EF4-FFF2-40B4-BE49-F238E27FC236}">
                <a16:creationId xmlns:a16="http://schemas.microsoft.com/office/drawing/2014/main" id="{8C442380-D441-D406-9627-DC57D03E88C6}"/>
              </a:ext>
            </a:extLst>
          </p:cNvPr>
          <p:cNvSpPr txBox="1"/>
          <p:nvPr/>
        </p:nvSpPr>
        <p:spPr>
          <a:xfrm>
            <a:off x="304800" y="6553200"/>
            <a:ext cx="6350000" cy="276999"/>
          </a:xfrm>
          <a:prstGeom prst="rect">
            <a:avLst/>
          </a:prstGeom>
          <a:noFill/>
        </p:spPr>
        <p:txBody>
          <a:bodyPr vert="horz" wrap="square" rtlCol="0">
            <a:spAutoFit/>
          </a:bodyPr>
          <a:lstStyle/>
          <a:p>
            <a:r>
              <a:rPr lang="en-IN" sz="1200" i="1">
                <a:solidFill>
                  <a:srgbClr val="5B6182"/>
                </a:solidFill>
                <a:latin typeface="IBM Plex Sans" panose="020B0503050203000203" pitchFamily="34" charset="0"/>
              </a:rPr>
              <a:t>Appendix Ã‚Â· Reference</a:t>
            </a:r>
          </a:p>
        </p:txBody>
      </p:sp>
    </p:spTree>
    <p:extLst>
      <p:ext uri="{BB962C8B-B14F-4D97-AF65-F5344CB8AC3E}">
        <p14:creationId xmlns:p14="http://schemas.microsoft.com/office/powerpoint/2010/main" val="333231722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73C691-DCA4-F6FE-DA4E-0F6432B92493}"/>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APPENDIX Ã‚Â· FUNCTION INDEX</a:t>
            </a:r>
          </a:p>
        </p:txBody>
      </p:sp>
      <p:sp>
        <p:nvSpPr>
          <p:cNvPr id="3" name="TextBox 2">
            <a:extLst>
              <a:ext uri="{FF2B5EF4-FFF2-40B4-BE49-F238E27FC236}">
                <a16:creationId xmlns:a16="http://schemas.microsoft.com/office/drawing/2014/main" id="{605EB969-A546-C7A3-67B1-140B9EFEA3DB}"/>
              </a:ext>
            </a:extLst>
          </p:cNvPr>
          <p:cNvSpPr txBox="1"/>
          <p:nvPr/>
        </p:nvSpPr>
        <p:spPr>
          <a:xfrm>
            <a:off x="584200" y="609600"/>
            <a:ext cx="14605000" cy="492443"/>
          </a:xfrm>
          <a:prstGeom prst="rect">
            <a:avLst/>
          </a:prstGeom>
          <a:noFill/>
        </p:spPr>
        <p:txBody>
          <a:bodyPr vert="horz" wrap="square" rtlCol="0">
            <a:spAutoFit/>
          </a:bodyPr>
          <a:lstStyle/>
          <a:p>
            <a:r>
              <a:rPr lang="en-IN" sz="2600" b="1">
                <a:solidFill>
                  <a:srgbClr val="1B2340"/>
                </a:solidFill>
                <a:latin typeface="IBM Plex Sans" panose="020B0503050203000203" pitchFamily="34" charset="0"/>
              </a:rPr>
              <a:t>Table, figure &amp; rendering functions</a:t>
            </a:r>
          </a:p>
        </p:txBody>
      </p:sp>
      <p:sp>
        <p:nvSpPr>
          <p:cNvPr id="4" name="Rectangle: Rounded Corners 3">
            <a:extLst>
              <a:ext uri="{FF2B5EF4-FFF2-40B4-BE49-F238E27FC236}">
                <a16:creationId xmlns:a16="http://schemas.microsoft.com/office/drawing/2014/main" id="{E01E103B-CE77-CC52-6801-69C7C3F9F7B3}"/>
              </a:ext>
            </a:extLst>
          </p:cNvPr>
          <p:cNvSpPr/>
          <p:nvPr/>
        </p:nvSpPr>
        <p:spPr>
          <a:xfrm>
            <a:off x="584200" y="1651000"/>
            <a:ext cx="11023295"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9F701A01-42AB-0941-F5C1-A554CBE54F0B}"/>
              </a:ext>
            </a:extLst>
          </p:cNvPr>
          <p:cNvSpPr txBox="1"/>
          <p:nvPr/>
        </p:nvSpPr>
        <p:spPr>
          <a:xfrm>
            <a:off x="889000" y="1930400"/>
            <a:ext cx="10413695" cy="369332"/>
          </a:xfrm>
          <a:prstGeom prst="rect">
            <a:avLst/>
          </a:prstGeom>
          <a:noFill/>
        </p:spPr>
        <p:txBody>
          <a:bodyPr vert="horz" wrap="square" rtlCol="0">
            <a:noAutofit/>
          </a:bodyPr>
          <a:lstStyle/>
          <a:p>
            <a:pPr marL="342900" indent="-342900">
              <a:buFont typeface="+mj-lt"/>
              <a:buChar char="•"/>
            </a:pPr>
            <a:r>
              <a:rPr lang="en-US" sz="1600">
                <a:solidFill>
                  <a:srgbClr val="5B6182"/>
                </a:solidFill>
                <a:latin typeface="IBM Plex Sans" panose="020B0503050203000203" pitchFamily="34" charset="0"/>
              </a:rPr>
              <a:t>`
 build_demog(), build_dispos(), build_ae_overview(), build_ae_socpt(), build_ae_sev() the 5 table builders
 to_gt() the single shared gt renderer for all 5 tables
 build_boxplot(), build_histogram(), build_ae_bar() the 3 figure builders, all styled with tfl_theme
 status_chip(), ctrl_card() small reusable UI components
`</a:t>
            </a:r>
            <a:endParaRPr lang="en-IN" sz="1600">
              <a:solidFill>
                <a:srgbClr val="5B6182"/>
              </a:solidFill>
              <a:latin typeface="IBM Plex Sans" panose="020B0503050203000203" pitchFamily="34" charset="0"/>
            </a:endParaRPr>
          </a:p>
        </p:txBody>
      </p:sp>
      <p:sp>
        <p:nvSpPr>
          <p:cNvPr id="6" name="TextBox 5">
            <a:extLst>
              <a:ext uri="{FF2B5EF4-FFF2-40B4-BE49-F238E27FC236}">
                <a16:creationId xmlns:a16="http://schemas.microsoft.com/office/drawing/2014/main" id="{E3E3CF74-E31D-4E6B-D929-CBA62C97886F}"/>
              </a:ext>
            </a:extLst>
          </p:cNvPr>
          <p:cNvSpPr txBox="1"/>
          <p:nvPr/>
        </p:nvSpPr>
        <p:spPr>
          <a:xfrm>
            <a:off x="304800" y="6553200"/>
            <a:ext cx="6350000" cy="276999"/>
          </a:xfrm>
          <a:prstGeom prst="rect">
            <a:avLst/>
          </a:prstGeom>
          <a:noFill/>
        </p:spPr>
        <p:txBody>
          <a:bodyPr vert="horz" wrap="square" rtlCol="0">
            <a:spAutoFit/>
          </a:bodyPr>
          <a:lstStyle/>
          <a:p>
            <a:r>
              <a:rPr lang="en-IN" sz="1200" i="1">
                <a:solidFill>
                  <a:srgbClr val="5B6182"/>
                </a:solidFill>
                <a:latin typeface="IBM Plex Sans" panose="020B0503050203000203" pitchFamily="34" charset="0"/>
              </a:rPr>
              <a:t>Appendix Ã‚Â· Reference</a:t>
            </a:r>
          </a:p>
        </p:txBody>
      </p:sp>
    </p:spTree>
    <p:extLst>
      <p:ext uri="{BB962C8B-B14F-4D97-AF65-F5344CB8AC3E}">
        <p14:creationId xmlns:p14="http://schemas.microsoft.com/office/powerpoint/2010/main" val="268003714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5F1305-28F8-9939-FEC7-1298886720A3}"/>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APPENDIX</a:t>
            </a:r>
          </a:p>
        </p:txBody>
      </p:sp>
      <p:sp>
        <p:nvSpPr>
          <p:cNvPr id="3" name="TextBox 2">
            <a:extLst>
              <a:ext uri="{FF2B5EF4-FFF2-40B4-BE49-F238E27FC236}">
                <a16:creationId xmlns:a16="http://schemas.microsoft.com/office/drawing/2014/main" id="{5C7808D1-8810-2F68-4218-0CCCBA7E1DEA}"/>
              </a:ext>
            </a:extLst>
          </p:cNvPr>
          <p:cNvSpPr txBox="1"/>
          <p:nvPr/>
        </p:nvSpPr>
        <p:spPr>
          <a:xfrm>
            <a:off x="584200" y="609600"/>
            <a:ext cx="14605000" cy="492443"/>
          </a:xfrm>
          <a:prstGeom prst="rect">
            <a:avLst/>
          </a:prstGeom>
          <a:noFill/>
        </p:spPr>
        <p:txBody>
          <a:bodyPr vert="horz" wrap="square" rtlCol="0">
            <a:spAutoFit/>
          </a:bodyPr>
          <a:lstStyle/>
          <a:p>
            <a:r>
              <a:rPr lang="en-IN" sz="2600" b="1">
                <a:solidFill>
                  <a:srgbClr val="1B2340"/>
                </a:solidFill>
                <a:latin typeface="IBM Plex Sans" panose="020B0503050203000203" pitchFamily="34" charset="0"/>
              </a:rPr>
              <a:t>Testing &amp; validation considerations</a:t>
            </a:r>
          </a:p>
        </p:txBody>
      </p:sp>
      <p:sp>
        <p:nvSpPr>
          <p:cNvPr id="4" name="Rectangle: Rounded Corners 3">
            <a:extLst>
              <a:ext uri="{FF2B5EF4-FFF2-40B4-BE49-F238E27FC236}">
                <a16:creationId xmlns:a16="http://schemas.microsoft.com/office/drawing/2014/main" id="{0CF7D5AD-AE5C-8DFC-6D9F-2D761196C0F0}"/>
              </a:ext>
            </a:extLst>
          </p:cNvPr>
          <p:cNvSpPr/>
          <p:nvPr/>
        </p:nvSpPr>
        <p:spPr>
          <a:xfrm>
            <a:off x="584200" y="1905000"/>
            <a:ext cx="3505098" cy="4191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DD0CBE50-5896-9B78-1E50-35A502B69071}"/>
              </a:ext>
            </a:extLst>
          </p:cNvPr>
          <p:cNvSpPr/>
          <p:nvPr/>
        </p:nvSpPr>
        <p:spPr>
          <a:xfrm>
            <a:off x="584200" y="1905000"/>
            <a:ext cx="3505098" cy="76200"/>
          </a:xfrm>
          <a:prstGeom prst="rect">
            <a:avLst/>
          </a:prstGeom>
          <a:solidFill>
            <a:srgbClr val="0F7A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69AC65F6-842A-008E-258E-D86E7FAAA8C5}"/>
              </a:ext>
            </a:extLst>
          </p:cNvPr>
          <p:cNvSpPr txBox="1"/>
          <p:nvPr/>
        </p:nvSpPr>
        <p:spPr>
          <a:xfrm>
            <a:off x="787400" y="2133600"/>
            <a:ext cx="3098698" cy="323165"/>
          </a:xfrm>
          <a:prstGeom prst="rect">
            <a:avLst/>
          </a:prstGeom>
          <a:noFill/>
        </p:spPr>
        <p:txBody>
          <a:bodyPr vert="horz" wrap="square" rtlCol="0">
            <a:spAutoFit/>
          </a:bodyPr>
          <a:lstStyle/>
          <a:p>
            <a:r>
              <a:rPr lang="en-IN" sz="1500" b="1">
                <a:solidFill>
                  <a:srgbClr val="1B2340"/>
                </a:solidFill>
                <a:latin typeface="IBM Plex Sans" panose="020B0503050203000203" pitchFamily="34" charset="0"/>
              </a:rPr>
              <a:t>Unit-testable core</a:t>
            </a:r>
          </a:p>
        </p:txBody>
      </p:sp>
      <p:sp>
        <p:nvSpPr>
          <p:cNvPr id="7" name="TextBox 6">
            <a:extLst>
              <a:ext uri="{FF2B5EF4-FFF2-40B4-BE49-F238E27FC236}">
                <a16:creationId xmlns:a16="http://schemas.microsoft.com/office/drawing/2014/main" id="{6B961C26-87ED-11E3-DF95-BA99DD14141D}"/>
              </a:ext>
            </a:extLst>
          </p:cNvPr>
          <p:cNvSpPr txBox="1"/>
          <p:nvPr/>
        </p:nvSpPr>
        <p:spPr>
          <a:xfrm>
            <a:off x="787400" y="2743200"/>
            <a:ext cx="3098698" cy="369332"/>
          </a:xfrm>
          <a:prstGeom prst="rect">
            <a:avLst/>
          </a:prstGeom>
          <a:noFill/>
        </p:spPr>
        <p:txBody>
          <a:bodyPr vert="horz" wrap="square" rtlCol="0">
            <a:noAutofit/>
          </a:bodyPr>
          <a:lstStyle/>
          <a:p>
            <a:pPr marL="342900" indent="-342900">
              <a:buFont typeface="+mj-lt"/>
              <a:buChar char="•"/>
            </a:pPr>
            <a:r>
              <a:rPr lang="en-US" sz="1300">
                <a:solidFill>
                  <a:srgbClr val="5B6182"/>
                </a:solidFill>
                <a:latin typeface="IBM Plex Sans" panose="020B0503050203000203" pitchFamily="34" charset="0"/>
              </a:rPr>
              <a:t>Every build_*() function takes plain data frames and returns a plain data frame testable with testthat, independent of a running Shiny session.</a:t>
            </a:r>
            <a:endParaRPr lang="en-IN" sz="1300">
              <a:solidFill>
                <a:srgbClr val="5B6182"/>
              </a:solidFill>
              <a:latin typeface="IBM Plex Sans" panose="020B0503050203000203" pitchFamily="34" charset="0"/>
            </a:endParaRPr>
          </a:p>
        </p:txBody>
      </p:sp>
      <p:sp>
        <p:nvSpPr>
          <p:cNvPr id="8" name="Rectangle: Rounded Corners 7">
            <a:extLst>
              <a:ext uri="{FF2B5EF4-FFF2-40B4-BE49-F238E27FC236}">
                <a16:creationId xmlns:a16="http://schemas.microsoft.com/office/drawing/2014/main" id="{8D53A6FC-0BE9-1599-E134-8D942E507F26}"/>
              </a:ext>
            </a:extLst>
          </p:cNvPr>
          <p:cNvSpPr/>
          <p:nvPr/>
        </p:nvSpPr>
        <p:spPr>
          <a:xfrm>
            <a:off x="4343298" y="1905000"/>
            <a:ext cx="3505099" cy="4191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5150AE67-48EF-CCB5-D1F0-7C44D5A6C399}"/>
              </a:ext>
            </a:extLst>
          </p:cNvPr>
          <p:cNvSpPr/>
          <p:nvPr/>
        </p:nvSpPr>
        <p:spPr>
          <a:xfrm>
            <a:off x="4343298" y="1905000"/>
            <a:ext cx="3505099" cy="76200"/>
          </a:xfrm>
          <a:prstGeom prst="rect">
            <a:avLst/>
          </a:prstGeom>
          <a:solidFill>
            <a:srgbClr val="0F7A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704F31C7-AB33-A949-E8A5-E177D36B3DF8}"/>
              </a:ext>
            </a:extLst>
          </p:cNvPr>
          <p:cNvSpPr txBox="1"/>
          <p:nvPr/>
        </p:nvSpPr>
        <p:spPr>
          <a:xfrm>
            <a:off x="4546498" y="2133600"/>
            <a:ext cx="3098698" cy="323165"/>
          </a:xfrm>
          <a:prstGeom prst="rect">
            <a:avLst/>
          </a:prstGeom>
          <a:noFill/>
        </p:spPr>
        <p:txBody>
          <a:bodyPr vert="horz" wrap="square" rtlCol="0">
            <a:spAutoFit/>
          </a:bodyPr>
          <a:lstStyle/>
          <a:p>
            <a:r>
              <a:rPr lang="en-IN" sz="1500" b="1">
                <a:solidFill>
                  <a:srgbClr val="1B2340"/>
                </a:solidFill>
                <a:latin typeface="IBM Plex Sans" panose="020B0503050203000203" pitchFamily="34" charset="0"/>
              </a:rPr>
              <a:t>Golden-output comparisons</a:t>
            </a:r>
          </a:p>
        </p:txBody>
      </p:sp>
      <p:sp>
        <p:nvSpPr>
          <p:cNvPr id="11" name="TextBox 10">
            <a:extLst>
              <a:ext uri="{FF2B5EF4-FFF2-40B4-BE49-F238E27FC236}">
                <a16:creationId xmlns:a16="http://schemas.microsoft.com/office/drawing/2014/main" id="{E1B62E3D-9ADB-0547-19AF-6D36D9AEAA3A}"/>
              </a:ext>
            </a:extLst>
          </p:cNvPr>
          <p:cNvSpPr txBox="1"/>
          <p:nvPr/>
        </p:nvSpPr>
        <p:spPr>
          <a:xfrm>
            <a:off x="4546498" y="2743200"/>
            <a:ext cx="3098698" cy="369332"/>
          </a:xfrm>
          <a:prstGeom prst="rect">
            <a:avLst/>
          </a:prstGeom>
          <a:noFill/>
        </p:spPr>
        <p:txBody>
          <a:bodyPr vert="horz" wrap="square" rtlCol="0">
            <a:noAutofit/>
          </a:bodyPr>
          <a:lstStyle/>
          <a:p>
            <a:pPr marL="342900" indent="-342900">
              <a:buFont typeface="+mj-lt"/>
              <a:buChar char="•"/>
            </a:pPr>
            <a:r>
              <a:rPr lang="en-US" sz="1300">
                <a:solidFill>
                  <a:srgbClr val="5B6182"/>
                </a:solidFill>
                <a:latin typeface="IBM Plex Sans" panose="020B0503050203000203" pitchFamily="34" charset="0"/>
              </a:rPr>
              <a:t>Snapshot a known-good table/figure per builder and diff future runs against it, the same discipline as validating a SAS macro.</a:t>
            </a:r>
            <a:endParaRPr lang="en-IN" sz="1300">
              <a:solidFill>
                <a:srgbClr val="5B6182"/>
              </a:solidFill>
              <a:latin typeface="IBM Plex Sans" panose="020B0503050203000203" pitchFamily="34" charset="0"/>
            </a:endParaRPr>
          </a:p>
        </p:txBody>
      </p:sp>
      <p:sp>
        <p:nvSpPr>
          <p:cNvPr id="12" name="Rectangle: Rounded Corners 11">
            <a:extLst>
              <a:ext uri="{FF2B5EF4-FFF2-40B4-BE49-F238E27FC236}">
                <a16:creationId xmlns:a16="http://schemas.microsoft.com/office/drawing/2014/main" id="{7349C782-E9D8-F6F0-442D-3476A1A0467F}"/>
              </a:ext>
            </a:extLst>
          </p:cNvPr>
          <p:cNvSpPr/>
          <p:nvPr/>
        </p:nvSpPr>
        <p:spPr>
          <a:xfrm>
            <a:off x="8102397" y="1905000"/>
            <a:ext cx="3505098" cy="4191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45D4C267-8AE2-D48F-FF1C-392651A78208}"/>
              </a:ext>
            </a:extLst>
          </p:cNvPr>
          <p:cNvSpPr/>
          <p:nvPr/>
        </p:nvSpPr>
        <p:spPr>
          <a:xfrm>
            <a:off x="8102397" y="1905000"/>
            <a:ext cx="3505098" cy="76200"/>
          </a:xfrm>
          <a:prstGeom prst="rect">
            <a:avLst/>
          </a:prstGeom>
          <a:solidFill>
            <a:srgbClr val="0F7A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95270235-A072-B5E7-BA22-6B20FF01471F}"/>
              </a:ext>
            </a:extLst>
          </p:cNvPr>
          <p:cNvSpPr txBox="1"/>
          <p:nvPr/>
        </p:nvSpPr>
        <p:spPr>
          <a:xfrm>
            <a:off x="8305597" y="2133600"/>
            <a:ext cx="3098698" cy="323165"/>
          </a:xfrm>
          <a:prstGeom prst="rect">
            <a:avLst/>
          </a:prstGeom>
          <a:noFill/>
        </p:spPr>
        <p:txBody>
          <a:bodyPr vert="horz" wrap="square" rtlCol="0">
            <a:spAutoFit/>
          </a:bodyPr>
          <a:lstStyle/>
          <a:p>
            <a:r>
              <a:rPr lang="en-IN" sz="1500" b="1">
                <a:solidFill>
                  <a:srgbClr val="1B2340"/>
                </a:solidFill>
                <a:latin typeface="IBM Plex Sans" panose="020B0503050203000203" pitchFamily="34" charset="0"/>
              </a:rPr>
              <a:t>UI-level checks</a:t>
            </a:r>
          </a:p>
        </p:txBody>
      </p:sp>
      <p:sp>
        <p:nvSpPr>
          <p:cNvPr id="15" name="TextBox 14">
            <a:extLst>
              <a:ext uri="{FF2B5EF4-FFF2-40B4-BE49-F238E27FC236}">
                <a16:creationId xmlns:a16="http://schemas.microsoft.com/office/drawing/2014/main" id="{8293D355-2DFA-E500-6818-B1E9BBA206A7}"/>
              </a:ext>
            </a:extLst>
          </p:cNvPr>
          <p:cNvSpPr txBox="1"/>
          <p:nvPr/>
        </p:nvSpPr>
        <p:spPr>
          <a:xfrm>
            <a:off x="8305597" y="2743200"/>
            <a:ext cx="3098698" cy="369332"/>
          </a:xfrm>
          <a:prstGeom prst="rect">
            <a:avLst/>
          </a:prstGeom>
          <a:noFill/>
        </p:spPr>
        <p:txBody>
          <a:bodyPr vert="horz" wrap="square" rtlCol="0">
            <a:noAutofit/>
          </a:bodyPr>
          <a:lstStyle/>
          <a:p>
            <a:pPr marL="342900" indent="-342900">
              <a:buFont typeface="+mj-lt"/>
              <a:buChar char="•"/>
            </a:pPr>
            <a:r>
              <a:rPr lang="en-US" sz="1300">
                <a:solidFill>
                  <a:srgbClr val="5B6182"/>
                </a:solidFill>
                <a:latin typeface="IBM Plex Sans" panose="020B0503050203000203" pitchFamily="34" charset="0"/>
              </a:rPr>
              <a:t>shinytest2 can drive the running app end-to-end select filters, confirm the rendered table matches expectation.</a:t>
            </a:r>
            <a:endParaRPr lang="en-IN" sz="1300">
              <a:solidFill>
                <a:srgbClr val="5B6182"/>
              </a:solidFill>
              <a:latin typeface="IBM Plex Sans" panose="020B0503050203000203" pitchFamily="34" charset="0"/>
            </a:endParaRPr>
          </a:p>
        </p:txBody>
      </p:sp>
      <p:sp>
        <p:nvSpPr>
          <p:cNvPr id="16" name="TextBox 15">
            <a:extLst>
              <a:ext uri="{FF2B5EF4-FFF2-40B4-BE49-F238E27FC236}">
                <a16:creationId xmlns:a16="http://schemas.microsoft.com/office/drawing/2014/main" id="{6CB03DD4-6C53-C4FD-3B18-EEB5803CF97D}"/>
              </a:ext>
            </a:extLst>
          </p:cNvPr>
          <p:cNvSpPr txBox="1"/>
          <p:nvPr/>
        </p:nvSpPr>
        <p:spPr>
          <a:xfrm>
            <a:off x="304800" y="6553200"/>
            <a:ext cx="6350000" cy="276999"/>
          </a:xfrm>
          <a:prstGeom prst="rect">
            <a:avLst/>
          </a:prstGeom>
          <a:noFill/>
        </p:spPr>
        <p:txBody>
          <a:bodyPr vert="horz" wrap="square" rtlCol="0">
            <a:spAutoFit/>
          </a:bodyPr>
          <a:lstStyle/>
          <a:p>
            <a:r>
              <a:rPr lang="en-IN" sz="1200" i="1">
                <a:solidFill>
                  <a:srgbClr val="5B6182"/>
                </a:solidFill>
                <a:latin typeface="IBM Plex Sans" panose="020B0503050203000203" pitchFamily="34" charset="0"/>
              </a:rPr>
              <a:t>Appendix Ã‚Â· Reference</a:t>
            </a:r>
          </a:p>
        </p:txBody>
      </p:sp>
    </p:spTree>
    <p:extLst>
      <p:ext uri="{BB962C8B-B14F-4D97-AF65-F5344CB8AC3E}">
        <p14:creationId xmlns:p14="http://schemas.microsoft.com/office/powerpoint/2010/main" val="20078721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4C081F-04DC-3740-F51D-5C73F08297C2}"/>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APPENDIX</a:t>
            </a:r>
          </a:p>
        </p:txBody>
      </p:sp>
      <p:sp>
        <p:nvSpPr>
          <p:cNvPr id="3" name="TextBox 2">
            <a:extLst>
              <a:ext uri="{FF2B5EF4-FFF2-40B4-BE49-F238E27FC236}">
                <a16:creationId xmlns:a16="http://schemas.microsoft.com/office/drawing/2014/main" id="{28FCE282-B1DD-559A-C7F7-2E0F770AFCD1}"/>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Common pitfalls when building this kind of app</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CCF7219B-751C-7D37-8930-AC11E26E5C2A}"/>
              </a:ext>
            </a:extLst>
          </p:cNvPr>
          <p:cNvSpPr/>
          <p:nvPr/>
        </p:nvSpPr>
        <p:spPr>
          <a:xfrm>
            <a:off x="584200" y="1651000"/>
            <a:ext cx="11023295"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A8AF2368-37E2-570C-C76E-4A43346B652A}"/>
              </a:ext>
            </a:extLst>
          </p:cNvPr>
          <p:cNvSpPr txBox="1"/>
          <p:nvPr/>
        </p:nvSpPr>
        <p:spPr>
          <a:xfrm>
            <a:off x="889000" y="1930400"/>
            <a:ext cx="10413695" cy="369332"/>
          </a:xfrm>
          <a:prstGeom prst="rect">
            <a:avLst/>
          </a:prstGeom>
          <a:noFill/>
        </p:spPr>
        <p:txBody>
          <a:bodyPr vert="horz" wrap="square" rtlCol="0">
            <a:noAutofit/>
          </a:bodyPr>
          <a:lstStyle/>
          <a:p>
            <a:pPr marL="342900" indent="-342900">
              <a:buFont typeface="+mj-lt"/>
              <a:buChar char="•"/>
            </a:pPr>
            <a:r>
              <a:rPr lang="en-US" sz="1600">
                <a:solidFill>
                  <a:srgbClr val="5B6182"/>
                </a:solidFill>
                <a:latin typeface="IBM Plex Sans" panose="020B0503050203000203" pitchFamily="34" charset="0"/>
              </a:rPr>
              <a:t>`
 Filtering logic duplicated per table instead of centralized in one prep_adsl()-style function the first thing that drifts out of sync
 Hardcoding a population flag or treatment variable name instead of detecting it from the loaded data
 A separate, hand-written code path for export that silently diverges from the on-screen render
 No explicit denominator (N) shown next to percentages impossible for a reviewer to sanity-check
`</a:t>
            </a:r>
            <a:endParaRPr lang="en-IN" sz="1600">
              <a:solidFill>
                <a:srgbClr val="5B6182"/>
              </a:solidFill>
              <a:latin typeface="IBM Plex Sans" panose="020B0503050203000203" pitchFamily="34" charset="0"/>
            </a:endParaRPr>
          </a:p>
        </p:txBody>
      </p:sp>
      <p:sp>
        <p:nvSpPr>
          <p:cNvPr id="6" name="TextBox 5">
            <a:extLst>
              <a:ext uri="{FF2B5EF4-FFF2-40B4-BE49-F238E27FC236}">
                <a16:creationId xmlns:a16="http://schemas.microsoft.com/office/drawing/2014/main" id="{F6A2EEDC-46B2-D7D2-6411-0E46CC775D8D}"/>
              </a:ext>
            </a:extLst>
          </p:cNvPr>
          <p:cNvSpPr txBox="1"/>
          <p:nvPr/>
        </p:nvSpPr>
        <p:spPr>
          <a:xfrm>
            <a:off x="304800" y="6553200"/>
            <a:ext cx="6350000" cy="276999"/>
          </a:xfrm>
          <a:prstGeom prst="rect">
            <a:avLst/>
          </a:prstGeom>
          <a:noFill/>
        </p:spPr>
        <p:txBody>
          <a:bodyPr vert="horz" wrap="square" rtlCol="0">
            <a:spAutoFit/>
          </a:bodyPr>
          <a:lstStyle/>
          <a:p>
            <a:r>
              <a:rPr lang="en-IN" sz="1200" i="1">
                <a:solidFill>
                  <a:srgbClr val="5B6182"/>
                </a:solidFill>
                <a:latin typeface="IBM Plex Sans" panose="020B0503050203000203" pitchFamily="34" charset="0"/>
              </a:rPr>
              <a:t>Appendix Ã‚Â· Reference</a:t>
            </a:r>
          </a:p>
        </p:txBody>
      </p:sp>
    </p:spTree>
    <p:extLst>
      <p:ext uri="{BB962C8B-B14F-4D97-AF65-F5344CB8AC3E}">
        <p14:creationId xmlns:p14="http://schemas.microsoft.com/office/powerpoint/2010/main" val="158812470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B6E68D-F7CD-3F39-CA7A-2488C03091C3}"/>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APPENDIX</a:t>
            </a:r>
          </a:p>
        </p:txBody>
      </p:sp>
      <p:sp>
        <p:nvSpPr>
          <p:cNvPr id="3" name="TextBox 2">
            <a:extLst>
              <a:ext uri="{FF2B5EF4-FFF2-40B4-BE49-F238E27FC236}">
                <a16:creationId xmlns:a16="http://schemas.microsoft.com/office/drawing/2014/main" id="{98812404-44CC-AED0-EAD2-59C383F7831D}"/>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Glossary of acronyms used today</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06212BB8-0A47-9C92-F153-67B0BFDF5BCE}"/>
              </a:ext>
            </a:extLst>
          </p:cNvPr>
          <p:cNvSpPr/>
          <p:nvPr/>
        </p:nvSpPr>
        <p:spPr>
          <a:xfrm>
            <a:off x="584200" y="1651000"/>
            <a:ext cx="11023295"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7294382E-D914-6660-002D-398BAE5CDDBB}"/>
              </a:ext>
            </a:extLst>
          </p:cNvPr>
          <p:cNvSpPr txBox="1"/>
          <p:nvPr/>
        </p:nvSpPr>
        <p:spPr>
          <a:xfrm>
            <a:off x="889000" y="1930400"/>
            <a:ext cx="10413695" cy="369332"/>
          </a:xfrm>
          <a:prstGeom prst="rect">
            <a:avLst/>
          </a:prstGeom>
          <a:noFill/>
        </p:spPr>
        <p:txBody>
          <a:bodyPr vert="horz" wrap="square" rtlCol="0">
            <a:noAutofit/>
          </a:bodyPr>
          <a:lstStyle/>
          <a:p>
            <a:pPr marL="342900" indent="-342900">
              <a:buFont typeface="+mj-lt"/>
              <a:buChar char="•"/>
            </a:pPr>
            <a:r>
              <a:rPr lang="en-IN" sz="1600">
                <a:solidFill>
                  <a:srgbClr val="5B6182"/>
                </a:solidFill>
                <a:latin typeface="IBM Plex Sans" panose="020B0503050203000203" pitchFamily="34" charset="0"/>
              </a:rPr>
              <a:t>`
 TFL Tables, Figures &amp; ListingsADaM Analysis Data ModelSOC / PT System Organ Class / Preferred TermTEAE Treatment-Emergent Adverse Event
 SAF Safety Analysis SetDSMB Data Safety Monitoring BoardCRA / DM Clinical Research Associate / Data ManagementPHI/PII Protected/Personally Identifiable Information
`</a:t>
            </a:r>
          </a:p>
        </p:txBody>
      </p:sp>
      <p:sp>
        <p:nvSpPr>
          <p:cNvPr id="6" name="TextBox 5">
            <a:extLst>
              <a:ext uri="{FF2B5EF4-FFF2-40B4-BE49-F238E27FC236}">
                <a16:creationId xmlns:a16="http://schemas.microsoft.com/office/drawing/2014/main" id="{407DF51E-DCDA-D9C6-5AA2-FCCC27E31951}"/>
              </a:ext>
            </a:extLst>
          </p:cNvPr>
          <p:cNvSpPr txBox="1"/>
          <p:nvPr/>
        </p:nvSpPr>
        <p:spPr>
          <a:xfrm>
            <a:off x="304800" y="6553200"/>
            <a:ext cx="6350000" cy="276999"/>
          </a:xfrm>
          <a:prstGeom prst="rect">
            <a:avLst/>
          </a:prstGeom>
          <a:noFill/>
        </p:spPr>
        <p:txBody>
          <a:bodyPr vert="horz" wrap="square" rtlCol="0">
            <a:spAutoFit/>
          </a:bodyPr>
          <a:lstStyle/>
          <a:p>
            <a:r>
              <a:rPr lang="en-IN" sz="1200" i="1">
                <a:solidFill>
                  <a:srgbClr val="5B6182"/>
                </a:solidFill>
                <a:latin typeface="IBM Plex Sans" panose="020B0503050203000203" pitchFamily="34" charset="0"/>
              </a:rPr>
              <a:t>Appendix Ã‚Â· Reference</a:t>
            </a:r>
          </a:p>
        </p:txBody>
      </p:sp>
    </p:spTree>
    <p:extLst>
      <p:ext uri="{BB962C8B-B14F-4D97-AF65-F5344CB8AC3E}">
        <p14:creationId xmlns:p14="http://schemas.microsoft.com/office/powerpoint/2010/main" val="350118495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09FA8A5-9BDF-CC44-3210-2389EA79AC3F}"/>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APPENDIX</a:t>
            </a:r>
          </a:p>
        </p:txBody>
      </p:sp>
      <p:sp>
        <p:nvSpPr>
          <p:cNvPr id="3" name="TextBox 2">
            <a:extLst>
              <a:ext uri="{FF2B5EF4-FFF2-40B4-BE49-F238E27FC236}">
                <a16:creationId xmlns:a16="http://schemas.microsoft.com/office/drawing/2014/main" id="{EFB9D0E1-91A4-5B07-3D97-46F72ED2D37C}"/>
              </a:ext>
            </a:extLst>
          </p:cNvPr>
          <p:cNvSpPr txBox="1"/>
          <p:nvPr/>
        </p:nvSpPr>
        <p:spPr>
          <a:xfrm>
            <a:off x="584200" y="609600"/>
            <a:ext cx="14605000" cy="492443"/>
          </a:xfrm>
          <a:prstGeom prst="rect">
            <a:avLst/>
          </a:prstGeom>
          <a:noFill/>
        </p:spPr>
        <p:txBody>
          <a:bodyPr vert="horz" wrap="square" rtlCol="0">
            <a:spAutoFit/>
          </a:bodyPr>
          <a:lstStyle/>
          <a:p>
            <a:r>
              <a:rPr lang="en-IN" sz="2600" b="1">
                <a:solidFill>
                  <a:srgbClr val="1B2340"/>
                </a:solidFill>
                <a:latin typeface="IBM Plex Sans" panose="020B0503050203000203" pitchFamily="34" charset="0"/>
              </a:rPr>
              <a:t>A note on 21 CFR Part 11 &amp; validation posture</a:t>
            </a:r>
          </a:p>
        </p:txBody>
      </p:sp>
      <p:sp>
        <p:nvSpPr>
          <p:cNvPr id="4" name="Rectangle: Rounded Corners 3">
            <a:extLst>
              <a:ext uri="{FF2B5EF4-FFF2-40B4-BE49-F238E27FC236}">
                <a16:creationId xmlns:a16="http://schemas.microsoft.com/office/drawing/2014/main" id="{DCB981D9-7385-DBDC-41FB-DAB0DACF769F}"/>
              </a:ext>
            </a:extLst>
          </p:cNvPr>
          <p:cNvSpPr/>
          <p:nvPr/>
        </p:nvSpPr>
        <p:spPr>
          <a:xfrm>
            <a:off x="584200" y="1651000"/>
            <a:ext cx="11023295"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8D2098B3-76C4-FA10-9FF1-F09F940C1C6A}"/>
              </a:ext>
            </a:extLst>
          </p:cNvPr>
          <p:cNvSpPr txBox="1"/>
          <p:nvPr/>
        </p:nvSpPr>
        <p:spPr>
          <a:xfrm>
            <a:off x="889000" y="1930400"/>
            <a:ext cx="10413695" cy="369332"/>
          </a:xfrm>
          <a:prstGeom prst="rect">
            <a:avLst/>
          </a:prstGeom>
          <a:noFill/>
        </p:spPr>
        <p:txBody>
          <a:bodyPr vert="horz" wrap="square" rtlCol="0">
            <a:noAutofit/>
          </a:bodyPr>
          <a:lstStyle/>
          <a:p>
            <a:pPr marL="342900" indent="-342900">
              <a:buFont typeface="+mj-lt"/>
              <a:buChar char="•"/>
            </a:pPr>
            <a:r>
              <a:rPr lang="en-US" sz="1600">
                <a:solidFill>
                  <a:srgbClr val="5B6182"/>
                </a:solidFill>
                <a:latin typeface="IBM Plex Sans" panose="020B0503050203000203" pitchFamily="34" charset="0"/>
              </a:rPr>
              <a:t>`
 Today's demo app is a teaching tool, not a validated deliverable. Moving a pattern like this into a submission-adjacent workflow means the same rigor applied to any statistical programming: documented requirements, IQ/OQ/PQ-style testing of each build_*() function, access controls on who can deploy changes, and an audit trail for what filters produced a given export.
`</a:t>
            </a:r>
            <a:endParaRPr lang="en-IN" sz="1600">
              <a:solidFill>
                <a:srgbClr val="5B6182"/>
              </a:solidFill>
              <a:latin typeface="IBM Plex Sans" panose="020B0503050203000203" pitchFamily="34" charset="0"/>
            </a:endParaRPr>
          </a:p>
        </p:txBody>
      </p:sp>
      <p:sp>
        <p:nvSpPr>
          <p:cNvPr id="6" name="TextBox 5">
            <a:extLst>
              <a:ext uri="{FF2B5EF4-FFF2-40B4-BE49-F238E27FC236}">
                <a16:creationId xmlns:a16="http://schemas.microsoft.com/office/drawing/2014/main" id="{A2E97CD7-AA9C-6B8A-BAA9-8A67FD06B3F9}"/>
              </a:ext>
            </a:extLst>
          </p:cNvPr>
          <p:cNvSpPr txBox="1"/>
          <p:nvPr/>
        </p:nvSpPr>
        <p:spPr>
          <a:xfrm>
            <a:off x="304800" y="6553200"/>
            <a:ext cx="6350000" cy="276999"/>
          </a:xfrm>
          <a:prstGeom prst="rect">
            <a:avLst/>
          </a:prstGeom>
          <a:noFill/>
        </p:spPr>
        <p:txBody>
          <a:bodyPr vert="horz" wrap="square" rtlCol="0">
            <a:spAutoFit/>
          </a:bodyPr>
          <a:lstStyle/>
          <a:p>
            <a:r>
              <a:rPr lang="en-IN" sz="1200" i="1">
                <a:solidFill>
                  <a:srgbClr val="5B6182"/>
                </a:solidFill>
                <a:latin typeface="IBM Plex Sans" panose="020B0503050203000203" pitchFamily="34" charset="0"/>
              </a:rPr>
              <a:t>Appendix Ã‚Â· Reference</a:t>
            </a:r>
          </a:p>
        </p:txBody>
      </p:sp>
    </p:spTree>
    <p:extLst>
      <p:ext uri="{BB962C8B-B14F-4D97-AF65-F5344CB8AC3E}">
        <p14:creationId xmlns:p14="http://schemas.microsoft.com/office/powerpoint/2010/main" val="205750409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D738FE-C0A3-71F3-75ED-9EAE29E68A43}"/>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APPENDIX</a:t>
            </a:r>
          </a:p>
        </p:txBody>
      </p:sp>
      <p:sp>
        <p:nvSpPr>
          <p:cNvPr id="3" name="TextBox 2">
            <a:extLst>
              <a:ext uri="{FF2B5EF4-FFF2-40B4-BE49-F238E27FC236}">
                <a16:creationId xmlns:a16="http://schemas.microsoft.com/office/drawing/2014/main" id="{38CC3270-5180-AA81-F5A8-9683A7C482A4}"/>
              </a:ext>
            </a:extLst>
          </p:cNvPr>
          <p:cNvSpPr txBox="1"/>
          <p:nvPr/>
        </p:nvSpPr>
        <p:spPr>
          <a:xfrm>
            <a:off x="584200" y="609600"/>
            <a:ext cx="14605000" cy="492443"/>
          </a:xfrm>
          <a:prstGeom prst="rect">
            <a:avLst/>
          </a:prstGeom>
          <a:noFill/>
        </p:spPr>
        <p:txBody>
          <a:bodyPr vert="horz" wrap="square" rtlCol="0">
            <a:spAutoFit/>
          </a:bodyPr>
          <a:lstStyle/>
          <a:p>
            <a:r>
              <a:rPr lang="en-IN" sz="2600" b="1">
                <a:solidFill>
                  <a:srgbClr val="1B2340"/>
                </a:solidFill>
                <a:latin typeface="IBM Plex Sans" panose="020B0503050203000203" pitchFamily="34" charset="0"/>
              </a:rPr>
              <a:t>Contact &amp; follow-up</a:t>
            </a:r>
          </a:p>
        </p:txBody>
      </p:sp>
      <p:sp>
        <p:nvSpPr>
          <p:cNvPr id="4" name="Rectangle: Rounded Corners 3">
            <a:extLst>
              <a:ext uri="{FF2B5EF4-FFF2-40B4-BE49-F238E27FC236}">
                <a16:creationId xmlns:a16="http://schemas.microsoft.com/office/drawing/2014/main" id="{981BD4F2-8E17-EA7E-97BF-DBC45D87BCAB}"/>
              </a:ext>
            </a:extLst>
          </p:cNvPr>
          <p:cNvSpPr/>
          <p:nvPr/>
        </p:nvSpPr>
        <p:spPr>
          <a:xfrm>
            <a:off x="584200" y="1651000"/>
            <a:ext cx="11023295"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F871B240-45A4-0FA3-EB51-FE7D5C61D1F6}"/>
              </a:ext>
            </a:extLst>
          </p:cNvPr>
          <p:cNvSpPr txBox="1"/>
          <p:nvPr/>
        </p:nvSpPr>
        <p:spPr>
          <a:xfrm>
            <a:off x="889000" y="1930400"/>
            <a:ext cx="10413695" cy="369332"/>
          </a:xfrm>
          <a:prstGeom prst="rect">
            <a:avLst/>
          </a:prstGeom>
          <a:noFill/>
        </p:spPr>
        <p:txBody>
          <a:bodyPr vert="horz" wrap="square" rtlCol="0">
            <a:noAutofit/>
          </a:bodyPr>
          <a:lstStyle/>
          <a:p>
            <a:pPr marL="342900" indent="-342900">
              <a:buFont typeface="+mj-lt"/>
              <a:buChar char="•"/>
            </a:pPr>
            <a:r>
              <a:rPr lang="en-US" sz="1600">
                <a:solidFill>
                  <a:srgbClr val="5B6182"/>
                </a:solidFill>
                <a:latin typeface="IBM Plex Sans" panose="020B0503050203000203" pitchFamily="34" charset="0"/>
              </a:rPr>
              <a:t>`
 MD
 Mahesh DivakaranSenior Tech Lead - R Developer, Ephicacy Life Science Analytics
 Reach out after the workshop for the full app.R source, the slide deck, or to discuss piloting the LLM-assisted TFL pattern with your team.
`</a:t>
            </a:r>
            <a:endParaRPr lang="en-IN" sz="1600">
              <a:solidFill>
                <a:srgbClr val="5B6182"/>
              </a:solidFill>
              <a:latin typeface="IBM Plex Sans" panose="020B0503050203000203" pitchFamily="34" charset="0"/>
            </a:endParaRPr>
          </a:p>
        </p:txBody>
      </p:sp>
      <p:sp>
        <p:nvSpPr>
          <p:cNvPr id="6" name="TextBox 5">
            <a:extLst>
              <a:ext uri="{FF2B5EF4-FFF2-40B4-BE49-F238E27FC236}">
                <a16:creationId xmlns:a16="http://schemas.microsoft.com/office/drawing/2014/main" id="{7749FF86-60C0-F57B-D827-C7BF45D24A22}"/>
              </a:ext>
            </a:extLst>
          </p:cNvPr>
          <p:cNvSpPr txBox="1"/>
          <p:nvPr/>
        </p:nvSpPr>
        <p:spPr>
          <a:xfrm>
            <a:off x="304800" y="6553200"/>
            <a:ext cx="6350000" cy="276999"/>
          </a:xfrm>
          <a:prstGeom prst="rect">
            <a:avLst/>
          </a:prstGeom>
          <a:noFill/>
        </p:spPr>
        <p:txBody>
          <a:bodyPr vert="horz" wrap="square" rtlCol="0">
            <a:spAutoFit/>
          </a:bodyPr>
          <a:lstStyle/>
          <a:p>
            <a:r>
              <a:rPr lang="en-IN" sz="1200" i="1">
                <a:solidFill>
                  <a:srgbClr val="5B6182"/>
                </a:solidFill>
                <a:latin typeface="IBM Plex Sans" panose="020B0503050203000203" pitchFamily="34" charset="0"/>
              </a:rPr>
              <a:t>Appendix Ã‚Â· Reference</a:t>
            </a:r>
          </a:p>
        </p:txBody>
      </p:sp>
    </p:spTree>
    <p:extLst>
      <p:ext uri="{BB962C8B-B14F-4D97-AF65-F5344CB8AC3E}">
        <p14:creationId xmlns:p14="http://schemas.microsoft.com/office/powerpoint/2010/main" val="209767473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6D11F3-8057-8648-D602-AD095ED6532F}"/>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APPENDIX</a:t>
            </a:r>
          </a:p>
        </p:txBody>
      </p:sp>
      <p:sp>
        <p:nvSpPr>
          <p:cNvPr id="3" name="TextBox 2">
            <a:extLst>
              <a:ext uri="{FF2B5EF4-FFF2-40B4-BE49-F238E27FC236}">
                <a16:creationId xmlns:a16="http://schemas.microsoft.com/office/drawing/2014/main" id="{9525B599-C91E-27D2-4A14-7C2D4A47FE7C}"/>
              </a:ext>
            </a:extLst>
          </p:cNvPr>
          <p:cNvSpPr txBox="1"/>
          <p:nvPr/>
        </p:nvSpPr>
        <p:spPr>
          <a:xfrm>
            <a:off x="584200" y="609600"/>
            <a:ext cx="14605000" cy="492443"/>
          </a:xfrm>
          <a:prstGeom prst="rect">
            <a:avLst/>
          </a:prstGeom>
          <a:noFill/>
        </p:spPr>
        <p:txBody>
          <a:bodyPr vert="horz" wrap="square" rtlCol="0">
            <a:spAutoFit/>
          </a:bodyPr>
          <a:lstStyle/>
          <a:p>
            <a:r>
              <a:rPr lang="en-IN" sz="2600" b="1">
                <a:solidFill>
                  <a:srgbClr val="1B2340"/>
                </a:solidFill>
                <a:latin typeface="IBM Plex Sans" panose="020B0503050203000203" pitchFamily="34" charset="0"/>
              </a:rPr>
              <a:t>Resources &amp; further reading</a:t>
            </a:r>
          </a:p>
        </p:txBody>
      </p:sp>
      <p:sp>
        <p:nvSpPr>
          <p:cNvPr id="4" name="Rectangle: Rounded Corners 3">
            <a:extLst>
              <a:ext uri="{FF2B5EF4-FFF2-40B4-BE49-F238E27FC236}">
                <a16:creationId xmlns:a16="http://schemas.microsoft.com/office/drawing/2014/main" id="{4DF7FF0E-FC8C-6A6D-59C6-71A047879912}"/>
              </a:ext>
            </a:extLst>
          </p:cNvPr>
          <p:cNvSpPr/>
          <p:nvPr/>
        </p:nvSpPr>
        <p:spPr>
          <a:xfrm>
            <a:off x="584200" y="1651000"/>
            <a:ext cx="11023295"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B8B64844-CD02-86AF-0454-175EFA05503D}"/>
              </a:ext>
            </a:extLst>
          </p:cNvPr>
          <p:cNvSpPr txBox="1"/>
          <p:nvPr/>
        </p:nvSpPr>
        <p:spPr>
          <a:xfrm>
            <a:off x="889000" y="1930400"/>
            <a:ext cx="10413695" cy="369332"/>
          </a:xfrm>
          <a:prstGeom prst="rect">
            <a:avLst/>
          </a:prstGeom>
          <a:noFill/>
        </p:spPr>
        <p:txBody>
          <a:bodyPr vert="horz" wrap="square" rtlCol="0">
            <a:noAutofit/>
          </a:bodyPr>
          <a:lstStyle/>
          <a:p>
            <a:pPr marL="342900" indent="-342900">
              <a:buFont typeface="+mj-lt"/>
              <a:buChar char="•"/>
            </a:pPr>
            <a:r>
              <a:rPr lang="en-IN" sz="1600">
                <a:solidFill>
                  <a:srgbClr val="5B6182"/>
                </a:solidFill>
                <a:latin typeface="IBM Plex Sans" panose="020B0503050203000203" pitchFamily="34" charset="0"/>
              </a:rPr>
              <a:t>`
 mastering-shiny.orgrstudio.github.io/bslibgt.rstudio.com
 pharmaverse.orgggplot2-book.orgCDISC ADaM IG
 All example code in this deck is drawn directly from today's app.R copies are available from the workshop organizers on request.
`</a:t>
            </a:r>
          </a:p>
        </p:txBody>
      </p:sp>
      <p:sp>
        <p:nvSpPr>
          <p:cNvPr id="6" name="TextBox 5">
            <a:extLst>
              <a:ext uri="{FF2B5EF4-FFF2-40B4-BE49-F238E27FC236}">
                <a16:creationId xmlns:a16="http://schemas.microsoft.com/office/drawing/2014/main" id="{C53209F8-ED29-5B5E-4BA4-6EEFFBF48C73}"/>
              </a:ext>
            </a:extLst>
          </p:cNvPr>
          <p:cNvSpPr txBox="1"/>
          <p:nvPr/>
        </p:nvSpPr>
        <p:spPr>
          <a:xfrm>
            <a:off x="304800" y="6553200"/>
            <a:ext cx="6350000" cy="276999"/>
          </a:xfrm>
          <a:prstGeom prst="rect">
            <a:avLst/>
          </a:prstGeom>
          <a:noFill/>
        </p:spPr>
        <p:txBody>
          <a:bodyPr vert="horz" wrap="square" rtlCol="0">
            <a:spAutoFit/>
          </a:bodyPr>
          <a:lstStyle/>
          <a:p>
            <a:r>
              <a:rPr lang="en-IN" sz="1200" i="1">
                <a:solidFill>
                  <a:srgbClr val="5B6182"/>
                </a:solidFill>
                <a:latin typeface="IBM Plex Sans" panose="020B0503050203000203" pitchFamily="34" charset="0"/>
              </a:rPr>
              <a:t>Appendix Ã‚Â· Reference</a:t>
            </a:r>
          </a:p>
        </p:txBody>
      </p:sp>
    </p:spTree>
    <p:extLst>
      <p:ext uri="{BB962C8B-B14F-4D97-AF65-F5344CB8AC3E}">
        <p14:creationId xmlns:p14="http://schemas.microsoft.com/office/powerpoint/2010/main" val="212660756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2C3E7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1283CA-5D7F-D8ED-E634-F0D7AAC6C431}"/>
              </a:ext>
            </a:extLst>
          </p:cNvPr>
          <p:cNvSpPr txBox="1"/>
          <p:nvPr/>
        </p:nvSpPr>
        <p:spPr>
          <a:xfrm>
            <a:off x="8889695" y="254000"/>
            <a:ext cx="2794000" cy="3785652"/>
          </a:xfrm>
          <a:prstGeom prst="rect">
            <a:avLst/>
          </a:prstGeom>
          <a:noFill/>
        </p:spPr>
        <p:txBody>
          <a:bodyPr vert="horz" wrap="square" rtlCol="0">
            <a:spAutoFit/>
          </a:bodyPr>
          <a:lstStyle/>
          <a:p>
            <a:pPr algn="ctr"/>
            <a:r>
              <a:rPr lang="en-IN" sz="12000" b="1">
                <a:solidFill>
                  <a:srgbClr val="5A69AA"/>
                </a:solidFill>
                <a:latin typeface="IBM Plex Sans" panose="020B0503050203000203" pitchFamily="34" charset="0"/>
              </a:rPr>
              <a:t>End</a:t>
            </a:r>
          </a:p>
        </p:txBody>
      </p:sp>
      <p:sp>
        <p:nvSpPr>
          <p:cNvPr id="3" name="TextBox 2">
            <a:extLst>
              <a:ext uri="{FF2B5EF4-FFF2-40B4-BE49-F238E27FC236}">
                <a16:creationId xmlns:a16="http://schemas.microsoft.com/office/drawing/2014/main" id="{15018335-3152-7D31-579B-5EF311A7716A}"/>
              </a:ext>
            </a:extLst>
          </p:cNvPr>
          <p:cNvSpPr txBox="1"/>
          <p:nvPr/>
        </p:nvSpPr>
        <p:spPr>
          <a:xfrm>
            <a:off x="584200" y="762000"/>
            <a:ext cx="6350000" cy="292388"/>
          </a:xfrm>
          <a:prstGeom prst="rect">
            <a:avLst/>
          </a:prstGeom>
          <a:noFill/>
        </p:spPr>
        <p:txBody>
          <a:bodyPr vert="horz" wrap="square" rtlCol="0">
            <a:spAutoFit/>
          </a:bodyPr>
          <a:lstStyle/>
          <a:p>
            <a:r>
              <a:rPr lang="en-IN" sz="1300" b="1">
                <a:solidFill>
                  <a:srgbClr val="D6EEEC"/>
                </a:solidFill>
                <a:latin typeface="IBM Plex Sans" panose="020B0503050203000203" pitchFamily="34" charset="0"/>
              </a:rPr>
              <a:t>CLOSING</a:t>
            </a:r>
          </a:p>
        </p:txBody>
      </p:sp>
      <p:sp>
        <p:nvSpPr>
          <p:cNvPr id="4" name="TextBox 3">
            <a:extLst>
              <a:ext uri="{FF2B5EF4-FFF2-40B4-BE49-F238E27FC236}">
                <a16:creationId xmlns:a16="http://schemas.microsoft.com/office/drawing/2014/main" id="{A41C7CF2-AEEB-2CAF-11F6-B2F39230E990}"/>
              </a:ext>
            </a:extLst>
          </p:cNvPr>
          <p:cNvSpPr txBox="1"/>
          <p:nvPr/>
        </p:nvSpPr>
        <p:spPr>
          <a:xfrm>
            <a:off x="584200" y="1397000"/>
            <a:ext cx="12065000" cy="615553"/>
          </a:xfrm>
          <a:prstGeom prst="rect">
            <a:avLst/>
          </a:prstGeom>
          <a:noFill/>
        </p:spPr>
        <p:txBody>
          <a:bodyPr vert="horz" wrap="square" rtlCol="0">
            <a:spAutoFit/>
          </a:bodyPr>
          <a:lstStyle/>
          <a:p>
            <a:r>
              <a:rPr lang="en-IN" sz="3400" b="1">
                <a:solidFill>
                  <a:srgbClr val="FFFFFF"/>
                </a:solidFill>
                <a:latin typeface="IBM Plex Sans" panose="020B0503050203000203" pitchFamily="34" charset="0"/>
              </a:rPr>
              <a:t>Closing Session: Workshop Summary</a:t>
            </a:r>
          </a:p>
        </p:txBody>
      </p:sp>
      <p:sp>
        <p:nvSpPr>
          <p:cNvPr id="5" name="TextBox 4">
            <a:extLst>
              <a:ext uri="{FF2B5EF4-FFF2-40B4-BE49-F238E27FC236}">
                <a16:creationId xmlns:a16="http://schemas.microsoft.com/office/drawing/2014/main" id="{AD85068C-65C4-6F12-564E-0ED737BC852D}"/>
              </a:ext>
            </a:extLst>
          </p:cNvPr>
          <p:cNvSpPr txBox="1"/>
          <p:nvPr/>
        </p:nvSpPr>
        <p:spPr>
          <a:xfrm>
            <a:off x="584200" y="3556000"/>
            <a:ext cx="10795000" cy="338554"/>
          </a:xfrm>
          <a:prstGeom prst="rect">
            <a:avLst/>
          </a:prstGeom>
          <a:noFill/>
        </p:spPr>
        <p:txBody>
          <a:bodyPr vert="horz" wrap="square" rtlCol="0">
            <a:spAutoFit/>
          </a:bodyPr>
          <a:lstStyle/>
          <a:p>
            <a:r>
              <a:rPr lang="en-US" sz="1600">
                <a:solidFill>
                  <a:srgbClr val="DCE3F5"/>
                </a:solidFill>
                <a:latin typeface="IBM Plex Sans" panose="020B0503050203000203" pitchFamily="34" charset="0"/>
              </a:rPr>
              <a:t>What to take back to your team, and an open floor for questions.</a:t>
            </a:r>
            <a:endParaRPr lang="en-IN" sz="1600">
              <a:solidFill>
                <a:srgbClr val="DCE3F5"/>
              </a:solidFill>
              <a:latin typeface="IBM Plex Sans" panose="020B0503050203000203" pitchFamily="34" charset="0"/>
            </a:endParaRPr>
          </a:p>
        </p:txBody>
      </p:sp>
      <p:sp>
        <p:nvSpPr>
          <p:cNvPr id="6" name="TextBox 5">
            <a:extLst>
              <a:ext uri="{FF2B5EF4-FFF2-40B4-BE49-F238E27FC236}">
                <a16:creationId xmlns:a16="http://schemas.microsoft.com/office/drawing/2014/main" id="{B6257F84-B6E7-4B46-10CA-9FE0C24100BC}"/>
              </a:ext>
            </a:extLst>
          </p:cNvPr>
          <p:cNvSpPr txBox="1"/>
          <p:nvPr/>
        </p:nvSpPr>
        <p:spPr>
          <a:xfrm>
            <a:off x="304800" y="6553200"/>
            <a:ext cx="6350000" cy="276999"/>
          </a:xfrm>
          <a:prstGeom prst="rect">
            <a:avLst/>
          </a:prstGeom>
          <a:noFill/>
        </p:spPr>
        <p:txBody>
          <a:bodyPr vert="horz" wrap="square" rtlCol="0">
            <a:spAutoFit/>
          </a:bodyPr>
          <a:lstStyle/>
          <a:p>
            <a:r>
              <a:rPr lang="en-IN" sz="1200" i="1">
                <a:solidFill>
                  <a:srgbClr val="5B6182"/>
                </a:solidFill>
                <a:latin typeface="IBM Plex Sans" panose="020B0503050203000203" pitchFamily="34" charset="0"/>
              </a:rPr>
              <a:t>Closing</a:t>
            </a:r>
          </a:p>
        </p:txBody>
      </p:sp>
    </p:spTree>
    <p:extLst>
      <p:ext uri="{BB962C8B-B14F-4D97-AF65-F5344CB8AC3E}">
        <p14:creationId xmlns:p14="http://schemas.microsoft.com/office/powerpoint/2010/main" val="405539776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F79A6E2-49FE-3CA3-5C0F-55897A44D7AC}"/>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KEY TAKEAWAYS</a:t>
            </a:r>
          </a:p>
        </p:txBody>
      </p:sp>
      <p:sp>
        <p:nvSpPr>
          <p:cNvPr id="3" name="TextBox 2">
            <a:extLst>
              <a:ext uri="{FF2B5EF4-FFF2-40B4-BE49-F238E27FC236}">
                <a16:creationId xmlns:a16="http://schemas.microsoft.com/office/drawing/2014/main" id="{83DD36B4-26CE-6D7F-99BD-8A83C1A1EDB5}"/>
              </a:ext>
            </a:extLst>
          </p:cNvPr>
          <p:cNvSpPr txBox="1"/>
          <p:nvPr/>
        </p:nvSpPr>
        <p:spPr>
          <a:xfrm>
            <a:off x="584200" y="609600"/>
            <a:ext cx="14605000" cy="492443"/>
          </a:xfrm>
          <a:prstGeom prst="rect">
            <a:avLst/>
          </a:prstGeom>
          <a:noFill/>
        </p:spPr>
        <p:txBody>
          <a:bodyPr vert="horz" wrap="square" rtlCol="0">
            <a:spAutoFit/>
          </a:bodyPr>
          <a:lstStyle/>
          <a:p>
            <a:r>
              <a:rPr lang="en-IN" sz="2600" b="1">
                <a:solidFill>
                  <a:srgbClr val="1B2340"/>
                </a:solidFill>
                <a:latin typeface="IBM Plex Sans" panose="020B0503050203000203" pitchFamily="34" charset="0"/>
              </a:rPr>
              <a:t>Three ideas worth remembering</a:t>
            </a:r>
          </a:p>
        </p:txBody>
      </p:sp>
      <p:sp>
        <p:nvSpPr>
          <p:cNvPr id="4" name="Rectangle: Rounded Corners 3">
            <a:extLst>
              <a:ext uri="{FF2B5EF4-FFF2-40B4-BE49-F238E27FC236}">
                <a16:creationId xmlns:a16="http://schemas.microsoft.com/office/drawing/2014/main" id="{42C7757A-B02D-70EE-0317-0E51840EC38D}"/>
              </a:ext>
            </a:extLst>
          </p:cNvPr>
          <p:cNvSpPr/>
          <p:nvPr/>
        </p:nvSpPr>
        <p:spPr>
          <a:xfrm>
            <a:off x="584200" y="1905000"/>
            <a:ext cx="3505098" cy="4191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BF3FC8EE-E551-ABA4-AF12-BD3748644588}"/>
              </a:ext>
            </a:extLst>
          </p:cNvPr>
          <p:cNvSpPr/>
          <p:nvPr/>
        </p:nvSpPr>
        <p:spPr>
          <a:xfrm>
            <a:off x="584200" y="1905000"/>
            <a:ext cx="3505098" cy="76200"/>
          </a:xfrm>
          <a:prstGeom prst="rect">
            <a:avLst/>
          </a:prstGeom>
          <a:solidFill>
            <a:srgbClr val="0F7A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6254FAE6-2D3B-523F-7B10-9C87C885431F}"/>
              </a:ext>
            </a:extLst>
          </p:cNvPr>
          <p:cNvSpPr txBox="1"/>
          <p:nvPr/>
        </p:nvSpPr>
        <p:spPr>
          <a:xfrm>
            <a:off x="787400" y="2133600"/>
            <a:ext cx="3098698" cy="323165"/>
          </a:xfrm>
          <a:prstGeom prst="rect">
            <a:avLst/>
          </a:prstGeom>
          <a:noFill/>
        </p:spPr>
        <p:txBody>
          <a:bodyPr vert="horz" wrap="square" rtlCol="0">
            <a:spAutoFit/>
          </a:bodyPr>
          <a:lstStyle/>
          <a:p>
            <a:r>
              <a:rPr lang="en-US" sz="1500" b="1">
                <a:solidFill>
                  <a:srgbClr val="1B2340"/>
                </a:solidFill>
                <a:latin typeface="IBM Plex Sans" panose="020B0503050203000203" pitchFamily="34" charset="0"/>
              </a:rPr>
              <a:t>01 Ã‚Â· One reactive spine</a:t>
            </a:r>
            <a:endParaRPr lang="en-IN" sz="1500" b="1">
              <a:solidFill>
                <a:srgbClr val="1B2340"/>
              </a:solidFill>
              <a:latin typeface="IBM Plex Sans" panose="020B0503050203000203" pitchFamily="34" charset="0"/>
            </a:endParaRPr>
          </a:p>
        </p:txBody>
      </p:sp>
      <p:sp>
        <p:nvSpPr>
          <p:cNvPr id="7" name="TextBox 6">
            <a:extLst>
              <a:ext uri="{FF2B5EF4-FFF2-40B4-BE49-F238E27FC236}">
                <a16:creationId xmlns:a16="http://schemas.microsoft.com/office/drawing/2014/main" id="{9B34800B-ECBA-4E84-1A26-6EC30B087C01}"/>
              </a:ext>
            </a:extLst>
          </p:cNvPr>
          <p:cNvSpPr txBox="1"/>
          <p:nvPr/>
        </p:nvSpPr>
        <p:spPr>
          <a:xfrm>
            <a:off x="787400" y="2743200"/>
            <a:ext cx="3098698" cy="369332"/>
          </a:xfrm>
          <a:prstGeom prst="rect">
            <a:avLst/>
          </a:prstGeom>
          <a:noFill/>
        </p:spPr>
        <p:txBody>
          <a:bodyPr vert="horz" wrap="square" rtlCol="0">
            <a:noAutofit/>
          </a:bodyPr>
          <a:lstStyle/>
          <a:p>
            <a:pPr marL="342900" indent="-342900">
              <a:buFont typeface="+mj-lt"/>
              <a:buChar char="•"/>
            </a:pPr>
            <a:r>
              <a:rPr lang="en-US" sz="1300">
                <a:solidFill>
                  <a:srgbClr val="5B6182"/>
                </a:solidFill>
                <a:latin typeface="IBM Plex Sans" panose="020B0503050203000203" pitchFamily="34" charset="0"/>
              </a:rPr>
              <a:t>Filter once population, treatment, arms and every table and figure inherits it consistently.</a:t>
            </a:r>
            <a:endParaRPr lang="en-IN" sz="1300">
              <a:solidFill>
                <a:srgbClr val="5B6182"/>
              </a:solidFill>
              <a:latin typeface="IBM Plex Sans" panose="020B0503050203000203" pitchFamily="34" charset="0"/>
            </a:endParaRPr>
          </a:p>
        </p:txBody>
      </p:sp>
      <p:sp>
        <p:nvSpPr>
          <p:cNvPr id="8" name="Rectangle: Rounded Corners 7">
            <a:extLst>
              <a:ext uri="{FF2B5EF4-FFF2-40B4-BE49-F238E27FC236}">
                <a16:creationId xmlns:a16="http://schemas.microsoft.com/office/drawing/2014/main" id="{D8BAA296-05F5-4EA6-45AB-3305DB06D183}"/>
              </a:ext>
            </a:extLst>
          </p:cNvPr>
          <p:cNvSpPr/>
          <p:nvPr/>
        </p:nvSpPr>
        <p:spPr>
          <a:xfrm>
            <a:off x="4343298" y="1905000"/>
            <a:ext cx="3505099" cy="4191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76472E2C-8BBA-6E35-0863-CCE4602E2E4C}"/>
              </a:ext>
            </a:extLst>
          </p:cNvPr>
          <p:cNvSpPr/>
          <p:nvPr/>
        </p:nvSpPr>
        <p:spPr>
          <a:xfrm>
            <a:off x="4343298" y="1905000"/>
            <a:ext cx="3505099" cy="76200"/>
          </a:xfrm>
          <a:prstGeom prst="rect">
            <a:avLst/>
          </a:prstGeom>
          <a:solidFill>
            <a:srgbClr val="0F7A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D7EA76EF-F3C2-5918-00F1-870AAFD075E5}"/>
              </a:ext>
            </a:extLst>
          </p:cNvPr>
          <p:cNvSpPr txBox="1"/>
          <p:nvPr/>
        </p:nvSpPr>
        <p:spPr>
          <a:xfrm>
            <a:off x="4546498" y="2133600"/>
            <a:ext cx="3098698" cy="323165"/>
          </a:xfrm>
          <a:prstGeom prst="rect">
            <a:avLst/>
          </a:prstGeom>
          <a:noFill/>
        </p:spPr>
        <p:txBody>
          <a:bodyPr vert="horz" wrap="square" rtlCol="0">
            <a:spAutoFit/>
          </a:bodyPr>
          <a:lstStyle/>
          <a:p>
            <a:r>
              <a:rPr lang="en-US" sz="1500" b="1">
                <a:solidFill>
                  <a:srgbClr val="1B2340"/>
                </a:solidFill>
                <a:latin typeface="IBM Plex Sans" panose="020B0503050203000203" pitchFamily="34" charset="0"/>
              </a:rPr>
              <a:t>02 Ã‚Â· Shared renderers</a:t>
            </a:r>
            <a:endParaRPr lang="en-IN" sz="1500" b="1">
              <a:solidFill>
                <a:srgbClr val="1B2340"/>
              </a:solidFill>
              <a:latin typeface="IBM Plex Sans" panose="020B0503050203000203" pitchFamily="34" charset="0"/>
            </a:endParaRPr>
          </a:p>
        </p:txBody>
      </p:sp>
      <p:sp>
        <p:nvSpPr>
          <p:cNvPr id="11" name="TextBox 10">
            <a:extLst>
              <a:ext uri="{FF2B5EF4-FFF2-40B4-BE49-F238E27FC236}">
                <a16:creationId xmlns:a16="http://schemas.microsoft.com/office/drawing/2014/main" id="{0DAD5161-9ECD-646B-5F37-DAE7B0BBC687}"/>
              </a:ext>
            </a:extLst>
          </p:cNvPr>
          <p:cNvSpPr txBox="1"/>
          <p:nvPr/>
        </p:nvSpPr>
        <p:spPr>
          <a:xfrm>
            <a:off x="4546498" y="2743200"/>
            <a:ext cx="3098698" cy="369332"/>
          </a:xfrm>
          <a:prstGeom prst="rect">
            <a:avLst/>
          </a:prstGeom>
          <a:noFill/>
        </p:spPr>
        <p:txBody>
          <a:bodyPr vert="horz" wrap="square" rtlCol="0">
            <a:noAutofit/>
          </a:bodyPr>
          <a:lstStyle/>
          <a:p>
            <a:pPr marL="342900" indent="-342900">
              <a:buFont typeface="+mj-lt"/>
              <a:buChar char="•"/>
            </a:pPr>
            <a:r>
              <a:rPr lang="en-US" sz="1300">
                <a:solidFill>
                  <a:srgbClr val="5B6182"/>
                </a:solidFill>
                <a:latin typeface="IBM Plex Sans" panose="020B0503050203000203" pitchFamily="34" charset="0"/>
              </a:rPr>
              <a:t>One to_gt(), one tfl_theme, one export path per format less drift, easier QC.</a:t>
            </a:r>
            <a:endParaRPr lang="en-IN" sz="1300">
              <a:solidFill>
                <a:srgbClr val="5B6182"/>
              </a:solidFill>
              <a:latin typeface="IBM Plex Sans" panose="020B0503050203000203" pitchFamily="34" charset="0"/>
            </a:endParaRPr>
          </a:p>
        </p:txBody>
      </p:sp>
      <p:sp>
        <p:nvSpPr>
          <p:cNvPr id="12" name="Rectangle: Rounded Corners 11">
            <a:extLst>
              <a:ext uri="{FF2B5EF4-FFF2-40B4-BE49-F238E27FC236}">
                <a16:creationId xmlns:a16="http://schemas.microsoft.com/office/drawing/2014/main" id="{36166026-8724-4C38-9CFC-A355AC22C70D}"/>
              </a:ext>
            </a:extLst>
          </p:cNvPr>
          <p:cNvSpPr/>
          <p:nvPr/>
        </p:nvSpPr>
        <p:spPr>
          <a:xfrm>
            <a:off x="8102397" y="1905000"/>
            <a:ext cx="3505098" cy="4191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7F51A76E-5EE0-F937-47E3-AF8CAE17B456}"/>
              </a:ext>
            </a:extLst>
          </p:cNvPr>
          <p:cNvSpPr/>
          <p:nvPr/>
        </p:nvSpPr>
        <p:spPr>
          <a:xfrm>
            <a:off x="8102397" y="1905000"/>
            <a:ext cx="3505098" cy="76200"/>
          </a:xfrm>
          <a:prstGeom prst="rect">
            <a:avLst/>
          </a:prstGeom>
          <a:solidFill>
            <a:srgbClr val="0F7A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B0CA89AB-2927-4E66-BD9A-F20AC4EC6ABA}"/>
              </a:ext>
            </a:extLst>
          </p:cNvPr>
          <p:cNvSpPr txBox="1"/>
          <p:nvPr/>
        </p:nvSpPr>
        <p:spPr>
          <a:xfrm>
            <a:off x="8305597" y="2133600"/>
            <a:ext cx="3098698" cy="323165"/>
          </a:xfrm>
          <a:prstGeom prst="rect">
            <a:avLst/>
          </a:prstGeom>
          <a:noFill/>
        </p:spPr>
        <p:txBody>
          <a:bodyPr vert="horz" wrap="square" rtlCol="0">
            <a:spAutoFit/>
          </a:bodyPr>
          <a:lstStyle/>
          <a:p>
            <a:r>
              <a:rPr lang="en-IN" sz="1500" b="1">
                <a:solidFill>
                  <a:srgbClr val="1B2340"/>
                </a:solidFill>
                <a:latin typeface="IBM Plex Sans" panose="020B0503050203000203" pitchFamily="34" charset="0"/>
              </a:rPr>
              <a:t>03 Ã‚Â· AI as a front door</a:t>
            </a:r>
          </a:p>
        </p:txBody>
      </p:sp>
      <p:sp>
        <p:nvSpPr>
          <p:cNvPr id="15" name="TextBox 14">
            <a:extLst>
              <a:ext uri="{FF2B5EF4-FFF2-40B4-BE49-F238E27FC236}">
                <a16:creationId xmlns:a16="http://schemas.microsoft.com/office/drawing/2014/main" id="{FF64D996-2B94-F390-3A25-95812EB25F31}"/>
              </a:ext>
            </a:extLst>
          </p:cNvPr>
          <p:cNvSpPr txBox="1"/>
          <p:nvPr/>
        </p:nvSpPr>
        <p:spPr>
          <a:xfrm>
            <a:off x="8305597" y="2743200"/>
            <a:ext cx="3098698" cy="369332"/>
          </a:xfrm>
          <a:prstGeom prst="rect">
            <a:avLst/>
          </a:prstGeom>
          <a:noFill/>
        </p:spPr>
        <p:txBody>
          <a:bodyPr vert="horz" wrap="square" rtlCol="0">
            <a:noAutofit/>
          </a:bodyPr>
          <a:lstStyle/>
          <a:p>
            <a:pPr marL="342900" indent="-342900">
              <a:buFont typeface="+mj-lt"/>
              <a:buChar char="•"/>
            </a:pPr>
            <a:r>
              <a:rPr lang="en-US" sz="1300">
                <a:solidFill>
                  <a:srgbClr val="5B6182"/>
                </a:solidFill>
                <a:latin typeface="IBM Plex Sans" panose="020B0503050203000203" pitchFamily="34" charset="0"/>
              </a:rPr>
              <a:t>LLMs route requests to validated functions they don't replace the statistical logic underneath.</a:t>
            </a:r>
            <a:endParaRPr lang="en-IN" sz="1300">
              <a:solidFill>
                <a:srgbClr val="5B6182"/>
              </a:solidFill>
              <a:latin typeface="IBM Plex Sans" panose="020B0503050203000203" pitchFamily="34" charset="0"/>
            </a:endParaRPr>
          </a:p>
        </p:txBody>
      </p:sp>
      <p:sp>
        <p:nvSpPr>
          <p:cNvPr id="16" name="TextBox 15">
            <a:extLst>
              <a:ext uri="{FF2B5EF4-FFF2-40B4-BE49-F238E27FC236}">
                <a16:creationId xmlns:a16="http://schemas.microsoft.com/office/drawing/2014/main" id="{9E865CC0-3E3C-7D25-4BF8-41CE49C0A1AF}"/>
              </a:ext>
            </a:extLst>
          </p:cNvPr>
          <p:cNvSpPr txBox="1"/>
          <p:nvPr/>
        </p:nvSpPr>
        <p:spPr>
          <a:xfrm>
            <a:off x="304800" y="6553200"/>
            <a:ext cx="6350000" cy="276999"/>
          </a:xfrm>
          <a:prstGeom prst="rect">
            <a:avLst/>
          </a:prstGeom>
          <a:noFill/>
        </p:spPr>
        <p:txBody>
          <a:bodyPr vert="horz" wrap="square" rtlCol="0">
            <a:spAutoFit/>
          </a:bodyPr>
          <a:lstStyle/>
          <a:p>
            <a:r>
              <a:rPr lang="en-IN" sz="1200" i="1">
                <a:solidFill>
                  <a:srgbClr val="5B6182"/>
                </a:solidFill>
                <a:latin typeface="IBM Plex Sans" panose="020B0503050203000203" pitchFamily="34" charset="0"/>
              </a:rPr>
              <a:t>Closing</a:t>
            </a:r>
          </a:p>
        </p:txBody>
      </p:sp>
    </p:spTree>
    <p:extLst>
      <p:ext uri="{BB962C8B-B14F-4D97-AF65-F5344CB8AC3E}">
        <p14:creationId xmlns:p14="http://schemas.microsoft.com/office/powerpoint/2010/main" val="4734914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90E94B-86B2-7BC0-35FD-17D942958CF4}"/>
              </a:ext>
            </a:extLst>
          </p:cNvPr>
          <p:cNvSpPr txBox="1"/>
          <p:nvPr/>
        </p:nvSpPr>
        <p:spPr>
          <a:xfrm>
            <a:off x="584200" y="330200"/>
            <a:ext cx="11430000" cy="292388"/>
          </a:xfrm>
          <a:prstGeom prst="rect">
            <a:avLst/>
          </a:prstGeom>
          <a:noFill/>
        </p:spPr>
        <p:txBody>
          <a:bodyPr vert="horz" wrap="square" rtlCol="0">
            <a:spAutoFit/>
          </a:bodyPr>
          <a:lstStyle/>
          <a:p>
            <a:r>
              <a:rPr lang="en-IN" sz="1300" b="1">
                <a:solidFill>
                  <a:srgbClr val="0F7A7A"/>
                </a:solidFill>
                <a:latin typeface="IBM Plex Sans" panose="020B0503050203000203" pitchFamily="34" charset="0"/>
              </a:rPr>
              <a:t>Q&amp;A AND DISCUSSION</a:t>
            </a:r>
          </a:p>
        </p:txBody>
      </p:sp>
      <p:sp>
        <p:nvSpPr>
          <p:cNvPr id="3" name="TextBox 2">
            <a:extLst>
              <a:ext uri="{FF2B5EF4-FFF2-40B4-BE49-F238E27FC236}">
                <a16:creationId xmlns:a16="http://schemas.microsoft.com/office/drawing/2014/main" id="{29D11154-CC47-7A81-339F-D551D6DD0EC8}"/>
              </a:ext>
            </a:extLst>
          </p:cNvPr>
          <p:cNvSpPr txBox="1"/>
          <p:nvPr/>
        </p:nvSpPr>
        <p:spPr>
          <a:xfrm>
            <a:off x="584200" y="609600"/>
            <a:ext cx="14605000" cy="492443"/>
          </a:xfrm>
          <a:prstGeom prst="rect">
            <a:avLst/>
          </a:prstGeom>
          <a:noFill/>
        </p:spPr>
        <p:txBody>
          <a:bodyPr vert="horz" wrap="square" rtlCol="0">
            <a:spAutoFit/>
          </a:bodyPr>
          <a:lstStyle/>
          <a:p>
            <a:r>
              <a:rPr lang="en-US" sz="2600" b="1">
                <a:solidFill>
                  <a:srgbClr val="1B2340"/>
                </a:solidFill>
                <a:latin typeface="IBM Plex Sans" panose="020B0503050203000203" pitchFamily="34" charset="0"/>
              </a:rPr>
              <a:t>17:15 Ã¢ 17:30 Ã‚Â· All</a:t>
            </a:r>
            <a:endParaRPr lang="en-IN" sz="2600" b="1">
              <a:solidFill>
                <a:srgbClr val="1B2340"/>
              </a:solidFill>
              <a:latin typeface="IBM Plex Sans" panose="020B0503050203000203" pitchFamily="34" charset="0"/>
            </a:endParaRPr>
          </a:p>
        </p:txBody>
      </p:sp>
      <p:sp>
        <p:nvSpPr>
          <p:cNvPr id="4" name="Rectangle: Rounded Corners 3">
            <a:extLst>
              <a:ext uri="{FF2B5EF4-FFF2-40B4-BE49-F238E27FC236}">
                <a16:creationId xmlns:a16="http://schemas.microsoft.com/office/drawing/2014/main" id="{223ECDCD-A1F2-C70F-B0D2-84E4C34A8A48}"/>
              </a:ext>
            </a:extLst>
          </p:cNvPr>
          <p:cNvSpPr/>
          <p:nvPr/>
        </p:nvSpPr>
        <p:spPr>
          <a:xfrm>
            <a:off x="584200" y="1651000"/>
            <a:ext cx="11023295" cy="4699000"/>
          </a:xfrm>
          <a:prstGeom prst="roundRect">
            <a:avLst/>
          </a:prstGeom>
          <a:solidFill>
            <a:srgbClr val="FFFFFF"/>
          </a:solidFill>
          <a:ln w="12700">
            <a:solidFill>
              <a:srgbClr val="D6D9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312854DE-8E13-6614-C94F-E4162C52C1A6}"/>
              </a:ext>
            </a:extLst>
          </p:cNvPr>
          <p:cNvSpPr txBox="1"/>
          <p:nvPr/>
        </p:nvSpPr>
        <p:spPr>
          <a:xfrm>
            <a:off x="889000" y="1930400"/>
            <a:ext cx="10413695" cy="369332"/>
          </a:xfrm>
          <a:prstGeom prst="rect">
            <a:avLst/>
          </a:prstGeom>
          <a:noFill/>
        </p:spPr>
        <p:txBody>
          <a:bodyPr vert="horz" wrap="square" rtlCol="0">
            <a:noAutofit/>
          </a:bodyPr>
          <a:lstStyle/>
          <a:p>
            <a:pPr marL="342900" indent="-342900">
              <a:buFont typeface="+mj-lt"/>
              <a:buChar char="•"/>
            </a:pPr>
            <a:r>
              <a:rPr lang="en-US" sz="1600">
                <a:solidFill>
                  <a:srgbClr val="5B6182"/>
                </a:solidFill>
                <a:latin typeface="IBM Plex Sans" panose="020B0503050203000203" pitchFamily="34" charset="0"/>
              </a:rPr>
              <a:t>`
 Open floor happy to dig into any part of the app.R code, the LLM integration plan, or general R Shiny architecture questions.
`</a:t>
            </a:r>
            <a:endParaRPr lang="en-IN" sz="1600">
              <a:solidFill>
                <a:srgbClr val="5B6182"/>
              </a:solidFill>
              <a:latin typeface="IBM Plex Sans" panose="020B0503050203000203" pitchFamily="34" charset="0"/>
            </a:endParaRPr>
          </a:p>
        </p:txBody>
      </p:sp>
      <p:sp>
        <p:nvSpPr>
          <p:cNvPr id="6" name="TextBox 5">
            <a:extLst>
              <a:ext uri="{FF2B5EF4-FFF2-40B4-BE49-F238E27FC236}">
                <a16:creationId xmlns:a16="http://schemas.microsoft.com/office/drawing/2014/main" id="{D21ED814-B6F9-91DA-91D1-04460DAF06A0}"/>
              </a:ext>
            </a:extLst>
          </p:cNvPr>
          <p:cNvSpPr txBox="1"/>
          <p:nvPr/>
        </p:nvSpPr>
        <p:spPr>
          <a:xfrm>
            <a:off x="304800" y="6553200"/>
            <a:ext cx="6350000" cy="276999"/>
          </a:xfrm>
          <a:prstGeom prst="rect">
            <a:avLst/>
          </a:prstGeom>
          <a:noFill/>
        </p:spPr>
        <p:txBody>
          <a:bodyPr vert="horz" wrap="square" rtlCol="0">
            <a:spAutoFit/>
          </a:bodyPr>
          <a:lstStyle/>
          <a:p>
            <a:r>
              <a:rPr lang="en-IN" sz="1200" i="1">
                <a:solidFill>
                  <a:srgbClr val="5B6182"/>
                </a:solidFill>
                <a:latin typeface="IBM Plex Sans" panose="020B0503050203000203" pitchFamily="34" charset="0"/>
              </a:rPr>
              <a:t>Closing</a:t>
            </a:r>
          </a:p>
        </p:txBody>
      </p:sp>
    </p:spTree>
    <p:extLst>
      <p:ext uri="{BB962C8B-B14F-4D97-AF65-F5344CB8AC3E}">
        <p14:creationId xmlns:p14="http://schemas.microsoft.com/office/powerpoint/2010/main" val="235640871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2C3E7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4D25FC-26E2-E5E9-74E7-5F0FFCFA5656}"/>
              </a:ext>
            </a:extLst>
          </p:cNvPr>
          <p:cNvSpPr txBox="1"/>
          <p:nvPr/>
        </p:nvSpPr>
        <p:spPr>
          <a:xfrm>
            <a:off x="584200" y="762000"/>
            <a:ext cx="3810000" cy="292388"/>
          </a:xfrm>
          <a:prstGeom prst="rect">
            <a:avLst/>
          </a:prstGeom>
          <a:noFill/>
        </p:spPr>
        <p:txBody>
          <a:bodyPr vert="horz" wrap="square" rtlCol="0">
            <a:spAutoFit/>
          </a:bodyPr>
          <a:lstStyle/>
          <a:p>
            <a:r>
              <a:rPr lang="en-IN" sz="1300" b="1">
                <a:solidFill>
                  <a:srgbClr val="D6EEEC"/>
                </a:solidFill>
                <a:latin typeface="IBM Plex Sans" panose="020B0503050203000203" pitchFamily="34" charset="0"/>
              </a:rPr>
              <a:t>THANK YOU</a:t>
            </a:r>
          </a:p>
        </p:txBody>
      </p:sp>
      <p:sp>
        <p:nvSpPr>
          <p:cNvPr id="3" name="TextBox 2">
            <a:extLst>
              <a:ext uri="{FF2B5EF4-FFF2-40B4-BE49-F238E27FC236}">
                <a16:creationId xmlns:a16="http://schemas.microsoft.com/office/drawing/2014/main" id="{915AC26C-2159-AA68-EC0E-33CA1FB03B5D}"/>
              </a:ext>
            </a:extLst>
          </p:cNvPr>
          <p:cNvSpPr txBox="1"/>
          <p:nvPr/>
        </p:nvSpPr>
        <p:spPr>
          <a:xfrm>
            <a:off x="584200" y="1270000"/>
            <a:ext cx="13970000" cy="615553"/>
          </a:xfrm>
          <a:prstGeom prst="rect">
            <a:avLst/>
          </a:prstGeom>
          <a:noFill/>
        </p:spPr>
        <p:txBody>
          <a:bodyPr vert="horz" wrap="square" rtlCol="0">
            <a:spAutoFit/>
          </a:bodyPr>
          <a:lstStyle/>
          <a:p>
            <a:r>
              <a:rPr lang="en-IN" sz="3400" b="1">
                <a:solidFill>
                  <a:srgbClr val="FFFFFF"/>
                </a:solidFill>
                <a:latin typeface="IBM Plex Sans" panose="020B0503050203000203" pitchFamily="34" charset="0"/>
              </a:rPr>
              <a:t> Let's build clinical dashboards</a:t>
            </a:r>
          </a:p>
        </p:txBody>
      </p:sp>
      <p:sp>
        <p:nvSpPr>
          <p:cNvPr id="4" name="Rectangle: Rounded Corners 3">
            <a:extLst>
              <a:ext uri="{FF2B5EF4-FFF2-40B4-BE49-F238E27FC236}">
                <a16:creationId xmlns:a16="http://schemas.microsoft.com/office/drawing/2014/main" id="{2FF8D1C9-49A7-286E-4983-0F6B496C6D53}"/>
              </a:ext>
            </a:extLst>
          </p:cNvPr>
          <p:cNvSpPr/>
          <p:nvPr/>
        </p:nvSpPr>
        <p:spPr>
          <a:xfrm>
            <a:off x="584200" y="3810000"/>
            <a:ext cx="6604000" cy="11430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0558DCF2-CBFE-CCAD-B2BB-BB21B7020F30}"/>
              </a:ext>
            </a:extLst>
          </p:cNvPr>
          <p:cNvSpPr txBox="1"/>
          <p:nvPr/>
        </p:nvSpPr>
        <p:spPr>
          <a:xfrm>
            <a:off x="889000" y="4000500"/>
            <a:ext cx="6096000" cy="338554"/>
          </a:xfrm>
          <a:prstGeom prst="rect">
            <a:avLst/>
          </a:prstGeom>
          <a:noFill/>
        </p:spPr>
        <p:txBody>
          <a:bodyPr vert="horz" wrap="square" rtlCol="0">
            <a:spAutoFit/>
          </a:bodyPr>
          <a:lstStyle/>
          <a:p>
            <a:r>
              <a:rPr lang="en-IN" sz="1600" b="1">
                <a:solidFill>
                  <a:srgbClr val="1B2340"/>
                </a:solidFill>
                <a:latin typeface="IBM Plex Sans" panose="020B0503050203000203" pitchFamily="34" charset="0"/>
              </a:rPr>
              <a:t>Mahesh Divakaran</a:t>
            </a:r>
          </a:p>
        </p:txBody>
      </p:sp>
      <p:sp>
        <p:nvSpPr>
          <p:cNvPr id="6" name="TextBox 5">
            <a:extLst>
              <a:ext uri="{FF2B5EF4-FFF2-40B4-BE49-F238E27FC236}">
                <a16:creationId xmlns:a16="http://schemas.microsoft.com/office/drawing/2014/main" id="{E26D4235-D12A-B6A5-5FD1-37F7B629D960}"/>
              </a:ext>
            </a:extLst>
          </p:cNvPr>
          <p:cNvSpPr txBox="1"/>
          <p:nvPr/>
        </p:nvSpPr>
        <p:spPr>
          <a:xfrm>
            <a:off x="889000" y="4318000"/>
            <a:ext cx="6096000" cy="276999"/>
          </a:xfrm>
          <a:prstGeom prst="rect">
            <a:avLst/>
          </a:prstGeom>
          <a:noFill/>
        </p:spPr>
        <p:txBody>
          <a:bodyPr vert="horz" wrap="square" rtlCol="0">
            <a:spAutoFit/>
          </a:bodyPr>
          <a:lstStyle/>
          <a:p>
            <a:r>
              <a:rPr lang="en-US" sz="1200">
                <a:solidFill>
                  <a:srgbClr val="5B6182"/>
                </a:solidFill>
                <a:latin typeface="IBM Plex Sans" panose="020B0503050203000203" pitchFamily="34" charset="0"/>
              </a:rPr>
              <a:t>Senior Tech Lead - R Developer, Ephicacy Life Science Analytics</a:t>
            </a:r>
            <a:endParaRPr lang="en-IN" sz="1200">
              <a:solidFill>
                <a:srgbClr val="5B6182"/>
              </a:solidFill>
              <a:latin typeface="IBM Plex Sans" panose="020B0503050203000203" pitchFamily="34" charset="0"/>
            </a:endParaRPr>
          </a:p>
        </p:txBody>
      </p:sp>
      <p:sp>
        <p:nvSpPr>
          <p:cNvPr id="7" name="TextBox 6">
            <a:extLst>
              <a:ext uri="{FF2B5EF4-FFF2-40B4-BE49-F238E27FC236}">
                <a16:creationId xmlns:a16="http://schemas.microsoft.com/office/drawing/2014/main" id="{A73D5CF9-DDDE-4684-AE46-99D406F75013}"/>
              </a:ext>
            </a:extLst>
          </p:cNvPr>
          <p:cNvSpPr txBox="1"/>
          <p:nvPr/>
        </p:nvSpPr>
        <p:spPr>
          <a:xfrm>
            <a:off x="584200" y="5207000"/>
            <a:ext cx="13970000" cy="292388"/>
          </a:xfrm>
          <a:prstGeom prst="rect">
            <a:avLst/>
          </a:prstGeom>
          <a:noFill/>
        </p:spPr>
        <p:txBody>
          <a:bodyPr vert="horz" wrap="square" rtlCol="0">
            <a:spAutoFit/>
          </a:bodyPr>
          <a:lstStyle/>
          <a:p>
            <a:r>
              <a:rPr lang="en-US" sz="1300">
                <a:solidFill>
                  <a:srgbClr val="DCE3F5"/>
                </a:solidFill>
                <a:latin typeface="IBM Plex Sans" panose="020B0503050203000203" pitchFamily="34" charset="0"/>
              </a:rPr>
              <a:t>IASCT - Building Interactive Dashboards for Smarter Insights Using R Shiny - 12 September 2026</a:t>
            </a:r>
            <a:endParaRPr lang="en-IN" sz="1300">
              <a:solidFill>
                <a:srgbClr val="DCE3F5"/>
              </a:solidFill>
              <a:latin typeface="IBM Plex Sans" panose="020B0503050203000203" pitchFamily="34" charset="0"/>
            </a:endParaRPr>
          </a:p>
        </p:txBody>
      </p:sp>
    </p:spTree>
    <p:extLst>
      <p:ext uri="{BB962C8B-B14F-4D97-AF65-F5344CB8AC3E}">
        <p14:creationId xmlns:p14="http://schemas.microsoft.com/office/powerpoint/2010/main" val="9096631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12604</Words>
  <Application>Microsoft Office PowerPoint</Application>
  <PresentationFormat>Widescreen</PresentationFormat>
  <Paragraphs>735</Paragraphs>
  <Slides>108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108</vt:i4>
      </vt:variant>
    </vt:vector>
  </HeadingPairs>
  <TitlesOfParts>
    <vt:vector size="114" baseType="lpstr">
      <vt:lpstr>Aptos</vt:lpstr>
      <vt:lpstr>Aptos Display</vt:lpstr>
      <vt:lpstr>Arial</vt:lpstr>
      <vt:lpstr>Consolas</vt:lpstr>
      <vt:lpstr>IBM Plex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Mahesh Divakaran</dc:creator>
  <cp:lastModifiedBy>Mahesh Divakaran</cp:lastModifiedBy>
  <cp:revision>1</cp:revision>
  <dcterms:created xsi:type="dcterms:W3CDTF">2026-09-08T05:27:14Z</dcterms:created>
  <dcterms:modified xsi:type="dcterms:W3CDTF">2026-09-08T05:36:12Z</dcterms:modified>
</cp:coreProperties>
</file>